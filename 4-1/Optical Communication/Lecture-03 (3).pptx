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50"/>
  </p:notesMasterIdLst>
  <p:sldIdLst>
    <p:sldId id="341" r:id="rId3"/>
    <p:sldId id="342" r:id="rId4"/>
    <p:sldId id="346" r:id="rId5"/>
    <p:sldId id="289" r:id="rId6"/>
    <p:sldId id="292" r:id="rId7"/>
    <p:sldId id="391" r:id="rId8"/>
    <p:sldId id="392" r:id="rId9"/>
    <p:sldId id="393" r:id="rId10"/>
    <p:sldId id="344" r:id="rId11"/>
    <p:sldId id="295" r:id="rId12"/>
    <p:sldId id="345" r:id="rId13"/>
    <p:sldId id="347" r:id="rId14"/>
    <p:sldId id="348" r:id="rId15"/>
    <p:sldId id="293" r:id="rId16"/>
    <p:sldId id="258" r:id="rId17"/>
    <p:sldId id="349" r:id="rId18"/>
    <p:sldId id="261" r:id="rId19"/>
    <p:sldId id="263" r:id="rId20"/>
    <p:sldId id="394" r:id="rId21"/>
    <p:sldId id="264" r:id="rId22"/>
    <p:sldId id="265" r:id="rId23"/>
    <p:sldId id="268" r:id="rId24"/>
    <p:sldId id="271" r:id="rId25"/>
    <p:sldId id="272" r:id="rId26"/>
    <p:sldId id="273" r:id="rId27"/>
    <p:sldId id="274" r:id="rId28"/>
    <p:sldId id="275" r:id="rId29"/>
    <p:sldId id="373" r:id="rId30"/>
    <p:sldId id="374" r:id="rId31"/>
    <p:sldId id="375" r:id="rId32"/>
    <p:sldId id="279" r:id="rId33"/>
    <p:sldId id="376" r:id="rId34"/>
    <p:sldId id="377" r:id="rId35"/>
    <p:sldId id="378" r:id="rId36"/>
    <p:sldId id="379" r:id="rId37"/>
    <p:sldId id="381" r:id="rId38"/>
    <p:sldId id="380" r:id="rId39"/>
    <p:sldId id="383" r:id="rId40"/>
    <p:sldId id="384" r:id="rId41"/>
    <p:sldId id="385" r:id="rId42"/>
    <p:sldId id="386" r:id="rId43"/>
    <p:sldId id="277" r:id="rId44"/>
    <p:sldId id="280" r:id="rId45"/>
    <p:sldId id="387" r:id="rId46"/>
    <p:sldId id="388" r:id="rId47"/>
    <p:sldId id="390" r:id="rId48"/>
    <p:sldId id="389" r:id="rId49"/>
  </p:sldIdLst>
  <p:sldSz cx="10693400" cy="7562850"/>
  <p:notesSz cx="10693400" cy="7562850"/>
  <p:defaultTextStyle>
    <a:defPPr>
      <a:defRPr lang="en-US"/>
    </a:defPPr>
    <a:lvl1pPr marL="0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19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833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749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663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579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499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412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331" algn="l" defTabSz="9138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94624" autoAdjust="0"/>
  </p:normalViewPr>
  <p:slideViewPr>
    <p:cSldViewPr>
      <p:cViewPr varScale="1">
        <p:scale>
          <a:sx n="94" d="100"/>
          <a:sy n="94" d="100"/>
        </p:scale>
        <p:origin x="1554" y="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258" y="1351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B2B87-3952-46C5-AF1E-03954A0B5088}" type="datetimeFigureOut">
              <a:rPr lang="en-US" smtClean="0"/>
              <a:pPr/>
              <a:t>20-Sep-23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D376-54F8-4135-8CC5-96E0D120BB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6919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833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749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663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4579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1499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8412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5331" algn="l" defTabSz="913833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66738"/>
            <a:ext cx="4010025" cy="2836862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66738"/>
            <a:ext cx="4010025" cy="2836862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1688" y="566738"/>
            <a:ext cx="4010025" cy="2836862"/>
          </a:xfrm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41688" y="566738"/>
            <a:ext cx="4010025" cy="2836862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D376-54F8-4135-8CC5-96E0D120BBA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80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D376-54F8-4135-8CC5-96E0D120BBA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52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D376-54F8-4135-8CC5-96E0D120BBA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50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D376-54F8-4135-8CC5-96E0D120BBA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09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72768" y="458470"/>
            <a:ext cx="6547864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00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10779" y="4755134"/>
            <a:ext cx="80718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44288" y="6656474"/>
            <a:ext cx="2004061" cy="192360"/>
          </a:xfrm>
        </p:spPr>
        <p:txBody>
          <a:bodyPr lIns="0" tIns="0" rIns="0" bIns="0"/>
          <a:lstStyle>
            <a:lvl1pPr marL="1269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PHYS 5320 Chapter</a:t>
            </a:r>
            <a:r>
              <a:rPr lang="en-US" spc="-90" dirty="0"/>
              <a:t> </a:t>
            </a:r>
            <a:r>
              <a:rPr lang="en-US" spc="-30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20-Sep-23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863" y="6656476"/>
            <a:ext cx="248920" cy="577081"/>
          </a:xfrm>
        </p:spPr>
        <p:txBody>
          <a:bodyPr lIns="0" tIns="0" rIns="0" bIns="0"/>
          <a:lstStyle>
            <a:lvl1pPr marL="12438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81D60167-4931-47E6-BA6A-407CBD079E4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9774" y="456953"/>
            <a:ext cx="8833854" cy="538609"/>
          </a:xfrm>
        </p:spPr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63181" y="1528318"/>
            <a:ext cx="7767040" cy="400110"/>
          </a:xfrm>
        </p:spPr>
        <p:txBody>
          <a:bodyPr lIns="0" tIns="0" rIns="0" bIns="0"/>
          <a:lstStyle>
            <a:lvl1pPr>
              <a:defRPr sz="2600" b="0" i="0">
                <a:solidFill>
                  <a:srgbClr val="0065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44288" y="6656474"/>
            <a:ext cx="2004061" cy="192360"/>
          </a:xfrm>
        </p:spPr>
        <p:txBody>
          <a:bodyPr lIns="0" tIns="0" rIns="0" bIns="0"/>
          <a:lstStyle>
            <a:lvl1pPr marL="1269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PHYS 5320 Chapter</a:t>
            </a:r>
            <a:r>
              <a:rPr lang="en-US" spc="-90" dirty="0"/>
              <a:t> </a:t>
            </a:r>
            <a:r>
              <a:rPr lang="en-US" spc="-30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20-Sep-23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863" y="6656476"/>
            <a:ext cx="248920" cy="577081"/>
          </a:xfrm>
        </p:spPr>
        <p:txBody>
          <a:bodyPr lIns="0" tIns="0" rIns="0" bIns="0"/>
          <a:lstStyle>
            <a:lvl1pPr marL="12438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81D60167-4931-47E6-BA6A-407CBD079E4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9774" y="456953"/>
            <a:ext cx="8833854" cy="538609"/>
          </a:xfrm>
        </p:spPr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7"/>
            <a:ext cx="465162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7"/>
            <a:ext cx="465162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344288" y="6656474"/>
            <a:ext cx="2004061" cy="192360"/>
          </a:xfrm>
        </p:spPr>
        <p:txBody>
          <a:bodyPr lIns="0" tIns="0" rIns="0" bIns="0"/>
          <a:lstStyle>
            <a:lvl1pPr marL="1269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PHYS 5320 Chapter</a:t>
            </a:r>
            <a:r>
              <a:rPr lang="en-US" spc="-90" dirty="0"/>
              <a:t> </a:t>
            </a:r>
            <a:r>
              <a:rPr lang="en-US" spc="-30" dirty="0"/>
              <a:t>Two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20-Sep-23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9144863" y="6656476"/>
            <a:ext cx="248920" cy="577081"/>
          </a:xfrm>
        </p:spPr>
        <p:txBody>
          <a:bodyPr lIns="0" tIns="0" rIns="0" bIns="0"/>
          <a:lstStyle>
            <a:lvl1pPr marL="12438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81D60167-4931-47E6-BA6A-407CBD079E4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9774" y="456953"/>
            <a:ext cx="8833854" cy="538609"/>
          </a:xfrm>
        </p:spPr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344288" y="6656474"/>
            <a:ext cx="2004061" cy="192360"/>
          </a:xfrm>
        </p:spPr>
        <p:txBody>
          <a:bodyPr lIns="0" tIns="0" rIns="0" bIns="0"/>
          <a:lstStyle>
            <a:lvl1pPr marL="1269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PHYS 5320 Chapter</a:t>
            </a:r>
            <a:r>
              <a:rPr lang="en-US" spc="-90" dirty="0"/>
              <a:t> </a:t>
            </a:r>
            <a:r>
              <a:rPr lang="en-US" spc="-30" dirty="0"/>
              <a:t>Two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20-Sep-23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144863" y="6656476"/>
            <a:ext cx="248920" cy="577081"/>
          </a:xfrm>
        </p:spPr>
        <p:txBody>
          <a:bodyPr lIns="0" tIns="0" rIns="0" bIns="0"/>
          <a:lstStyle>
            <a:lvl1pPr marL="12438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81D60167-4931-47E6-BA6A-407CBD079E4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344288" y="6656474"/>
            <a:ext cx="2004061" cy="192360"/>
          </a:xfrm>
        </p:spPr>
        <p:txBody>
          <a:bodyPr lIns="0" tIns="0" rIns="0" bIns="0"/>
          <a:lstStyle>
            <a:lvl1pPr marL="1269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PHYS 5320 Chapter</a:t>
            </a:r>
            <a:r>
              <a:rPr lang="en-US" spc="-90" dirty="0"/>
              <a:t> </a:t>
            </a:r>
            <a:r>
              <a:rPr lang="en-US" spc="-30" dirty="0"/>
              <a:t>Two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20-Sep-23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144863" y="6656476"/>
            <a:ext cx="248920" cy="577081"/>
          </a:xfrm>
        </p:spPr>
        <p:txBody>
          <a:bodyPr lIns="0" tIns="0" rIns="0" bIns="0"/>
          <a:lstStyle>
            <a:lvl1pPr marL="12438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81D60167-4931-47E6-BA6A-407CBD079E4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2349394"/>
            <a:ext cx="9089390" cy="16211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010" y="4285615"/>
            <a:ext cx="7485380" cy="1932728"/>
          </a:xfrm>
        </p:spPr>
        <p:txBody>
          <a:bodyPr/>
          <a:lstStyle>
            <a:lvl1pPr marL="0" indent="0" algn="ctr">
              <a:buNone/>
              <a:defRPr/>
            </a:lvl1pPr>
            <a:lvl2pPr marL="521249" indent="0" algn="ctr">
              <a:buNone/>
              <a:defRPr/>
            </a:lvl2pPr>
            <a:lvl3pPr marL="1042500" indent="0" algn="ctr">
              <a:buNone/>
              <a:defRPr/>
            </a:lvl3pPr>
            <a:lvl4pPr marL="1563749" indent="0" algn="ctr">
              <a:buNone/>
              <a:defRPr/>
            </a:lvl4pPr>
            <a:lvl5pPr marL="2084995" indent="0" algn="ctr">
              <a:buNone/>
              <a:defRPr/>
            </a:lvl5pPr>
            <a:lvl6pPr marL="2606248" indent="0" algn="ctr">
              <a:buNone/>
              <a:defRPr/>
            </a:lvl6pPr>
            <a:lvl7pPr marL="3127497" indent="0" algn="ctr">
              <a:buNone/>
              <a:defRPr/>
            </a:lvl7pPr>
            <a:lvl8pPr marL="3648748" indent="0" algn="ctr">
              <a:buNone/>
              <a:defRPr/>
            </a:lvl8pPr>
            <a:lvl9pPr marL="416999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 spd="slow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705" y="4859833"/>
            <a:ext cx="9089390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705" y="3205467"/>
            <a:ext cx="9089390" cy="1654373"/>
          </a:xfrm>
        </p:spPr>
        <p:txBody>
          <a:bodyPr anchor="b"/>
          <a:lstStyle>
            <a:lvl1pPr marL="0" indent="0">
              <a:buNone/>
              <a:defRPr sz="2300"/>
            </a:lvl1pPr>
            <a:lvl2pPr marL="521249" indent="0">
              <a:buNone/>
              <a:defRPr sz="2100"/>
            </a:lvl2pPr>
            <a:lvl3pPr marL="1042500" indent="0">
              <a:buNone/>
              <a:defRPr sz="1800"/>
            </a:lvl3pPr>
            <a:lvl4pPr marL="1563749" indent="0">
              <a:buNone/>
              <a:defRPr sz="1600"/>
            </a:lvl4pPr>
            <a:lvl5pPr marL="2084995" indent="0">
              <a:buNone/>
              <a:defRPr sz="1600"/>
            </a:lvl5pPr>
            <a:lvl6pPr marL="2606248" indent="0">
              <a:buNone/>
              <a:defRPr sz="1600"/>
            </a:lvl6pPr>
            <a:lvl7pPr marL="3127497" indent="0">
              <a:buNone/>
              <a:defRPr sz="1600"/>
            </a:lvl7pPr>
            <a:lvl8pPr marL="3648748" indent="0">
              <a:buNone/>
              <a:defRPr sz="1600"/>
            </a:lvl8pPr>
            <a:lvl9pPr marL="4169997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005" y="2184823"/>
            <a:ext cx="4455583" cy="4537710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5813" y="2184823"/>
            <a:ext cx="4455583" cy="4537710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302868"/>
            <a:ext cx="9624060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670" y="1692892"/>
            <a:ext cx="4724775" cy="705515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249" indent="0">
              <a:buNone/>
              <a:defRPr sz="2300" b="1"/>
            </a:lvl2pPr>
            <a:lvl3pPr marL="1042500" indent="0">
              <a:buNone/>
              <a:defRPr sz="2100" b="1"/>
            </a:lvl3pPr>
            <a:lvl4pPr marL="1563749" indent="0">
              <a:buNone/>
              <a:defRPr sz="1800" b="1"/>
            </a:lvl4pPr>
            <a:lvl5pPr marL="2084995" indent="0">
              <a:buNone/>
              <a:defRPr sz="1800" b="1"/>
            </a:lvl5pPr>
            <a:lvl6pPr marL="2606248" indent="0">
              <a:buNone/>
              <a:defRPr sz="1800" b="1"/>
            </a:lvl6pPr>
            <a:lvl7pPr marL="3127497" indent="0">
              <a:buNone/>
              <a:defRPr sz="1800" b="1"/>
            </a:lvl7pPr>
            <a:lvl8pPr marL="3648748" indent="0">
              <a:buNone/>
              <a:defRPr sz="1800" b="1"/>
            </a:lvl8pPr>
            <a:lvl9pPr marL="4169997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670" y="2398408"/>
            <a:ext cx="4724775" cy="435739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2108" y="1692892"/>
            <a:ext cx="4726631" cy="705515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249" indent="0">
              <a:buNone/>
              <a:defRPr sz="2300" b="1"/>
            </a:lvl2pPr>
            <a:lvl3pPr marL="1042500" indent="0">
              <a:buNone/>
              <a:defRPr sz="2100" b="1"/>
            </a:lvl3pPr>
            <a:lvl4pPr marL="1563749" indent="0">
              <a:buNone/>
              <a:defRPr sz="1800" b="1"/>
            </a:lvl4pPr>
            <a:lvl5pPr marL="2084995" indent="0">
              <a:buNone/>
              <a:defRPr sz="1800" b="1"/>
            </a:lvl5pPr>
            <a:lvl6pPr marL="2606248" indent="0">
              <a:buNone/>
              <a:defRPr sz="1800" b="1"/>
            </a:lvl6pPr>
            <a:lvl7pPr marL="3127497" indent="0">
              <a:buNone/>
              <a:defRPr sz="1800" b="1"/>
            </a:lvl7pPr>
            <a:lvl8pPr marL="3648748" indent="0">
              <a:buNone/>
              <a:defRPr sz="1800" b="1"/>
            </a:lvl8pPr>
            <a:lvl9pPr marL="4169997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2108" y="2398408"/>
            <a:ext cx="4726631" cy="435739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slow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9" y="301113"/>
            <a:ext cx="3518055" cy="1281483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822" y="301122"/>
            <a:ext cx="5977908" cy="645468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679" y="1582598"/>
            <a:ext cx="3518055" cy="5173200"/>
          </a:xfrm>
        </p:spPr>
        <p:txBody>
          <a:bodyPr/>
          <a:lstStyle>
            <a:lvl1pPr marL="0" indent="0">
              <a:buNone/>
              <a:defRPr sz="1600"/>
            </a:lvl1pPr>
            <a:lvl2pPr marL="521249" indent="0">
              <a:buNone/>
              <a:defRPr sz="1400"/>
            </a:lvl2pPr>
            <a:lvl3pPr marL="1042500" indent="0">
              <a:buNone/>
              <a:defRPr sz="1100"/>
            </a:lvl3pPr>
            <a:lvl4pPr marL="1563749" indent="0">
              <a:buNone/>
              <a:defRPr sz="1000"/>
            </a:lvl4pPr>
            <a:lvl5pPr marL="2084995" indent="0">
              <a:buNone/>
              <a:defRPr sz="1000"/>
            </a:lvl5pPr>
            <a:lvl6pPr marL="2606248" indent="0">
              <a:buNone/>
              <a:defRPr sz="1000"/>
            </a:lvl6pPr>
            <a:lvl7pPr marL="3127497" indent="0">
              <a:buNone/>
              <a:defRPr sz="1000"/>
            </a:lvl7pPr>
            <a:lvl8pPr marL="3648748" indent="0">
              <a:buNone/>
              <a:defRPr sz="1000"/>
            </a:lvl8pPr>
            <a:lvl9pPr marL="416999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981" y="5293995"/>
            <a:ext cx="6416040" cy="6249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981" y="675755"/>
            <a:ext cx="6416040" cy="4537710"/>
          </a:xfrm>
        </p:spPr>
        <p:txBody>
          <a:bodyPr/>
          <a:lstStyle>
            <a:lvl1pPr marL="0" indent="0">
              <a:buNone/>
              <a:defRPr sz="3700"/>
            </a:lvl1pPr>
            <a:lvl2pPr marL="521249" indent="0">
              <a:buNone/>
              <a:defRPr sz="3200"/>
            </a:lvl2pPr>
            <a:lvl3pPr marL="1042500" indent="0">
              <a:buNone/>
              <a:defRPr sz="2700"/>
            </a:lvl3pPr>
            <a:lvl4pPr marL="1563749" indent="0">
              <a:buNone/>
              <a:defRPr sz="2300"/>
            </a:lvl4pPr>
            <a:lvl5pPr marL="2084995" indent="0">
              <a:buNone/>
              <a:defRPr sz="2300"/>
            </a:lvl5pPr>
            <a:lvl6pPr marL="2606248" indent="0">
              <a:buNone/>
              <a:defRPr sz="2300"/>
            </a:lvl6pPr>
            <a:lvl7pPr marL="3127497" indent="0">
              <a:buNone/>
              <a:defRPr sz="2300"/>
            </a:lvl7pPr>
            <a:lvl8pPr marL="3648748" indent="0">
              <a:buNone/>
              <a:defRPr sz="2300"/>
            </a:lvl8pPr>
            <a:lvl9pPr marL="4169997" indent="0">
              <a:buNone/>
              <a:defRPr sz="23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981" y="5918981"/>
            <a:ext cx="6416040" cy="887584"/>
          </a:xfrm>
        </p:spPr>
        <p:txBody>
          <a:bodyPr/>
          <a:lstStyle>
            <a:lvl1pPr marL="0" indent="0">
              <a:buNone/>
              <a:defRPr sz="1600"/>
            </a:lvl1pPr>
            <a:lvl2pPr marL="521249" indent="0">
              <a:buNone/>
              <a:defRPr sz="1400"/>
            </a:lvl2pPr>
            <a:lvl3pPr marL="1042500" indent="0">
              <a:buNone/>
              <a:defRPr sz="1100"/>
            </a:lvl3pPr>
            <a:lvl4pPr marL="1563749" indent="0">
              <a:buNone/>
              <a:defRPr sz="1000"/>
            </a:lvl4pPr>
            <a:lvl5pPr marL="2084995" indent="0">
              <a:buNone/>
              <a:defRPr sz="1000"/>
            </a:lvl5pPr>
            <a:lvl6pPr marL="2606248" indent="0">
              <a:buNone/>
              <a:defRPr sz="1000"/>
            </a:lvl6pPr>
            <a:lvl7pPr marL="3127497" indent="0">
              <a:buNone/>
              <a:defRPr sz="1000"/>
            </a:lvl7pPr>
            <a:lvl8pPr marL="3648748" indent="0">
              <a:buNone/>
              <a:defRPr sz="1000"/>
            </a:lvl8pPr>
            <a:lvl9pPr marL="416999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slow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19047" y="672253"/>
            <a:ext cx="2272348" cy="60502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005" y="672253"/>
            <a:ext cx="6638819" cy="60502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slow"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9774" y="456953"/>
            <a:ext cx="8833854" cy="5463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0" i="0">
                <a:solidFill>
                  <a:schemeClr val="tx1"/>
                </a:solidFill>
                <a:latin typeface="Symbol"/>
                <a:cs typeface="Symbo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63181" y="1528318"/>
            <a:ext cx="77670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0656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44288" y="6656474"/>
            <a:ext cx="2004061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69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PHYS 5320 Chapter</a:t>
            </a:r>
            <a:r>
              <a:rPr lang="en-US" spc="-90" dirty="0"/>
              <a:t> </a:t>
            </a:r>
            <a:r>
              <a:rPr lang="en-US" spc="-30" dirty="0"/>
              <a:t>Two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7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20-Sep-23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4863" y="6656476"/>
            <a:ext cx="248920" cy="577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4383">
              <a:lnSpc>
                <a:spcPts val="1515"/>
              </a:lnSpc>
              <a:defRPr sz="1400" b="0" i="0" spc="-5" dirty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fld id="{81D60167-4931-47E6-BA6A-407CBD079E4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 advClick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6919">
        <a:defRPr>
          <a:latin typeface="+mn-lt"/>
          <a:ea typeface="+mn-ea"/>
          <a:cs typeface="+mn-cs"/>
        </a:defRPr>
      </a:lvl2pPr>
      <a:lvl3pPr marL="913833">
        <a:defRPr>
          <a:latin typeface="+mn-lt"/>
          <a:ea typeface="+mn-ea"/>
          <a:cs typeface="+mn-cs"/>
        </a:defRPr>
      </a:lvl3pPr>
      <a:lvl4pPr marL="1370749">
        <a:defRPr>
          <a:latin typeface="+mn-lt"/>
          <a:ea typeface="+mn-ea"/>
          <a:cs typeface="+mn-cs"/>
        </a:defRPr>
      </a:lvl4pPr>
      <a:lvl5pPr marL="1827663">
        <a:defRPr>
          <a:latin typeface="+mn-lt"/>
          <a:ea typeface="+mn-ea"/>
          <a:cs typeface="+mn-cs"/>
        </a:defRPr>
      </a:lvl5pPr>
      <a:lvl6pPr marL="2284579">
        <a:defRPr>
          <a:latin typeface="+mn-lt"/>
          <a:ea typeface="+mn-ea"/>
          <a:cs typeface="+mn-cs"/>
        </a:defRPr>
      </a:lvl6pPr>
      <a:lvl7pPr marL="2741499">
        <a:defRPr>
          <a:latin typeface="+mn-lt"/>
          <a:ea typeface="+mn-ea"/>
          <a:cs typeface="+mn-cs"/>
        </a:defRPr>
      </a:lvl7pPr>
      <a:lvl8pPr marL="3198412">
        <a:defRPr>
          <a:latin typeface="+mn-lt"/>
          <a:ea typeface="+mn-ea"/>
          <a:cs typeface="+mn-cs"/>
        </a:defRPr>
      </a:lvl8pPr>
      <a:lvl9pPr marL="365533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6919">
        <a:defRPr>
          <a:latin typeface="+mn-lt"/>
          <a:ea typeface="+mn-ea"/>
          <a:cs typeface="+mn-cs"/>
        </a:defRPr>
      </a:lvl2pPr>
      <a:lvl3pPr marL="913833">
        <a:defRPr>
          <a:latin typeface="+mn-lt"/>
          <a:ea typeface="+mn-ea"/>
          <a:cs typeface="+mn-cs"/>
        </a:defRPr>
      </a:lvl3pPr>
      <a:lvl4pPr marL="1370749">
        <a:defRPr>
          <a:latin typeface="+mn-lt"/>
          <a:ea typeface="+mn-ea"/>
          <a:cs typeface="+mn-cs"/>
        </a:defRPr>
      </a:lvl4pPr>
      <a:lvl5pPr marL="1827663">
        <a:defRPr>
          <a:latin typeface="+mn-lt"/>
          <a:ea typeface="+mn-ea"/>
          <a:cs typeface="+mn-cs"/>
        </a:defRPr>
      </a:lvl5pPr>
      <a:lvl6pPr marL="2284579">
        <a:defRPr>
          <a:latin typeface="+mn-lt"/>
          <a:ea typeface="+mn-ea"/>
          <a:cs typeface="+mn-cs"/>
        </a:defRPr>
      </a:lvl6pPr>
      <a:lvl7pPr marL="2741499">
        <a:defRPr>
          <a:latin typeface="+mn-lt"/>
          <a:ea typeface="+mn-ea"/>
          <a:cs typeface="+mn-cs"/>
        </a:defRPr>
      </a:lvl7pPr>
      <a:lvl8pPr marL="3198412">
        <a:defRPr>
          <a:latin typeface="+mn-lt"/>
          <a:ea typeface="+mn-ea"/>
          <a:cs typeface="+mn-cs"/>
        </a:defRPr>
      </a:lvl8pPr>
      <a:lvl9pPr marL="365533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02005" y="672253"/>
            <a:ext cx="9089390" cy="1260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103165" tIns="50677" rIns="103165" bIns="5067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2005" y="2184823"/>
            <a:ext cx="9089390" cy="45377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103165" tIns="50677" rIns="103165" bIns="506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ransition spd="slow"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5pPr>
      <a:lvl6pPr marL="521249"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6pPr>
      <a:lvl7pPr marL="1042500"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7pPr>
      <a:lvl8pPr marL="1563749"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8pPr>
      <a:lvl9pPr marL="2084995" algn="ctr" rtl="0" eaLnBrk="0" fontAlgn="base" hangingPunct="0">
        <a:spcBef>
          <a:spcPct val="0"/>
        </a:spcBef>
        <a:spcAft>
          <a:spcPct val="0"/>
        </a:spcAft>
        <a:defRPr sz="5000">
          <a:solidFill>
            <a:srgbClr val="008000"/>
          </a:solidFill>
          <a:latin typeface="Times New Roman" pitchFamily="18" charset="0"/>
        </a:defRPr>
      </a:lvl9pPr>
    </p:titleStyle>
    <p:bodyStyle>
      <a:lvl1pPr marL="390938" indent="-390938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700">
          <a:solidFill>
            <a:schemeClr val="tx1"/>
          </a:solidFill>
          <a:latin typeface="+mn-lt"/>
          <a:ea typeface="+mn-ea"/>
          <a:cs typeface="+mn-cs"/>
        </a:defRPr>
      </a:lvl1pPr>
      <a:lvl2pPr marL="847030" indent="-325783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3200">
          <a:solidFill>
            <a:schemeClr val="tx1"/>
          </a:solidFill>
          <a:latin typeface="+mn-lt"/>
        </a:defRPr>
      </a:lvl2pPr>
      <a:lvl3pPr marL="1303123" indent="-260621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700">
          <a:solidFill>
            <a:schemeClr val="tx1"/>
          </a:solidFill>
          <a:latin typeface="+mn-lt"/>
        </a:defRPr>
      </a:lvl3pPr>
      <a:lvl4pPr marL="1824374" indent="-260621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300">
          <a:solidFill>
            <a:schemeClr val="tx1"/>
          </a:solidFill>
          <a:latin typeface="+mn-lt"/>
        </a:defRPr>
      </a:lvl4pPr>
      <a:lvl5pPr marL="2345622" indent="-260621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300">
          <a:solidFill>
            <a:schemeClr val="tx1"/>
          </a:solidFill>
          <a:latin typeface="+mn-lt"/>
        </a:defRPr>
      </a:lvl5pPr>
      <a:lvl6pPr marL="2866871" indent="-260621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300">
          <a:solidFill>
            <a:schemeClr val="tx1"/>
          </a:solidFill>
          <a:latin typeface="+mn-lt"/>
        </a:defRPr>
      </a:lvl6pPr>
      <a:lvl7pPr marL="3388124" indent="-260621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300">
          <a:solidFill>
            <a:schemeClr val="tx1"/>
          </a:solidFill>
          <a:latin typeface="+mn-lt"/>
        </a:defRPr>
      </a:lvl7pPr>
      <a:lvl8pPr marL="3909369" indent="-260621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300">
          <a:solidFill>
            <a:schemeClr val="tx1"/>
          </a:solidFill>
          <a:latin typeface="+mn-lt"/>
        </a:defRPr>
      </a:lvl8pPr>
      <a:lvl9pPr marL="4430623" indent="-260621" algn="l" rtl="0" eaLnBrk="0" fontAlgn="base" hangingPunct="0">
        <a:spcBef>
          <a:spcPct val="20000"/>
        </a:spcBef>
        <a:spcAft>
          <a:spcPct val="0"/>
        </a:spcAft>
        <a:buSzPct val="100000"/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249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500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3749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4995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6248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7497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8748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69997" algn="l" defTabSz="10425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5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image" Target="../media/image43.jpe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4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02005" y="1092412"/>
            <a:ext cx="9000278" cy="1692771"/>
          </a:xfrm>
        </p:spPr>
        <p:txBody>
          <a:bodyPr/>
          <a:lstStyle/>
          <a:p>
            <a:pPr algn="ctr"/>
            <a:r>
              <a:rPr lang="en-US" sz="5500" b="1" dirty="0"/>
              <a:t>Wave Natures and Ray Transmission</a:t>
            </a:r>
            <a:endParaRPr lang="en-CA" sz="5500" b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91120" y="4873842"/>
            <a:ext cx="7307157" cy="1351763"/>
          </a:xfrm>
          <a:prstGeom prst="rect">
            <a:avLst/>
          </a:prstGeom>
        </p:spPr>
        <p:txBody>
          <a:bodyPr lIns="104250" tIns="52125" rIns="104250" bIns="52125"/>
          <a:lstStyle/>
          <a:p>
            <a:pPr algn="l"/>
            <a:r>
              <a:rPr lang="en-US" sz="2700" dirty="0">
                <a:solidFill>
                  <a:srgbClr val="0033CC"/>
                </a:solidFill>
              </a:rPr>
              <a:t>Dr. </a:t>
            </a:r>
            <a:r>
              <a:rPr lang="en-US" sz="2700" dirty="0" err="1">
                <a:solidFill>
                  <a:srgbClr val="0033CC"/>
                </a:solidFill>
              </a:rPr>
              <a:t>Monir</a:t>
            </a:r>
            <a:r>
              <a:rPr lang="en-US" sz="2700" dirty="0">
                <a:solidFill>
                  <a:srgbClr val="0033CC"/>
                </a:solidFill>
              </a:rPr>
              <a:t> </a:t>
            </a:r>
            <a:r>
              <a:rPr lang="en-US" sz="2700" dirty="0" err="1">
                <a:solidFill>
                  <a:srgbClr val="0033CC"/>
                </a:solidFill>
              </a:rPr>
              <a:t>Morshed</a:t>
            </a:r>
            <a:endParaRPr lang="en-US" sz="2700" dirty="0">
              <a:solidFill>
                <a:srgbClr val="0033CC"/>
              </a:solidFill>
            </a:endParaRPr>
          </a:p>
          <a:p>
            <a:pPr algn="l"/>
            <a:r>
              <a:rPr lang="en-US" sz="2700" dirty="0">
                <a:solidFill>
                  <a:srgbClr val="0033CC"/>
                </a:solidFill>
              </a:rPr>
              <a:t>Professor</a:t>
            </a:r>
          </a:p>
          <a:p>
            <a:pPr algn="l"/>
            <a:r>
              <a:rPr lang="en-US" sz="2700" dirty="0">
                <a:solidFill>
                  <a:srgbClr val="0033CC"/>
                </a:solidFill>
              </a:rPr>
              <a:t>Dept. of ICT, MBSTU</a:t>
            </a:r>
          </a:p>
        </p:txBody>
      </p:sp>
      <p:pic>
        <p:nvPicPr>
          <p:cNvPr id="8196" name="Picture 7" descr="http://questgarden.com/78/94/2/090324173857/images/hough_waves3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46700" y="3233586"/>
            <a:ext cx="4633807" cy="3088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50900" y="200025"/>
            <a:ext cx="9089390" cy="7562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The Nature of Light</a:t>
            </a:r>
            <a:endParaRPr lang="en-CA" b="1" dirty="0">
              <a:solidFill>
                <a:srgbClr val="FFC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038225"/>
            <a:ext cx="9448800" cy="6112298"/>
          </a:xfrm>
        </p:spPr>
        <p:txBody>
          <a:bodyPr/>
          <a:lstStyle/>
          <a:p>
            <a:pPr>
              <a:buNone/>
            </a:pPr>
            <a:r>
              <a:rPr lang="en-US" sz="3200" dirty="0">
                <a:solidFill>
                  <a:schemeClr val="accent2"/>
                </a:solidFill>
              </a:rPr>
              <a:t>There are three theories explain the nature of light:</a:t>
            </a:r>
          </a:p>
          <a:p>
            <a:pPr algn="just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dirty="0">
                <a:solidFill>
                  <a:schemeClr val="accent2"/>
                </a:solidFill>
              </a:rPr>
              <a:t>Quantum Theory</a:t>
            </a:r>
            <a:r>
              <a:rPr lang="en-US" sz="3200" dirty="0"/>
              <a:t> – Light consists of small particles (photons). This theory better explains light detection and generation processes.</a:t>
            </a:r>
          </a:p>
          <a:p>
            <a:pPr algn="just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dirty="0">
                <a:solidFill>
                  <a:schemeClr val="accent2"/>
                </a:solidFill>
              </a:rPr>
              <a:t>Wave Theory</a:t>
            </a:r>
            <a:r>
              <a:rPr lang="en-US" sz="3200" dirty="0"/>
              <a:t> – Light travels as a </a:t>
            </a:r>
            <a:r>
              <a:rPr lang="en-US" sz="3200" i="1" dirty="0"/>
              <a:t>transverse</a:t>
            </a:r>
            <a:r>
              <a:rPr lang="en-US" sz="3200" dirty="0"/>
              <a:t> electromagnetic wave.</a:t>
            </a:r>
          </a:p>
          <a:p>
            <a:pPr algn="just"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200" dirty="0">
                <a:solidFill>
                  <a:schemeClr val="accent2"/>
                </a:solidFill>
              </a:rPr>
              <a:t>Ray Theory</a:t>
            </a:r>
            <a:r>
              <a:rPr lang="en-US" sz="3200" dirty="0"/>
              <a:t> – Light travels along a straight line and obeys laws of </a:t>
            </a:r>
            <a:r>
              <a:rPr lang="en-US" sz="3200" i="1" dirty="0"/>
              <a:t>geometrical optics – </a:t>
            </a:r>
            <a:r>
              <a:rPr lang="en-US" sz="3200" dirty="0">
                <a:solidFill>
                  <a:srgbClr val="008000"/>
                </a:solidFill>
              </a:rPr>
              <a:t>useful</a:t>
            </a:r>
            <a:r>
              <a:rPr lang="en-US" sz="3200" i="1" dirty="0">
                <a:solidFill>
                  <a:srgbClr val="008000"/>
                </a:solidFill>
              </a:rPr>
              <a:t> </a:t>
            </a:r>
            <a:r>
              <a:rPr lang="en-US" sz="3200" dirty="0">
                <a:solidFill>
                  <a:srgbClr val="008000"/>
                </a:solidFill>
              </a:rPr>
              <a:t>tool when the objects are much larger than the wavelength of light</a:t>
            </a:r>
            <a:endParaRPr lang="en-CA" sz="32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200026"/>
            <a:ext cx="9089390" cy="609600"/>
          </a:xfrm>
        </p:spPr>
        <p:txBody>
          <a:bodyPr/>
          <a:lstStyle/>
          <a:p>
            <a:r>
              <a:rPr lang="en-US" sz="3600" dirty="0">
                <a:solidFill>
                  <a:srgbClr val="FFC000"/>
                </a:solidFill>
              </a:rPr>
              <a:t>The dual nature of 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900" y="1419225"/>
            <a:ext cx="9089390" cy="4876800"/>
          </a:xfrm>
        </p:spPr>
        <p:txBody>
          <a:bodyPr/>
          <a:lstStyle/>
          <a:p>
            <a:pPr marL="0" algn="just">
              <a:spcAft>
                <a:spcPts val="600"/>
              </a:spcAft>
              <a:buNone/>
            </a:pPr>
            <a:r>
              <a:rPr lang="en-US" sz="3200" dirty="0"/>
              <a:t>Scientists have observed that light energy can behave </a:t>
            </a:r>
          </a:p>
          <a:p>
            <a:pPr marL="0" algn="just">
              <a:spcAft>
                <a:spcPts val="600"/>
              </a:spcAft>
              <a:buNone/>
            </a:pPr>
            <a:r>
              <a:rPr lang="en-US" sz="3200" dirty="0"/>
              <a:t>like a wave as it moves through space, or it can behave like a discrete particle with a discrete amount </a:t>
            </a:r>
          </a:p>
          <a:p>
            <a:pPr marL="0" algn="just">
              <a:spcAft>
                <a:spcPts val="600"/>
              </a:spcAft>
              <a:buNone/>
            </a:pPr>
            <a:r>
              <a:rPr lang="en-US" sz="3200" dirty="0"/>
              <a:t>of energy (quantum) that can be absorbed and emitted. As we study and use light, both models are helpful.  Two models are:</a:t>
            </a:r>
          </a:p>
          <a:p>
            <a:pPr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3200" dirty="0"/>
              <a:t>Quantum Theory of Light</a:t>
            </a:r>
          </a:p>
          <a:p>
            <a:pPr algn="just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3200" dirty="0"/>
              <a:t>Wave Theory of Light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229600" y="65532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4FF11F-FCC3-44AE-ADED-BB04A4DEBDCA}" type="slidenum">
              <a:rPr lang="en-US" altLang="en-US" smtClean="0"/>
              <a:pPr>
                <a:defRPr/>
              </a:pPr>
              <a:t>4</a:t>
            </a:fld>
            <a:endParaRPr lang="en-US" altLang="en-US" sz="1544">
              <a:solidFill>
                <a:schemeClr val="tx1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72312" y="228457"/>
            <a:ext cx="9089390" cy="614483"/>
          </a:xfrm>
        </p:spPr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Wave Nature of Light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1026790" y="1208184"/>
            <a:ext cx="9311760" cy="2129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Char char="•"/>
            </a:pPr>
            <a:r>
              <a:rPr lang="en-US" altLang="en-US" sz="2647" dirty="0"/>
              <a:t> </a:t>
            </a:r>
            <a:r>
              <a:rPr lang="en-US" altLang="en-US" sz="2647" b="1" dirty="0"/>
              <a:t>Newton (1680) b</a:t>
            </a:r>
            <a:r>
              <a:rPr lang="en-US" altLang="en-US" sz="2647" dirty="0"/>
              <a:t>elieved in the particle theory of light. </a:t>
            </a:r>
            <a:r>
              <a:rPr lang="en-US" altLang="en-US" sz="2647" dirty="0">
                <a:latin typeface="Arial" panose="020B0604020202020204" pitchFamily="34" charset="0"/>
              </a:rPr>
              <a:t>In </a:t>
            </a:r>
            <a:r>
              <a:rPr lang="en-US" altLang="en-US" sz="2647" b="1" dirty="0">
                <a:latin typeface="Arial" panose="020B0604020202020204" pitchFamily="34" charset="0"/>
              </a:rPr>
              <a:t>reflection</a:t>
            </a:r>
            <a:r>
              <a:rPr lang="en-US" altLang="en-US" sz="2647" dirty="0">
                <a:latin typeface="Arial" panose="020B0604020202020204" pitchFamily="34" charset="0"/>
              </a:rPr>
              <a:t> and </a:t>
            </a:r>
            <a:r>
              <a:rPr lang="en-US" altLang="en-US" sz="2647" b="1" dirty="0">
                <a:latin typeface="Arial" panose="020B0604020202020204" pitchFamily="34" charset="0"/>
              </a:rPr>
              <a:t>refraction</a:t>
            </a:r>
            <a:r>
              <a:rPr lang="en-US" altLang="en-US" sz="2647" dirty="0">
                <a:latin typeface="Arial" panose="020B0604020202020204" pitchFamily="34" charset="0"/>
              </a:rPr>
              <a:t>, light behaved as a particle. </a:t>
            </a:r>
            <a:r>
              <a:rPr lang="en-US" altLang="en-US" sz="2647" dirty="0"/>
              <a:t>He explained the straight-line casting of sharp shadows of objects placed in a light   beam. But he could not explain the textures of shadows</a:t>
            </a:r>
            <a:r>
              <a:rPr lang="en-US" altLang="en-US" sz="2647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943792" y="3489066"/>
            <a:ext cx="6325133" cy="306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Char char="•"/>
            </a:pPr>
            <a:r>
              <a:rPr lang="en-US" altLang="en-US" sz="2536" b="1" dirty="0"/>
              <a:t> Young (1800) –</a:t>
            </a:r>
            <a:r>
              <a:rPr lang="en-US" altLang="en-US" sz="2536" dirty="0"/>
              <a:t> Showed that light interfered with itself.</a:t>
            </a:r>
            <a:r>
              <a:rPr lang="en-US" altLang="en-US" sz="2536" b="1" dirty="0"/>
              <a:t> Wave theory:</a:t>
            </a:r>
            <a:r>
              <a:rPr lang="en-US" altLang="en-US" sz="2536" dirty="0">
                <a:solidFill>
                  <a:schemeClr val="tx1"/>
                </a:solidFill>
              </a:rPr>
              <a:t> </a:t>
            </a:r>
            <a:r>
              <a:rPr lang="en-US" altLang="en-US" sz="2536" dirty="0"/>
              <a:t>Explains </a:t>
            </a:r>
            <a:r>
              <a:rPr lang="en-US" altLang="en-US" sz="2647" dirty="0"/>
              <a:t>interference, diffraction, and dispersion.</a:t>
            </a:r>
          </a:p>
          <a:p>
            <a:pPr algn="just">
              <a:spcBef>
                <a:spcPct val="0"/>
              </a:spcBef>
              <a:buFontTx/>
              <a:buChar char="•"/>
            </a:pPr>
            <a:r>
              <a:rPr lang="en-US" altLang="en-US" sz="2536" dirty="0"/>
              <a:t>The wave theory is also able to account for the fact that the edges of a shadow are not quite sharp.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985" dirty="0">
                <a:solidFill>
                  <a:srgbClr val="F80836"/>
                </a:solidFill>
              </a:rPr>
              <a:t>This theory describes:</a:t>
            </a:r>
            <a:r>
              <a:rPr lang="en-US" altLang="en-US" sz="1985" dirty="0"/>
              <a:t> </a:t>
            </a:r>
            <a:r>
              <a:rPr lang="en-US" altLang="en-US" sz="1985" i="1" dirty="0"/>
              <a:t>Propagation, reflection, refraction </a:t>
            </a:r>
            <a:r>
              <a:rPr lang="en-US" altLang="en-US" sz="1985" dirty="0"/>
              <a:t>and</a:t>
            </a:r>
            <a:r>
              <a:rPr lang="en-US" altLang="en-US" sz="1985" i="1" dirty="0"/>
              <a:t> attenuation</a:t>
            </a:r>
            <a:endParaRPr lang="en-US" altLang="en-US" sz="1985" dirty="0">
              <a:solidFill>
                <a:schemeClr val="tx1"/>
              </a:solidFill>
            </a:endParaRPr>
          </a:p>
        </p:txBody>
      </p:sp>
      <p:pic>
        <p:nvPicPr>
          <p:cNvPr id="39942" name="Picture 6" descr="D:\A(FG)\LECTUER\OPICS\General\fig-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916" y="6129060"/>
            <a:ext cx="1430290" cy="107665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7172639" y="6384656"/>
            <a:ext cx="3047898" cy="669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764" dirty="0">
                <a:solidFill>
                  <a:schemeClr val="tx1"/>
                </a:solidFill>
              </a:rPr>
              <a:t>G </a:t>
            </a:r>
            <a:r>
              <a:rPr lang="en-US" altLang="en-US" sz="1764" dirty="0" err="1">
                <a:solidFill>
                  <a:schemeClr val="tx1"/>
                </a:solidFill>
              </a:rPr>
              <a:t>Ekspong</a:t>
            </a:r>
            <a:r>
              <a:rPr lang="en-US" altLang="en-US" sz="1764" dirty="0">
                <a:solidFill>
                  <a:schemeClr val="tx1"/>
                </a:solidFill>
              </a:rPr>
              <a:t>, Stockholm University, Sweden, 1999</a:t>
            </a:r>
            <a:r>
              <a:rPr lang="en-US" altLang="en-US" sz="1985" dirty="0">
                <a:solidFill>
                  <a:schemeClr val="tx1"/>
                </a:solidFill>
              </a:rPr>
              <a:t>.</a:t>
            </a:r>
            <a:endParaRPr lang="en-US" altLang="en-US" sz="2647" dirty="0">
              <a:solidFill>
                <a:schemeClr val="tx1"/>
              </a:solidFill>
            </a:endParaRPr>
          </a:p>
        </p:txBody>
      </p:sp>
      <p:pic>
        <p:nvPicPr>
          <p:cNvPr id="8" name="Picture 5" descr="ripple_tan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44416" y="3499569"/>
            <a:ext cx="1242968" cy="1260475"/>
          </a:xfrm>
          <a:prstGeom prst="rect">
            <a:avLst/>
          </a:prstGeom>
          <a:noFill/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</p:pic>
      <p:pic>
        <p:nvPicPr>
          <p:cNvPr id="9" name="Picture 4" descr="Newton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7056" y="1405780"/>
            <a:ext cx="647744" cy="887584"/>
          </a:xfrm>
          <a:prstGeom prst="rect">
            <a:avLst/>
          </a:prstGeom>
          <a:noFill/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6816" y="3622116"/>
            <a:ext cx="617983" cy="791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</p:pic>
      <p:pic>
        <p:nvPicPr>
          <p:cNvPr id="17419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479" y="3503071"/>
            <a:ext cx="1318247" cy="132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0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737" y="4945614"/>
            <a:ext cx="2559465" cy="1251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1" name="Rectangle 3"/>
          <p:cNvSpPr>
            <a:spLocks noChangeArrowheads="1"/>
          </p:cNvSpPr>
          <p:nvPr/>
        </p:nvSpPr>
        <p:spPr bwMode="auto">
          <a:xfrm>
            <a:off x="7239164" y="3256227"/>
            <a:ext cx="1227837" cy="32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44" b="1">
                <a:solidFill>
                  <a:schemeClr val="tx1"/>
                </a:solidFill>
              </a:rPr>
              <a:t>Interference</a:t>
            </a:r>
            <a:endParaRPr lang="en-GB" altLang="en-US" sz="1544" b="1">
              <a:solidFill>
                <a:schemeClr val="tx1"/>
              </a:solidFill>
            </a:endParaRPr>
          </a:p>
        </p:txBody>
      </p:sp>
      <p:sp>
        <p:nvSpPr>
          <p:cNvPr id="17422" name="Rectangle 4"/>
          <p:cNvSpPr>
            <a:spLocks noChangeArrowheads="1"/>
          </p:cNvSpPr>
          <p:nvPr/>
        </p:nvSpPr>
        <p:spPr bwMode="auto">
          <a:xfrm>
            <a:off x="8739479" y="3242222"/>
            <a:ext cx="1119217" cy="32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44" b="1">
                <a:solidFill>
                  <a:schemeClr val="tx1"/>
                </a:solidFill>
              </a:rPr>
              <a:t>Diffraction</a:t>
            </a:r>
            <a:endParaRPr lang="en-GB" altLang="en-US" sz="1544" b="1">
              <a:solidFill>
                <a:schemeClr val="tx1"/>
              </a:solidFill>
            </a:endParaRPr>
          </a:p>
        </p:txBody>
      </p:sp>
      <p:sp>
        <p:nvSpPr>
          <p:cNvPr id="17423" name="Rectangle 5"/>
          <p:cNvSpPr>
            <a:spLocks noChangeArrowheads="1"/>
          </p:cNvSpPr>
          <p:nvPr/>
        </p:nvSpPr>
        <p:spPr bwMode="auto">
          <a:xfrm>
            <a:off x="7955183" y="4711026"/>
            <a:ext cx="1087157" cy="32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44" b="1">
                <a:solidFill>
                  <a:schemeClr val="tx1"/>
                </a:solidFill>
              </a:rPr>
              <a:t>Dispersion</a:t>
            </a:r>
            <a:endParaRPr lang="en-GB" altLang="en-US" sz="1544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utoUpdateAnimBg="0"/>
      <p:bldP spid="39940" grpId="0" autoUpdateAnimBg="0"/>
      <p:bldP spid="3994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882707" y="461950"/>
            <a:ext cx="9089390" cy="638200"/>
          </a:xfrm>
        </p:spPr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Wave Nature of Light - </a:t>
            </a:r>
            <a:r>
              <a:rPr lang="en-US" altLang="en-US" sz="1985" i="1" dirty="0">
                <a:solidFill>
                  <a:srgbClr val="FFC000"/>
                </a:solidFill>
              </a:rPr>
              <a:t>contd.</a:t>
            </a:r>
            <a:endParaRPr lang="en-US" altLang="en-US" dirty="0">
              <a:solidFill>
                <a:srgbClr val="FFC000"/>
              </a:solidFill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216895" y="1512571"/>
            <a:ext cx="8770805" cy="2943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b="1" dirty="0"/>
              <a:t>James Clerk Maxwell</a:t>
            </a:r>
            <a:r>
              <a:rPr lang="en-US" altLang="en-US" sz="2647" dirty="0"/>
              <a:t> </a:t>
            </a:r>
            <a:r>
              <a:rPr lang="en-US" altLang="en-US" sz="2647" b="1" dirty="0"/>
              <a:t>(1850) - </a:t>
            </a:r>
            <a:r>
              <a:rPr lang="en-US" altLang="en-US" sz="2647" dirty="0"/>
              <a:t>Mathematical theory of electromagnetism led to the view that light is of electromagnetic nature, propagating as a wave from the source to the receiver. 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altLang="en-US" sz="2647" dirty="0"/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b="1" dirty="0"/>
              <a:t>Heinrich Hertz (1887) - </a:t>
            </a:r>
            <a:r>
              <a:rPr lang="en-US" altLang="en-US" sz="2647" dirty="0"/>
              <a:t>Discovered experimentally the existence of electromagnetic waves at radio-frequencies.</a:t>
            </a:r>
            <a:r>
              <a:rPr lang="en-US" altLang="en-US" sz="2647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724958" y="4957869"/>
            <a:ext cx="9147198" cy="907043"/>
          </a:xfrm>
          <a:prstGeom prst="rect">
            <a:avLst/>
          </a:prstGeom>
          <a:noFill/>
          <a:ln w="9525">
            <a:solidFill>
              <a:srgbClr val="F8083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647"/>
              <a:t>Wave theory does not describe the absorption of light by a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647"/>
              <a:t>photosensitive materials</a:t>
            </a:r>
            <a:endParaRPr lang="en-US" altLang="en-US" sz="2206">
              <a:solidFill>
                <a:schemeClr val="tx1"/>
              </a:solidFill>
            </a:endParaRPr>
          </a:p>
        </p:txBody>
      </p:sp>
      <p:pic>
        <p:nvPicPr>
          <p:cNvPr id="1843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45" y="1512570"/>
            <a:ext cx="840317" cy="130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47" y="3632620"/>
            <a:ext cx="789548" cy="102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TextBox 1"/>
          <p:cNvSpPr txBox="1">
            <a:spLocks noChangeArrowheads="1"/>
          </p:cNvSpPr>
          <p:nvPr/>
        </p:nvSpPr>
        <p:spPr bwMode="auto">
          <a:xfrm>
            <a:off x="2249784" y="6174578"/>
            <a:ext cx="6144311" cy="43178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6">
                <a:solidFill>
                  <a:srgbClr val="0000CC"/>
                </a:solidFill>
              </a:rPr>
              <a:t>He discovered the photoelectric effect. So what is it?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utoUpdateAnimBg="0"/>
      <p:bldP spid="43013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8229600" y="65532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4FF11F-FCC3-44AE-ADED-BB04A4DEBDCA}" type="slidenum">
              <a:rPr lang="en-US" altLang="en-US" smtClean="0"/>
              <a:pPr>
                <a:defRPr/>
              </a:pPr>
              <a:t>6</a:t>
            </a:fld>
            <a:endParaRPr lang="en-US" altLang="en-US" sz="1544">
              <a:solidFill>
                <a:schemeClr val="tx1"/>
              </a:solidFill>
            </a:endParaRPr>
          </a:p>
        </p:txBody>
      </p:sp>
      <p:pic>
        <p:nvPicPr>
          <p:cNvPr id="1945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961" y="1596602"/>
            <a:ext cx="2983124" cy="1859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961" y="3543336"/>
            <a:ext cx="2983124" cy="1670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39" y="4257605"/>
            <a:ext cx="2745034" cy="152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21458" y="6050281"/>
            <a:ext cx="9331016" cy="90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647" b="1"/>
              <a:t>1900-20 Max Planck, Neils Bohr and Albert Einstein</a:t>
            </a:r>
            <a:endParaRPr lang="en-US" altLang="en-US" sz="2647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647"/>
              <a:t>Invoked the idea of light being emitted in tiny pulses of energy</a:t>
            </a:r>
            <a:r>
              <a:rPr lang="en-US" altLang="en-US" sz="2647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9463" name="Rectangle 2"/>
          <p:cNvSpPr>
            <a:spLocks noGrp="1" noChangeArrowheads="1"/>
          </p:cNvSpPr>
          <p:nvPr>
            <p:ph type="title"/>
          </p:nvPr>
        </p:nvSpPr>
        <p:spPr>
          <a:xfrm>
            <a:off x="940950" y="354737"/>
            <a:ext cx="9089390" cy="687552"/>
          </a:xfrm>
        </p:spPr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Wave Nature of Light - </a:t>
            </a:r>
            <a:r>
              <a:rPr lang="en-US" altLang="en-US" sz="1985" i="1" dirty="0">
                <a:solidFill>
                  <a:srgbClr val="FFC000"/>
                </a:solidFill>
              </a:rPr>
              <a:t>contd.</a:t>
            </a:r>
            <a:endParaRPr lang="en-US" altLang="en-US" dirty="0">
              <a:solidFill>
                <a:srgbClr val="FFC000"/>
              </a:solidFill>
            </a:endParaRPr>
          </a:p>
        </p:txBody>
      </p:sp>
      <p:sp>
        <p:nvSpPr>
          <p:cNvPr id="19464" name="TextBox 8"/>
          <p:cNvSpPr txBox="1">
            <a:spLocks noChangeArrowheads="1"/>
          </p:cNvSpPr>
          <p:nvPr/>
        </p:nvSpPr>
        <p:spPr bwMode="auto">
          <a:xfrm>
            <a:off x="532922" y="1415699"/>
            <a:ext cx="6818819" cy="2468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206" dirty="0">
                <a:solidFill>
                  <a:srgbClr val="0000CC"/>
                </a:solidFill>
              </a:rPr>
              <a:t>Light (electromagnetic wave) shining on a metal surface results in its energy being transferred to the electrons on the surface of the metal and some electron will escape. The released electron are called “</a:t>
            </a:r>
            <a:r>
              <a:rPr lang="en-GB" altLang="en-US" sz="2206" b="1" dirty="0">
                <a:solidFill>
                  <a:srgbClr val="0000CC"/>
                </a:solidFill>
              </a:rPr>
              <a:t>photo-electron</a:t>
            </a:r>
            <a:r>
              <a:rPr lang="en-GB" altLang="en-US" sz="2206" dirty="0">
                <a:solidFill>
                  <a:srgbClr val="0000CC"/>
                </a:solidFill>
              </a:rPr>
              <a:t>”.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2206" i="1" dirty="0">
                <a:solidFill>
                  <a:srgbClr val="0000CC"/>
                </a:solidFill>
              </a:rPr>
              <a:t>                    </a:t>
            </a:r>
            <a:r>
              <a:rPr lang="en-GB" altLang="en-US" sz="2206" i="1" dirty="0" err="1">
                <a:solidFill>
                  <a:srgbClr val="0000CC"/>
                </a:solidFill>
              </a:rPr>
              <a:t>E</a:t>
            </a:r>
            <a:r>
              <a:rPr lang="en-GB" altLang="en-US" sz="2206" baseline="-25000" dirty="0" err="1">
                <a:solidFill>
                  <a:srgbClr val="0000CC"/>
                </a:solidFill>
              </a:rPr>
              <a:t>photo</a:t>
            </a:r>
            <a:r>
              <a:rPr lang="en-GB" altLang="en-US" sz="2206" baseline="-25000" dirty="0">
                <a:solidFill>
                  <a:srgbClr val="0000CC"/>
                </a:solidFill>
              </a:rPr>
              <a:t>-electron</a:t>
            </a:r>
            <a:r>
              <a:rPr lang="en-GB" altLang="en-US" sz="2206" dirty="0">
                <a:solidFill>
                  <a:srgbClr val="0000CC"/>
                </a:solidFill>
              </a:rPr>
              <a:t> is related to the </a:t>
            </a:r>
            <a:r>
              <a:rPr lang="en-GB" altLang="en-US" sz="2206" i="1" dirty="0" err="1">
                <a:solidFill>
                  <a:srgbClr val="0000CC"/>
                </a:solidFill>
              </a:rPr>
              <a:t>f</a:t>
            </a:r>
            <a:r>
              <a:rPr lang="en-GB" altLang="en-US" sz="2206" baseline="-25000" dirty="0" err="1">
                <a:solidFill>
                  <a:srgbClr val="0000CC"/>
                </a:solidFill>
              </a:rPr>
              <a:t>incident</a:t>
            </a:r>
            <a:r>
              <a:rPr lang="en-GB" altLang="en-US" sz="2206" dirty="0">
                <a:solidFill>
                  <a:srgbClr val="0000CC"/>
                </a:solidFill>
              </a:rPr>
              <a:t> light but </a:t>
            </a:r>
            <a:r>
              <a:rPr lang="en-GB" altLang="en-US" sz="2206" b="1" dirty="0">
                <a:solidFill>
                  <a:srgbClr val="0000CC"/>
                </a:solidFill>
              </a:rPr>
              <a:t>not its intensity</a:t>
            </a:r>
            <a:r>
              <a:rPr lang="en-GB" altLang="en-US" sz="2206" dirty="0">
                <a:solidFill>
                  <a:srgbClr val="0000CC"/>
                </a:solidFill>
              </a:rPr>
              <a:t>. So light is energetic enough to shift electron(s) or not.</a:t>
            </a:r>
          </a:p>
        </p:txBody>
      </p:sp>
      <p:sp>
        <p:nvSpPr>
          <p:cNvPr id="19465" name="TextBox 9"/>
          <p:cNvSpPr txBox="1">
            <a:spLocks noChangeArrowheads="1"/>
          </p:cNvSpPr>
          <p:nvPr/>
        </p:nvSpPr>
        <p:spPr bwMode="auto">
          <a:xfrm>
            <a:off x="3214397" y="4308374"/>
            <a:ext cx="4168321" cy="100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GB" altLang="en-US" sz="1985" b="1" dirty="0">
                <a:solidFill>
                  <a:schemeClr val="tx1"/>
                </a:solidFill>
              </a:rPr>
              <a:t>The work function </a:t>
            </a:r>
            <a:r>
              <a:rPr lang="en-GB" altLang="en-US" sz="1985" dirty="0">
                <a:solidFill>
                  <a:schemeClr val="tx1"/>
                </a:solidFill>
              </a:rPr>
              <a:t>– The amount of E need by EM wave to free an electron from a meta surface (i.e., a </a:t>
            </a:r>
            <a:r>
              <a:rPr lang="en-GB" altLang="en-US" sz="1985" i="1" dirty="0" err="1">
                <a:solidFill>
                  <a:schemeClr val="tx1"/>
                </a:solidFill>
              </a:rPr>
              <a:t>E</a:t>
            </a:r>
            <a:r>
              <a:rPr lang="en-GB" altLang="en-US" sz="1985" baseline="-25000" dirty="0" err="1">
                <a:solidFill>
                  <a:schemeClr val="tx1"/>
                </a:solidFill>
              </a:rPr>
              <a:t>threshold</a:t>
            </a:r>
            <a:r>
              <a:rPr lang="en-GB" altLang="en-US" sz="1985" dirty="0">
                <a:solidFill>
                  <a:schemeClr val="tx1"/>
                </a:solidFill>
              </a:rPr>
              <a:t>).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8229600" y="65532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4FF11F-FCC3-44AE-ADED-BB04A4DEBDCA}" type="slidenum">
              <a:rPr lang="en-US" altLang="en-US" smtClean="0"/>
              <a:pPr>
                <a:defRPr/>
              </a:pPr>
              <a:t>7</a:t>
            </a:fld>
            <a:endParaRPr lang="en-US" altLang="en-US" sz="1544">
              <a:solidFill>
                <a:schemeClr val="tx1"/>
              </a:solidFill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019069" y="1479308"/>
            <a:ext cx="9250486" cy="301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110000"/>
              </a:lnSpc>
              <a:spcBef>
                <a:spcPct val="60000"/>
              </a:spcBef>
              <a:buFontTx/>
              <a:buNone/>
            </a:pPr>
            <a:r>
              <a:rPr lang="en-US" altLang="en-US" sz="2647" b="1" dirty="0">
                <a:solidFill>
                  <a:srgbClr val="0000CC"/>
                </a:solidFill>
                <a:cs typeface="Times New Roman" panose="02020603050405020304" pitchFamily="18" charset="0"/>
              </a:rPr>
              <a:t>Planck (1900) - D</a:t>
            </a:r>
            <a:r>
              <a:rPr lang="en-US" altLang="en-US" sz="2647" dirty="0">
                <a:solidFill>
                  <a:srgbClr val="0000CC"/>
                </a:solidFill>
                <a:cs typeface="Times New Roman" panose="02020603050405020304" pitchFamily="18" charset="0"/>
              </a:rPr>
              <a:t>eveloped a model that explained light as a </a:t>
            </a:r>
            <a:r>
              <a:rPr lang="en-US" altLang="en-US" sz="2647" b="1" dirty="0">
                <a:solidFill>
                  <a:srgbClr val="FF0000"/>
                </a:solidFill>
                <a:cs typeface="Times New Roman" panose="02020603050405020304" pitchFamily="18" charset="0"/>
              </a:rPr>
              <a:t>quantization of energy [Got a Nobel Prize]</a:t>
            </a:r>
            <a:r>
              <a:rPr lang="en-US" altLang="en-US" sz="2647" dirty="0">
                <a:solidFill>
                  <a:srgbClr val="0000CC"/>
                </a:solidFill>
                <a:cs typeface="Times New Roman" panose="02020603050405020304" pitchFamily="18" charset="0"/>
              </a:rPr>
              <a:t>. </a:t>
            </a:r>
            <a:r>
              <a:rPr lang="en-US" altLang="en-US" sz="1985" dirty="0">
                <a:solidFill>
                  <a:srgbClr val="0000CC"/>
                </a:solidFill>
                <a:cs typeface="Times New Roman" panose="02020603050405020304" pitchFamily="18" charset="0"/>
              </a:rPr>
              <a:t>Considered the Block Body cavity - </a:t>
            </a:r>
          </a:p>
          <a:p>
            <a:pPr algn="just">
              <a:lnSpc>
                <a:spcPct val="110000"/>
              </a:lnSpc>
              <a:spcBef>
                <a:spcPct val="60000"/>
              </a:spcBef>
              <a:buFontTx/>
              <a:buNone/>
            </a:pPr>
            <a:r>
              <a:rPr lang="en-US" altLang="en-US" sz="1985" b="1" i="1" dirty="0">
                <a:solidFill>
                  <a:srgbClr val="0000CC"/>
                </a:solidFill>
                <a:cs typeface="Times New Roman" panose="02020603050405020304" pitchFamily="18" charset="0"/>
              </a:rPr>
              <a:t>E</a:t>
            </a:r>
            <a:r>
              <a:rPr lang="en-US" altLang="en-US" sz="1985" b="1" dirty="0">
                <a:solidFill>
                  <a:srgbClr val="0000CC"/>
                </a:solidFill>
                <a:cs typeface="Times New Roman" panose="02020603050405020304" pitchFamily="18" charset="0"/>
              </a:rPr>
              <a:t> = </a:t>
            </a:r>
            <a:r>
              <a:rPr lang="en-US" altLang="en-US" sz="1985" b="1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nhf</a:t>
            </a:r>
            <a:r>
              <a:rPr lang="en-US" altLang="en-US" sz="1985" b="1" i="1" dirty="0">
                <a:solidFill>
                  <a:srgbClr val="0000CC"/>
                </a:solidFill>
                <a:cs typeface="Times New Roman" panose="02020603050405020304" pitchFamily="18" charset="0"/>
              </a:rPr>
              <a:t>   </a:t>
            </a:r>
            <a:r>
              <a:rPr lang="en-US" altLang="en-US" sz="1985" i="1" dirty="0">
                <a:solidFill>
                  <a:srgbClr val="0000CC"/>
                </a:solidFill>
                <a:cs typeface="Times New Roman" panose="02020603050405020304" pitchFamily="18" charset="0"/>
              </a:rPr>
              <a:t>n = 0, 1, 2, 3.., h = </a:t>
            </a:r>
            <a:r>
              <a:rPr lang="en-US" altLang="en-US" sz="1985" i="1" dirty="0" err="1">
                <a:solidFill>
                  <a:srgbClr val="0000CC"/>
                </a:solidFill>
                <a:cs typeface="Times New Roman" panose="02020603050405020304" pitchFamily="18" charset="0"/>
              </a:rPr>
              <a:t>Plancks</a:t>
            </a:r>
            <a:r>
              <a:rPr lang="en-US" altLang="en-US" sz="1985" i="1" dirty="0">
                <a:solidFill>
                  <a:srgbClr val="0000CC"/>
                </a:solidFill>
                <a:cs typeface="Times New Roman" panose="02020603050405020304" pitchFamily="18" charset="0"/>
              </a:rPr>
              <a:t>’ constant 6.626 x 10</a:t>
            </a:r>
            <a:r>
              <a:rPr lang="en-US" altLang="en-US" sz="1985" i="1" baseline="30000" dirty="0">
                <a:solidFill>
                  <a:srgbClr val="0000CC"/>
                </a:solidFill>
                <a:cs typeface="Times New Roman" panose="02020603050405020304" pitchFamily="18" charset="0"/>
              </a:rPr>
              <a:t>-34</a:t>
            </a:r>
            <a:r>
              <a:rPr lang="en-US" altLang="en-US" sz="1985" i="1" dirty="0">
                <a:solidFill>
                  <a:srgbClr val="0000CC"/>
                </a:solidFill>
                <a:cs typeface="Times New Roman" panose="02020603050405020304" pitchFamily="18" charset="0"/>
              </a:rPr>
              <a:t> JS [or 4.136 x 10</a:t>
            </a:r>
            <a:r>
              <a:rPr lang="en-US" altLang="en-US" sz="1985" i="1" baseline="30000" dirty="0">
                <a:solidFill>
                  <a:srgbClr val="0000CC"/>
                </a:solidFill>
                <a:cs typeface="Times New Roman" panose="02020603050405020304" pitchFamily="18" charset="0"/>
              </a:rPr>
              <a:t>-15</a:t>
            </a:r>
            <a:r>
              <a:rPr lang="en-US" altLang="en-US" sz="1985" i="1" dirty="0">
                <a:solidFill>
                  <a:srgbClr val="0000CC"/>
                </a:solidFill>
                <a:cs typeface="Times New Roman" panose="02020603050405020304" pitchFamily="18" charset="0"/>
              </a:rPr>
              <a:t> eVs] , f = frequency of one of the standing wave within a black body.</a:t>
            </a:r>
          </a:p>
          <a:p>
            <a:pPr algn="just">
              <a:lnSpc>
                <a:spcPct val="110000"/>
              </a:lnSpc>
              <a:spcBef>
                <a:spcPct val="60000"/>
              </a:spcBef>
              <a:buFontTx/>
              <a:buNone/>
            </a:pPr>
            <a:r>
              <a:rPr lang="en-US" altLang="en-US" sz="1985" i="1" dirty="0">
                <a:solidFill>
                  <a:srgbClr val="0000CC"/>
                </a:solidFill>
                <a:cs typeface="Times New Roman" panose="02020603050405020304" pitchFamily="18" charset="0"/>
              </a:rPr>
              <a:t>- The energy spectrum of the standing wave within the black body cavity is not continuous as in the classical theory, but take specific values: 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261720"/>
            <a:ext cx="9089390" cy="840000"/>
          </a:xfrm>
        </p:spPr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Wave Nature of Light - </a:t>
            </a:r>
            <a:r>
              <a:rPr lang="en-US" altLang="en-US" sz="1985" i="1" dirty="0">
                <a:solidFill>
                  <a:srgbClr val="FFC000"/>
                </a:solidFill>
              </a:rPr>
              <a:t>contd.</a:t>
            </a:r>
            <a:endParaRPr lang="en-US" altLang="en-US" dirty="0">
              <a:solidFill>
                <a:srgbClr val="FFC000"/>
              </a:solidFill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3315" y="1636868"/>
            <a:ext cx="675755" cy="880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</p:pic>
      <p:pic>
        <p:nvPicPr>
          <p:cNvPr id="2048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96" y="4502697"/>
            <a:ext cx="3627367" cy="271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Rectangle 4"/>
          <p:cNvSpPr>
            <a:spLocks noChangeArrowheads="1"/>
          </p:cNvSpPr>
          <p:nvPr/>
        </p:nvSpPr>
        <p:spPr bwMode="auto">
          <a:xfrm>
            <a:off x="560396" y="4514952"/>
            <a:ext cx="3627367" cy="36381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64" b="1">
                <a:solidFill>
                  <a:srgbClr val="0000CC"/>
                </a:solidFill>
                <a:cs typeface="Times New Roman" panose="02020603050405020304" pitchFamily="18" charset="0"/>
              </a:rPr>
              <a:t>Classical                             Quantum  </a:t>
            </a:r>
            <a:endParaRPr lang="en-GB" altLang="en-US" sz="1764" b="1">
              <a:solidFill>
                <a:schemeClr val="tx1"/>
              </a:solidFill>
            </a:endParaRPr>
          </a:p>
        </p:txBody>
      </p:sp>
      <p:cxnSp>
        <p:nvCxnSpPr>
          <p:cNvPr id="20488" name="Straight Arrow Connector 8"/>
          <p:cNvCxnSpPr>
            <a:cxnSpLocks noChangeShapeType="1"/>
          </p:cNvCxnSpPr>
          <p:nvPr/>
        </p:nvCxnSpPr>
        <p:spPr bwMode="auto">
          <a:xfrm flipV="1">
            <a:off x="2370578" y="5176701"/>
            <a:ext cx="0" cy="1862702"/>
          </a:xfrm>
          <a:prstGeom prst="straightConnector1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9" name="Rectangle 13"/>
          <p:cNvSpPr>
            <a:spLocks noChangeArrowheads="1"/>
          </p:cNvSpPr>
          <p:nvPr/>
        </p:nvSpPr>
        <p:spPr bwMode="auto">
          <a:xfrm>
            <a:off x="1920660" y="6902852"/>
            <a:ext cx="889987" cy="363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64" b="1">
                <a:solidFill>
                  <a:srgbClr val="0000CC"/>
                </a:solidFill>
                <a:cs typeface="Times New Roman" panose="02020603050405020304" pitchFamily="18" charset="0"/>
              </a:rPr>
              <a:t>Energy</a:t>
            </a:r>
            <a:endParaRPr lang="en-GB" altLang="en-US" sz="1764" b="1">
              <a:solidFill>
                <a:schemeClr val="tx1"/>
              </a:solidFill>
            </a:endParaRPr>
          </a:p>
        </p:txBody>
      </p:sp>
      <p:sp>
        <p:nvSpPr>
          <p:cNvPr id="20490" name="TextBox 17"/>
          <p:cNvSpPr txBox="1">
            <a:spLocks noChangeArrowheads="1"/>
          </p:cNvSpPr>
          <p:nvPr/>
        </p:nvSpPr>
        <p:spPr bwMode="auto">
          <a:xfrm>
            <a:off x="4394341" y="4495695"/>
            <a:ext cx="5875214" cy="2807179"/>
          </a:xfrm>
          <a:prstGeom prst="rect">
            <a:avLst/>
          </a:prstGeom>
          <a:solidFill>
            <a:srgbClr val="FFFF00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764">
                <a:solidFill>
                  <a:schemeClr val="tx1"/>
                </a:solidFill>
              </a:rPr>
              <a:t>E.g., - A standing wave within a black body cavity has a frequency </a:t>
            </a:r>
            <a:r>
              <a:rPr lang="en-GB" altLang="en-US" sz="1764" i="1">
                <a:solidFill>
                  <a:schemeClr val="tx1"/>
                </a:solidFill>
              </a:rPr>
              <a:t>f </a:t>
            </a:r>
            <a:r>
              <a:rPr lang="en-GB" altLang="en-US" sz="1764">
                <a:solidFill>
                  <a:schemeClr val="tx1"/>
                </a:solidFill>
              </a:rPr>
              <a:t>= 7.25 x 10</a:t>
            </a:r>
            <a:r>
              <a:rPr lang="en-GB" altLang="en-US" sz="1764" baseline="30000">
                <a:solidFill>
                  <a:schemeClr val="tx1"/>
                </a:solidFill>
              </a:rPr>
              <a:t>14</a:t>
            </a:r>
            <a:r>
              <a:rPr lang="en-GB" altLang="en-US" sz="1764">
                <a:solidFill>
                  <a:schemeClr val="tx1"/>
                </a:solidFill>
              </a:rPr>
              <a:t> Hz (Blue-violet).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764">
                <a:solidFill>
                  <a:schemeClr val="tx1"/>
                </a:solidFill>
              </a:rPr>
              <a:t>The energy is: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764">
                <a:solidFill>
                  <a:schemeClr val="tx1"/>
                </a:solidFill>
              </a:rPr>
              <a:t>E = </a:t>
            </a:r>
            <a:r>
              <a:rPr lang="en-GB" altLang="en-US" sz="1764" i="1">
                <a:solidFill>
                  <a:schemeClr val="tx1"/>
                </a:solidFill>
              </a:rPr>
              <a:t>n</a:t>
            </a:r>
            <a:r>
              <a:rPr lang="en-GB" altLang="en-US" sz="1764">
                <a:solidFill>
                  <a:schemeClr val="tx1"/>
                </a:solidFill>
              </a:rPr>
              <a:t>(4.136 x 10</a:t>
            </a:r>
            <a:r>
              <a:rPr lang="en-GB" altLang="en-US" sz="1764" baseline="30000">
                <a:solidFill>
                  <a:schemeClr val="tx1"/>
                </a:solidFill>
              </a:rPr>
              <a:t>-15</a:t>
            </a:r>
            <a:r>
              <a:rPr lang="en-GB" altLang="en-US" sz="1764">
                <a:solidFill>
                  <a:schemeClr val="tx1"/>
                </a:solidFill>
              </a:rPr>
              <a:t> eVs)(7.25 x 10</a:t>
            </a:r>
            <a:r>
              <a:rPr lang="en-GB" altLang="en-US" sz="1764" baseline="30000">
                <a:solidFill>
                  <a:schemeClr val="tx1"/>
                </a:solidFill>
              </a:rPr>
              <a:t>14</a:t>
            </a:r>
            <a:r>
              <a:rPr lang="en-GB" altLang="en-US" sz="1764">
                <a:solidFill>
                  <a:schemeClr val="tx1"/>
                </a:solidFill>
              </a:rPr>
              <a:t> Hz) = </a:t>
            </a:r>
            <a:r>
              <a:rPr lang="en-GB" altLang="en-US" sz="1764" i="1">
                <a:solidFill>
                  <a:schemeClr val="tx1"/>
                </a:solidFill>
              </a:rPr>
              <a:t>n</a:t>
            </a:r>
            <a:r>
              <a:rPr lang="en-GB" altLang="en-US" sz="1764">
                <a:solidFill>
                  <a:schemeClr val="tx1"/>
                </a:solidFill>
              </a:rPr>
              <a:t>(3 eV),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1764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764" b="1">
                <a:solidFill>
                  <a:schemeClr val="tx1"/>
                </a:solidFill>
              </a:rPr>
              <a:t>So for </a:t>
            </a:r>
            <a:r>
              <a:rPr lang="en-GB" altLang="en-US" sz="1764" b="1" i="1">
                <a:solidFill>
                  <a:schemeClr val="tx1"/>
                </a:solidFill>
              </a:rPr>
              <a:t>n</a:t>
            </a:r>
            <a:r>
              <a:rPr lang="en-GB" altLang="en-US" sz="1764" b="1">
                <a:solidFill>
                  <a:schemeClr val="tx1"/>
                </a:solidFill>
              </a:rPr>
              <a:t> = 1, 2, 3, 4, .. we have </a:t>
            </a:r>
            <a:r>
              <a:rPr lang="en-GB" altLang="en-US" sz="1764" b="1" i="1">
                <a:solidFill>
                  <a:schemeClr val="tx1"/>
                </a:solidFill>
              </a:rPr>
              <a:t>E</a:t>
            </a:r>
            <a:r>
              <a:rPr lang="en-GB" altLang="en-US" sz="1764" b="1">
                <a:solidFill>
                  <a:schemeClr val="tx1"/>
                </a:solidFill>
              </a:rPr>
              <a:t> = 3, 6, 9, 12, …. But not 1, 2, 4, 5, 7, 8 and so on.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764" b="1">
                <a:solidFill>
                  <a:schemeClr val="tx1"/>
                </a:solidFill>
              </a:rPr>
              <a:t>                                         Interesting!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764" b="1" i="1">
                <a:solidFill>
                  <a:schemeClr val="tx1"/>
                </a:solidFill>
              </a:rPr>
              <a:t>This contradicted the continuous wave theory of light, where wave DO NOT have distinct constituent! 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2"/>
          <p:cNvSpPr>
            <a:spLocks noGrp="1"/>
          </p:cNvSpPr>
          <p:nvPr>
            <p:ph type="sldNum" sz="quarter" idx="12"/>
          </p:nvPr>
        </p:nvSpPr>
        <p:spPr bwMode="auto">
          <a:xfrm>
            <a:off x="8229600" y="65532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4FF11F-FCC3-44AE-ADED-BB04A4DEBDCA}" type="slidenum">
              <a:rPr lang="en-US" altLang="en-US" smtClean="0"/>
              <a:pPr>
                <a:defRPr/>
              </a:pPr>
              <a:t>8</a:t>
            </a:fld>
            <a:endParaRPr lang="en-US" altLang="en-US" sz="1544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9069" y="1479308"/>
            <a:ext cx="9369531" cy="454259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60000"/>
              </a:spcBef>
              <a:defRPr/>
            </a:pPr>
            <a:r>
              <a:rPr lang="en-US" altLang="en-US" sz="2647" b="1" dirty="0">
                <a:solidFill>
                  <a:srgbClr val="0000CC"/>
                </a:solidFill>
                <a:cs typeface="Times New Roman" panose="02020603050405020304" pitchFamily="18" charset="0"/>
              </a:rPr>
              <a:t>Einstein (1905) – </a:t>
            </a:r>
            <a:r>
              <a:rPr lang="en-US" altLang="en-US" sz="1985" dirty="0">
                <a:solidFill>
                  <a:srgbClr val="0000CC"/>
                </a:solidFill>
                <a:cs typeface="Times New Roman" panose="02020603050405020304" pitchFamily="18" charset="0"/>
              </a:rPr>
              <a:t>Used Plank’s idea to showed that in the photoelectric effect (light causing electrons to be emitted from a metal surface) </a:t>
            </a:r>
            <a:r>
              <a:rPr lang="en-US" altLang="en-US" sz="1985" b="1" dirty="0">
                <a:solidFill>
                  <a:srgbClr val="FF0000"/>
                </a:solidFill>
                <a:cs typeface="Times New Roman" panose="02020603050405020304" pitchFamily="18" charset="0"/>
              </a:rPr>
              <a:t>light must act as a particle</a:t>
            </a:r>
            <a:r>
              <a:rPr lang="en-US" altLang="en-US" sz="1985" dirty="0">
                <a:solidFill>
                  <a:srgbClr val="0000CC"/>
                </a:solidFill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endParaRPr lang="en-US" altLang="en-US" sz="2647" b="1" dirty="0"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en-US" sz="2647" b="1" dirty="0"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en-US" sz="2647" b="1" dirty="0"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en-US" sz="2647" b="1" dirty="0"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en-US" sz="2647" b="1" dirty="0"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en-US" sz="2647" b="1" dirty="0"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altLang="en-US" sz="2647" b="1" dirty="0">
                <a:cs typeface="Times New Roman" panose="02020603050405020304" pitchFamily="18" charset="0"/>
              </a:rPr>
              <a:t>Therefore, light must be regarded as having a </a:t>
            </a:r>
            <a:r>
              <a:rPr lang="en-US" altLang="en-US" sz="2647" b="1" dirty="0">
                <a:solidFill>
                  <a:srgbClr val="FF0000"/>
                </a:solidFill>
                <a:cs typeface="Times New Roman" panose="02020603050405020304" pitchFamily="18" charset="0"/>
              </a:rPr>
              <a:t>dual nature</a:t>
            </a:r>
            <a:r>
              <a:rPr lang="en-US" altLang="en-US" sz="2647" b="1" dirty="0">
                <a:cs typeface="Times New Roman" panose="02020603050405020304" pitchFamily="18" charset="0"/>
              </a:rPr>
              <a:t>; </a:t>
            </a:r>
          </a:p>
          <a:p>
            <a:pPr marL="378150" indent="-378150" algn="just">
              <a:buFont typeface="Arial" panose="020B0604020202020204" pitchFamily="34" charset="0"/>
              <a:buChar char="•"/>
              <a:defRPr/>
            </a:pPr>
            <a:r>
              <a:rPr lang="en-US" altLang="en-US" sz="2647" b="1" dirty="0">
                <a:cs typeface="Times New Roman" panose="02020603050405020304" pitchFamily="18" charset="0"/>
              </a:rPr>
              <a:t>in some cases light acts as a wave</a:t>
            </a:r>
          </a:p>
          <a:p>
            <a:pPr marL="378150" indent="-378150" algn="just">
              <a:buFont typeface="Arial" panose="020B0604020202020204" pitchFamily="34" charset="0"/>
              <a:buChar char="•"/>
              <a:defRPr/>
            </a:pPr>
            <a:r>
              <a:rPr lang="en-US" altLang="en-US" sz="2647" b="1" dirty="0">
                <a:cs typeface="Times New Roman" panose="02020603050405020304" pitchFamily="18" charset="0"/>
              </a:rPr>
              <a:t>in others it acts like a particle.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156097"/>
            <a:ext cx="9089390" cy="913181"/>
          </a:xfrm>
        </p:spPr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Wave Nature of Light - </a:t>
            </a:r>
            <a:r>
              <a:rPr lang="en-US" altLang="en-US" sz="1985" i="1" dirty="0">
                <a:solidFill>
                  <a:srgbClr val="FFC000"/>
                </a:solidFill>
              </a:rPr>
              <a:t>contd.</a:t>
            </a:r>
            <a:endParaRPr lang="en-US" altLang="en-US" dirty="0">
              <a:solidFill>
                <a:srgbClr val="FFC000"/>
              </a:solidFill>
            </a:endParaRPr>
          </a:p>
        </p:txBody>
      </p:sp>
      <p:pic>
        <p:nvPicPr>
          <p:cNvPr id="21509" name="Picture 3" descr="06-05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27"/>
          <a:stretch>
            <a:fillRect/>
          </a:stretch>
        </p:blipFill>
        <p:spPr bwMode="auto">
          <a:xfrm>
            <a:off x="6379589" y="5876965"/>
            <a:ext cx="3860205" cy="1239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Einstei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6074" y="1636868"/>
            <a:ext cx="717770" cy="1053897"/>
          </a:xfrm>
          <a:prstGeom prst="rect">
            <a:avLst/>
          </a:prstGeom>
          <a:noFill/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</p:pic>
      <p:pic>
        <p:nvPicPr>
          <p:cNvPr id="2151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5" y="2986626"/>
            <a:ext cx="2256600" cy="125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TextBox 1"/>
          <p:cNvSpPr txBox="1">
            <a:spLocks noChangeArrowheads="1"/>
          </p:cNvSpPr>
          <p:nvPr/>
        </p:nvSpPr>
        <p:spPr bwMode="auto">
          <a:xfrm>
            <a:off x="3275670" y="2986626"/>
            <a:ext cx="2582758" cy="77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6">
                <a:solidFill>
                  <a:schemeClr val="tx1"/>
                </a:solidFill>
              </a:rPr>
              <a:t>He came up with this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206" i="1">
                <a:solidFill>
                  <a:schemeClr val="tx1"/>
                </a:solidFill>
              </a:rPr>
              <a:t>        K</a:t>
            </a:r>
            <a:r>
              <a:rPr lang="en-GB" altLang="en-US" sz="2206" baseline="-25000">
                <a:solidFill>
                  <a:schemeClr val="tx1"/>
                </a:solidFill>
              </a:rPr>
              <a:t>max</a:t>
            </a:r>
            <a:r>
              <a:rPr lang="en-GB" altLang="en-US" sz="2206">
                <a:solidFill>
                  <a:schemeClr val="tx1"/>
                </a:solidFill>
              </a:rPr>
              <a:t> = </a:t>
            </a:r>
            <a:r>
              <a:rPr lang="en-GB" altLang="en-US" sz="2206" i="1">
                <a:solidFill>
                  <a:schemeClr val="tx1"/>
                </a:solidFill>
              </a:rPr>
              <a:t>hf</a:t>
            </a:r>
            <a:r>
              <a:rPr lang="en-GB" altLang="en-US" sz="2206">
                <a:solidFill>
                  <a:schemeClr val="tx1"/>
                </a:solidFill>
              </a:rPr>
              <a:t> - </a:t>
            </a:r>
            <a:r>
              <a:rPr lang="en-GB" altLang="en-US" sz="2206">
                <a:solidFill>
                  <a:schemeClr val="tx1"/>
                </a:solidFill>
                <a:sym typeface="Symbol" panose="05050102010706020507" pitchFamily="18" charset="2"/>
              </a:rPr>
              <a:t></a:t>
            </a:r>
            <a:r>
              <a:rPr lang="en-GB" altLang="en-US" sz="2206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1513" name="TextBox 2"/>
          <p:cNvSpPr txBox="1">
            <a:spLocks noChangeArrowheads="1"/>
          </p:cNvSpPr>
          <p:nvPr/>
        </p:nvSpPr>
        <p:spPr bwMode="auto">
          <a:xfrm>
            <a:off x="3052126" y="3893467"/>
            <a:ext cx="1269899" cy="805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544">
                <a:solidFill>
                  <a:schemeClr val="tx1"/>
                </a:solidFill>
              </a:rPr>
              <a:t>Max. kenetic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544">
                <a:solidFill>
                  <a:schemeClr val="tx1"/>
                </a:solidFill>
              </a:rPr>
              <a:t>Energy of an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544">
                <a:solidFill>
                  <a:schemeClr val="tx1"/>
                </a:solidFill>
              </a:rPr>
              <a:t>electron</a:t>
            </a:r>
          </a:p>
        </p:txBody>
      </p:sp>
      <p:sp>
        <p:nvSpPr>
          <p:cNvPr id="21514" name="TextBox 11"/>
          <p:cNvSpPr txBox="1">
            <a:spLocks noChangeArrowheads="1"/>
          </p:cNvSpPr>
          <p:nvPr/>
        </p:nvSpPr>
        <p:spPr bwMode="auto">
          <a:xfrm>
            <a:off x="5026562" y="3893468"/>
            <a:ext cx="845103" cy="567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544">
                <a:solidFill>
                  <a:schemeClr val="tx1"/>
                </a:solidFill>
              </a:rPr>
              <a:t>Work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544">
                <a:solidFill>
                  <a:schemeClr val="tx1"/>
                </a:solidFill>
              </a:rPr>
              <a:t>function</a:t>
            </a:r>
          </a:p>
        </p:txBody>
      </p:sp>
      <p:cxnSp>
        <p:nvCxnSpPr>
          <p:cNvPr id="21515" name="Straight Arrow Connector 5"/>
          <p:cNvCxnSpPr>
            <a:cxnSpLocks noChangeShapeType="1"/>
            <a:stCxn id="21514" idx="0"/>
          </p:cNvCxnSpPr>
          <p:nvPr/>
        </p:nvCxnSpPr>
        <p:spPr bwMode="auto">
          <a:xfrm flipH="1" flipV="1">
            <a:off x="5346702" y="3613361"/>
            <a:ext cx="102412" cy="280107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Straight Arrow Connector 8"/>
          <p:cNvCxnSpPr>
            <a:cxnSpLocks noChangeShapeType="1"/>
            <a:stCxn id="21513" idx="0"/>
          </p:cNvCxnSpPr>
          <p:nvPr/>
        </p:nvCxnSpPr>
        <p:spPr bwMode="auto">
          <a:xfrm flipV="1">
            <a:off x="3687076" y="3690391"/>
            <a:ext cx="388645" cy="203076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>
          <a:xfrm>
            <a:off x="802005" y="84035"/>
            <a:ext cx="9089390" cy="1260475"/>
          </a:xfrm>
        </p:spPr>
        <p:txBody>
          <a:bodyPr/>
          <a:lstStyle/>
          <a:p>
            <a:r>
              <a:rPr lang="en-CA" b="1" dirty="0">
                <a:solidFill>
                  <a:srgbClr val="FFC000"/>
                </a:solidFill>
              </a:rPr>
              <a:t>Wave Theory of Light</a:t>
            </a:r>
          </a:p>
        </p:txBody>
      </p:sp>
      <p:sp>
        <p:nvSpPr>
          <p:cNvPr id="2052" name="Content Placeholder 2"/>
          <p:cNvSpPr>
            <a:spLocks noGrp="1"/>
          </p:cNvSpPr>
          <p:nvPr>
            <p:ph idx="1"/>
          </p:nvPr>
        </p:nvSpPr>
        <p:spPr>
          <a:xfrm>
            <a:off x="802005" y="1428539"/>
            <a:ext cx="9089390" cy="5462058"/>
          </a:xfrm>
        </p:spPr>
        <p:txBody>
          <a:bodyPr/>
          <a:lstStyle/>
          <a:p>
            <a:pPr algn="just"/>
            <a:r>
              <a:rPr lang="en-CA" sz="3200" dirty="0"/>
              <a:t>Electromagnetic light signal has electric and magnetic fields orthogonal to each other.</a:t>
            </a:r>
          </a:p>
          <a:p>
            <a:pPr algn="just"/>
            <a:r>
              <a:rPr lang="en-CA" sz="3200" dirty="0"/>
              <a:t>The frequency of this EM wave is in the order of THz. Therefore, it is convenient to measure it in terms of wavelength. </a:t>
            </a:r>
            <a:endParaRPr lang="en-CA" sz="3200" i="1" dirty="0"/>
          </a:p>
          <a:p>
            <a:pPr algn="just"/>
            <a:endParaRPr lang="en-CA" sz="3200" i="1" dirty="0"/>
          </a:p>
          <a:p>
            <a:pPr algn="just"/>
            <a:r>
              <a:rPr lang="en-CA" sz="3200" dirty="0"/>
              <a:t>where, </a:t>
            </a:r>
            <a:r>
              <a:rPr lang="en-CA" sz="3200" i="1" dirty="0"/>
              <a:t>c - </a:t>
            </a:r>
            <a:r>
              <a:rPr lang="en-CA" sz="3200" dirty="0"/>
              <a:t>speed of light 3 X 10</a:t>
            </a:r>
            <a:r>
              <a:rPr lang="en-CA" sz="3200" baseline="30000" dirty="0"/>
              <a:t>8</a:t>
            </a:r>
            <a:r>
              <a:rPr lang="en-CA" sz="3200" dirty="0"/>
              <a:t> m/s in air,</a:t>
            </a:r>
            <a:r>
              <a:rPr lang="en-CA" sz="3200" i="1" dirty="0"/>
              <a:t>           </a:t>
            </a:r>
            <a:r>
              <a:rPr lang="el-GR" sz="3200" i="1" dirty="0"/>
              <a:t>ν</a:t>
            </a:r>
            <a:r>
              <a:rPr lang="en-CA" sz="3200" i="1" dirty="0"/>
              <a:t> - </a:t>
            </a:r>
            <a:r>
              <a:rPr lang="en-CA" sz="3200" dirty="0"/>
              <a:t>frequency</a:t>
            </a:r>
            <a:r>
              <a:rPr lang="en-CA" sz="3200" i="1" dirty="0"/>
              <a:t> </a:t>
            </a:r>
            <a:r>
              <a:rPr lang="en-CA" sz="3200" dirty="0"/>
              <a:t>and</a:t>
            </a:r>
            <a:r>
              <a:rPr lang="en-CA" sz="3200" i="1" dirty="0"/>
              <a:t> </a:t>
            </a:r>
            <a:r>
              <a:rPr lang="el-GR" sz="3200" i="1" dirty="0"/>
              <a:t>λ</a:t>
            </a:r>
            <a:r>
              <a:rPr lang="en-CA" sz="3200" i="1" dirty="0"/>
              <a:t>- </a:t>
            </a:r>
            <a:r>
              <a:rPr lang="en-CA" sz="3200" dirty="0"/>
              <a:t>wavelength</a:t>
            </a:r>
          </a:p>
          <a:p>
            <a:pPr algn="just"/>
            <a:r>
              <a:rPr lang="en-CA" sz="3200" dirty="0"/>
              <a:t>Ex: Find the </a:t>
            </a:r>
            <a:r>
              <a:rPr lang="el-GR" sz="3200" dirty="0"/>
              <a:t>ν</a:t>
            </a:r>
            <a:r>
              <a:rPr lang="en-CA" sz="3200" i="1" dirty="0"/>
              <a:t> </a:t>
            </a:r>
            <a:r>
              <a:rPr lang="en-CA" sz="3200" dirty="0"/>
              <a:t>when</a:t>
            </a:r>
            <a:r>
              <a:rPr lang="en-CA" sz="3200" i="1" dirty="0"/>
              <a:t> </a:t>
            </a:r>
            <a:r>
              <a:rPr lang="el-GR" sz="3200" i="1" dirty="0"/>
              <a:t>λ</a:t>
            </a:r>
            <a:r>
              <a:rPr lang="en-CA" sz="3200" i="1" dirty="0"/>
              <a:t> = 1550 nm. </a:t>
            </a:r>
          </a:p>
          <a:p>
            <a:pPr algn="just"/>
            <a:r>
              <a:rPr lang="en-CA" sz="3200" i="1" dirty="0"/>
              <a:t>Answer: 193.5 THz</a:t>
            </a:r>
            <a:endParaRPr lang="en-CA" sz="3200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4928990" y="3781425"/>
          <a:ext cx="1891766" cy="756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40" imgH="177480" progId="Equation.3">
                  <p:embed/>
                </p:oleObj>
              </mc:Choice>
              <mc:Fallback>
                <p:oleObj name="Equation" r:id="rId3" imgW="419040" imgH="177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990" y="3781425"/>
                        <a:ext cx="1891766" cy="7562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229600" y="65532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4FF11F-FCC3-44AE-ADED-BB04A4DEBDCA}" type="slidenum">
              <a:rPr lang="en-US" altLang="en-US" smtClean="0"/>
              <a:pPr>
                <a:defRPr/>
              </a:pPr>
              <a:t>10</a:t>
            </a:fld>
            <a:endParaRPr lang="en-US" altLang="en-US" sz="1544">
              <a:solidFill>
                <a:schemeClr val="tx1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276225"/>
            <a:ext cx="9089390" cy="986125"/>
          </a:xfrm>
        </p:spPr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Particle Nature of Light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459980" y="1185790"/>
            <a:ext cx="9602173" cy="2129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dirty="0"/>
              <a:t>Light </a:t>
            </a:r>
            <a:r>
              <a:rPr lang="en-US" altLang="en-US" sz="2647" dirty="0" err="1"/>
              <a:t>behaviour</a:t>
            </a:r>
            <a:r>
              <a:rPr lang="en-US" altLang="en-US" sz="2647" dirty="0"/>
              <a:t> can be explained in terms of the amount of energy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dirty="0"/>
              <a:t>imparted in an interaction with some other medium. In this case, a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dirty="0"/>
              <a:t>beam of light is composed of a stream of small lumps or QUANTA of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dirty="0"/>
              <a:t>energy, known as </a:t>
            </a:r>
            <a:r>
              <a:rPr lang="en-US" altLang="en-US" sz="2647" dirty="0">
                <a:solidFill>
                  <a:srgbClr val="F80836"/>
                </a:solidFill>
              </a:rPr>
              <a:t>PHOTONS. </a:t>
            </a:r>
            <a:r>
              <a:rPr lang="en-US" altLang="en-US" sz="2647" dirty="0"/>
              <a:t>Each photon carries with it a precisely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dirty="0"/>
              <a:t>defined amount of energy defined as:</a:t>
            </a:r>
            <a:r>
              <a:rPr lang="en-US" altLang="en-US" sz="2647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556895" y="3613362"/>
            <a:ext cx="9579610" cy="1850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647"/>
              <a:t>	                     </a:t>
            </a:r>
            <a:r>
              <a:rPr lang="en-GB" altLang="en-US" sz="2647" b="1" i="1"/>
              <a:t>W</a:t>
            </a:r>
            <a:r>
              <a:rPr lang="en-GB" altLang="en-US" sz="2647" i="1" baseline="-25000"/>
              <a:t>p</a:t>
            </a:r>
            <a:r>
              <a:rPr lang="en-GB" altLang="en-US" sz="2647" i="1"/>
              <a:t> = </a:t>
            </a:r>
            <a:r>
              <a:rPr lang="en-GB" altLang="en-US" sz="2647" b="1" i="1"/>
              <a:t>h*f</a:t>
            </a:r>
            <a:r>
              <a:rPr lang="en-GB" altLang="en-US" sz="2647" b="1"/>
              <a:t>	Joules (J)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1764"/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206"/>
              <a:t>where;	</a:t>
            </a:r>
            <a:r>
              <a:rPr lang="en-GB" altLang="en-US" sz="2206" i="1"/>
              <a:t>h</a:t>
            </a:r>
            <a:r>
              <a:rPr lang="en-GB" altLang="en-US" sz="2206"/>
              <a:t> = Plank's constant = 6.626 x 10</a:t>
            </a:r>
            <a:r>
              <a:rPr lang="en-GB" altLang="en-US" sz="2206" baseline="30000"/>
              <a:t>-34   </a:t>
            </a:r>
            <a:r>
              <a:rPr lang="en-GB" altLang="en-US" sz="2206"/>
              <a:t> J.s,  </a:t>
            </a:r>
            <a:r>
              <a:rPr lang="en-GB" altLang="en-US" sz="2206" i="1"/>
              <a:t>f </a:t>
            </a:r>
            <a:r>
              <a:rPr lang="en-GB" altLang="en-US" sz="2206"/>
              <a:t>= Frequency   Hz</a:t>
            </a:r>
            <a:endParaRPr lang="en-GB" altLang="en-US" sz="2647"/>
          </a:p>
          <a:p>
            <a:pPr>
              <a:spcBef>
                <a:spcPct val="0"/>
              </a:spcBef>
              <a:buFontTx/>
              <a:buNone/>
            </a:pPr>
            <a:endParaRPr lang="en-GB" altLang="en-US" sz="1103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GB" altLang="en-US" sz="2206">
                <a:solidFill>
                  <a:srgbClr val="F80836"/>
                </a:solidFill>
              </a:rPr>
              <a:t>The convenient unit of energy is electron volt (eV), which is the kinetic energy acquired by an electron when accelerated to 1 eV = 1.6 x 10</a:t>
            </a:r>
            <a:r>
              <a:rPr lang="en-GB" altLang="en-US" sz="2206" baseline="30000">
                <a:solidFill>
                  <a:srgbClr val="F80836"/>
                </a:solidFill>
              </a:rPr>
              <a:t>-19</a:t>
            </a:r>
            <a:r>
              <a:rPr lang="en-GB" altLang="en-US" sz="2206">
                <a:solidFill>
                  <a:srgbClr val="F80836"/>
                </a:solidFill>
              </a:rPr>
              <a:t> J</a:t>
            </a:r>
            <a:r>
              <a:rPr lang="en-GB" altLang="en-US" sz="2426">
                <a:solidFill>
                  <a:srgbClr val="F80836"/>
                </a:solidFill>
              </a:rPr>
              <a:t>.</a:t>
            </a:r>
            <a:endParaRPr lang="en-US" altLang="en-US" sz="2647"/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556895" y="5630122"/>
            <a:ext cx="9408345" cy="145014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Char char="•"/>
            </a:pPr>
            <a:r>
              <a:rPr lang="en-US" altLang="en-US" sz="2206" dirty="0"/>
              <a:t> Even although a photon can be thought of as a </a:t>
            </a:r>
            <a:r>
              <a:rPr lang="en-US" altLang="en-US" sz="2206" b="1" dirty="0"/>
              <a:t>particle of energy </a:t>
            </a:r>
            <a:r>
              <a:rPr lang="en-US" altLang="en-US" sz="2206" dirty="0"/>
              <a:t>it still has a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206" dirty="0"/>
              <a:t>  fundamental wavelength, which is equivalent to that of the propagating wave as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206" dirty="0"/>
              <a:t>  described by the wave model.</a:t>
            </a:r>
          </a:p>
          <a:p>
            <a:pPr algn="just">
              <a:spcBef>
                <a:spcPct val="0"/>
              </a:spcBef>
              <a:buFontTx/>
              <a:buChar char="•"/>
            </a:pPr>
            <a:r>
              <a:rPr lang="en-US" altLang="en-US" sz="2206" dirty="0"/>
              <a:t> This model of light is useful when the light source contains only a few photons.</a:t>
            </a:r>
            <a:endParaRPr lang="en-US" altLang="en-US" sz="2647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  <p:bldP spid="46084" grpId="0" autoUpdateAnimBg="0"/>
      <p:bldP spid="4608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02005" y="504828"/>
            <a:ext cx="9089390" cy="914400"/>
          </a:xfrm>
        </p:spPr>
        <p:txBody>
          <a:bodyPr/>
          <a:lstStyle/>
          <a:p>
            <a:pPr eaLnBrk="1" hangingPunct="1"/>
            <a:r>
              <a:rPr lang="en-US" sz="4800" b="1" dirty="0">
                <a:solidFill>
                  <a:srgbClr val="FFC000"/>
                </a:solidFill>
                <a:latin typeface="Times New Roman" pitchFamily="18" charset="0"/>
              </a:rPr>
              <a:t>Particle Theory Vs. Wave Theory</a:t>
            </a:r>
            <a:endParaRPr lang="en-US" sz="4800" dirty="0">
              <a:solidFill>
                <a:srgbClr val="FFC000"/>
              </a:solidFill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02005" y="1647826"/>
            <a:ext cx="9089390" cy="5074708"/>
          </a:xfrm>
        </p:spPr>
        <p:txBody>
          <a:bodyPr/>
          <a:lstStyle/>
          <a:p>
            <a:pPr algn="just" eaLnBrk="1" hangingPunct="1">
              <a:buNone/>
            </a:pPr>
            <a:r>
              <a:rPr lang="en-US" sz="2100" b="1" dirty="0"/>
              <a:t>Newton’s particle theory  explain Only four properties of light: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100" dirty="0"/>
              <a:t> rectilinear propagation,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100" dirty="0"/>
              <a:t>reflection,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100" dirty="0"/>
              <a:t>refraction, 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100" dirty="0"/>
              <a:t>and dispersion.</a:t>
            </a:r>
          </a:p>
          <a:p>
            <a:pPr algn="just" eaLnBrk="1" hangingPunct="1">
              <a:buNone/>
            </a:pPr>
            <a:r>
              <a:rPr lang="en-US" sz="2100" b="1" dirty="0"/>
              <a:t>Wave theory  (Huygens’ wave theory.) of light explains most phenomena involving light: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100" dirty="0"/>
              <a:t>propagation in straight line 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100" dirty="0"/>
              <a:t>reflection 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100" dirty="0"/>
              <a:t>refraction 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100" dirty="0"/>
              <a:t>superposition, interference, diffraction           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100" dirty="0"/>
              <a:t>polarization 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100" dirty="0"/>
              <a:t>Doppler effect 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005" y="352426"/>
            <a:ext cx="9089390" cy="11430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Light: Particle or a Wave?</a:t>
            </a: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2906" y="1724025"/>
            <a:ext cx="3141407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13500" y="1876425"/>
            <a:ext cx="2542269" cy="2011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8101" y="4391030"/>
            <a:ext cx="3619500" cy="216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76950" y="4391025"/>
            <a:ext cx="3232150" cy="252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9" name="AutoShape 7" descr="http://www.olympusmicro.com/primer/lightandcolor/images/particlewavefigure6.jpg"/>
          <p:cNvSpPr>
            <a:spLocks noChangeAspect="1" noChangeArrowheads="1"/>
          </p:cNvSpPr>
          <p:nvPr/>
        </p:nvSpPr>
        <p:spPr bwMode="auto">
          <a:xfrm>
            <a:off x="155581" y="-1798632"/>
            <a:ext cx="3757613" cy="3757613"/>
          </a:xfrm>
          <a:prstGeom prst="rect">
            <a:avLst/>
          </a:prstGeom>
          <a:noFill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005" y="352426"/>
            <a:ext cx="9089390" cy="1143000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Light: Particle or a Wave?(continue)</a:t>
            </a:r>
            <a:endParaRPr lang="en-US" sz="4400" dirty="0">
              <a:solidFill>
                <a:srgbClr val="FFC000"/>
              </a:solidFill>
            </a:endParaRPr>
          </a:p>
        </p:txBody>
      </p:sp>
      <p:sp>
        <p:nvSpPr>
          <p:cNvPr id="3079" name="AutoShape 7" descr="http://www.olympusmicro.com/primer/lightandcolor/images/particlewavefigure6.jpg"/>
          <p:cNvSpPr>
            <a:spLocks noChangeAspect="1" noChangeArrowheads="1"/>
          </p:cNvSpPr>
          <p:nvPr/>
        </p:nvSpPr>
        <p:spPr bwMode="auto">
          <a:xfrm>
            <a:off x="155581" y="-1798632"/>
            <a:ext cx="3757613" cy="3757613"/>
          </a:xfrm>
          <a:prstGeom prst="rect">
            <a:avLst/>
          </a:prstGeom>
          <a:noFill/>
        </p:spPr>
        <p:txBody>
          <a:bodyPr vert="horz" wrap="square" lIns="91400" tIns="45700" rIns="91400" bIns="4570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7762" name="Picture 2" descr="http://www.olympusmicro.com/primer/lightandcolor/images/particlewavefigure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9501" y="1647826"/>
            <a:ext cx="3962401" cy="3962400"/>
          </a:xfrm>
          <a:prstGeom prst="rect">
            <a:avLst/>
          </a:prstGeom>
          <a:noFill/>
        </p:spPr>
      </p:pic>
      <p:pic>
        <p:nvPicPr>
          <p:cNvPr id="117764" name="Picture 4" descr="http://www.olympusmicro.com/primer/lightandcolor/images/particlewavefigure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2900" y="1724028"/>
            <a:ext cx="4221164" cy="3995738"/>
          </a:xfrm>
          <a:prstGeom prst="rect">
            <a:avLst/>
          </a:prstGeom>
          <a:noFill/>
        </p:spPr>
      </p:pic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229600" y="6553200"/>
            <a:ext cx="609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C190BE-5CC1-4824-940C-38FDB4177149}" type="slidenum">
              <a:rPr lang="en-US" altLang="en-US" smtClean="0"/>
              <a:pPr>
                <a:defRPr/>
              </a:pPr>
              <a:t>14</a:t>
            </a:fld>
            <a:endParaRPr lang="en-US" altLang="en-US" sz="1544">
              <a:solidFill>
                <a:schemeClr val="tx1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802005" y="200025"/>
            <a:ext cx="9089390" cy="898011"/>
          </a:xfrm>
        </p:spPr>
        <p:txBody>
          <a:bodyPr/>
          <a:lstStyle/>
          <a:p>
            <a:r>
              <a:rPr lang="en-US" altLang="en-US" dirty="0">
                <a:solidFill>
                  <a:srgbClr val="FFC000"/>
                </a:solidFill>
              </a:rPr>
              <a:t>Electromagnetic Radiation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12261" y="1098036"/>
            <a:ext cx="9721414" cy="226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Char char="•"/>
            </a:pPr>
            <a:r>
              <a:rPr lang="en-US" altLang="en-US" sz="2647" dirty="0"/>
              <a:t> </a:t>
            </a:r>
            <a:r>
              <a:rPr lang="en-US" altLang="en-US" sz="2206" dirty="0"/>
              <a:t>Carries energy through space (includes visible light, dental x-rays, radio waves, heat radiation from a fireplace)</a:t>
            </a:r>
          </a:p>
          <a:p>
            <a:pPr algn="just">
              <a:spcBef>
                <a:spcPct val="0"/>
              </a:spcBef>
              <a:buFontTx/>
              <a:buChar char="•"/>
            </a:pPr>
            <a:r>
              <a:rPr lang="en-US" altLang="en-US" sz="2206" dirty="0"/>
              <a:t> The wave is composed of a combination of mutually perpendicular electric and magnetic fields the direction of propagation of the wave is at right angles to both field directions, </a:t>
            </a:r>
            <a:r>
              <a:rPr lang="en-US" altLang="en-US" sz="2206" dirty="0">
                <a:solidFill>
                  <a:srgbClr val="F80836"/>
                </a:solidFill>
              </a:rPr>
              <a:t>this is known as an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647" dirty="0">
                <a:solidFill>
                  <a:srgbClr val="F80836"/>
                </a:solidFill>
              </a:rPr>
              <a:t>                          </a:t>
            </a:r>
            <a:r>
              <a:rPr lang="en-US" altLang="en-US" sz="2647" b="1" dirty="0">
                <a:solidFill>
                  <a:srgbClr val="F80836"/>
                </a:solidFill>
              </a:rPr>
              <a:t>ELECTROMAGNETIC WAVE</a:t>
            </a:r>
            <a:r>
              <a:rPr lang="en-US" altLang="en-US" sz="2647" dirty="0"/>
              <a:t> </a:t>
            </a:r>
            <a:endParaRPr lang="en-US" altLang="en-US" sz="2206" dirty="0">
              <a:solidFill>
                <a:schemeClr val="tx1"/>
              </a:solidFill>
            </a:endParaRPr>
          </a:p>
        </p:txBody>
      </p:sp>
      <p:sp>
        <p:nvSpPr>
          <p:cNvPr id="44063" name="Text Box 31"/>
          <p:cNvSpPr txBox="1">
            <a:spLocks noChangeArrowheads="1"/>
          </p:cNvSpPr>
          <p:nvPr/>
        </p:nvSpPr>
        <p:spPr bwMode="auto">
          <a:xfrm>
            <a:off x="640927" y="3569596"/>
            <a:ext cx="9411547" cy="46564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26"/>
              <a:t>EM wave move through a vacuum at 3.0 x 10</a:t>
            </a:r>
            <a:r>
              <a:rPr lang="en-US" altLang="en-US" sz="2426" baseline="30000"/>
              <a:t>8</a:t>
            </a:r>
            <a:r>
              <a:rPr lang="en-US" altLang="en-US" sz="2426"/>
              <a:t> m/s ("speed of light")</a:t>
            </a:r>
            <a:endParaRPr lang="en-US" altLang="en-US" sz="2426">
              <a:solidFill>
                <a:schemeClr val="tx1"/>
              </a:solidFill>
            </a:endParaRPr>
          </a:p>
        </p:txBody>
      </p:sp>
      <p:pic>
        <p:nvPicPr>
          <p:cNvPr id="13" name="Picture 7" descr="E M Wa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74" y="4665509"/>
            <a:ext cx="3077660" cy="218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369" y="4392407"/>
            <a:ext cx="2717024" cy="40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123" y="4938612"/>
            <a:ext cx="2790552" cy="409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5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048" y="4247101"/>
            <a:ext cx="1605356" cy="1283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053" y="5862960"/>
            <a:ext cx="1605356" cy="125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7" name="TextBox 1"/>
          <p:cNvSpPr txBox="1">
            <a:spLocks noChangeArrowheads="1"/>
          </p:cNvSpPr>
          <p:nvPr/>
        </p:nvSpPr>
        <p:spPr bwMode="auto">
          <a:xfrm flipH="1">
            <a:off x="7015079" y="5497072"/>
            <a:ext cx="2701267" cy="43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6" i="1">
                <a:solidFill>
                  <a:schemeClr val="tx1"/>
                </a:solidFill>
              </a:rPr>
              <a:t>E</a:t>
            </a:r>
            <a:r>
              <a:rPr lang="en-GB" altLang="en-US" sz="2206">
                <a:solidFill>
                  <a:schemeClr val="tx1"/>
                </a:solidFill>
              </a:rPr>
              <a:t> = </a:t>
            </a:r>
            <a:r>
              <a:rPr lang="en-GB" altLang="en-US" sz="2206" i="1">
                <a:solidFill>
                  <a:schemeClr val="tx1"/>
                </a:solidFill>
              </a:rPr>
              <a:t>v</a:t>
            </a:r>
            <a:r>
              <a:rPr lang="en-GB" altLang="en-US" sz="2206" i="1" baseline="-25000">
                <a:solidFill>
                  <a:schemeClr val="tx1"/>
                </a:solidFill>
              </a:rPr>
              <a:t>p</a:t>
            </a:r>
            <a:r>
              <a:rPr lang="en-GB" altLang="en-US" sz="2206" i="1">
                <a:solidFill>
                  <a:schemeClr val="tx1"/>
                </a:solidFill>
              </a:rPr>
              <a:t>H = H </a:t>
            </a:r>
            <a:r>
              <a:rPr lang="en-GB" altLang="en-US" sz="2206">
                <a:solidFill>
                  <a:schemeClr val="tx1"/>
                </a:solidFill>
              </a:rPr>
              <a:t>[</a:t>
            </a:r>
            <a:r>
              <a:rPr lang="en-GB" altLang="en-US" sz="2206" i="1">
                <a:solidFill>
                  <a:schemeClr val="tx1"/>
                </a:solidFill>
              </a:rPr>
              <a:t>c/n</a:t>
            </a:r>
            <a:r>
              <a:rPr lang="en-GB" altLang="en-US" sz="2206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24588" name="Text Box 36"/>
          <p:cNvSpPr txBox="1">
            <a:spLocks noChangeArrowheads="1"/>
          </p:cNvSpPr>
          <p:nvPr/>
        </p:nvSpPr>
        <p:spPr bwMode="auto">
          <a:xfrm>
            <a:off x="5663570" y="6120307"/>
            <a:ext cx="3177447" cy="39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985">
                <a:solidFill>
                  <a:srgbClr val="F80836"/>
                </a:solidFill>
              </a:rPr>
              <a:t>Speed of light in a </a:t>
            </a:r>
            <a:r>
              <a:rPr lang="en-US" altLang="en-US" sz="1985"/>
              <a:t>vacuum</a:t>
            </a:r>
          </a:p>
        </p:txBody>
      </p:sp>
      <p:graphicFrame>
        <p:nvGraphicFramePr>
          <p:cNvPr id="24589" name="Object 37"/>
          <p:cNvGraphicFramePr>
            <a:graphicFrameLocks noChangeAspect="1"/>
          </p:cNvGraphicFramePr>
          <p:nvPr/>
        </p:nvGraphicFramePr>
        <p:xfrm>
          <a:off x="8893536" y="6158821"/>
          <a:ext cx="1255224" cy="414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09336" imgH="203112" progId="Equation.3">
                  <p:embed/>
                </p:oleObj>
              </mc:Choice>
              <mc:Fallback>
                <p:oleObj name="Equation" r:id="rId7" imgW="609336" imgH="203112" progId="Equation.3">
                  <p:embed/>
                  <p:pic>
                    <p:nvPicPr>
                      <p:cNvPr id="24589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3536" y="6158821"/>
                        <a:ext cx="1255224" cy="414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0" name="TextBox 2"/>
          <p:cNvSpPr txBox="1">
            <a:spLocks noChangeArrowheads="1"/>
          </p:cNvSpPr>
          <p:nvPr/>
        </p:nvSpPr>
        <p:spPr bwMode="auto">
          <a:xfrm>
            <a:off x="6209776" y="6596486"/>
            <a:ext cx="3744936" cy="43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6">
                <a:solidFill>
                  <a:schemeClr val="tx1"/>
                </a:solidFill>
                <a:sym typeface="Symbol" panose="05050102010706020507" pitchFamily="18" charset="2"/>
              </a:rPr>
              <a:t> - Propagation constant = /</a:t>
            </a:r>
            <a:r>
              <a:rPr lang="en-GB" altLang="en-US" sz="2206" i="1">
                <a:solidFill>
                  <a:schemeClr val="tx1"/>
                </a:solidFill>
                <a:sym typeface="Symbol" panose="05050102010706020507" pitchFamily="18" charset="2"/>
              </a:rPr>
              <a:t>v</a:t>
            </a:r>
            <a:r>
              <a:rPr lang="en-GB" altLang="en-US" sz="2206" i="1" baseline="-25000">
                <a:solidFill>
                  <a:schemeClr val="tx1"/>
                </a:solidFill>
                <a:sym typeface="Symbol" panose="05050102010706020507" pitchFamily="18" charset="2"/>
              </a:rPr>
              <a:t>p</a:t>
            </a:r>
            <a:endParaRPr lang="en-GB" altLang="en-US" sz="2206" i="1" baseline="-25000">
              <a:solidFill>
                <a:schemeClr val="tx1"/>
              </a:solidFill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0A75E819-52FF-4B4E-8542-80E11B31096D}"/>
              </a:ext>
            </a:extLst>
          </p:cNvPr>
          <p:cNvSpPr txBox="1"/>
          <p:nvPr/>
        </p:nvSpPr>
        <p:spPr>
          <a:xfrm>
            <a:off x="1374030" y="7091063"/>
            <a:ext cx="7163435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100" spc="-5" dirty="0">
                <a:solidFill>
                  <a:srgbClr val="CC0000"/>
                </a:solidFill>
                <a:latin typeface="Arial"/>
                <a:cs typeface="Arial"/>
              </a:rPr>
              <a:t>The </a:t>
            </a:r>
            <a:r>
              <a:rPr sz="2100" b="1" spc="-5" dirty="0">
                <a:solidFill>
                  <a:srgbClr val="CC0000"/>
                </a:solidFill>
                <a:latin typeface="Arial"/>
                <a:cs typeface="Arial"/>
              </a:rPr>
              <a:t>optical field </a:t>
            </a:r>
            <a:r>
              <a:rPr sz="2100" spc="-5" dirty="0">
                <a:solidFill>
                  <a:srgbClr val="CC0000"/>
                </a:solidFill>
                <a:latin typeface="Arial"/>
                <a:cs typeface="Arial"/>
              </a:rPr>
              <a:t>generally refers to the electric</a:t>
            </a:r>
            <a:r>
              <a:rPr sz="2100" spc="5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100" spc="-5" dirty="0">
                <a:solidFill>
                  <a:srgbClr val="CC0000"/>
                </a:solidFill>
                <a:latin typeface="Arial"/>
                <a:cs typeface="Arial"/>
              </a:rPr>
              <a:t>field.</a:t>
            </a:r>
            <a:endParaRPr sz="2100" dirty="0">
              <a:latin typeface="Arial"/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utoUpdateAnimBg="0"/>
      <p:bldP spid="44063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0500" y="352425"/>
            <a:ext cx="8001000" cy="795528"/>
          </a:xfrm>
          <a:prstGeom prst="rect">
            <a:avLst/>
          </a:prstGeom>
        </p:spPr>
        <p:txBody>
          <a:bodyPr vert="horz" wrap="square" lIns="0" tIns="117274" rIns="0" bIns="0" rtlCol="0">
            <a:spAutoFit/>
          </a:bodyPr>
          <a:lstStyle/>
          <a:p>
            <a:r>
              <a:rPr sz="4400" spc="-10" dirty="0">
                <a:solidFill>
                  <a:srgbClr val="FFC000"/>
                </a:solidFill>
                <a:latin typeface="Arial"/>
                <a:cs typeface="Arial"/>
              </a:rPr>
              <a:t>Plane Electromagnetic</a:t>
            </a:r>
            <a:r>
              <a:rPr sz="440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4400" spc="-10" dirty="0">
                <a:solidFill>
                  <a:srgbClr val="FFC000"/>
                </a:solidFill>
                <a:latin typeface="Arial"/>
                <a:cs typeface="Arial"/>
              </a:rPr>
              <a:t>Wave</a:t>
            </a:r>
            <a:endParaRPr sz="44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17838" y="1263395"/>
            <a:ext cx="6934200" cy="4142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05976" y="5702045"/>
            <a:ext cx="864425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400" dirty="0">
                <a:solidFill>
                  <a:srgbClr val="9A0033"/>
                </a:solidFill>
                <a:latin typeface="Times New Roman"/>
                <a:cs typeface="Times New Roman"/>
              </a:rPr>
              <a:t>A surface over which the phase of a wave is constant is referred to as</a:t>
            </a:r>
            <a:r>
              <a:rPr sz="2400" spc="-340" dirty="0">
                <a:solidFill>
                  <a:srgbClr val="9A00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A0033"/>
                </a:solidFill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  <a:p>
            <a:pPr marL="12693"/>
            <a:r>
              <a:rPr sz="2400" b="1" spc="-10" dirty="0">
                <a:solidFill>
                  <a:srgbClr val="9A0033"/>
                </a:solidFill>
                <a:latin typeface="Times New Roman"/>
                <a:cs typeface="Times New Roman"/>
              </a:rPr>
              <a:t>wavefront</a:t>
            </a:r>
            <a:r>
              <a:rPr sz="2400" spc="-10" dirty="0">
                <a:solidFill>
                  <a:srgbClr val="9A0033"/>
                </a:solidFill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78223" y="1260477"/>
            <a:ext cx="10158730" cy="5882217"/>
            <a:chOff x="152400" y="1143000"/>
            <a:chExt cx="8686800" cy="5334000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52400" y="1143000"/>
              <a:ext cx="8686800" cy="5334000"/>
              <a:chOff x="288" y="768"/>
              <a:chExt cx="5184" cy="3103"/>
            </a:xfrm>
          </p:grpSpPr>
          <p:pic>
            <p:nvPicPr>
              <p:cNvPr id="4105" name="Picture 5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288" y="768"/>
                <a:ext cx="5184" cy="310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  <p:sp>
            <p:nvSpPr>
              <p:cNvPr id="4106" name="Text Box 6"/>
              <p:cNvSpPr txBox="1">
                <a:spLocks noChangeArrowheads="1"/>
              </p:cNvSpPr>
              <p:nvPr/>
            </p:nvSpPr>
            <p:spPr bwMode="auto">
              <a:xfrm>
                <a:off x="3360" y="2256"/>
                <a:ext cx="305" cy="382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4100" i="1" dirty="0" err="1"/>
                  <a:t>v</a:t>
                </a:r>
                <a:r>
                  <a:rPr lang="en-US" sz="4100" i="1" baseline="-25000" dirty="0" err="1"/>
                  <a:t>p</a:t>
                </a:r>
                <a:endParaRPr lang="en-US" sz="4100" i="1" baseline="-25000" dirty="0"/>
              </a:p>
            </p:txBody>
          </p:sp>
        </p:grpSp>
        <p:sp useBgFill="1">
          <p:nvSpPr>
            <p:cNvPr id="4104" name="Rectangle 5"/>
            <p:cNvSpPr>
              <a:spLocks noChangeArrowheads="1"/>
            </p:cNvSpPr>
            <p:nvPr/>
          </p:nvSpPr>
          <p:spPr bwMode="auto">
            <a:xfrm>
              <a:off x="6400800" y="3733800"/>
              <a:ext cx="609600" cy="762000"/>
            </a:xfrm>
            <a:prstGeom prst="rect">
              <a:avLst/>
            </a:prstGeom>
            <a:ln w="12700" algn="ctr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802005" y="420163"/>
            <a:ext cx="9089390" cy="53860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Phase Velocity</a:t>
            </a:r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/>
        </p:nvGraphicFramePr>
        <p:xfrm>
          <a:off x="4010025" y="6218343"/>
          <a:ext cx="2049568" cy="105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393480" progId="Equation.3">
                  <p:embed/>
                </p:oleObj>
              </mc:Choice>
              <mc:Fallback>
                <p:oleObj name="Equation" r:id="rId4" imgW="72360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6218343"/>
                        <a:ext cx="2049568" cy="10503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Box 8"/>
          <p:cNvSpPr txBox="1">
            <a:spLocks noChangeArrowheads="1"/>
          </p:cNvSpPr>
          <p:nvPr/>
        </p:nvSpPr>
        <p:spPr bwMode="auto">
          <a:xfrm>
            <a:off x="1604014" y="6549222"/>
            <a:ext cx="1659046" cy="38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4268" tIns="52135" rIns="104268" bIns="52135">
            <a:spAutoFit/>
          </a:bodyPr>
          <a:lstStyle/>
          <a:p>
            <a:r>
              <a:rPr lang="en-US"/>
              <a:t>Phase velocity: </a:t>
            </a:r>
          </a:p>
        </p:txBody>
      </p:sp>
      <p:sp>
        <p:nvSpPr>
          <p:cNvPr id="4102" name="TextBox 9"/>
          <p:cNvSpPr txBox="1">
            <a:spLocks noChangeArrowheads="1"/>
          </p:cNvSpPr>
          <p:nvPr/>
        </p:nvSpPr>
        <p:spPr bwMode="auto">
          <a:xfrm>
            <a:off x="6416042" y="6386407"/>
            <a:ext cx="3120793" cy="8747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104268" tIns="52135" rIns="104268" bIns="52135">
            <a:spAutoFit/>
          </a:bodyPr>
          <a:lstStyle/>
          <a:p>
            <a:r>
              <a:rPr lang="en-CA" sz="2500" i="1" dirty="0"/>
              <a:t>c</a:t>
            </a:r>
            <a:r>
              <a:rPr lang="en-CA" sz="2500" i="1" baseline="-25000" dirty="0"/>
              <a:t>o</a:t>
            </a:r>
            <a:r>
              <a:rPr lang="en-CA" sz="2500" dirty="0"/>
              <a:t>: Speed of light in air</a:t>
            </a:r>
          </a:p>
          <a:p>
            <a:r>
              <a:rPr lang="en-CA" sz="2500" i="1" dirty="0"/>
              <a:t>n</a:t>
            </a:r>
            <a:r>
              <a:rPr lang="en-CA" sz="2500" dirty="0"/>
              <a:t>: Refractive index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" y="1038225"/>
            <a:ext cx="937260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 </a:t>
            </a:r>
            <a:r>
              <a:rPr lang="en-US" b="1" dirty="0"/>
              <a:t>phase velocity</a:t>
            </a:r>
            <a:r>
              <a:rPr lang="en-US" dirty="0"/>
              <a:t> of a wave is the rate at which the wave propagates in any medium. </a:t>
            </a:r>
          </a:p>
        </p:txBody>
      </p:sp>
    </p:spTree>
  </p:cSld>
  <p:clrMapOvr>
    <a:masterClrMapping/>
  </p:clrMapOvr>
  <p:transition spd="slow"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100" y="352425"/>
            <a:ext cx="883385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9354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Plane</a:t>
            </a:r>
            <a:r>
              <a:rPr sz="3200" spc="-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Waves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27240" y="1110996"/>
            <a:ext cx="5484876" cy="952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92379" y="1668271"/>
            <a:ext cx="304927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400" i="1" spc="-5" dirty="0">
                <a:latin typeface="Times New Roman"/>
                <a:cs typeface="Times New Roman"/>
              </a:rPr>
              <a:t>E</a:t>
            </a:r>
            <a:r>
              <a:rPr sz="2400" i="1" spc="-7" baseline="-20833" dirty="0">
                <a:latin typeface="Times New Roman"/>
                <a:cs typeface="Times New Roman"/>
              </a:rPr>
              <a:t>x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i="1" spc="-5" dirty="0">
                <a:latin typeface="Times New Roman"/>
                <a:cs typeface="Times New Roman"/>
              </a:rPr>
              <a:t>E</a:t>
            </a:r>
            <a:r>
              <a:rPr sz="2400" spc="-7" baseline="-20833" dirty="0">
                <a:latin typeface="Times New Roman"/>
                <a:cs typeface="Times New Roman"/>
              </a:rPr>
              <a:t>0 </a:t>
            </a:r>
            <a:r>
              <a:rPr sz="2400" spc="-15" dirty="0">
                <a:latin typeface="Times New Roman"/>
                <a:cs typeface="Times New Roman"/>
              </a:rPr>
              <a:t>cos(</a:t>
            </a:r>
            <a:r>
              <a:rPr sz="2500" i="1" spc="-15" dirty="0">
                <a:latin typeface="Symbol"/>
                <a:cs typeface="Symbol"/>
              </a:rPr>
              <a:t></a:t>
            </a:r>
            <a:r>
              <a:rPr sz="2400" i="1" spc="-15" dirty="0">
                <a:latin typeface="Times New Roman"/>
                <a:cs typeface="Times New Roman"/>
              </a:rPr>
              <a:t>t </a:t>
            </a:r>
            <a:r>
              <a:rPr sz="2500" i="1" spc="-55" dirty="0">
                <a:latin typeface="Symbol"/>
                <a:cs typeface="Symbol"/>
              </a:rPr>
              <a:t></a:t>
            </a:r>
            <a:r>
              <a:rPr sz="2500" i="1" spc="-5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kz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500" i="1" spc="-21" dirty="0">
                <a:latin typeface="Symbol"/>
                <a:cs typeface="Symbol"/>
              </a:rPr>
              <a:t></a:t>
            </a:r>
            <a:r>
              <a:rPr sz="2400" spc="-30" baseline="-20833" dirty="0">
                <a:latin typeface="Times New Roman"/>
                <a:cs typeface="Times New Roman"/>
              </a:rPr>
              <a:t>0</a:t>
            </a:r>
            <a:r>
              <a:rPr sz="2400" spc="-21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2062736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0" y="0"/>
                </a:moveTo>
                <a:lnTo>
                  <a:pt x="0" y="858012"/>
                </a:lnTo>
                <a:lnTo>
                  <a:pt x="9144000" y="858011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27240" y="2063495"/>
            <a:ext cx="5484876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8496" y="2549652"/>
            <a:ext cx="5581650" cy="371475"/>
          </a:xfrm>
          <a:custGeom>
            <a:avLst/>
            <a:gdLst/>
            <a:ahLst/>
            <a:cxnLst/>
            <a:rect l="l" t="t" r="r" b="b"/>
            <a:pathLst>
              <a:path w="5581650" h="371475">
                <a:moveTo>
                  <a:pt x="5581649" y="371093"/>
                </a:moveTo>
                <a:lnTo>
                  <a:pt x="5581649" y="0"/>
                </a:lnTo>
                <a:lnTo>
                  <a:pt x="0" y="0"/>
                </a:lnTo>
                <a:lnTo>
                  <a:pt x="0" y="371094"/>
                </a:lnTo>
                <a:lnTo>
                  <a:pt x="9144" y="371094"/>
                </a:lnTo>
                <a:lnTo>
                  <a:pt x="9144" y="19050"/>
                </a:lnTo>
                <a:lnTo>
                  <a:pt x="19050" y="9144"/>
                </a:lnTo>
                <a:lnTo>
                  <a:pt x="19050" y="19050"/>
                </a:lnTo>
                <a:lnTo>
                  <a:pt x="5562600" y="19050"/>
                </a:lnTo>
                <a:lnTo>
                  <a:pt x="5562600" y="9143"/>
                </a:lnTo>
                <a:lnTo>
                  <a:pt x="5571731" y="19050"/>
                </a:lnTo>
                <a:lnTo>
                  <a:pt x="5571731" y="371093"/>
                </a:lnTo>
                <a:lnTo>
                  <a:pt x="5581649" y="371093"/>
                </a:lnTo>
                <a:close/>
              </a:path>
              <a:path w="5581650" h="371475">
                <a:moveTo>
                  <a:pt x="19050" y="19050"/>
                </a:moveTo>
                <a:lnTo>
                  <a:pt x="19050" y="9144"/>
                </a:lnTo>
                <a:lnTo>
                  <a:pt x="9144" y="19050"/>
                </a:lnTo>
                <a:lnTo>
                  <a:pt x="19050" y="19050"/>
                </a:lnTo>
                <a:close/>
              </a:path>
              <a:path w="5581650" h="371475">
                <a:moveTo>
                  <a:pt x="19050" y="371094"/>
                </a:moveTo>
                <a:lnTo>
                  <a:pt x="19050" y="19050"/>
                </a:lnTo>
                <a:lnTo>
                  <a:pt x="9144" y="19050"/>
                </a:lnTo>
                <a:lnTo>
                  <a:pt x="9144" y="371094"/>
                </a:lnTo>
                <a:lnTo>
                  <a:pt x="19050" y="371094"/>
                </a:lnTo>
                <a:close/>
              </a:path>
              <a:path w="5581650" h="371475">
                <a:moveTo>
                  <a:pt x="5571731" y="19050"/>
                </a:moveTo>
                <a:lnTo>
                  <a:pt x="5562600" y="9143"/>
                </a:lnTo>
                <a:lnTo>
                  <a:pt x="5562600" y="19050"/>
                </a:lnTo>
                <a:lnTo>
                  <a:pt x="5571731" y="19050"/>
                </a:lnTo>
                <a:close/>
              </a:path>
              <a:path w="5581650" h="371475">
                <a:moveTo>
                  <a:pt x="5571731" y="371093"/>
                </a:moveTo>
                <a:lnTo>
                  <a:pt x="5571731" y="19050"/>
                </a:lnTo>
                <a:lnTo>
                  <a:pt x="5562600" y="19050"/>
                </a:lnTo>
                <a:lnTo>
                  <a:pt x="5562600" y="371093"/>
                </a:lnTo>
                <a:lnTo>
                  <a:pt x="5571731" y="371093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27241" y="3244595"/>
            <a:ext cx="2907030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28020" y="29207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FF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690620" y="29207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FF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3777240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4000" y="858012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28020" y="377799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FF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90620" y="377799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FF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28020" y="4635250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FF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690620" y="4635250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FF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18496" y="5492496"/>
            <a:ext cx="5581650" cy="1032129"/>
          </a:xfrm>
          <a:custGeom>
            <a:avLst/>
            <a:gdLst/>
            <a:ahLst/>
            <a:cxnLst/>
            <a:rect l="l" t="t" r="r" b="b"/>
            <a:pathLst>
              <a:path w="5581650" h="540385">
                <a:moveTo>
                  <a:pt x="19050" y="521208"/>
                </a:moveTo>
                <a:lnTo>
                  <a:pt x="19050" y="0"/>
                </a:lnTo>
                <a:lnTo>
                  <a:pt x="0" y="0"/>
                </a:lnTo>
                <a:lnTo>
                  <a:pt x="0" y="540258"/>
                </a:lnTo>
                <a:lnTo>
                  <a:pt x="9144" y="540258"/>
                </a:lnTo>
                <a:lnTo>
                  <a:pt x="9144" y="521208"/>
                </a:lnTo>
                <a:lnTo>
                  <a:pt x="19050" y="521208"/>
                </a:lnTo>
                <a:close/>
              </a:path>
              <a:path w="5581650" h="540385">
                <a:moveTo>
                  <a:pt x="5571731" y="521207"/>
                </a:moveTo>
                <a:lnTo>
                  <a:pt x="9144" y="521208"/>
                </a:lnTo>
                <a:lnTo>
                  <a:pt x="19050" y="530352"/>
                </a:lnTo>
                <a:lnTo>
                  <a:pt x="19050" y="540258"/>
                </a:lnTo>
                <a:lnTo>
                  <a:pt x="5562600" y="540257"/>
                </a:lnTo>
                <a:lnTo>
                  <a:pt x="5562600" y="530351"/>
                </a:lnTo>
                <a:lnTo>
                  <a:pt x="5571731" y="521207"/>
                </a:lnTo>
                <a:close/>
              </a:path>
              <a:path w="5581650" h="540385">
                <a:moveTo>
                  <a:pt x="19050" y="540258"/>
                </a:moveTo>
                <a:lnTo>
                  <a:pt x="19050" y="530352"/>
                </a:lnTo>
                <a:lnTo>
                  <a:pt x="9144" y="521208"/>
                </a:lnTo>
                <a:lnTo>
                  <a:pt x="9144" y="540258"/>
                </a:lnTo>
                <a:lnTo>
                  <a:pt x="19050" y="540258"/>
                </a:lnTo>
                <a:close/>
              </a:path>
              <a:path w="5581650" h="540385">
                <a:moveTo>
                  <a:pt x="5581649" y="540257"/>
                </a:moveTo>
                <a:lnTo>
                  <a:pt x="5581649" y="0"/>
                </a:lnTo>
                <a:lnTo>
                  <a:pt x="5562600" y="0"/>
                </a:lnTo>
                <a:lnTo>
                  <a:pt x="5562600" y="521207"/>
                </a:lnTo>
                <a:lnTo>
                  <a:pt x="5571731" y="521207"/>
                </a:lnTo>
                <a:lnTo>
                  <a:pt x="5571731" y="540257"/>
                </a:lnTo>
                <a:lnTo>
                  <a:pt x="5581649" y="540257"/>
                </a:lnTo>
                <a:close/>
              </a:path>
              <a:path w="5581650" h="540385">
                <a:moveTo>
                  <a:pt x="5571731" y="540257"/>
                </a:moveTo>
                <a:lnTo>
                  <a:pt x="5571731" y="521207"/>
                </a:lnTo>
                <a:lnTo>
                  <a:pt x="5562600" y="530351"/>
                </a:lnTo>
                <a:lnTo>
                  <a:pt x="5562600" y="540257"/>
                </a:lnTo>
                <a:lnTo>
                  <a:pt x="5571731" y="540257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06374" y="2595880"/>
            <a:ext cx="5325745" cy="3849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149" marR="401706" indent="-228457" algn="just">
              <a:buSzPct val="50000"/>
              <a:buFont typeface="Wingdings"/>
              <a:buChar char=""/>
              <a:tabLst>
                <a:tab pos="241149" algn="l"/>
              </a:tabLst>
            </a:pPr>
            <a:r>
              <a:rPr sz="2100" spc="-5" dirty="0">
                <a:latin typeface="Times New Roman"/>
                <a:cs typeface="Times New Roman"/>
              </a:rPr>
              <a:t>The plane wave has no angular separation </a:t>
            </a:r>
            <a:r>
              <a:rPr sz="2100" spc="-10" dirty="0">
                <a:latin typeface="Times New Roman"/>
                <a:cs typeface="Times New Roman"/>
              </a:rPr>
              <a:t>(</a:t>
            </a:r>
            <a:r>
              <a:rPr sz="2100" b="1" spc="-10" dirty="0">
                <a:latin typeface="Times New Roman"/>
                <a:cs typeface="Times New Roman"/>
              </a:rPr>
              <a:t>no  </a:t>
            </a:r>
            <a:r>
              <a:rPr sz="2100" b="1" spc="-5" dirty="0">
                <a:latin typeface="Times New Roman"/>
                <a:cs typeface="Times New Roman"/>
              </a:rPr>
              <a:t>divergence</a:t>
            </a:r>
            <a:r>
              <a:rPr sz="2100" spc="-5" dirty="0">
                <a:latin typeface="Times New Roman"/>
                <a:cs typeface="Times New Roman"/>
              </a:rPr>
              <a:t>) in its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wavevectors.</a:t>
            </a:r>
            <a:endParaRPr sz="2100" dirty="0">
              <a:latin typeface="Times New Roman"/>
              <a:cs typeface="Times New Roman"/>
            </a:endParaRPr>
          </a:p>
          <a:p>
            <a:pPr marL="241149" marR="99639" indent="-228457" algn="just">
              <a:spcBef>
                <a:spcPts val="600"/>
              </a:spcBef>
              <a:buSzPct val="50000"/>
              <a:buFont typeface="Wingdings"/>
              <a:buChar char=""/>
              <a:tabLst>
                <a:tab pos="241149" algn="l"/>
              </a:tabLst>
            </a:pPr>
            <a:r>
              <a:rPr sz="2100" i="1" dirty="0">
                <a:latin typeface="Times New Roman"/>
                <a:cs typeface="Times New Roman"/>
              </a:rPr>
              <a:t>E</a:t>
            </a:r>
            <a:r>
              <a:rPr sz="1900" baseline="-21367" dirty="0">
                <a:latin typeface="Times New Roman"/>
                <a:cs typeface="Times New Roman"/>
              </a:rPr>
              <a:t>0 </a:t>
            </a:r>
            <a:r>
              <a:rPr sz="2100" spc="-5" dirty="0">
                <a:latin typeface="Times New Roman"/>
                <a:cs typeface="Times New Roman"/>
              </a:rPr>
              <a:t>does not depend on the distance from a  reference point, and it is the same at all points on  a given plane perpendicular to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b="1" spc="-5" dirty="0">
                <a:latin typeface="Times New Roman"/>
                <a:cs typeface="Times New Roman"/>
              </a:rPr>
              <a:t>k</a:t>
            </a:r>
            <a:r>
              <a:rPr sz="2100" spc="-5" dirty="0"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  <a:p>
            <a:pPr marL="241149" marR="70442" indent="-228457" algn="just">
              <a:spcBef>
                <a:spcPts val="600"/>
              </a:spcBef>
              <a:buSzPct val="50000"/>
              <a:buFont typeface="Wingdings"/>
              <a:buChar char=""/>
              <a:tabLst>
                <a:tab pos="241149" algn="l"/>
              </a:tabLst>
            </a:pPr>
            <a:r>
              <a:rPr sz="2100" spc="-5" dirty="0">
                <a:latin typeface="Times New Roman"/>
                <a:cs typeface="Times New Roman"/>
              </a:rPr>
              <a:t>The plane wave is an idealization that is useful in  analyzing many wave</a:t>
            </a:r>
            <a:r>
              <a:rPr sz="2100" spc="-1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phenomena.</a:t>
            </a:r>
            <a:endParaRPr sz="2100" dirty="0">
              <a:latin typeface="Times New Roman"/>
              <a:cs typeface="Times New Roman"/>
            </a:endParaRPr>
          </a:p>
          <a:p>
            <a:pPr marL="241149" indent="-228457" algn="just">
              <a:spcBef>
                <a:spcPts val="600"/>
              </a:spcBef>
              <a:buSzPct val="50000"/>
              <a:buFont typeface="Wingdings"/>
              <a:buChar char=""/>
              <a:tabLst>
                <a:tab pos="241149" algn="l"/>
              </a:tabLst>
            </a:pPr>
            <a:r>
              <a:rPr sz="2100" spc="-5" dirty="0">
                <a:latin typeface="Times New Roman"/>
                <a:cs typeface="Times New Roman"/>
              </a:rPr>
              <a:t>Real light beams would have finite cross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sections.</a:t>
            </a:r>
            <a:endParaRPr sz="2100" dirty="0">
              <a:latin typeface="Times New Roman"/>
              <a:cs typeface="Times New Roman"/>
            </a:endParaRPr>
          </a:p>
          <a:p>
            <a:pPr marL="241149" marR="559088" indent="-228457" algn="just">
              <a:spcBef>
                <a:spcPts val="600"/>
              </a:spcBef>
              <a:buSzPct val="50000"/>
              <a:buFont typeface="Wingdings"/>
              <a:buChar char=""/>
              <a:tabLst>
                <a:tab pos="241149" algn="l"/>
              </a:tabLst>
            </a:pPr>
            <a:r>
              <a:rPr sz="2100" spc="-5" dirty="0">
                <a:latin typeface="Times New Roman"/>
                <a:cs typeface="Times New Roman"/>
              </a:rPr>
              <a:t>The plane wave obeys </a:t>
            </a:r>
            <a:r>
              <a:rPr sz="2100" b="1" spc="-10" dirty="0">
                <a:latin typeface="Times New Roman"/>
                <a:cs typeface="Times New Roman"/>
              </a:rPr>
              <a:t>Maxwell’s </a:t>
            </a:r>
            <a:r>
              <a:rPr sz="2100" b="1" spc="-5" dirty="0">
                <a:latin typeface="Times New Roman"/>
                <a:cs typeface="Times New Roman"/>
              </a:rPr>
              <a:t>EM wave  equations</a:t>
            </a:r>
            <a:r>
              <a:rPr sz="2100" spc="-5" dirty="0">
                <a:latin typeface="Times New Roman"/>
                <a:cs typeface="Times New Roman"/>
              </a:rPr>
              <a:t>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27241" y="3777996"/>
            <a:ext cx="2907030" cy="31386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4" y="456950"/>
            <a:ext cx="8833854" cy="572411"/>
          </a:xfrm>
          <a:prstGeom prst="rect">
            <a:avLst/>
          </a:prstGeom>
        </p:spPr>
        <p:txBody>
          <a:bodyPr vert="horz" wrap="square" lIns="0" tIns="79195" rIns="0" bIns="0" rtlCol="0">
            <a:spAutoFit/>
          </a:bodyPr>
          <a:lstStyle/>
          <a:p>
            <a:pPr marL="2881108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Diverging</a:t>
            </a:r>
            <a:r>
              <a:rPr sz="3200" spc="-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Waves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8400" y="2356865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5">
                <a:moveTo>
                  <a:pt x="0" y="0"/>
                </a:moveTo>
                <a:lnTo>
                  <a:pt x="462534" y="0"/>
                </a:lnTo>
              </a:path>
            </a:pathLst>
          </a:custGeom>
          <a:ln w="11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69249" y="2356865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4">
                <a:moveTo>
                  <a:pt x="0" y="0"/>
                </a:moveTo>
                <a:lnTo>
                  <a:pt x="462534" y="0"/>
                </a:lnTo>
              </a:path>
            </a:pathLst>
          </a:custGeom>
          <a:ln w="11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90104" y="2356865"/>
            <a:ext cx="462915" cy="0"/>
          </a:xfrm>
          <a:custGeom>
            <a:avLst/>
            <a:gdLst/>
            <a:ahLst/>
            <a:cxnLst/>
            <a:rect l="l" t="t" r="r" b="b"/>
            <a:pathLst>
              <a:path w="462914">
                <a:moveTo>
                  <a:pt x="0" y="0"/>
                </a:moveTo>
                <a:lnTo>
                  <a:pt x="462534" y="0"/>
                </a:lnTo>
              </a:path>
            </a:pathLst>
          </a:custGeom>
          <a:ln w="11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96577" y="2356865"/>
            <a:ext cx="462280" cy="0"/>
          </a:xfrm>
          <a:custGeom>
            <a:avLst/>
            <a:gdLst/>
            <a:ahLst/>
            <a:cxnLst/>
            <a:rect l="l" t="t" r="r" b="b"/>
            <a:pathLst>
              <a:path w="462279">
                <a:moveTo>
                  <a:pt x="0" y="0"/>
                </a:moveTo>
                <a:lnTo>
                  <a:pt x="461772" y="0"/>
                </a:lnTo>
              </a:path>
            </a:pathLst>
          </a:custGeom>
          <a:ln w="11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54451" y="2333752"/>
            <a:ext cx="586740" cy="20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238612" algn="l"/>
                <a:tab pos="493723" algn="l"/>
              </a:tabLst>
            </a:pPr>
            <a:r>
              <a:rPr sz="1300" spc="-5" dirty="0">
                <a:latin typeface="Times New Roman"/>
                <a:cs typeface="Times New Roman"/>
              </a:rPr>
              <a:t>0	</a:t>
            </a:r>
            <a:r>
              <a:rPr sz="1300" i="1" spc="-5" dirty="0">
                <a:latin typeface="Times New Roman"/>
                <a:cs typeface="Times New Roman"/>
              </a:rPr>
              <a:t>r	</a:t>
            </a:r>
            <a:r>
              <a:rPr sz="1300" spc="-5" dirty="0">
                <a:latin typeface="Times New Roman"/>
                <a:cs typeface="Times New Roman"/>
              </a:rPr>
              <a:t>0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44060" y="2370590"/>
            <a:ext cx="340360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100" spc="5" dirty="0">
                <a:latin typeface="Symbol"/>
                <a:cs typeface="Symbol"/>
              </a:rPr>
              <a:t></a:t>
            </a:r>
            <a:r>
              <a:rPr sz="2100" i="1" spc="5" dirty="0">
                <a:latin typeface="Times New Roman"/>
                <a:cs typeface="Times New Roman"/>
              </a:rPr>
              <a:t>t</a:t>
            </a:r>
            <a:r>
              <a:rPr sz="2100" i="1" spc="-405" dirty="0">
                <a:latin typeface="Times New Roman"/>
                <a:cs typeface="Times New Roman"/>
              </a:rPr>
              <a:t> </a:t>
            </a:r>
            <a:r>
              <a:rPr spc="-7" baseline="42222" dirty="0">
                <a:latin typeface="Times New Roman"/>
                <a:cs typeface="Times New Roman"/>
              </a:rPr>
              <a:t>2</a:t>
            </a:r>
            <a:endParaRPr baseline="42222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7581" y="1986542"/>
            <a:ext cx="447675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100" spc="86" dirty="0">
                <a:latin typeface="Symbol"/>
                <a:cs typeface="Symbol"/>
              </a:rPr>
              <a:t></a:t>
            </a:r>
            <a:r>
              <a:rPr spc="127" baseline="42222" dirty="0">
                <a:latin typeface="Times New Roman"/>
                <a:cs typeface="Times New Roman"/>
              </a:rPr>
              <a:t>2</a:t>
            </a:r>
            <a:r>
              <a:rPr spc="-345" baseline="42222" dirty="0">
                <a:latin typeface="Times New Roman"/>
                <a:cs typeface="Times New Roman"/>
              </a:rPr>
              <a:t> </a:t>
            </a:r>
            <a:r>
              <a:rPr sz="2100" i="1" spc="21" dirty="0">
                <a:latin typeface="Times New Roman"/>
                <a:cs typeface="Times New Roman"/>
              </a:rPr>
              <a:t>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53104" y="2157993"/>
            <a:ext cx="895985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732970" algn="l"/>
              </a:tabLst>
            </a:pPr>
            <a:r>
              <a:rPr sz="2100" spc="21" dirty="0">
                <a:latin typeface="Symbol"/>
                <a:cs typeface="Symbol"/>
              </a:rPr>
              <a:t></a:t>
            </a:r>
            <a:r>
              <a:rPr sz="2100" spc="21" dirty="0">
                <a:latin typeface="Times New Roman"/>
                <a:cs typeface="Times New Roman"/>
              </a:rPr>
              <a:t>	</a:t>
            </a:r>
            <a:r>
              <a:rPr sz="2100" spc="21" dirty="0">
                <a:latin typeface="Symbol"/>
                <a:cs typeface="Symbol"/>
              </a:rPr>
              <a:t>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894" y="2370596"/>
            <a:ext cx="1811655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730430" algn="l"/>
                <a:tab pos="1457057" algn="l"/>
              </a:tabLst>
            </a:pPr>
            <a:r>
              <a:rPr sz="2100" spc="44" dirty="0">
                <a:latin typeface="Symbol"/>
                <a:cs typeface="Symbol"/>
              </a:rPr>
              <a:t></a:t>
            </a:r>
            <a:r>
              <a:rPr sz="2100" i="1" spc="44" dirty="0">
                <a:latin typeface="Times New Roman"/>
                <a:cs typeface="Times New Roman"/>
              </a:rPr>
              <a:t>x</a:t>
            </a:r>
            <a:r>
              <a:rPr spc="67" baseline="42222" dirty="0">
                <a:latin typeface="Times New Roman"/>
                <a:cs typeface="Times New Roman"/>
              </a:rPr>
              <a:t>2	</a:t>
            </a:r>
            <a:r>
              <a:rPr sz="2100" spc="60" dirty="0">
                <a:latin typeface="Symbol"/>
                <a:cs typeface="Symbol"/>
              </a:rPr>
              <a:t></a:t>
            </a:r>
            <a:r>
              <a:rPr sz="2100" i="1" spc="60" dirty="0">
                <a:latin typeface="Times New Roman"/>
                <a:cs typeface="Times New Roman"/>
              </a:rPr>
              <a:t>y</a:t>
            </a:r>
            <a:r>
              <a:rPr spc="89" baseline="42222" dirty="0">
                <a:latin typeface="Times New Roman"/>
                <a:cs typeface="Times New Roman"/>
              </a:rPr>
              <a:t>2	</a:t>
            </a:r>
            <a:r>
              <a:rPr sz="2100" spc="5" dirty="0">
                <a:latin typeface="Symbol"/>
                <a:cs typeface="Symbol"/>
              </a:rPr>
              <a:t></a:t>
            </a:r>
            <a:r>
              <a:rPr sz="2100" i="1" spc="5" dirty="0">
                <a:latin typeface="Times New Roman"/>
                <a:cs typeface="Times New Roman"/>
              </a:rPr>
              <a:t>z</a:t>
            </a:r>
            <a:r>
              <a:rPr sz="2100" i="1" spc="-434" dirty="0">
                <a:latin typeface="Times New Roman"/>
                <a:cs typeface="Times New Roman"/>
              </a:rPr>
              <a:t> </a:t>
            </a:r>
            <a:r>
              <a:rPr spc="-7" baseline="42222" dirty="0">
                <a:latin typeface="Times New Roman"/>
                <a:cs typeface="Times New Roman"/>
              </a:rPr>
              <a:t>2</a:t>
            </a:r>
            <a:endParaRPr baseline="42222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0160" y="1986536"/>
            <a:ext cx="1889125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732970" algn="l"/>
                <a:tab pos="1453243" algn="l"/>
              </a:tabLst>
            </a:pPr>
            <a:r>
              <a:rPr sz="2100" spc="86" dirty="0">
                <a:latin typeface="Symbol"/>
                <a:cs typeface="Symbol"/>
              </a:rPr>
              <a:t></a:t>
            </a:r>
            <a:r>
              <a:rPr spc="127" baseline="42222" dirty="0">
                <a:latin typeface="Times New Roman"/>
                <a:cs typeface="Times New Roman"/>
              </a:rPr>
              <a:t>2  </a:t>
            </a:r>
            <a:r>
              <a:rPr spc="615" baseline="42222" dirty="0">
                <a:latin typeface="Times New Roman"/>
                <a:cs typeface="Times New Roman"/>
              </a:rPr>
              <a:t> </a:t>
            </a:r>
            <a:r>
              <a:rPr sz="2100" i="1" spc="21" dirty="0">
                <a:latin typeface="Times New Roman"/>
                <a:cs typeface="Times New Roman"/>
              </a:rPr>
              <a:t>E	</a:t>
            </a:r>
            <a:r>
              <a:rPr sz="2100" spc="86" dirty="0">
                <a:latin typeface="Symbol"/>
                <a:cs typeface="Symbol"/>
              </a:rPr>
              <a:t></a:t>
            </a:r>
            <a:r>
              <a:rPr spc="127" baseline="42222" dirty="0">
                <a:latin typeface="Times New Roman"/>
                <a:cs typeface="Times New Roman"/>
              </a:rPr>
              <a:t>2  </a:t>
            </a:r>
            <a:r>
              <a:rPr spc="615" baseline="42222" dirty="0">
                <a:latin typeface="Times New Roman"/>
                <a:cs typeface="Times New Roman"/>
              </a:rPr>
              <a:t> </a:t>
            </a:r>
            <a:r>
              <a:rPr sz="2100" i="1" spc="21" dirty="0">
                <a:latin typeface="Times New Roman"/>
                <a:cs typeface="Times New Roman"/>
              </a:rPr>
              <a:t>E	</a:t>
            </a:r>
            <a:r>
              <a:rPr sz="2100" spc="86" dirty="0">
                <a:latin typeface="Symbol"/>
                <a:cs typeface="Symbol"/>
              </a:rPr>
              <a:t></a:t>
            </a:r>
            <a:r>
              <a:rPr spc="127" baseline="42222" dirty="0">
                <a:latin typeface="Times New Roman"/>
                <a:cs typeface="Times New Roman"/>
              </a:rPr>
              <a:t>2</a:t>
            </a:r>
            <a:r>
              <a:rPr spc="-345" baseline="42222" dirty="0">
                <a:latin typeface="Times New Roman"/>
                <a:cs typeface="Times New Roman"/>
              </a:rPr>
              <a:t> </a:t>
            </a:r>
            <a:r>
              <a:rPr sz="2100" i="1" spc="21" dirty="0">
                <a:latin typeface="Times New Roman"/>
                <a:cs typeface="Times New Roman"/>
              </a:rPr>
              <a:t>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11551" y="2138939"/>
            <a:ext cx="84137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100" spc="21" dirty="0">
                <a:latin typeface="Symbol"/>
                <a:cs typeface="Symbol"/>
              </a:rPr>
              <a:t></a:t>
            </a:r>
            <a:r>
              <a:rPr sz="2100" spc="21" dirty="0">
                <a:latin typeface="Times New Roman"/>
                <a:cs typeface="Times New Roman"/>
              </a:rPr>
              <a:t> </a:t>
            </a:r>
            <a:r>
              <a:rPr sz="2300" i="1" spc="-50" dirty="0">
                <a:latin typeface="Symbol"/>
                <a:cs typeface="Symbol"/>
              </a:rPr>
              <a:t></a:t>
            </a:r>
            <a:r>
              <a:rPr sz="2300" i="1" spc="-50" dirty="0">
                <a:latin typeface="Times New Roman"/>
                <a:cs typeface="Times New Roman"/>
              </a:rPr>
              <a:t>  </a:t>
            </a:r>
            <a:r>
              <a:rPr sz="2300" i="1" spc="-50" dirty="0">
                <a:latin typeface="Symbol"/>
                <a:cs typeface="Symbol"/>
              </a:rPr>
              <a:t></a:t>
            </a:r>
            <a:r>
              <a:rPr sz="2300" i="1" spc="-95" dirty="0">
                <a:latin typeface="Times New Roman"/>
                <a:cs typeface="Times New Roman"/>
              </a:rPr>
              <a:t> </a:t>
            </a:r>
            <a:r>
              <a:rPr sz="2300" i="1" spc="-65" dirty="0">
                <a:latin typeface="Symbol"/>
                <a:cs typeface="Symbol"/>
              </a:rPr>
              <a:t></a:t>
            </a:r>
            <a:endParaRPr sz="23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88650" y="1112519"/>
            <a:ext cx="4949189" cy="29420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46344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4000" y="858012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3999" y="858012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3999" y="858012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89974" y="3192270"/>
            <a:ext cx="8483600" cy="3531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283"/>
            <a:r>
              <a:rPr sz="2400" i="1" dirty="0">
                <a:latin typeface="Times New Roman"/>
                <a:cs typeface="Times New Roman"/>
              </a:rPr>
              <a:t>E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(</a:t>
            </a:r>
            <a:r>
              <a:rPr sz="2400" i="1" spc="-5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/</a:t>
            </a:r>
            <a:r>
              <a:rPr sz="2400" i="1" spc="-5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) </a:t>
            </a:r>
            <a:r>
              <a:rPr sz="2400" spc="-15" dirty="0">
                <a:latin typeface="Times New Roman"/>
                <a:cs typeface="Times New Roman"/>
              </a:rPr>
              <a:t>cos(</a:t>
            </a:r>
            <a:r>
              <a:rPr sz="2500" i="1" spc="-15" dirty="0">
                <a:latin typeface="Symbol"/>
                <a:cs typeface="Symbol"/>
              </a:rPr>
              <a:t></a:t>
            </a:r>
            <a:r>
              <a:rPr sz="2400" i="1" spc="-15" dirty="0">
                <a:latin typeface="Times New Roman"/>
                <a:cs typeface="Times New Roman"/>
              </a:rPr>
              <a:t>t </a:t>
            </a:r>
            <a:r>
              <a:rPr sz="2500" i="1" spc="-55" dirty="0">
                <a:latin typeface="Symbol"/>
                <a:cs typeface="Symbol"/>
              </a:rPr>
              <a:t></a:t>
            </a:r>
            <a:r>
              <a:rPr sz="2500" i="1" spc="-9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kr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241149" marR="33000" indent="-228457">
              <a:spcBef>
                <a:spcPts val="2050"/>
              </a:spcBef>
              <a:buSzPct val="125000"/>
              <a:buChar char="•"/>
              <a:tabLst>
                <a:tab pos="241149" algn="l"/>
              </a:tabLst>
            </a:pPr>
            <a:r>
              <a:rPr dirty="0">
                <a:latin typeface="Arial"/>
                <a:cs typeface="Arial"/>
              </a:rPr>
              <a:t>A </a:t>
            </a:r>
            <a:r>
              <a:rPr b="1" spc="-5" dirty="0">
                <a:latin typeface="Arial"/>
                <a:cs typeface="Arial"/>
              </a:rPr>
              <a:t>spherical wave </a:t>
            </a:r>
            <a:r>
              <a:rPr spc="-5" dirty="0">
                <a:latin typeface="Arial"/>
                <a:cs typeface="Arial"/>
              </a:rPr>
              <a:t>is described by a traveling wave </a:t>
            </a:r>
            <a:r>
              <a:rPr dirty="0">
                <a:latin typeface="Arial"/>
                <a:cs typeface="Arial"/>
              </a:rPr>
              <a:t>that </a:t>
            </a:r>
            <a:r>
              <a:rPr spc="-5" dirty="0">
                <a:latin typeface="Arial"/>
                <a:cs typeface="Arial"/>
              </a:rPr>
              <a:t>emerges </a:t>
            </a:r>
            <a:r>
              <a:rPr dirty="0">
                <a:latin typeface="Arial"/>
                <a:cs typeface="Arial"/>
              </a:rPr>
              <a:t>from </a:t>
            </a:r>
            <a:r>
              <a:rPr spc="-5" dirty="0">
                <a:latin typeface="Arial"/>
                <a:cs typeface="Arial"/>
              </a:rPr>
              <a:t>a point </a:t>
            </a:r>
            <a:r>
              <a:rPr dirty="0">
                <a:latin typeface="Arial"/>
                <a:cs typeface="Arial"/>
              </a:rPr>
              <a:t>EM  </a:t>
            </a:r>
            <a:r>
              <a:rPr spc="-5" dirty="0">
                <a:latin typeface="Arial"/>
                <a:cs typeface="Arial"/>
              </a:rPr>
              <a:t>source and whose amplitude decays with </a:t>
            </a:r>
            <a:r>
              <a:rPr dirty="0">
                <a:latin typeface="Arial"/>
                <a:cs typeface="Arial"/>
              </a:rPr>
              <a:t>the </a:t>
            </a:r>
            <a:r>
              <a:rPr spc="-5" dirty="0">
                <a:latin typeface="Arial"/>
                <a:cs typeface="Arial"/>
              </a:rPr>
              <a:t>distance </a:t>
            </a:r>
            <a:r>
              <a:rPr i="1" dirty="0">
                <a:latin typeface="Arial"/>
                <a:cs typeface="Arial"/>
              </a:rPr>
              <a:t>r </a:t>
            </a:r>
            <a:r>
              <a:rPr dirty="0">
                <a:latin typeface="Arial"/>
                <a:cs typeface="Arial"/>
              </a:rPr>
              <a:t>from the</a:t>
            </a:r>
            <a:r>
              <a:rPr spc="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source.</a:t>
            </a:r>
            <a:endParaRPr>
              <a:latin typeface="Arial"/>
              <a:cs typeface="Arial"/>
            </a:endParaRPr>
          </a:p>
          <a:p>
            <a:pPr marL="241149" marR="246227" indent="-228457">
              <a:buSzPct val="125000"/>
              <a:buFont typeface="Arial"/>
              <a:buChar char="•"/>
              <a:tabLst>
                <a:tab pos="241149" algn="l"/>
              </a:tabLst>
            </a:pPr>
            <a:r>
              <a:rPr b="1" spc="-5" dirty="0">
                <a:latin typeface="Arial"/>
                <a:cs typeface="Arial"/>
              </a:rPr>
              <a:t>Optical divergence </a:t>
            </a:r>
            <a:r>
              <a:rPr dirty="0">
                <a:latin typeface="Arial"/>
                <a:cs typeface="Arial"/>
              </a:rPr>
              <a:t>refers to the </a:t>
            </a:r>
            <a:r>
              <a:rPr spc="-5" dirty="0">
                <a:latin typeface="Arial"/>
                <a:cs typeface="Arial"/>
              </a:rPr>
              <a:t>angular separation </a:t>
            </a:r>
            <a:r>
              <a:rPr dirty="0">
                <a:latin typeface="Arial"/>
                <a:cs typeface="Arial"/>
              </a:rPr>
              <a:t>of </a:t>
            </a:r>
            <a:r>
              <a:rPr spc="-5" dirty="0">
                <a:latin typeface="Arial"/>
                <a:cs typeface="Arial"/>
              </a:rPr>
              <a:t>wavevectors on a given  </a:t>
            </a:r>
            <a:r>
              <a:rPr dirty="0">
                <a:latin typeface="Arial"/>
                <a:cs typeface="Arial"/>
              </a:rPr>
              <a:t>wavefront.</a:t>
            </a:r>
            <a:endParaRPr>
              <a:latin typeface="Arial"/>
              <a:cs typeface="Arial"/>
            </a:endParaRPr>
          </a:p>
          <a:p>
            <a:pPr marL="241149" marR="5080" indent="-228457">
              <a:buSzPct val="125000"/>
              <a:buChar char="•"/>
              <a:tabLst>
                <a:tab pos="241149" algn="l"/>
              </a:tabLst>
            </a:pPr>
            <a:r>
              <a:rPr spc="-5" dirty="0">
                <a:latin typeface="Arial"/>
                <a:cs typeface="Arial"/>
              </a:rPr>
              <a:t>Plane and spherical waves represent </a:t>
            </a:r>
            <a:r>
              <a:rPr dirty="0">
                <a:latin typeface="Arial"/>
                <a:cs typeface="Arial"/>
              </a:rPr>
              <a:t>two extremes of </a:t>
            </a:r>
            <a:r>
              <a:rPr spc="-5" dirty="0">
                <a:latin typeface="Arial"/>
                <a:cs typeface="Arial"/>
              </a:rPr>
              <a:t>wave propagation behavior  </a:t>
            </a:r>
            <a:r>
              <a:rPr dirty="0">
                <a:latin typeface="Arial"/>
                <a:cs typeface="Arial"/>
              </a:rPr>
              <a:t>from perfectly </a:t>
            </a:r>
            <a:r>
              <a:rPr spc="-5" dirty="0">
                <a:latin typeface="Arial"/>
                <a:cs typeface="Arial"/>
              </a:rPr>
              <a:t>parallel </a:t>
            </a:r>
            <a:r>
              <a:rPr dirty="0">
                <a:latin typeface="Arial"/>
                <a:cs typeface="Arial"/>
              </a:rPr>
              <a:t>to </a:t>
            </a:r>
            <a:r>
              <a:rPr spc="-5" dirty="0">
                <a:latin typeface="Arial"/>
                <a:cs typeface="Arial"/>
              </a:rPr>
              <a:t>fully diverging </a:t>
            </a:r>
            <a:r>
              <a:rPr dirty="0">
                <a:latin typeface="Arial"/>
                <a:cs typeface="Arial"/>
              </a:rPr>
              <a:t>wavevectors. They </a:t>
            </a:r>
            <a:r>
              <a:rPr spc="-5" dirty="0">
                <a:latin typeface="Arial"/>
                <a:cs typeface="Arial"/>
              </a:rPr>
              <a:t>are produced by </a:t>
            </a:r>
            <a:r>
              <a:rPr dirty="0">
                <a:latin typeface="Arial"/>
                <a:cs typeface="Arial"/>
              </a:rPr>
              <a:t>two  extreme </a:t>
            </a:r>
            <a:r>
              <a:rPr spc="-5" dirty="0">
                <a:latin typeface="Arial"/>
                <a:cs typeface="Arial"/>
              </a:rPr>
              <a:t>sizes </a:t>
            </a:r>
            <a:r>
              <a:rPr dirty="0">
                <a:latin typeface="Arial"/>
                <a:cs typeface="Arial"/>
              </a:rPr>
              <a:t>of EM </a:t>
            </a:r>
            <a:r>
              <a:rPr spc="-5" dirty="0">
                <a:latin typeface="Arial"/>
                <a:cs typeface="Arial"/>
              </a:rPr>
              <a:t>wave </a:t>
            </a:r>
            <a:r>
              <a:rPr dirty="0">
                <a:latin typeface="Arial"/>
                <a:cs typeface="Arial"/>
              </a:rPr>
              <a:t>sources: </a:t>
            </a:r>
            <a:r>
              <a:rPr spc="-5" dirty="0">
                <a:latin typeface="Arial"/>
                <a:cs typeface="Arial"/>
              </a:rPr>
              <a:t>an infinitely large source </a:t>
            </a:r>
            <a:r>
              <a:rPr dirty="0">
                <a:latin typeface="Arial"/>
                <a:cs typeface="Arial"/>
              </a:rPr>
              <a:t>for the </a:t>
            </a:r>
            <a:r>
              <a:rPr spc="-5" dirty="0">
                <a:latin typeface="Arial"/>
                <a:cs typeface="Arial"/>
              </a:rPr>
              <a:t>plane wave  and a point source for the spherical wave. </a:t>
            </a:r>
            <a:r>
              <a:rPr dirty="0">
                <a:latin typeface="Arial"/>
                <a:cs typeface="Arial"/>
              </a:rPr>
              <a:t>A </a:t>
            </a:r>
            <a:r>
              <a:rPr spc="-5" dirty="0">
                <a:latin typeface="Arial"/>
                <a:cs typeface="Arial"/>
              </a:rPr>
              <a:t>real </a:t>
            </a:r>
            <a:r>
              <a:rPr dirty="0">
                <a:latin typeface="Arial"/>
                <a:cs typeface="Arial"/>
              </a:rPr>
              <a:t>EM </a:t>
            </a:r>
            <a:r>
              <a:rPr spc="-5" dirty="0">
                <a:latin typeface="Arial"/>
                <a:cs typeface="Arial"/>
              </a:rPr>
              <a:t>source would have a </a:t>
            </a:r>
            <a:r>
              <a:rPr dirty="0">
                <a:latin typeface="Arial"/>
                <a:cs typeface="Arial"/>
              </a:rPr>
              <a:t>finite  </a:t>
            </a:r>
            <a:r>
              <a:rPr spc="-5" dirty="0">
                <a:latin typeface="Arial"/>
                <a:cs typeface="Arial"/>
              </a:rPr>
              <a:t>size and </a:t>
            </a:r>
            <a:r>
              <a:rPr dirty="0">
                <a:latin typeface="Arial"/>
                <a:cs typeface="Arial"/>
              </a:rPr>
              <a:t>finite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-21" dirty="0">
                <a:latin typeface="Arial"/>
                <a:cs typeface="Arial"/>
              </a:rPr>
              <a:t>power.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p:transition spd="slow"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4" name="Group 3"/>
          <p:cNvGrpSpPr>
            <a:grpSpLocks/>
          </p:cNvGrpSpPr>
          <p:nvPr/>
        </p:nvGrpSpPr>
        <p:grpSpPr bwMode="auto">
          <a:xfrm>
            <a:off x="928035" y="2352887"/>
            <a:ext cx="2857077" cy="1848697"/>
            <a:chOff x="720" y="2016"/>
            <a:chExt cx="1632" cy="1056"/>
          </a:xfrm>
        </p:grpSpPr>
        <p:grpSp>
          <p:nvGrpSpPr>
            <p:cNvPr id="25627" name="Group 4"/>
            <p:cNvGrpSpPr>
              <a:grpSpLocks/>
            </p:cNvGrpSpPr>
            <p:nvPr/>
          </p:nvGrpSpPr>
          <p:grpSpPr bwMode="auto">
            <a:xfrm>
              <a:off x="720" y="2016"/>
              <a:ext cx="1632" cy="1056"/>
              <a:chOff x="720" y="2016"/>
              <a:chExt cx="1632" cy="1056"/>
            </a:xfrm>
          </p:grpSpPr>
          <p:sp>
            <p:nvSpPr>
              <p:cNvPr id="25630" name="Line 5"/>
              <p:cNvSpPr>
                <a:spLocks noChangeShapeType="1"/>
              </p:cNvSpPr>
              <p:nvPr/>
            </p:nvSpPr>
            <p:spPr bwMode="auto">
              <a:xfrm>
                <a:off x="720" y="2736"/>
                <a:ext cx="336" cy="336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1" name="Line 6"/>
              <p:cNvSpPr>
                <a:spLocks noChangeShapeType="1"/>
              </p:cNvSpPr>
              <p:nvPr/>
            </p:nvSpPr>
            <p:spPr bwMode="auto">
              <a:xfrm>
                <a:off x="720" y="2496"/>
                <a:ext cx="576" cy="576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2" name="Line 7"/>
              <p:cNvSpPr>
                <a:spLocks noChangeShapeType="1"/>
              </p:cNvSpPr>
              <p:nvPr/>
            </p:nvSpPr>
            <p:spPr bwMode="auto">
              <a:xfrm>
                <a:off x="720" y="2256"/>
                <a:ext cx="816" cy="816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3" name="Line 8"/>
              <p:cNvSpPr>
                <a:spLocks noChangeShapeType="1"/>
              </p:cNvSpPr>
              <p:nvPr/>
            </p:nvSpPr>
            <p:spPr bwMode="auto">
              <a:xfrm>
                <a:off x="720" y="2016"/>
                <a:ext cx="1056" cy="1056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4" name="Line 9"/>
              <p:cNvSpPr>
                <a:spLocks noChangeShapeType="1"/>
              </p:cNvSpPr>
              <p:nvPr/>
            </p:nvSpPr>
            <p:spPr bwMode="auto">
              <a:xfrm>
                <a:off x="960" y="2016"/>
                <a:ext cx="1056" cy="1056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5" name="Line 10"/>
              <p:cNvSpPr>
                <a:spLocks noChangeShapeType="1"/>
              </p:cNvSpPr>
              <p:nvPr/>
            </p:nvSpPr>
            <p:spPr bwMode="auto">
              <a:xfrm>
                <a:off x="1200" y="2016"/>
                <a:ext cx="1056" cy="1056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6" name="Line 11"/>
              <p:cNvSpPr>
                <a:spLocks noChangeShapeType="1"/>
              </p:cNvSpPr>
              <p:nvPr/>
            </p:nvSpPr>
            <p:spPr bwMode="auto">
              <a:xfrm>
                <a:off x="1440" y="2016"/>
                <a:ext cx="912" cy="912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7" name="Line 12"/>
              <p:cNvSpPr>
                <a:spLocks noChangeShapeType="1"/>
              </p:cNvSpPr>
              <p:nvPr/>
            </p:nvSpPr>
            <p:spPr bwMode="auto">
              <a:xfrm>
                <a:off x="1680" y="2016"/>
                <a:ext cx="672" cy="672"/>
              </a:xfrm>
              <a:prstGeom prst="line">
                <a:avLst/>
              </a:prstGeom>
              <a:noFill/>
              <a:ln w="19050">
                <a:solidFill>
                  <a:srgbClr val="0099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  <p:sp>
            <p:nvSpPr>
              <p:cNvPr id="25638" name="Line 13"/>
              <p:cNvSpPr>
                <a:spLocks noChangeShapeType="1"/>
              </p:cNvSpPr>
              <p:nvPr/>
            </p:nvSpPr>
            <p:spPr bwMode="auto">
              <a:xfrm>
                <a:off x="1920" y="2016"/>
                <a:ext cx="432" cy="432"/>
              </a:xfrm>
              <a:prstGeom prst="line">
                <a:avLst/>
              </a:prstGeom>
              <a:noFill/>
              <a:ln w="1905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985"/>
              </a:p>
            </p:txBody>
          </p:sp>
        </p:grpSp>
        <p:sp>
          <p:nvSpPr>
            <p:cNvPr id="25628" name="Line 14"/>
            <p:cNvSpPr>
              <a:spLocks noChangeShapeType="1"/>
            </p:cNvSpPr>
            <p:nvPr/>
          </p:nvSpPr>
          <p:spPr bwMode="auto">
            <a:xfrm flipV="1">
              <a:off x="1200" y="249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985"/>
            </a:p>
          </p:txBody>
        </p:sp>
        <p:sp>
          <p:nvSpPr>
            <p:cNvPr id="25629" name="Text Box 15"/>
            <p:cNvSpPr txBox="1">
              <a:spLocks noChangeArrowheads="1"/>
            </p:cNvSpPr>
            <p:nvPr/>
          </p:nvSpPr>
          <p:spPr bwMode="auto">
            <a:xfrm>
              <a:off x="1296" y="2544"/>
              <a:ext cx="21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Marlett" pitchFamily="2" charset="2"/>
                <a:buChar char="i"/>
                <a:defRPr sz="2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647">
                  <a:solidFill>
                    <a:schemeClr val="tx1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</a:t>
              </a:r>
              <a:endParaRPr lang="en-US" altLang="en-US" sz="2647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5605" name="Text Box 16"/>
          <p:cNvSpPr txBox="1">
            <a:spLocks noChangeArrowheads="1"/>
          </p:cNvSpPr>
          <p:nvPr/>
        </p:nvSpPr>
        <p:spPr bwMode="auto">
          <a:xfrm>
            <a:off x="423845" y="4453679"/>
            <a:ext cx="1723549" cy="43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6">
                <a:solidFill>
                  <a:srgbClr val="0000CC"/>
                </a:solidFill>
                <a:latin typeface="Arial" panose="020B0604020202020204" pitchFamily="34" charset="0"/>
              </a:rPr>
              <a:t>Plane wave:</a:t>
            </a:r>
          </a:p>
        </p:txBody>
      </p:sp>
      <p:grpSp>
        <p:nvGrpSpPr>
          <p:cNvPr id="25606" name="Group 17"/>
          <p:cNvGrpSpPr>
            <a:grpSpLocks/>
          </p:cNvGrpSpPr>
          <p:nvPr/>
        </p:nvGrpSpPr>
        <p:grpSpPr bwMode="auto">
          <a:xfrm>
            <a:off x="5633808" y="1932728"/>
            <a:ext cx="2352887" cy="2352887"/>
            <a:chOff x="3408" y="1104"/>
            <a:chExt cx="1344" cy="1344"/>
          </a:xfrm>
        </p:grpSpPr>
        <p:sp>
          <p:nvSpPr>
            <p:cNvPr id="25621" name="Oval 18"/>
            <p:cNvSpPr>
              <a:spLocks noChangeArrowheads="1"/>
            </p:cNvSpPr>
            <p:nvPr/>
          </p:nvSpPr>
          <p:spPr bwMode="auto">
            <a:xfrm>
              <a:off x="3792" y="1488"/>
              <a:ext cx="576" cy="576"/>
            </a:xfrm>
            <a:prstGeom prst="ellipse">
              <a:avLst/>
            </a:prstGeom>
            <a:noFill/>
            <a:ln w="19050">
              <a:solidFill>
                <a:srgbClr val="00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Marlett" pitchFamily="2" charset="2"/>
                <a:buChar char="i"/>
                <a:defRPr sz="2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US" sz="2206">
                <a:solidFill>
                  <a:schemeClr val="tx1"/>
                </a:solidFill>
              </a:endParaRPr>
            </a:p>
          </p:txBody>
        </p:sp>
        <p:sp>
          <p:nvSpPr>
            <p:cNvPr id="25622" name="Oval 19"/>
            <p:cNvSpPr>
              <a:spLocks noChangeArrowheads="1"/>
            </p:cNvSpPr>
            <p:nvPr/>
          </p:nvSpPr>
          <p:spPr bwMode="auto">
            <a:xfrm>
              <a:off x="3408" y="1104"/>
              <a:ext cx="1344" cy="1344"/>
            </a:xfrm>
            <a:prstGeom prst="ellipse">
              <a:avLst/>
            </a:prstGeom>
            <a:noFill/>
            <a:ln w="19050">
              <a:solidFill>
                <a:srgbClr val="00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Marlett" pitchFamily="2" charset="2"/>
                <a:buChar char="i"/>
                <a:defRPr sz="2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US" sz="2206">
                <a:solidFill>
                  <a:schemeClr val="tx1"/>
                </a:solidFill>
              </a:endParaRPr>
            </a:p>
          </p:txBody>
        </p:sp>
        <p:sp>
          <p:nvSpPr>
            <p:cNvPr id="25623" name="Oval 20"/>
            <p:cNvSpPr>
              <a:spLocks noChangeArrowheads="1"/>
            </p:cNvSpPr>
            <p:nvPr/>
          </p:nvSpPr>
          <p:spPr bwMode="auto">
            <a:xfrm>
              <a:off x="3600" y="1296"/>
              <a:ext cx="960" cy="960"/>
            </a:xfrm>
            <a:prstGeom prst="ellips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Marlett" pitchFamily="2" charset="2"/>
                <a:buChar char="i"/>
                <a:defRPr sz="2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US" sz="2206">
                <a:solidFill>
                  <a:schemeClr val="tx1"/>
                </a:solidFill>
              </a:endParaRPr>
            </a:p>
          </p:txBody>
        </p:sp>
        <p:sp>
          <p:nvSpPr>
            <p:cNvPr id="25624" name="Oval 21"/>
            <p:cNvSpPr>
              <a:spLocks noChangeArrowheads="1"/>
            </p:cNvSpPr>
            <p:nvPr/>
          </p:nvSpPr>
          <p:spPr bwMode="auto">
            <a:xfrm>
              <a:off x="3936" y="1632"/>
              <a:ext cx="288" cy="288"/>
            </a:xfrm>
            <a:prstGeom prst="ellips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Marlett" pitchFamily="2" charset="2"/>
                <a:buChar char="i"/>
                <a:defRPr sz="2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US" sz="2206">
                <a:solidFill>
                  <a:schemeClr val="tx1"/>
                </a:solidFill>
              </a:endParaRPr>
            </a:p>
          </p:txBody>
        </p:sp>
        <p:sp>
          <p:nvSpPr>
            <p:cNvPr id="25625" name="Line 22"/>
            <p:cNvSpPr>
              <a:spLocks noChangeShapeType="1"/>
            </p:cNvSpPr>
            <p:nvPr/>
          </p:nvSpPr>
          <p:spPr bwMode="auto">
            <a:xfrm>
              <a:off x="4224" y="1776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985"/>
            </a:p>
          </p:txBody>
        </p:sp>
        <p:sp>
          <p:nvSpPr>
            <p:cNvPr id="25626" name="Text Box 23"/>
            <p:cNvSpPr txBox="1">
              <a:spLocks noChangeArrowheads="1"/>
            </p:cNvSpPr>
            <p:nvPr/>
          </p:nvSpPr>
          <p:spPr bwMode="auto">
            <a:xfrm>
              <a:off x="4272" y="1776"/>
              <a:ext cx="21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Marlett" pitchFamily="2" charset="2"/>
                <a:buChar char="i"/>
                <a:defRPr sz="28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647">
                  <a:solidFill>
                    <a:schemeClr val="tx1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</a:t>
              </a:r>
              <a:endParaRPr lang="en-US" altLang="en-US" sz="2647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5607" name="Text Box 24"/>
          <p:cNvSpPr txBox="1">
            <a:spLocks noChangeArrowheads="1"/>
          </p:cNvSpPr>
          <p:nvPr/>
        </p:nvSpPr>
        <p:spPr bwMode="auto">
          <a:xfrm>
            <a:off x="4812750" y="4453679"/>
            <a:ext cx="2178802" cy="43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6">
                <a:solidFill>
                  <a:srgbClr val="0000CC"/>
                </a:solidFill>
                <a:latin typeface="Arial" panose="020B0604020202020204" pitchFamily="34" charset="0"/>
              </a:rPr>
              <a:t>Spherical wave:</a:t>
            </a:r>
          </a:p>
        </p:txBody>
      </p:sp>
      <p:graphicFrame>
        <p:nvGraphicFramePr>
          <p:cNvPr id="25608" name="Object 25"/>
          <p:cNvGraphicFramePr>
            <a:graphicFrameLocks noChangeAspect="1"/>
          </p:cNvGraphicFramePr>
          <p:nvPr/>
        </p:nvGraphicFramePr>
        <p:xfrm>
          <a:off x="2685697" y="4427419"/>
          <a:ext cx="1589599" cy="530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336" imgH="203112" progId="Equation.3">
                  <p:embed/>
                </p:oleObj>
              </mc:Choice>
              <mc:Fallback>
                <p:oleObj name="Equation" r:id="rId2" imgW="609336" imgH="203112" progId="Equation.3">
                  <p:embed/>
                  <p:pic>
                    <p:nvPicPr>
                      <p:cNvPr id="25608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697" y="4427419"/>
                        <a:ext cx="1589599" cy="530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26"/>
          <p:cNvGraphicFramePr>
            <a:graphicFrameLocks noChangeAspect="1"/>
          </p:cNvGraphicFramePr>
          <p:nvPr/>
        </p:nvGraphicFramePr>
        <p:xfrm>
          <a:off x="7391470" y="4220841"/>
          <a:ext cx="1638618" cy="1020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418918" progId="Equation.3">
                  <p:embed/>
                </p:oleObj>
              </mc:Choice>
              <mc:Fallback>
                <p:oleObj name="Equation" r:id="rId4" imgW="672808" imgH="418918" progId="Equation.3">
                  <p:embed/>
                  <p:pic>
                    <p:nvPicPr>
                      <p:cNvPr id="2560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70" y="4220841"/>
                        <a:ext cx="1638618" cy="1020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Text Box 27"/>
          <p:cNvSpPr txBox="1">
            <a:spLocks noChangeArrowheads="1"/>
          </p:cNvSpPr>
          <p:nvPr/>
        </p:nvSpPr>
        <p:spPr bwMode="auto">
          <a:xfrm>
            <a:off x="759972" y="1556338"/>
            <a:ext cx="4031360" cy="43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206" dirty="0">
                <a:solidFill>
                  <a:srgbClr val="0000CC"/>
                </a:solidFill>
                <a:latin typeface="+mn-lt"/>
              </a:rPr>
              <a:t>Solutions to Maxwell’s equations:</a:t>
            </a:r>
          </a:p>
        </p:txBody>
      </p:sp>
      <p:graphicFrame>
        <p:nvGraphicFramePr>
          <p:cNvPr id="25611" name="Object 28"/>
          <p:cNvGraphicFramePr>
            <a:graphicFrameLocks noChangeAspect="1"/>
          </p:cNvGraphicFramePr>
          <p:nvPr/>
        </p:nvGraphicFramePr>
        <p:xfrm>
          <a:off x="500874" y="5715905"/>
          <a:ext cx="1048646" cy="854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393529" progId="Equation.3">
                  <p:embed/>
                </p:oleObj>
              </mc:Choice>
              <mc:Fallback>
                <p:oleObj name="Equation" r:id="rId6" imgW="482391" imgH="393529" progId="Equation.3">
                  <p:embed/>
                  <p:pic>
                    <p:nvPicPr>
                      <p:cNvPr id="25611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74" y="5715905"/>
                        <a:ext cx="1048646" cy="85432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29"/>
          <p:cNvGraphicFramePr>
            <a:graphicFrameLocks noChangeAspect="1"/>
          </p:cNvGraphicFramePr>
          <p:nvPr/>
        </p:nvGraphicFramePr>
        <p:xfrm>
          <a:off x="2580658" y="5647629"/>
          <a:ext cx="1298990" cy="99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900" imgH="457200" progId="Equation.3">
                  <p:embed/>
                </p:oleObj>
              </mc:Choice>
              <mc:Fallback>
                <p:oleObj name="Equation" r:id="rId8" imgW="596900" imgH="457200" progId="Equation.3">
                  <p:embed/>
                  <p:pic>
                    <p:nvPicPr>
                      <p:cNvPr id="2561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658" y="5647629"/>
                        <a:ext cx="1298990" cy="9926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30"/>
          <p:cNvGraphicFramePr>
            <a:graphicFrameLocks noChangeAspect="1"/>
          </p:cNvGraphicFramePr>
          <p:nvPr/>
        </p:nvGraphicFramePr>
        <p:xfrm>
          <a:off x="4275296" y="5565348"/>
          <a:ext cx="4971874" cy="1157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533400" progId="Equation.3">
                  <p:embed/>
                </p:oleObj>
              </mc:Choice>
              <mc:Fallback>
                <p:oleObj name="Equation" r:id="rId10" imgW="2286000" imgH="533400" progId="Equation.3">
                  <p:embed/>
                  <p:pic>
                    <p:nvPicPr>
                      <p:cNvPr id="25613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296" y="5565348"/>
                        <a:ext cx="4971874" cy="115718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4" name="Text Box 31"/>
          <p:cNvSpPr txBox="1">
            <a:spLocks noChangeArrowheads="1"/>
          </p:cNvSpPr>
          <p:nvPr/>
        </p:nvSpPr>
        <p:spPr bwMode="auto">
          <a:xfrm>
            <a:off x="3869143" y="2184824"/>
            <a:ext cx="1580882" cy="39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985">
                <a:solidFill>
                  <a:schemeClr val="tx1"/>
                </a:solidFill>
                <a:latin typeface="Arial" panose="020B0604020202020204" pitchFamily="34" charset="0"/>
              </a:rPr>
              <a:t>phase fronts</a:t>
            </a:r>
          </a:p>
        </p:txBody>
      </p:sp>
      <p:sp>
        <p:nvSpPr>
          <p:cNvPr id="25615" name="Line 32"/>
          <p:cNvSpPr>
            <a:spLocks noChangeShapeType="1"/>
          </p:cNvSpPr>
          <p:nvPr/>
        </p:nvSpPr>
        <p:spPr bwMode="auto">
          <a:xfrm>
            <a:off x="5381713" y="2520950"/>
            <a:ext cx="336127" cy="168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985"/>
          </a:p>
        </p:txBody>
      </p:sp>
      <p:sp>
        <p:nvSpPr>
          <p:cNvPr id="25616" name="Line 33"/>
          <p:cNvSpPr>
            <a:spLocks noChangeShapeType="1"/>
          </p:cNvSpPr>
          <p:nvPr/>
        </p:nvSpPr>
        <p:spPr bwMode="auto">
          <a:xfrm flipH="1">
            <a:off x="3448985" y="2520950"/>
            <a:ext cx="504190" cy="2520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985"/>
          </a:p>
        </p:txBody>
      </p:sp>
      <p:pic>
        <p:nvPicPr>
          <p:cNvPr id="25617" name="Picture 2" descr="F:\Media\Images\ch34\screen\34_02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647" y="1001378"/>
            <a:ext cx="1670129" cy="3107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18" name="TextBox 1"/>
          <p:cNvSpPr txBox="1">
            <a:spLocks noChangeArrowheads="1"/>
          </p:cNvSpPr>
          <p:nvPr/>
        </p:nvSpPr>
        <p:spPr bwMode="auto">
          <a:xfrm>
            <a:off x="423845" y="6708529"/>
            <a:ext cx="1463862" cy="431785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206">
                <a:solidFill>
                  <a:schemeClr val="tx1"/>
                </a:solidFill>
              </a:rPr>
              <a:t>Note: </a:t>
            </a:r>
            <a:r>
              <a:rPr lang="en-GB" altLang="en-US" sz="2206" i="1">
                <a:solidFill>
                  <a:schemeClr val="tx1"/>
                </a:solidFill>
              </a:rPr>
              <a:t>k</a:t>
            </a:r>
            <a:r>
              <a:rPr lang="en-GB" altLang="en-US" sz="2206">
                <a:solidFill>
                  <a:schemeClr val="tx1"/>
                </a:solidFill>
              </a:rPr>
              <a:t> = </a:t>
            </a:r>
            <a:r>
              <a:rPr lang="en-GB" altLang="en-US" sz="2206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endParaRPr lang="en-GB" altLang="en-US" sz="2206">
              <a:solidFill>
                <a:schemeClr val="tx1"/>
              </a:solidFill>
            </a:endParaRPr>
          </a:p>
        </p:txBody>
      </p:sp>
      <p:sp>
        <p:nvSpPr>
          <p:cNvPr id="25619" name="TextBox 2"/>
          <p:cNvSpPr txBox="1">
            <a:spLocks noChangeArrowheads="1"/>
          </p:cNvSpPr>
          <p:nvPr/>
        </p:nvSpPr>
        <p:spPr bwMode="auto">
          <a:xfrm>
            <a:off x="3701081" y="5020892"/>
            <a:ext cx="2454005" cy="363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Marlett" pitchFamily="2" charset="2"/>
              <a:buChar char="i"/>
              <a:defRPr sz="28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accent2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accent2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764">
                <a:solidFill>
                  <a:schemeClr val="tx1"/>
                </a:solidFill>
              </a:rPr>
              <a:t>Wave number in vacuum</a:t>
            </a:r>
          </a:p>
        </p:txBody>
      </p:sp>
      <p:cxnSp>
        <p:nvCxnSpPr>
          <p:cNvPr id="25620" name="Straight Arrow Connector 4"/>
          <p:cNvCxnSpPr>
            <a:cxnSpLocks noChangeShapeType="1"/>
          </p:cNvCxnSpPr>
          <p:nvPr/>
        </p:nvCxnSpPr>
        <p:spPr bwMode="auto">
          <a:xfrm flipV="1">
            <a:off x="3617049" y="5393784"/>
            <a:ext cx="458673" cy="372890"/>
          </a:xfrm>
          <a:prstGeom prst="straightConnector1">
            <a:avLst/>
          </a:prstGeom>
          <a:noFill/>
          <a:ln w="9525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Rectangle 2">
            <a:extLst>
              <a:ext uri="{FF2B5EF4-FFF2-40B4-BE49-F238E27FC236}">
                <a16:creationId xmlns:a16="http://schemas.microsoft.com/office/drawing/2014/main" id="{E14F7F8B-0B15-4BB5-8E7A-FD0F4344F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197" y="126139"/>
            <a:ext cx="8458200" cy="73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The Wave Equation</a:t>
            </a:r>
            <a:endParaRPr kumimoji="0" lang="en-US" altLang="en-US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4" y="456951"/>
            <a:ext cx="8833854" cy="587797"/>
          </a:xfrm>
          <a:prstGeom prst="rect">
            <a:avLst/>
          </a:prstGeom>
        </p:spPr>
        <p:txBody>
          <a:bodyPr vert="horz" wrap="square" lIns="0" tIns="94432" rIns="0" bIns="0" rtlCol="0">
            <a:spAutoFit/>
          </a:bodyPr>
          <a:lstStyle/>
          <a:p>
            <a:pPr marL="2869685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Gaussian</a:t>
            </a:r>
            <a:r>
              <a:rPr sz="3200" spc="-6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Beams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976" y="1253744"/>
            <a:ext cx="668464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Many laser beams can be described by Gaussian</a:t>
            </a:r>
            <a:r>
              <a:rPr sz="2200" b="1" spc="-20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FF"/>
                </a:solidFill>
                <a:latin typeface="Times New Roman"/>
                <a:cs typeface="Times New Roman"/>
              </a:rPr>
              <a:t>beams.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9639" y="2023110"/>
            <a:ext cx="2743199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27639" y="2023116"/>
            <a:ext cx="2057400" cy="20573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9171" y="1944629"/>
            <a:ext cx="3211068" cy="22143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9967" y="4741418"/>
            <a:ext cx="8555355" cy="133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 marR="5080">
              <a:lnSpc>
                <a:spcPts val="2630"/>
              </a:lnSpc>
            </a:pPr>
            <a:r>
              <a:rPr sz="2200" dirty="0">
                <a:latin typeface="Times New Roman"/>
                <a:cs typeface="Times New Roman"/>
              </a:rPr>
              <a:t>A Gaussian beam has an </a:t>
            </a:r>
            <a:r>
              <a:rPr sz="2200" spc="-10" dirty="0">
                <a:latin typeface="Times New Roman"/>
                <a:cs typeface="Times New Roman"/>
              </a:rPr>
              <a:t>exp[</a:t>
            </a:r>
            <a:r>
              <a:rPr sz="2200" i="1" spc="-10" dirty="0">
                <a:latin typeface="Times New Roman"/>
                <a:cs typeface="Times New Roman"/>
              </a:rPr>
              <a:t>j</a:t>
            </a:r>
            <a:r>
              <a:rPr sz="2200" spc="-10" dirty="0">
                <a:latin typeface="Times New Roman"/>
                <a:cs typeface="Times New Roman"/>
              </a:rPr>
              <a:t>(</a:t>
            </a:r>
            <a:r>
              <a:rPr sz="2300" i="1" spc="-10" dirty="0">
                <a:latin typeface="Symbol"/>
                <a:cs typeface="Symbol"/>
              </a:rPr>
              <a:t></a:t>
            </a:r>
            <a:r>
              <a:rPr sz="2200" i="1" spc="-10" dirty="0">
                <a:latin typeface="Times New Roman"/>
                <a:cs typeface="Times New Roman"/>
              </a:rPr>
              <a:t>t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i="1" dirty="0">
                <a:latin typeface="Times New Roman"/>
                <a:cs typeface="Times New Roman"/>
              </a:rPr>
              <a:t>kz</a:t>
            </a:r>
            <a:r>
              <a:rPr sz="2200" dirty="0">
                <a:latin typeface="Times New Roman"/>
                <a:cs typeface="Times New Roman"/>
              </a:rPr>
              <a:t>)] dependence to describe</a:t>
            </a:r>
            <a:r>
              <a:rPr sz="2200" spc="-2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propagation  characteristics but the amplitude varies </a:t>
            </a:r>
            <a:r>
              <a:rPr sz="2200" spc="-5" dirty="0">
                <a:latin typeface="Times New Roman"/>
                <a:cs typeface="Times New Roman"/>
              </a:rPr>
              <a:t>spatially </a:t>
            </a:r>
            <a:r>
              <a:rPr sz="2200" dirty="0">
                <a:latin typeface="Times New Roman"/>
                <a:cs typeface="Times New Roman"/>
              </a:rPr>
              <a:t>away from the beam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axis.</a:t>
            </a:r>
            <a:endParaRPr sz="2200">
              <a:latin typeface="Times New Roman"/>
              <a:cs typeface="Times New Roman"/>
            </a:endParaRPr>
          </a:p>
          <a:p>
            <a:pPr marL="12693" marR="55210">
              <a:lnSpc>
                <a:spcPts val="2640"/>
              </a:lnSpc>
            </a:pP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beam diameter 2</a:t>
            </a:r>
            <a:r>
              <a:rPr sz="2200" i="1" dirty="0">
                <a:latin typeface="Times New Roman"/>
                <a:cs typeface="Times New Roman"/>
              </a:rPr>
              <a:t>w </a:t>
            </a:r>
            <a:r>
              <a:rPr sz="2200" dirty="0">
                <a:latin typeface="Times New Roman"/>
                <a:cs typeface="Times New Roman"/>
              </a:rPr>
              <a:t>at </a:t>
            </a:r>
            <a:r>
              <a:rPr sz="2200" spc="-5" dirty="0">
                <a:latin typeface="Times New Roman"/>
                <a:cs typeface="Times New Roman"/>
              </a:rPr>
              <a:t>any </a:t>
            </a:r>
            <a:r>
              <a:rPr sz="2200" dirty="0">
                <a:latin typeface="Times New Roman"/>
                <a:cs typeface="Times New Roman"/>
              </a:rPr>
              <a:t>point </a:t>
            </a:r>
            <a:r>
              <a:rPr sz="2200" i="1" dirty="0">
                <a:latin typeface="Times New Roman"/>
                <a:cs typeface="Times New Roman"/>
              </a:rPr>
              <a:t>z </a:t>
            </a:r>
            <a:r>
              <a:rPr sz="2200" dirty="0">
                <a:latin typeface="Times New Roman"/>
                <a:cs typeface="Times New Roman"/>
              </a:rPr>
              <a:t>is defined as the diameter at which</a:t>
            </a:r>
            <a:r>
              <a:rPr sz="2200" spc="-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  beam intensity has fallen to 1/</a:t>
            </a:r>
            <a:r>
              <a:rPr sz="2200" i="1" dirty="0">
                <a:latin typeface="Times New Roman"/>
                <a:cs typeface="Times New Roman"/>
              </a:rPr>
              <a:t>e</a:t>
            </a:r>
            <a:r>
              <a:rPr sz="2200" baseline="24904" dirty="0">
                <a:latin typeface="Times New Roman"/>
                <a:cs typeface="Times New Roman"/>
              </a:rPr>
              <a:t>2 </a:t>
            </a:r>
            <a:r>
              <a:rPr sz="2200" dirty="0">
                <a:latin typeface="Times New Roman"/>
                <a:cs typeface="Times New Roman"/>
              </a:rPr>
              <a:t>(13.5%) of its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maximum.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4" y="456946"/>
            <a:ext cx="883385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3532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Gaussian</a:t>
            </a:r>
            <a:r>
              <a:rPr sz="3200" spc="-6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Beams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75039" y="958596"/>
            <a:ext cx="5867400" cy="2855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44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4000" y="858012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3999" y="858012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29771" y="3738880"/>
            <a:ext cx="8749665" cy="2881558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693" marR="5080" algn="just">
              <a:lnSpc>
                <a:spcPct val="99400"/>
              </a:lnSpc>
              <a:spcBef>
                <a:spcPts val="15"/>
              </a:spcBef>
            </a:pPr>
            <a:r>
              <a:rPr sz="2100" spc="-5" dirty="0">
                <a:latin typeface="Times New Roman"/>
                <a:cs typeface="Times New Roman"/>
              </a:rPr>
              <a:t>Diffraction causes light waves to spread transversely as they propagate, and it is  therefore impossible to have a perfectly collimated beam. The spreading of a laser  beam is in precise accord with the predictions of pure diffraction </a:t>
            </a:r>
            <a:r>
              <a:rPr sz="2100" spc="-25" dirty="0">
                <a:latin typeface="Times New Roman"/>
                <a:cs typeface="Times New Roman"/>
              </a:rPr>
              <a:t>theory. </a:t>
            </a:r>
            <a:r>
              <a:rPr sz="2100" spc="-5" dirty="0">
                <a:latin typeface="Times New Roman"/>
                <a:cs typeface="Times New Roman"/>
              </a:rPr>
              <a:t>Even if a  Gaussian laser beam wavefront were made perfectly flat at some plane, it would  quickly acquire curvature and begin spreading out. The finite width </a:t>
            </a:r>
            <a:r>
              <a:rPr sz="2100" dirty="0">
                <a:latin typeface="Times New Roman"/>
                <a:cs typeface="Times New Roman"/>
              </a:rPr>
              <a:t>2</a:t>
            </a:r>
            <a:r>
              <a:rPr sz="2100" i="1" dirty="0">
                <a:latin typeface="Times New Roman"/>
                <a:cs typeface="Times New Roman"/>
              </a:rPr>
              <a:t>w</a:t>
            </a:r>
            <a:r>
              <a:rPr sz="1900" baseline="-21367" dirty="0">
                <a:latin typeface="Times New Roman"/>
                <a:cs typeface="Times New Roman"/>
              </a:rPr>
              <a:t>0 </a:t>
            </a:r>
            <a:r>
              <a:rPr sz="2100" spc="-5" dirty="0">
                <a:latin typeface="Times New Roman"/>
                <a:cs typeface="Times New Roman"/>
              </a:rPr>
              <a:t>where the  wavefronts are parallel is called the </a:t>
            </a:r>
            <a:r>
              <a:rPr sz="2100" b="1" spc="-5" dirty="0">
                <a:latin typeface="Times New Roman"/>
                <a:cs typeface="Times New Roman"/>
              </a:rPr>
              <a:t>waist </a:t>
            </a:r>
            <a:r>
              <a:rPr sz="2100" spc="-5" dirty="0">
                <a:latin typeface="Times New Roman"/>
                <a:cs typeface="Times New Roman"/>
              </a:rPr>
              <a:t>of the beam. </a:t>
            </a:r>
            <a:r>
              <a:rPr sz="2100" i="1" dirty="0">
                <a:latin typeface="Times New Roman"/>
                <a:cs typeface="Times New Roman"/>
              </a:rPr>
              <a:t>w</a:t>
            </a:r>
            <a:r>
              <a:rPr sz="1900" baseline="-21367" dirty="0">
                <a:latin typeface="Times New Roman"/>
                <a:cs typeface="Times New Roman"/>
              </a:rPr>
              <a:t>0 </a:t>
            </a:r>
            <a:r>
              <a:rPr sz="2100" spc="-5" dirty="0">
                <a:latin typeface="Times New Roman"/>
                <a:cs typeface="Times New Roman"/>
              </a:rPr>
              <a:t>is the </a:t>
            </a:r>
            <a:r>
              <a:rPr sz="2100" b="1" spc="-5" dirty="0">
                <a:latin typeface="Times New Roman"/>
                <a:cs typeface="Times New Roman"/>
              </a:rPr>
              <a:t>waist radius </a:t>
            </a:r>
            <a:r>
              <a:rPr sz="2100" spc="-5" dirty="0">
                <a:latin typeface="Times New Roman"/>
                <a:cs typeface="Times New Roman"/>
              </a:rPr>
              <a:t>and </a:t>
            </a:r>
            <a:r>
              <a:rPr sz="2100" dirty="0">
                <a:latin typeface="Times New Roman"/>
                <a:cs typeface="Times New Roman"/>
              </a:rPr>
              <a:t>2</a:t>
            </a:r>
            <a:r>
              <a:rPr sz="2100" i="1" dirty="0">
                <a:latin typeface="Times New Roman"/>
                <a:cs typeface="Times New Roman"/>
              </a:rPr>
              <a:t>w</a:t>
            </a:r>
            <a:r>
              <a:rPr sz="1900" baseline="-21367" dirty="0">
                <a:latin typeface="Times New Roman"/>
                <a:cs typeface="Times New Roman"/>
              </a:rPr>
              <a:t>0  </a:t>
            </a:r>
            <a:r>
              <a:rPr sz="2100" spc="-5" dirty="0">
                <a:latin typeface="Times New Roman"/>
                <a:cs typeface="Times New Roman"/>
              </a:rPr>
              <a:t>is the </a:t>
            </a:r>
            <a:r>
              <a:rPr sz="2100" b="1" spc="-5" dirty="0">
                <a:latin typeface="Times New Roman"/>
                <a:cs typeface="Times New Roman"/>
              </a:rPr>
              <a:t>spot </a:t>
            </a:r>
            <a:r>
              <a:rPr sz="2100" b="1" dirty="0">
                <a:latin typeface="Times New Roman"/>
                <a:cs typeface="Times New Roman"/>
              </a:rPr>
              <a:t>size</a:t>
            </a:r>
            <a:r>
              <a:rPr sz="2100" dirty="0">
                <a:latin typeface="Times New Roman"/>
                <a:cs typeface="Times New Roman"/>
              </a:rPr>
              <a:t>. </a:t>
            </a:r>
            <a:r>
              <a:rPr sz="2100" spc="-5" dirty="0">
                <a:latin typeface="Times New Roman"/>
                <a:cs typeface="Times New Roman"/>
              </a:rPr>
              <a:t>The increase in beam diameter </a:t>
            </a:r>
            <a:r>
              <a:rPr sz="2100" spc="5" dirty="0">
                <a:latin typeface="Times New Roman"/>
                <a:cs typeface="Times New Roman"/>
              </a:rPr>
              <a:t>2</a:t>
            </a:r>
            <a:r>
              <a:rPr sz="2100" i="1" spc="5" dirty="0">
                <a:latin typeface="Times New Roman"/>
                <a:cs typeface="Times New Roman"/>
              </a:rPr>
              <a:t>w </a:t>
            </a:r>
            <a:r>
              <a:rPr sz="2100" spc="-5" dirty="0">
                <a:latin typeface="Times New Roman"/>
                <a:cs typeface="Times New Roman"/>
              </a:rPr>
              <a:t>with </a:t>
            </a:r>
            <a:r>
              <a:rPr sz="2100" i="1" spc="-5" dirty="0">
                <a:latin typeface="Times New Roman"/>
                <a:cs typeface="Times New Roman"/>
              </a:rPr>
              <a:t>z </a:t>
            </a:r>
            <a:r>
              <a:rPr sz="2100" spc="-5" dirty="0">
                <a:latin typeface="Times New Roman"/>
                <a:cs typeface="Times New Roman"/>
              </a:rPr>
              <a:t>makes an angle of </a:t>
            </a:r>
            <a:r>
              <a:rPr sz="2100" spc="-21" dirty="0">
                <a:latin typeface="Times New Roman"/>
                <a:cs typeface="Times New Roman"/>
              </a:rPr>
              <a:t>2</a:t>
            </a:r>
            <a:r>
              <a:rPr sz="2100" i="1" spc="-21" dirty="0">
                <a:latin typeface="Symbol"/>
                <a:cs typeface="Symbol"/>
              </a:rPr>
              <a:t></a:t>
            </a:r>
            <a:r>
              <a:rPr sz="2100" spc="-21" dirty="0">
                <a:latin typeface="Times New Roman"/>
                <a:cs typeface="Times New Roman"/>
              </a:rPr>
              <a:t>,  </a:t>
            </a:r>
            <a:r>
              <a:rPr sz="2100" spc="-5" dirty="0">
                <a:latin typeface="Times New Roman"/>
                <a:cs typeface="Times New Roman"/>
              </a:rPr>
              <a:t>which is called the </a:t>
            </a:r>
            <a:r>
              <a:rPr sz="2100" b="1" u="heavy" spc="-5" dirty="0">
                <a:solidFill>
                  <a:srgbClr val="009A9A"/>
                </a:solidFill>
                <a:latin typeface="Times New Roman"/>
                <a:cs typeface="Times New Roman"/>
              </a:rPr>
              <a:t>beam divergence</a:t>
            </a:r>
            <a:r>
              <a:rPr sz="2100" spc="-5" dirty="0">
                <a:latin typeface="Times New Roman"/>
                <a:cs typeface="Times New Roman"/>
              </a:rPr>
              <a:t>. </a:t>
            </a:r>
            <a:r>
              <a:rPr sz="2100" u="sng" spc="-5" dirty="0">
                <a:latin typeface="Times New Roman"/>
                <a:cs typeface="Times New Roman"/>
              </a:rPr>
              <a:t>The spot size and beam divergence are two  important parameters when choosing</a:t>
            </a:r>
            <a:r>
              <a:rPr sz="2100" u="sng" spc="-10" dirty="0">
                <a:latin typeface="Times New Roman"/>
                <a:cs typeface="Times New Roman"/>
              </a:rPr>
              <a:t> </a:t>
            </a:r>
            <a:r>
              <a:rPr sz="2100" u="sng" spc="-5" dirty="0">
                <a:latin typeface="Times New Roman"/>
                <a:cs typeface="Times New Roman"/>
              </a:rPr>
              <a:t>lasers.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9144863" y="6656474"/>
            <a:ext cx="248920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384"/>
            <a:fld id="{81D60167-4931-47E6-BA6A-407CBD079E47}" type="slidenum">
              <a:rPr/>
              <a:pPr marL="25384"/>
              <a:t>21</a:t>
            </a:fld>
            <a:endParaRPr dirty="0"/>
          </a:p>
        </p:txBody>
      </p:sp>
    </p:spTree>
  </p:cSld>
  <p:clrMapOvr>
    <a:masterClrMapping/>
  </p:clrMapOvr>
  <p:transition spd="slow"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4" y="456946"/>
            <a:ext cx="883385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49011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Refractive</a:t>
            </a:r>
            <a:r>
              <a:rPr sz="3200" spc="-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Index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2919988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4000" y="858012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130800" y="2336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198720" progId="Equation.DSMT4">
                  <p:embed/>
                </p:oleObj>
              </mc:Choice>
              <mc:Fallback>
                <p:oleObj name="Equation" r:id="rId2" imgW="914400" imgH="19872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2336800"/>
                        <a:ext cx="914400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927100" y="1038225"/>
            <a:ext cx="899160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refractive index of a material defines that how fast light travels through the material.</a:t>
            </a:r>
          </a:p>
        </p:txBody>
      </p:sp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7100" y="1724025"/>
            <a:ext cx="23907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0900" y="4238625"/>
            <a:ext cx="297180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356100" y="1571625"/>
          <a:ext cx="5240868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0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Material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 of refraction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Carbon dioxide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Ethyl</a:t>
                      </a:r>
                      <a:r>
                        <a:rPr lang="en-US" baseline="0" dirty="0"/>
                        <a:t> alcohol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Magnesium fluoride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Fused silica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Polymethyl methacrylate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Silica glass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Sodium chloride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Polystyrene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Calcite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Silicon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Gallium arsenide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Indium gallium arsenide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4" y="456952"/>
            <a:ext cx="8833854" cy="549347"/>
          </a:xfrm>
          <a:prstGeom prst="rect">
            <a:avLst/>
          </a:prstGeom>
        </p:spPr>
        <p:txBody>
          <a:bodyPr vert="horz" wrap="square" lIns="0" tIns="56354" rIns="0" bIns="0" rtlCol="0">
            <a:spAutoFit/>
          </a:bodyPr>
          <a:lstStyle/>
          <a:p>
            <a:pPr marL="3018817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Group</a:t>
            </a:r>
            <a:r>
              <a:rPr sz="3200" spc="-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C000"/>
                </a:solidFill>
                <a:latin typeface="Arial"/>
                <a:cs typeface="Arial"/>
              </a:rPr>
              <a:t>Velocity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2062736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0" y="0"/>
                </a:moveTo>
                <a:lnTo>
                  <a:pt x="0" y="858012"/>
                </a:lnTo>
                <a:lnTo>
                  <a:pt x="9144000" y="858011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3777240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4000" y="858012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82173" y="1134874"/>
            <a:ext cx="8550910" cy="3960694"/>
          </a:xfrm>
          <a:prstGeom prst="rect">
            <a:avLst/>
          </a:prstGeom>
        </p:spPr>
        <p:txBody>
          <a:bodyPr vert="horz" wrap="square" lIns="0" tIns="10789" rIns="0" bIns="0" rtlCol="0">
            <a:spAutoFit/>
          </a:bodyPr>
          <a:lstStyle/>
          <a:p>
            <a:pPr marL="12693" marR="5080" algn="just">
              <a:lnSpc>
                <a:spcPts val="2640"/>
              </a:lnSpc>
              <a:spcBef>
                <a:spcPts val="86"/>
              </a:spcBef>
            </a:pPr>
            <a:r>
              <a:rPr sz="2200" dirty="0">
                <a:latin typeface="Arial"/>
                <a:cs typeface="Arial"/>
              </a:rPr>
              <a:t>Since there are no perfect monochromatic waves in practice, we  have to consider the way in which a group of waves </a:t>
            </a:r>
            <a:r>
              <a:rPr sz="2200" spc="-5" dirty="0">
                <a:latin typeface="Arial"/>
                <a:cs typeface="Arial"/>
              </a:rPr>
              <a:t>differing </a:t>
            </a:r>
            <a:r>
              <a:rPr sz="2200" dirty="0">
                <a:latin typeface="Arial"/>
                <a:cs typeface="Arial"/>
              </a:rPr>
              <a:t>slightly  in wavelength travel </a:t>
            </a:r>
            <a:r>
              <a:rPr sz="2200" spc="-5" dirty="0">
                <a:latin typeface="Arial"/>
                <a:cs typeface="Arial"/>
              </a:rPr>
              <a:t>along </a:t>
            </a:r>
            <a:r>
              <a:rPr sz="2200" dirty="0">
                <a:latin typeface="Arial"/>
                <a:cs typeface="Arial"/>
              </a:rPr>
              <a:t>the same direction. For two harmonic  waves of frequencies </a:t>
            </a:r>
            <a:r>
              <a:rPr sz="2300" i="1" spc="-70" dirty="0">
                <a:latin typeface="Symbol"/>
                <a:cs typeface="Symbol"/>
              </a:rPr>
              <a:t></a:t>
            </a:r>
            <a:r>
              <a:rPr sz="2300" i="1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300" i="1" spc="-65" dirty="0">
                <a:latin typeface="Symbol"/>
                <a:cs typeface="Symbol"/>
              </a:rPr>
              <a:t></a:t>
            </a:r>
            <a:r>
              <a:rPr sz="2300" i="1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Arial"/>
                <a:cs typeface="Arial"/>
              </a:rPr>
              <a:t>and </a:t>
            </a:r>
            <a:r>
              <a:rPr sz="2300" i="1" spc="-70" dirty="0">
                <a:latin typeface="Symbol"/>
                <a:cs typeface="Symbol"/>
              </a:rPr>
              <a:t></a:t>
            </a:r>
            <a:r>
              <a:rPr sz="2300" i="1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+ </a:t>
            </a:r>
            <a:r>
              <a:rPr sz="2300" i="1" spc="-65" dirty="0">
                <a:latin typeface="Symbol"/>
                <a:cs typeface="Symbol"/>
              </a:rPr>
              <a:t></a:t>
            </a:r>
            <a:r>
              <a:rPr sz="2300" i="1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Arial"/>
                <a:cs typeface="Arial"/>
              </a:rPr>
              <a:t>and wavevectors </a:t>
            </a:r>
            <a:r>
              <a:rPr sz="2200" i="1" dirty="0">
                <a:latin typeface="Arial"/>
                <a:cs typeface="Arial"/>
              </a:rPr>
              <a:t>k </a:t>
            </a:r>
            <a:r>
              <a:rPr sz="2200" dirty="0">
                <a:latin typeface="Symbol"/>
                <a:cs typeface="Symbol"/>
              </a:rPr>
              <a:t>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300" i="1" spc="-30" dirty="0">
                <a:latin typeface="Symbol"/>
                <a:cs typeface="Symbol"/>
              </a:rPr>
              <a:t></a:t>
            </a:r>
            <a:r>
              <a:rPr sz="2200" i="1" spc="-30" dirty="0">
                <a:latin typeface="Arial"/>
                <a:cs typeface="Arial"/>
              </a:rPr>
              <a:t>k </a:t>
            </a:r>
            <a:r>
              <a:rPr sz="2200" spc="-5" dirty="0">
                <a:latin typeface="Arial"/>
                <a:cs typeface="Arial"/>
              </a:rPr>
              <a:t>and  </a:t>
            </a:r>
            <a:r>
              <a:rPr sz="2200" i="1" dirty="0">
                <a:latin typeface="Arial"/>
                <a:cs typeface="Arial"/>
              </a:rPr>
              <a:t>k </a:t>
            </a:r>
            <a:r>
              <a:rPr sz="2200" dirty="0">
                <a:latin typeface="Arial"/>
                <a:cs typeface="Arial"/>
              </a:rPr>
              <a:t>+ </a:t>
            </a:r>
            <a:r>
              <a:rPr sz="2300" i="1" spc="-30" dirty="0">
                <a:latin typeface="Symbol"/>
                <a:cs typeface="Symbol"/>
              </a:rPr>
              <a:t></a:t>
            </a:r>
            <a:r>
              <a:rPr sz="2200" i="1" spc="-30" dirty="0">
                <a:latin typeface="Arial"/>
                <a:cs typeface="Arial"/>
              </a:rPr>
              <a:t>k </a:t>
            </a:r>
            <a:r>
              <a:rPr sz="2200" spc="-5" dirty="0">
                <a:latin typeface="Arial"/>
                <a:cs typeface="Arial"/>
              </a:rPr>
              <a:t>interfering with each other and traveling along the </a:t>
            </a:r>
            <a:r>
              <a:rPr sz="2200" i="1" dirty="0">
                <a:latin typeface="Arial"/>
                <a:cs typeface="Arial"/>
              </a:rPr>
              <a:t>z</a:t>
            </a:r>
            <a:r>
              <a:rPr sz="2200" i="1" spc="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direction:</a:t>
            </a:r>
          </a:p>
          <a:p>
            <a:pPr algn="just">
              <a:spcBef>
                <a:spcPts val="13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R="277324" algn="just"/>
            <a:r>
              <a:rPr sz="2400" i="1" spc="30" dirty="0">
                <a:latin typeface="Times New Roman"/>
                <a:cs typeface="Times New Roman"/>
              </a:rPr>
              <a:t>E</a:t>
            </a:r>
            <a:r>
              <a:rPr sz="2100" i="1" spc="44" baseline="-23809" dirty="0">
                <a:latin typeface="Times New Roman"/>
                <a:cs typeface="Times New Roman"/>
              </a:rPr>
              <a:t>x</a:t>
            </a:r>
            <a:r>
              <a:rPr sz="2100" spc="44" baseline="-23809" dirty="0">
                <a:latin typeface="Times New Roman"/>
                <a:cs typeface="Times New Roman"/>
              </a:rPr>
              <a:t>,1</a:t>
            </a:r>
            <a:r>
              <a:rPr sz="2100" spc="-300" baseline="-23809" dirty="0">
                <a:latin typeface="Times New Roman"/>
                <a:cs typeface="Times New Roman"/>
              </a:rPr>
              <a:t> </a:t>
            </a:r>
            <a:r>
              <a:rPr sz="3200" spc="-40" dirty="0">
                <a:latin typeface="Symbol"/>
                <a:cs typeface="Symbol"/>
              </a:rPr>
              <a:t></a:t>
            </a:r>
            <a:r>
              <a:rPr sz="2400" i="1" spc="-40" dirty="0">
                <a:latin typeface="Times New Roman"/>
                <a:cs typeface="Times New Roman"/>
              </a:rPr>
              <a:t>z</a:t>
            </a:r>
            <a:r>
              <a:rPr sz="2400" spc="-40" dirty="0">
                <a:latin typeface="Times New Roman"/>
                <a:cs typeface="Times New Roman"/>
              </a:rPr>
              <a:t>,</a:t>
            </a:r>
            <a:r>
              <a:rPr sz="2400" spc="-3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spc="-375" dirty="0">
                <a:latin typeface="Times New Roman"/>
                <a:cs typeface="Times New Roman"/>
              </a:rPr>
              <a:t> </a:t>
            </a:r>
            <a:r>
              <a:rPr sz="3200" spc="-265" dirty="0">
                <a:latin typeface="Symbol"/>
                <a:cs typeface="Symbol"/>
              </a:rPr>
              <a:t></a:t>
            </a:r>
            <a:r>
              <a:rPr sz="3200" spc="-43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</a:t>
            </a:r>
            <a:r>
              <a:rPr sz="2400" spc="21" dirty="0">
                <a:latin typeface="Times New Roman"/>
                <a:cs typeface="Times New Roman"/>
              </a:rPr>
              <a:t> </a:t>
            </a:r>
            <a:r>
              <a:rPr sz="2400" i="1" spc="5" dirty="0">
                <a:latin typeface="Times New Roman"/>
                <a:cs typeface="Times New Roman"/>
              </a:rPr>
              <a:t>E</a:t>
            </a:r>
            <a:r>
              <a:rPr sz="2100" spc="7" baseline="-23809" dirty="0">
                <a:latin typeface="Times New Roman"/>
                <a:cs typeface="Times New Roman"/>
              </a:rPr>
              <a:t>0</a:t>
            </a:r>
            <a:r>
              <a:rPr sz="2100" spc="254" baseline="-23809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cos</a:t>
            </a:r>
            <a:r>
              <a:rPr sz="3300" spc="-180" dirty="0">
                <a:latin typeface="Symbol"/>
                <a:cs typeface="Symbol"/>
              </a:rPr>
              <a:t></a:t>
            </a:r>
            <a:r>
              <a:rPr sz="3200" spc="-180" dirty="0">
                <a:latin typeface="Symbol"/>
                <a:cs typeface="Symbol"/>
              </a:rPr>
              <a:t></a:t>
            </a:r>
            <a:r>
              <a:rPr sz="2500" i="1" spc="-180" dirty="0">
                <a:latin typeface="Symbol"/>
                <a:cs typeface="Symbol"/>
              </a:rPr>
              <a:t></a:t>
            </a:r>
            <a:r>
              <a:rPr sz="2500" i="1" spc="-1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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500" i="1" spc="-110" dirty="0">
                <a:latin typeface="Symbol"/>
                <a:cs typeface="Symbol"/>
              </a:rPr>
              <a:t></a:t>
            </a:r>
            <a:r>
              <a:rPr sz="3200" spc="-110" dirty="0">
                <a:latin typeface="Symbol"/>
                <a:cs typeface="Symbol"/>
              </a:rPr>
              <a:t></a:t>
            </a:r>
            <a:r>
              <a:rPr sz="2400" i="1" spc="-110" dirty="0">
                <a:latin typeface="Times New Roman"/>
                <a:cs typeface="Times New Roman"/>
              </a:rPr>
              <a:t>t</a:t>
            </a:r>
            <a:r>
              <a:rPr sz="2400" i="1" spc="-7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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3200" spc="-149" dirty="0">
                <a:latin typeface="Symbol"/>
                <a:cs typeface="Symbol"/>
              </a:rPr>
              <a:t></a:t>
            </a:r>
            <a:r>
              <a:rPr sz="2400" i="1" spc="-149" dirty="0">
                <a:latin typeface="Times New Roman"/>
                <a:cs typeface="Times New Roman"/>
              </a:rPr>
              <a:t>k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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500" i="1" spc="-50" dirty="0">
                <a:latin typeface="Symbol"/>
                <a:cs typeface="Symbol"/>
              </a:rPr>
              <a:t></a:t>
            </a:r>
            <a:r>
              <a:rPr sz="2400" i="1" spc="-50" dirty="0">
                <a:latin typeface="Times New Roman"/>
                <a:cs typeface="Times New Roman"/>
              </a:rPr>
              <a:t>k</a:t>
            </a:r>
            <a:r>
              <a:rPr sz="2400" i="1" spc="-325" dirty="0">
                <a:latin typeface="Times New Roman"/>
                <a:cs typeface="Times New Roman"/>
              </a:rPr>
              <a:t> </a:t>
            </a:r>
            <a:r>
              <a:rPr sz="3200" spc="-149" dirty="0">
                <a:latin typeface="Symbol"/>
                <a:cs typeface="Symbol"/>
              </a:rPr>
              <a:t></a:t>
            </a:r>
            <a:r>
              <a:rPr sz="2400" i="1" spc="-149" dirty="0">
                <a:latin typeface="Times New Roman"/>
                <a:cs typeface="Times New Roman"/>
              </a:rPr>
              <a:t>z</a:t>
            </a:r>
            <a:r>
              <a:rPr sz="3300" spc="-149" dirty="0">
                <a:latin typeface="Symbol"/>
                <a:cs typeface="Symbol"/>
              </a:rPr>
              <a:t></a:t>
            </a:r>
            <a:endParaRPr sz="3300" dirty="0">
              <a:latin typeface="Symbol"/>
              <a:cs typeface="Symbol"/>
            </a:endParaRPr>
          </a:p>
          <a:p>
            <a:pPr marR="235439" algn="just">
              <a:spcBef>
                <a:spcPts val="2040"/>
              </a:spcBef>
            </a:pPr>
            <a:r>
              <a:rPr sz="2400" i="1" spc="70" dirty="0">
                <a:latin typeface="Times New Roman"/>
                <a:cs typeface="Times New Roman"/>
              </a:rPr>
              <a:t>E</a:t>
            </a:r>
            <a:r>
              <a:rPr sz="2100" i="1" spc="104" baseline="-23809" dirty="0">
                <a:latin typeface="Times New Roman"/>
                <a:cs typeface="Times New Roman"/>
              </a:rPr>
              <a:t>x</a:t>
            </a:r>
            <a:r>
              <a:rPr sz="2100" spc="104" baseline="-23809" dirty="0">
                <a:latin typeface="Times New Roman"/>
                <a:cs typeface="Times New Roman"/>
              </a:rPr>
              <a:t>,2</a:t>
            </a:r>
            <a:r>
              <a:rPr sz="2100" spc="-149" baseline="-23809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Symbol"/>
                <a:cs typeface="Symbol"/>
              </a:rPr>
              <a:t></a:t>
            </a:r>
            <a:r>
              <a:rPr sz="2400" i="1" spc="-35" dirty="0">
                <a:latin typeface="Times New Roman"/>
                <a:cs typeface="Times New Roman"/>
              </a:rPr>
              <a:t>z</a:t>
            </a:r>
            <a:r>
              <a:rPr sz="2400" spc="-35" dirty="0">
                <a:latin typeface="Times New Roman"/>
                <a:cs typeface="Times New Roman"/>
              </a:rPr>
              <a:t>,</a:t>
            </a:r>
            <a:r>
              <a:rPr sz="2400" spc="-3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t</a:t>
            </a:r>
            <a:r>
              <a:rPr sz="2400" i="1" spc="-375" dirty="0">
                <a:latin typeface="Times New Roman"/>
                <a:cs typeface="Times New Roman"/>
              </a:rPr>
              <a:t> </a:t>
            </a:r>
            <a:r>
              <a:rPr sz="3200" spc="-265" dirty="0">
                <a:latin typeface="Symbol"/>
                <a:cs typeface="Symbol"/>
              </a:rPr>
              <a:t></a:t>
            </a:r>
            <a:r>
              <a:rPr sz="3200" spc="-43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</a:t>
            </a:r>
            <a:r>
              <a:rPr sz="2400" spc="21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100" baseline="-23809" dirty="0">
                <a:latin typeface="Times New Roman"/>
                <a:cs typeface="Times New Roman"/>
              </a:rPr>
              <a:t>0</a:t>
            </a:r>
            <a:r>
              <a:rPr sz="2100" spc="262" baseline="-23809" dirty="0">
                <a:latin typeface="Times New Roman"/>
                <a:cs typeface="Times New Roman"/>
              </a:rPr>
              <a:t> </a:t>
            </a:r>
            <a:r>
              <a:rPr sz="2400" spc="-180" dirty="0">
                <a:latin typeface="Times New Roman"/>
                <a:cs typeface="Times New Roman"/>
              </a:rPr>
              <a:t>cos</a:t>
            </a:r>
            <a:r>
              <a:rPr sz="3300" spc="-180" dirty="0">
                <a:latin typeface="Symbol"/>
                <a:cs typeface="Symbol"/>
              </a:rPr>
              <a:t></a:t>
            </a:r>
            <a:r>
              <a:rPr sz="3200" spc="-180" dirty="0">
                <a:latin typeface="Symbol"/>
                <a:cs typeface="Symbol"/>
              </a:rPr>
              <a:t></a:t>
            </a:r>
            <a:r>
              <a:rPr sz="2500" i="1" spc="-180" dirty="0">
                <a:latin typeface="Symbol"/>
                <a:cs typeface="Symbol"/>
              </a:rPr>
              <a:t></a:t>
            </a:r>
            <a:r>
              <a:rPr sz="2500" i="1" spc="-1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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500" i="1" spc="-110" dirty="0">
                <a:latin typeface="Symbol"/>
                <a:cs typeface="Symbol"/>
              </a:rPr>
              <a:t></a:t>
            </a:r>
            <a:r>
              <a:rPr sz="3200" spc="-110" dirty="0">
                <a:latin typeface="Symbol"/>
                <a:cs typeface="Symbol"/>
              </a:rPr>
              <a:t></a:t>
            </a:r>
            <a:r>
              <a:rPr sz="2400" i="1" spc="-110" dirty="0">
                <a:latin typeface="Times New Roman"/>
                <a:cs typeface="Times New Roman"/>
              </a:rPr>
              <a:t>t</a:t>
            </a:r>
            <a:r>
              <a:rPr sz="2400" i="1" spc="-7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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3200" spc="-149" dirty="0">
                <a:latin typeface="Symbol"/>
                <a:cs typeface="Symbol"/>
              </a:rPr>
              <a:t></a:t>
            </a:r>
            <a:r>
              <a:rPr sz="2400" i="1" spc="-149" dirty="0">
                <a:latin typeface="Times New Roman"/>
                <a:cs typeface="Times New Roman"/>
              </a:rPr>
              <a:t>k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</a:t>
            </a:r>
            <a:r>
              <a:rPr sz="2400" spc="-315" dirty="0">
                <a:latin typeface="Times New Roman"/>
                <a:cs typeface="Times New Roman"/>
              </a:rPr>
              <a:t> </a:t>
            </a:r>
            <a:r>
              <a:rPr sz="2500" i="1" spc="-50" dirty="0">
                <a:latin typeface="Symbol"/>
                <a:cs typeface="Symbol"/>
              </a:rPr>
              <a:t></a:t>
            </a:r>
            <a:r>
              <a:rPr sz="2400" i="1" spc="-50" dirty="0">
                <a:latin typeface="Times New Roman"/>
                <a:cs typeface="Times New Roman"/>
              </a:rPr>
              <a:t>k</a:t>
            </a:r>
            <a:r>
              <a:rPr sz="2400" i="1" spc="-325" dirty="0">
                <a:latin typeface="Times New Roman"/>
                <a:cs typeface="Times New Roman"/>
              </a:rPr>
              <a:t> </a:t>
            </a:r>
            <a:r>
              <a:rPr sz="3200" spc="-149" dirty="0">
                <a:latin typeface="Symbol"/>
                <a:cs typeface="Symbol"/>
              </a:rPr>
              <a:t></a:t>
            </a:r>
            <a:r>
              <a:rPr sz="2400" i="1" spc="-149" dirty="0">
                <a:latin typeface="Times New Roman"/>
                <a:cs typeface="Times New Roman"/>
              </a:rPr>
              <a:t>z</a:t>
            </a:r>
            <a:r>
              <a:rPr sz="3300" spc="-149" dirty="0">
                <a:latin typeface="Symbol"/>
                <a:cs typeface="Symbol"/>
              </a:rPr>
              <a:t></a:t>
            </a:r>
            <a:endParaRPr sz="3300" dirty="0">
              <a:latin typeface="Symbol"/>
              <a:cs typeface="Symbol"/>
            </a:endParaRPr>
          </a:p>
          <a:p>
            <a:pPr marL="12693" algn="just">
              <a:spcBef>
                <a:spcPts val="1429"/>
              </a:spcBef>
            </a:pPr>
            <a:r>
              <a:rPr sz="2200" dirty="0">
                <a:latin typeface="Arial"/>
                <a:cs typeface="Arial"/>
              </a:rPr>
              <a:t>Using</a:t>
            </a:r>
            <a:endParaRPr sz="3700" baseline="-27777" dirty="0">
              <a:latin typeface="Symbol"/>
              <a:cs typeface="Symbo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9144863" y="6656474"/>
            <a:ext cx="248920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384"/>
            <a:fld id="{81D60167-4931-47E6-BA6A-407CBD079E47}" type="slidenum">
              <a:rPr/>
              <a:pPr marL="25384"/>
              <a:t>23</a:t>
            </a:fld>
            <a:endParaRPr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451102" y="4924424"/>
          <a:ext cx="5943600" cy="896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431640" progId="Equation.3">
                  <p:embed/>
                </p:oleObj>
              </mc:Choice>
              <mc:Fallback>
                <p:oleObj name="Equation" r:id="rId2" imgW="294624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2" y="4924424"/>
                        <a:ext cx="5943600" cy="8966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4" y="456952"/>
            <a:ext cx="8833854" cy="549347"/>
          </a:xfrm>
          <a:prstGeom prst="rect">
            <a:avLst/>
          </a:prstGeom>
        </p:spPr>
        <p:txBody>
          <a:bodyPr vert="horz" wrap="square" lIns="0" tIns="56354" rIns="0" bIns="0" rtlCol="0">
            <a:spAutoFit/>
          </a:bodyPr>
          <a:lstStyle/>
          <a:p>
            <a:pPr marL="3018817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Group</a:t>
            </a:r>
            <a:r>
              <a:rPr sz="3200" spc="-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C000"/>
                </a:solidFill>
                <a:latin typeface="Arial"/>
                <a:cs typeface="Arial"/>
              </a:rPr>
              <a:t>Velocity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2181" y="1073147"/>
            <a:ext cx="1429385" cy="925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200" spc="-25" dirty="0">
                <a:latin typeface="Arial"/>
                <a:cs typeface="Arial"/>
              </a:rPr>
              <a:t>We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obtain:</a:t>
            </a:r>
            <a:endParaRPr sz="2200">
              <a:latin typeface="Arial"/>
              <a:cs typeface="Arial"/>
            </a:endParaRPr>
          </a:p>
          <a:p>
            <a:pPr marR="5080" algn="r">
              <a:spcBef>
                <a:spcPts val="1655"/>
              </a:spcBef>
            </a:pPr>
            <a:r>
              <a:rPr sz="2400" i="1" spc="105" dirty="0">
                <a:latin typeface="Times New Roman"/>
                <a:cs typeface="Times New Roman"/>
              </a:rPr>
              <a:t>E</a:t>
            </a:r>
            <a:r>
              <a:rPr sz="2100" i="1" baseline="-23809" dirty="0">
                <a:latin typeface="Times New Roman"/>
                <a:cs typeface="Times New Roman"/>
              </a:rPr>
              <a:t>x</a:t>
            </a:r>
            <a:endParaRPr sz="2100" baseline="-23809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99689" y="1510541"/>
            <a:ext cx="43561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400" spc="5" dirty="0">
                <a:latin typeface="Symbol"/>
                <a:cs typeface="Symbol"/>
              </a:rPr>
              <a:t></a:t>
            </a:r>
            <a:r>
              <a:rPr sz="2400" spc="-44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2</a:t>
            </a:r>
            <a:r>
              <a:rPr sz="2400" i="1" spc="40" dirty="0">
                <a:latin typeface="Times New Roman"/>
                <a:cs typeface="Times New Roman"/>
              </a:rPr>
              <a:t>E</a:t>
            </a:r>
            <a:r>
              <a:rPr sz="2100" spc="60" baseline="-23809" dirty="0">
                <a:latin typeface="Times New Roman"/>
                <a:cs typeface="Times New Roman"/>
              </a:rPr>
              <a:t>0</a:t>
            </a:r>
            <a:r>
              <a:rPr sz="2100" spc="277" baseline="-23809" dirty="0">
                <a:latin typeface="Times New Roman"/>
                <a:cs typeface="Times New Roman"/>
              </a:rPr>
              <a:t> </a:t>
            </a:r>
            <a:r>
              <a:rPr sz="2400" spc="-160" dirty="0">
                <a:latin typeface="Times New Roman"/>
                <a:cs typeface="Times New Roman"/>
              </a:rPr>
              <a:t>cos</a:t>
            </a:r>
            <a:r>
              <a:rPr sz="3200" spc="-160" dirty="0">
                <a:latin typeface="Symbol"/>
                <a:cs typeface="Symbol"/>
              </a:rPr>
              <a:t></a:t>
            </a:r>
            <a:r>
              <a:rPr sz="2500" i="1" spc="-160" dirty="0">
                <a:latin typeface="Symbol"/>
                <a:cs typeface="Symbol"/>
              </a:rPr>
              <a:t></a:t>
            </a:r>
            <a:r>
              <a:rPr sz="2500" i="1" spc="-434" dirty="0">
                <a:latin typeface="Times New Roman"/>
                <a:cs typeface="Times New Roman"/>
              </a:rPr>
              <a:t> </a:t>
            </a:r>
            <a:r>
              <a:rPr sz="3200" spc="-229" dirty="0">
                <a:latin typeface="Symbol"/>
                <a:cs typeface="Symbol"/>
              </a:rPr>
              <a:t></a:t>
            </a:r>
            <a:r>
              <a:rPr sz="2400" i="1" spc="-229" dirty="0">
                <a:latin typeface="Times New Roman"/>
                <a:cs typeface="Times New Roman"/>
              </a:rPr>
              <a:t>t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</a:t>
            </a:r>
            <a:r>
              <a:rPr sz="2400" spc="-240" dirty="0">
                <a:latin typeface="Times New Roman"/>
                <a:cs typeface="Times New Roman"/>
              </a:rPr>
              <a:t> </a:t>
            </a:r>
            <a:r>
              <a:rPr sz="3200" spc="-185" dirty="0">
                <a:latin typeface="Symbol"/>
                <a:cs typeface="Symbol"/>
              </a:rPr>
              <a:t></a:t>
            </a:r>
            <a:r>
              <a:rPr sz="2500" i="1" spc="-185" dirty="0">
                <a:latin typeface="Symbol"/>
                <a:cs typeface="Symbol"/>
              </a:rPr>
              <a:t></a:t>
            </a:r>
            <a:r>
              <a:rPr sz="2400" i="1" spc="-185" dirty="0">
                <a:latin typeface="Times New Roman"/>
                <a:cs typeface="Times New Roman"/>
              </a:rPr>
              <a:t>k</a:t>
            </a:r>
            <a:r>
              <a:rPr sz="2400" i="1" spc="-315" dirty="0">
                <a:latin typeface="Times New Roman"/>
                <a:cs typeface="Times New Roman"/>
              </a:rPr>
              <a:t> </a:t>
            </a:r>
            <a:r>
              <a:rPr sz="3200" spc="-105" dirty="0">
                <a:latin typeface="Symbol"/>
                <a:cs typeface="Symbol"/>
              </a:rPr>
              <a:t></a:t>
            </a:r>
            <a:r>
              <a:rPr sz="2400" i="1" spc="-105" dirty="0">
                <a:latin typeface="Times New Roman"/>
                <a:cs typeface="Times New Roman"/>
              </a:rPr>
              <a:t>z</a:t>
            </a:r>
            <a:r>
              <a:rPr sz="3200" spc="-105" dirty="0">
                <a:latin typeface="Symbol"/>
                <a:cs typeface="Symbol"/>
              </a:rPr>
              <a:t></a:t>
            </a:r>
            <a:r>
              <a:rPr sz="2400" spc="-105" dirty="0">
                <a:latin typeface="Times New Roman"/>
                <a:cs typeface="Times New Roman"/>
              </a:rPr>
              <a:t>cos</a:t>
            </a:r>
            <a:r>
              <a:rPr sz="3200" spc="-105" dirty="0">
                <a:latin typeface="Symbol"/>
                <a:cs typeface="Symbol"/>
              </a:rPr>
              <a:t></a:t>
            </a:r>
            <a:r>
              <a:rPr sz="2500" i="1" spc="-105" dirty="0">
                <a:latin typeface="Symbol"/>
                <a:cs typeface="Symbol"/>
              </a:rPr>
              <a:t></a:t>
            </a:r>
            <a:r>
              <a:rPr sz="2400" i="1" spc="-105" dirty="0">
                <a:latin typeface="Times New Roman"/>
                <a:cs typeface="Times New Roman"/>
              </a:rPr>
              <a:t>t</a:t>
            </a:r>
            <a:r>
              <a:rPr sz="2400" i="1" spc="-7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Symbol"/>
                <a:cs typeface="Symbol"/>
              </a:rPr>
              <a:t>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kz</a:t>
            </a:r>
            <a:r>
              <a:rPr sz="3200" spc="-25" dirty="0">
                <a:latin typeface="Symbol"/>
                <a:cs typeface="Symbol"/>
              </a:rPr>
              <a:t>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1689" y="1694695"/>
            <a:ext cx="143256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lnSpc>
                <a:spcPts val="2773"/>
              </a:lnSpc>
            </a:pPr>
            <a:r>
              <a:rPr sz="3700" spc="7" baseline="13888" dirty="0">
                <a:latin typeface="Symbol"/>
                <a:cs typeface="Symbol"/>
              </a:rPr>
              <a:t></a:t>
            </a:r>
            <a:r>
              <a:rPr sz="3700" spc="7" baseline="13888" dirty="0">
                <a:latin typeface="Times New Roman"/>
                <a:cs typeface="Times New Roman"/>
              </a:rPr>
              <a:t> </a:t>
            </a:r>
            <a:r>
              <a:rPr sz="3700" i="1" spc="52" baseline="13888" dirty="0">
                <a:latin typeface="Times New Roman"/>
                <a:cs typeface="Times New Roman"/>
              </a:rPr>
              <a:t>E</a:t>
            </a:r>
            <a:r>
              <a:rPr sz="1400" i="1" spc="35" dirty="0">
                <a:latin typeface="Times New Roman"/>
                <a:cs typeface="Times New Roman"/>
              </a:rPr>
              <a:t>x</a:t>
            </a:r>
            <a:r>
              <a:rPr sz="1400" spc="35" dirty="0">
                <a:latin typeface="Times New Roman"/>
                <a:cs typeface="Times New Roman"/>
              </a:rPr>
              <a:t>,1 </a:t>
            </a:r>
            <a:r>
              <a:rPr sz="3700" spc="7" baseline="13888" dirty="0">
                <a:latin typeface="Symbol"/>
                <a:cs typeface="Symbol"/>
              </a:rPr>
              <a:t></a:t>
            </a:r>
            <a:r>
              <a:rPr sz="3700" spc="7" baseline="13888" dirty="0">
                <a:latin typeface="Times New Roman"/>
                <a:cs typeface="Times New Roman"/>
              </a:rPr>
              <a:t> </a:t>
            </a:r>
            <a:r>
              <a:rPr sz="3700" i="1" spc="112" baseline="13888" dirty="0">
                <a:latin typeface="Times New Roman"/>
                <a:cs typeface="Times New Roman"/>
              </a:rPr>
              <a:t>E</a:t>
            </a:r>
            <a:r>
              <a:rPr sz="1400" i="1" spc="75" dirty="0">
                <a:latin typeface="Times New Roman"/>
                <a:cs typeface="Times New Roman"/>
              </a:rPr>
              <a:t>x</a:t>
            </a:r>
            <a:r>
              <a:rPr sz="1400" spc="75" dirty="0">
                <a:latin typeface="Times New Roman"/>
                <a:cs typeface="Times New Roman"/>
              </a:rPr>
              <a:t>,2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56041" y="2429260"/>
            <a:ext cx="5105400" cy="2720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8095" y="5426210"/>
            <a:ext cx="8858250" cy="66675"/>
          </a:xfrm>
          <a:custGeom>
            <a:avLst/>
            <a:gdLst/>
            <a:ahLst/>
            <a:cxnLst/>
            <a:rect l="l" t="t" r="r" b="b"/>
            <a:pathLst>
              <a:path w="8858250" h="66675">
                <a:moveTo>
                  <a:pt x="8858249" y="66294"/>
                </a:moveTo>
                <a:lnTo>
                  <a:pt x="8858249" y="0"/>
                </a:lnTo>
                <a:lnTo>
                  <a:pt x="0" y="0"/>
                </a:lnTo>
                <a:lnTo>
                  <a:pt x="0" y="66294"/>
                </a:lnTo>
                <a:lnTo>
                  <a:pt x="9143" y="66294"/>
                </a:lnTo>
                <a:lnTo>
                  <a:pt x="9143" y="19050"/>
                </a:lnTo>
                <a:lnTo>
                  <a:pt x="19050" y="9144"/>
                </a:lnTo>
                <a:lnTo>
                  <a:pt x="19049" y="19050"/>
                </a:lnTo>
                <a:lnTo>
                  <a:pt x="8839200" y="19050"/>
                </a:lnTo>
                <a:lnTo>
                  <a:pt x="8839200" y="9144"/>
                </a:lnTo>
                <a:lnTo>
                  <a:pt x="8848331" y="19050"/>
                </a:lnTo>
                <a:lnTo>
                  <a:pt x="8848331" y="66294"/>
                </a:lnTo>
                <a:lnTo>
                  <a:pt x="8858249" y="66294"/>
                </a:lnTo>
                <a:close/>
              </a:path>
              <a:path w="8858250" h="66675">
                <a:moveTo>
                  <a:pt x="19049" y="19050"/>
                </a:moveTo>
                <a:lnTo>
                  <a:pt x="19050" y="9144"/>
                </a:lnTo>
                <a:lnTo>
                  <a:pt x="9143" y="19050"/>
                </a:lnTo>
                <a:lnTo>
                  <a:pt x="19049" y="19050"/>
                </a:lnTo>
                <a:close/>
              </a:path>
              <a:path w="8858250" h="66675">
                <a:moveTo>
                  <a:pt x="19049" y="66294"/>
                </a:moveTo>
                <a:lnTo>
                  <a:pt x="19049" y="19050"/>
                </a:lnTo>
                <a:lnTo>
                  <a:pt x="9143" y="19050"/>
                </a:lnTo>
                <a:lnTo>
                  <a:pt x="9143" y="66294"/>
                </a:lnTo>
                <a:lnTo>
                  <a:pt x="19049" y="66294"/>
                </a:lnTo>
                <a:close/>
              </a:path>
              <a:path w="8858250" h="66675">
                <a:moveTo>
                  <a:pt x="8848331" y="19050"/>
                </a:moveTo>
                <a:lnTo>
                  <a:pt x="8839200" y="9144"/>
                </a:lnTo>
                <a:lnTo>
                  <a:pt x="8839200" y="19050"/>
                </a:lnTo>
                <a:lnTo>
                  <a:pt x="8848331" y="19050"/>
                </a:lnTo>
                <a:close/>
              </a:path>
              <a:path w="8858250" h="66675">
                <a:moveTo>
                  <a:pt x="8848331" y="66294"/>
                </a:moveTo>
                <a:lnTo>
                  <a:pt x="8848331" y="19050"/>
                </a:lnTo>
                <a:lnTo>
                  <a:pt x="8839200" y="19050"/>
                </a:lnTo>
                <a:lnTo>
                  <a:pt x="8839200" y="66294"/>
                </a:lnTo>
                <a:lnTo>
                  <a:pt x="8848331" y="66294"/>
                </a:lnTo>
                <a:close/>
              </a:path>
            </a:pathLst>
          </a:custGeom>
          <a:solidFill>
            <a:srgbClr val="7BB185"/>
          </a:solidFill>
        </p:spPr>
        <p:txBody>
          <a:bodyPr wrap="square" lIns="0" tIns="0" rIns="0" bIns="0" rtlCol="0"/>
          <a:lstStyle/>
          <a:p>
            <a:pPr algn="just"/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927620" y="5492502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7BB1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66820" y="5492502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7BB1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0" y="0"/>
                </a:moveTo>
                <a:lnTo>
                  <a:pt x="0" y="858012"/>
                </a:lnTo>
                <a:lnTo>
                  <a:pt x="9143999" y="858012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8095" y="6349746"/>
            <a:ext cx="8858250" cy="212090"/>
          </a:xfrm>
          <a:custGeom>
            <a:avLst/>
            <a:gdLst/>
            <a:ahLst/>
            <a:cxnLst/>
            <a:rect l="l" t="t" r="r" b="b"/>
            <a:pathLst>
              <a:path w="8858250" h="212090">
                <a:moveTo>
                  <a:pt x="19050" y="192786"/>
                </a:moveTo>
                <a:lnTo>
                  <a:pt x="19050" y="0"/>
                </a:lnTo>
                <a:lnTo>
                  <a:pt x="0" y="0"/>
                </a:lnTo>
                <a:lnTo>
                  <a:pt x="0" y="211836"/>
                </a:lnTo>
                <a:lnTo>
                  <a:pt x="9143" y="211836"/>
                </a:lnTo>
                <a:lnTo>
                  <a:pt x="9143" y="192786"/>
                </a:lnTo>
                <a:lnTo>
                  <a:pt x="19050" y="192786"/>
                </a:lnTo>
                <a:close/>
              </a:path>
              <a:path w="8858250" h="212090">
                <a:moveTo>
                  <a:pt x="8848331" y="192786"/>
                </a:moveTo>
                <a:lnTo>
                  <a:pt x="9143" y="192786"/>
                </a:lnTo>
                <a:lnTo>
                  <a:pt x="19050" y="201930"/>
                </a:lnTo>
                <a:lnTo>
                  <a:pt x="19049" y="211836"/>
                </a:lnTo>
                <a:lnTo>
                  <a:pt x="8839199" y="211836"/>
                </a:lnTo>
                <a:lnTo>
                  <a:pt x="8839200" y="201930"/>
                </a:lnTo>
                <a:lnTo>
                  <a:pt x="8848331" y="192786"/>
                </a:lnTo>
                <a:close/>
              </a:path>
              <a:path w="8858250" h="212090">
                <a:moveTo>
                  <a:pt x="19049" y="211836"/>
                </a:moveTo>
                <a:lnTo>
                  <a:pt x="19050" y="201930"/>
                </a:lnTo>
                <a:lnTo>
                  <a:pt x="9143" y="192786"/>
                </a:lnTo>
                <a:lnTo>
                  <a:pt x="9143" y="211836"/>
                </a:lnTo>
                <a:lnTo>
                  <a:pt x="19049" y="211836"/>
                </a:lnTo>
                <a:close/>
              </a:path>
              <a:path w="8858250" h="212090">
                <a:moveTo>
                  <a:pt x="8858249" y="211836"/>
                </a:moveTo>
                <a:lnTo>
                  <a:pt x="8858249" y="0"/>
                </a:lnTo>
                <a:lnTo>
                  <a:pt x="8839199" y="0"/>
                </a:lnTo>
                <a:lnTo>
                  <a:pt x="8839199" y="192786"/>
                </a:lnTo>
                <a:lnTo>
                  <a:pt x="8848331" y="192786"/>
                </a:lnTo>
                <a:lnTo>
                  <a:pt x="8848331" y="211836"/>
                </a:lnTo>
                <a:lnTo>
                  <a:pt x="8858249" y="211836"/>
                </a:lnTo>
                <a:close/>
              </a:path>
              <a:path w="8858250" h="212090">
                <a:moveTo>
                  <a:pt x="8848331" y="211836"/>
                </a:moveTo>
                <a:lnTo>
                  <a:pt x="8848331" y="192786"/>
                </a:lnTo>
                <a:lnTo>
                  <a:pt x="8839200" y="201930"/>
                </a:lnTo>
                <a:lnTo>
                  <a:pt x="8839199" y="211836"/>
                </a:lnTo>
                <a:lnTo>
                  <a:pt x="8848331" y="211836"/>
                </a:lnTo>
                <a:close/>
              </a:path>
            </a:pathLst>
          </a:custGeom>
          <a:solidFill>
            <a:srgbClr val="7BB1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05981" y="5481580"/>
            <a:ext cx="8422639" cy="1007776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693" marR="5080" algn="just">
              <a:lnSpc>
                <a:spcPct val="96000"/>
              </a:lnSpc>
              <a:spcBef>
                <a:spcPts val="25"/>
              </a:spcBef>
              <a:tabLst>
                <a:tab pos="1602379" algn="l"/>
              </a:tabLst>
            </a:pPr>
            <a:r>
              <a:rPr sz="2200" b="1" dirty="0">
                <a:solidFill>
                  <a:srgbClr val="650065"/>
                </a:solidFill>
                <a:latin typeface="Times New Roman"/>
                <a:cs typeface="Times New Roman"/>
              </a:rPr>
              <a:t>Generate a wave packet containing an oscillating field at the mean  </a:t>
            </a:r>
            <a:r>
              <a:rPr sz="2200" b="1" spc="-5" dirty="0">
                <a:solidFill>
                  <a:srgbClr val="650065"/>
                </a:solidFill>
                <a:latin typeface="Times New Roman"/>
                <a:cs typeface="Times New Roman"/>
              </a:rPr>
              <a:t>frequency </a:t>
            </a:r>
            <a:r>
              <a:rPr sz="2300" b="1" i="1" spc="-70" dirty="0">
                <a:solidFill>
                  <a:srgbClr val="650065"/>
                </a:solidFill>
                <a:latin typeface="Symbol"/>
                <a:cs typeface="Symbol"/>
              </a:rPr>
              <a:t></a:t>
            </a:r>
            <a:r>
              <a:rPr sz="2300" b="1" i="1" spc="-70" dirty="0">
                <a:solidFill>
                  <a:srgbClr val="65006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50065"/>
                </a:solidFill>
                <a:latin typeface="Times New Roman"/>
                <a:cs typeface="Times New Roman"/>
              </a:rPr>
              <a:t>with the amplitude modulated by a slowly varying field of  </a:t>
            </a:r>
            <a:r>
              <a:rPr sz="2200" b="1" spc="-10" dirty="0">
                <a:solidFill>
                  <a:srgbClr val="650065"/>
                </a:solidFill>
                <a:latin typeface="Times New Roman"/>
                <a:cs typeface="Times New Roman"/>
              </a:rPr>
              <a:t>frequency  </a:t>
            </a:r>
            <a:r>
              <a:rPr sz="2200" b="1" spc="384" dirty="0">
                <a:solidFill>
                  <a:srgbClr val="650065"/>
                </a:solidFill>
                <a:latin typeface="Times New Roman"/>
                <a:cs typeface="Times New Roman"/>
              </a:rPr>
              <a:t> </a:t>
            </a:r>
            <a:r>
              <a:rPr sz="2300" b="1" i="1" spc="-50" dirty="0">
                <a:solidFill>
                  <a:srgbClr val="650065"/>
                </a:solidFill>
                <a:latin typeface="Symbol"/>
                <a:cs typeface="Symbol"/>
              </a:rPr>
              <a:t></a:t>
            </a:r>
            <a:r>
              <a:rPr sz="2300" b="1" i="1" spc="-50" dirty="0">
                <a:solidFill>
                  <a:srgbClr val="650065"/>
                </a:solidFill>
                <a:latin typeface="Times New Roman"/>
                <a:cs typeface="Times New Roman"/>
              </a:rPr>
              <a:t>	</a:t>
            </a:r>
            <a:r>
              <a:rPr sz="2200" b="1" dirty="0">
                <a:solidFill>
                  <a:srgbClr val="650065"/>
                </a:solidFill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9144863" y="6656474"/>
            <a:ext cx="248920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384"/>
            <a:fld id="{81D60167-4931-47E6-BA6A-407CBD079E47}" type="slidenum">
              <a:rPr/>
              <a:pPr marL="25384"/>
              <a:t>24</a:t>
            </a:fld>
            <a:endParaRPr/>
          </a:p>
        </p:txBody>
      </p:sp>
    </p:spTree>
  </p:cSld>
  <p:clrMapOvr>
    <a:masterClrMapping/>
  </p:clrMapOvr>
  <p:transition spd="slow"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100" y="956072"/>
            <a:ext cx="883385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845">
              <a:lnSpc>
                <a:spcPts val="4805"/>
              </a:lnSpc>
              <a:tabLst>
                <a:tab pos="1747703" algn="l"/>
              </a:tabLst>
            </a:pPr>
            <a:r>
              <a:rPr sz="3000" i="1" spc="60" dirty="0">
                <a:latin typeface="Times New Roman"/>
                <a:cs typeface="Times New Roman"/>
              </a:rPr>
              <a:t>E</a:t>
            </a:r>
            <a:r>
              <a:rPr sz="2600" i="1" spc="89" baseline="-23809" dirty="0">
                <a:latin typeface="Times New Roman"/>
                <a:cs typeface="Times New Roman"/>
              </a:rPr>
              <a:t>x	</a:t>
            </a:r>
            <a:r>
              <a:rPr sz="3000" dirty="0"/>
              <a:t>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3000" spc="50" dirty="0">
                <a:latin typeface="Times New Roman"/>
                <a:cs typeface="Times New Roman"/>
              </a:rPr>
              <a:t>2</a:t>
            </a:r>
            <a:r>
              <a:rPr sz="3000" i="1" spc="50" dirty="0">
                <a:latin typeface="Times New Roman"/>
                <a:cs typeface="Times New Roman"/>
              </a:rPr>
              <a:t>E</a:t>
            </a:r>
            <a:r>
              <a:rPr sz="2600" spc="75" baseline="-23809" dirty="0">
                <a:latin typeface="Times New Roman"/>
                <a:cs typeface="Times New Roman"/>
              </a:rPr>
              <a:t>0 </a:t>
            </a:r>
            <a:r>
              <a:rPr sz="3000" spc="-195" dirty="0">
                <a:latin typeface="Times New Roman"/>
                <a:cs typeface="Times New Roman"/>
              </a:rPr>
              <a:t>cos</a:t>
            </a:r>
            <a:r>
              <a:rPr sz="4100" spc="-195" dirty="0"/>
              <a:t></a:t>
            </a:r>
            <a:r>
              <a:rPr sz="4000" spc="-195" dirty="0"/>
              <a:t></a:t>
            </a:r>
            <a:r>
              <a:rPr sz="3200" i="1" spc="-195" dirty="0"/>
              <a:t></a:t>
            </a:r>
            <a:r>
              <a:rPr sz="4000" spc="-195" dirty="0"/>
              <a:t></a:t>
            </a:r>
            <a:r>
              <a:rPr sz="3000" i="1" spc="-195" dirty="0">
                <a:latin typeface="Times New Roman"/>
                <a:cs typeface="Times New Roman"/>
              </a:rPr>
              <a:t>t </a:t>
            </a:r>
            <a:r>
              <a:rPr sz="3000" dirty="0"/>
              <a:t></a:t>
            </a:r>
            <a:r>
              <a:rPr sz="3000" dirty="0">
                <a:latin typeface="Times New Roman"/>
                <a:cs typeface="Times New Roman"/>
              </a:rPr>
              <a:t> </a:t>
            </a:r>
            <a:r>
              <a:rPr sz="4000" spc="-225" dirty="0"/>
              <a:t></a:t>
            </a:r>
            <a:r>
              <a:rPr sz="3200" i="1" spc="-225" dirty="0"/>
              <a:t></a:t>
            </a:r>
            <a:r>
              <a:rPr sz="3000" i="1" spc="-225" dirty="0">
                <a:latin typeface="Times New Roman"/>
                <a:cs typeface="Times New Roman"/>
              </a:rPr>
              <a:t>k </a:t>
            </a:r>
            <a:r>
              <a:rPr sz="4000" spc="-130" dirty="0"/>
              <a:t></a:t>
            </a:r>
            <a:r>
              <a:rPr sz="3000" i="1" spc="-130" dirty="0">
                <a:latin typeface="Times New Roman"/>
                <a:cs typeface="Times New Roman"/>
              </a:rPr>
              <a:t>z</a:t>
            </a:r>
            <a:r>
              <a:rPr sz="4100" spc="-130" dirty="0"/>
              <a:t></a:t>
            </a:r>
            <a:r>
              <a:rPr sz="3000" spc="-130" dirty="0">
                <a:latin typeface="Times New Roman"/>
                <a:cs typeface="Times New Roman"/>
              </a:rPr>
              <a:t>cos</a:t>
            </a:r>
            <a:r>
              <a:rPr sz="4000" spc="-130" dirty="0"/>
              <a:t></a:t>
            </a:r>
            <a:r>
              <a:rPr sz="3200" i="1" spc="-130" dirty="0"/>
              <a:t></a:t>
            </a:r>
            <a:r>
              <a:rPr sz="3000" i="1" spc="-130" dirty="0">
                <a:latin typeface="Times New Roman"/>
                <a:cs typeface="Times New Roman"/>
              </a:rPr>
              <a:t>t </a:t>
            </a:r>
            <a:r>
              <a:rPr sz="3000" dirty="0"/>
              <a:t></a:t>
            </a:r>
            <a:r>
              <a:rPr sz="3000" spc="-500" dirty="0">
                <a:latin typeface="Times New Roman"/>
                <a:cs typeface="Times New Roman"/>
              </a:rPr>
              <a:t> </a:t>
            </a:r>
            <a:r>
              <a:rPr sz="3000" i="1" spc="-40" dirty="0">
                <a:latin typeface="Times New Roman"/>
                <a:cs typeface="Times New Roman"/>
              </a:rPr>
              <a:t>kz</a:t>
            </a:r>
            <a:r>
              <a:rPr sz="4000" spc="-40" dirty="0"/>
              <a:t>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94628" y="1584578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281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75639" y="1660399"/>
            <a:ext cx="251460" cy="322580"/>
          </a:xfrm>
          <a:custGeom>
            <a:avLst/>
            <a:gdLst/>
            <a:ahLst/>
            <a:cxnLst/>
            <a:rect l="l" t="t" r="r" b="b"/>
            <a:pathLst>
              <a:path w="251459" h="322580">
                <a:moveTo>
                  <a:pt x="171450" y="86105"/>
                </a:moveTo>
                <a:lnTo>
                  <a:pt x="0" y="0"/>
                </a:lnTo>
                <a:lnTo>
                  <a:pt x="34290" y="188975"/>
                </a:lnTo>
                <a:lnTo>
                  <a:pt x="63246" y="167258"/>
                </a:lnTo>
                <a:lnTo>
                  <a:pt x="63246" y="131825"/>
                </a:lnTo>
                <a:lnTo>
                  <a:pt x="108966" y="97535"/>
                </a:lnTo>
                <a:lnTo>
                  <a:pt x="125944" y="120234"/>
                </a:lnTo>
                <a:lnTo>
                  <a:pt x="171450" y="86105"/>
                </a:lnTo>
                <a:close/>
              </a:path>
              <a:path w="251459" h="322580">
                <a:moveTo>
                  <a:pt x="125944" y="120234"/>
                </a:moveTo>
                <a:lnTo>
                  <a:pt x="108966" y="97535"/>
                </a:lnTo>
                <a:lnTo>
                  <a:pt x="63246" y="131825"/>
                </a:lnTo>
                <a:lnTo>
                  <a:pt x="80224" y="154524"/>
                </a:lnTo>
                <a:lnTo>
                  <a:pt x="125944" y="120234"/>
                </a:lnTo>
                <a:close/>
              </a:path>
              <a:path w="251459" h="322580">
                <a:moveTo>
                  <a:pt x="80224" y="154524"/>
                </a:moveTo>
                <a:lnTo>
                  <a:pt x="63246" y="131825"/>
                </a:lnTo>
                <a:lnTo>
                  <a:pt x="63246" y="167258"/>
                </a:lnTo>
                <a:lnTo>
                  <a:pt x="80224" y="154524"/>
                </a:lnTo>
                <a:close/>
              </a:path>
              <a:path w="251459" h="322580">
                <a:moveTo>
                  <a:pt x="251460" y="288035"/>
                </a:moveTo>
                <a:lnTo>
                  <a:pt x="125944" y="120234"/>
                </a:lnTo>
                <a:lnTo>
                  <a:pt x="80224" y="154524"/>
                </a:lnTo>
                <a:lnTo>
                  <a:pt x="205740" y="322325"/>
                </a:lnTo>
                <a:lnTo>
                  <a:pt x="251460" y="2880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80047" y="1584578"/>
            <a:ext cx="1828799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281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1568" y="1654308"/>
            <a:ext cx="941069" cy="409575"/>
          </a:xfrm>
          <a:custGeom>
            <a:avLst/>
            <a:gdLst/>
            <a:ahLst/>
            <a:cxnLst/>
            <a:rect l="l" t="t" r="r" b="b"/>
            <a:pathLst>
              <a:path w="941070" h="409575">
                <a:moveTo>
                  <a:pt x="797416" y="104242"/>
                </a:moveTo>
                <a:lnTo>
                  <a:pt x="773681" y="52478"/>
                </a:lnTo>
                <a:lnTo>
                  <a:pt x="0" y="409193"/>
                </a:lnTo>
                <a:lnTo>
                  <a:pt x="136006" y="409193"/>
                </a:lnTo>
                <a:lnTo>
                  <a:pt x="797416" y="104242"/>
                </a:lnTo>
                <a:close/>
              </a:path>
              <a:path w="941070" h="409575">
                <a:moveTo>
                  <a:pt x="940879" y="6095"/>
                </a:moveTo>
                <a:lnTo>
                  <a:pt x="749617" y="0"/>
                </a:lnTo>
                <a:lnTo>
                  <a:pt x="773681" y="52478"/>
                </a:lnTo>
                <a:lnTo>
                  <a:pt x="799909" y="40385"/>
                </a:lnTo>
                <a:lnTo>
                  <a:pt x="823531" y="92201"/>
                </a:lnTo>
                <a:lnTo>
                  <a:pt x="823531" y="153341"/>
                </a:lnTo>
                <a:lnTo>
                  <a:pt x="940879" y="6095"/>
                </a:lnTo>
                <a:close/>
              </a:path>
              <a:path w="941070" h="409575">
                <a:moveTo>
                  <a:pt x="823531" y="92201"/>
                </a:moveTo>
                <a:lnTo>
                  <a:pt x="799909" y="40385"/>
                </a:lnTo>
                <a:lnTo>
                  <a:pt x="773681" y="52478"/>
                </a:lnTo>
                <a:lnTo>
                  <a:pt x="797416" y="104242"/>
                </a:lnTo>
                <a:lnTo>
                  <a:pt x="823531" y="92201"/>
                </a:lnTo>
                <a:close/>
              </a:path>
              <a:path w="941070" h="409575">
                <a:moveTo>
                  <a:pt x="823531" y="153341"/>
                </a:moveTo>
                <a:lnTo>
                  <a:pt x="823531" y="92201"/>
                </a:lnTo>
                <a:lnTo>
                  <a:pt x="797416" y="104242"/>
                </a:lnTo>
                <a:lnTo>
                  <a:pt x="821245" y="156209"/>
                </a:lnTo>
                <a:lnTo>
                  <a:pt x="823531" y="1533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23499" y="2016251"/>
            <a:ext cx="3676650" cy="47625"/>
          </a:xfrm>
          <a:custGeom>
            <a:avLst/>
            <a:gdLst/>
            <a:ahLst/>
            <a:cxnLst/>
            <a:rect l="l" t="t" r="r" b="b"/>
            <a:pathLst>
              <a:path w="3676650" h="47625">
                <a:moveTo>
                  <a:pt x="3676649" y="47243"/>
                </a:moveTo>
                <a:lnTo>
                  <a:pt x="3676649" y="0"/>
                </a:lnTo>
                <a:lnTo>
                  <a:pt x="0" y="0"/>
                </a:lnTo>
                <a:lnTo>
                  <a:pt x="0" y="47243"/>
                </a:lnTo>
                <a:lnTo>
                  <a:pt x="9144" y="47243"/>
                </a:lnTo>
                <a:lnTo>
                  <a:pt x="9144" y="19050"/>
                </a:lnTo>
                <a:lnTo>
                  <a:pt x="19050" y="9144"/>
                </a:lnTo>
                <a:lnTo>
                  <a:pt x="19050" y="19050"/>
                </a:lnTo>
                <a:lnTo>
                  <a:pt x="3657600" y="19050"/>
                </a:lnTo>
                <a:lnTo>
                  <a:pt x="3657600" y="9143"/>
                </a:lnTo>
                <a:lnTo>
                  <a:pt x="3666731" y="19050"/>
                </a:lnTo>
                <a:lnTo>
                  <a:pt x="3666731" y="47243"/>
                </a:lnTo>
                <a:lnTo>
                  <a:pt x="3676649" y="47243"/>
                </a:lnTo>
                <a:close/>
              </a:path>
              <a:path w="3676650" h="47625">
                <a:moveTo>
                  <a:pt x="19050" y="19050"/>
                </a:moveTo>
                <a:lnTo>
                  <a:pt x="19050" y="9144"/>
                </a:lnTo>
                <a:lnTo>
                  <a:pt x="9144" y="19050"/>
                </a:lnTo>
                <a:lnTo>
                  <a:pt x="19050" y="19050"/>
                </a:lnTo>
                <a:close/>
              </a:path>
              <a:path w="3676650" h="47625">
                <a:moveTo>
                  <a:pt x="19050" y="47243"/>
                </a:moveTo>
                <a:lnTo>
                  <a:pt x="19050" y="19050"/>
                </a:lnTo>
                <a:lnTo>
                  <a:pt x="9144" y="19050"/>
                </a:lnTo>
                <a:lnTo>
                  <a:pt x="9144" y="47243"/>
                </a:lnTo>
                <a:lnTo>
                  <a:pt x="19050" y="47243"/>
                </a:lnTo>
                <a:close/>
              </a:path>
              <a:path w="3676650" h="47625">
                <a:moveTo>
                  <a:pt x="3666731" y="19050"/>
                </a:moveTo>
                <a:lnTo>
                  <a:pt x="3657600" y="9143"/>
                </a:lnTo>
                <a:lnTo>
                  <a:pt x="3657600" y="19050"/>
                </a:lnTo>
                <a:lnTo>
                  <a:pt x="3666731" y="19050"/>
                </a:lnTo>
                <a:close/>
              </a:path>
              <a:path w="3676650" h="47625">
                <a:moveTo>
                  <a:pt x="3666731" y="47243"/>
                </a:moveTo>
                <a:lnTo>
                  <a:pt x="3666731" y="19050"/>
                </a:lnTo>
                <a:lnTo>
                  <a:pt x="3657600" y="19050"/>
                </a:lnTo>
                <a:lnTo>
                  <a:pt x="3657600" y="47243"/>
                </a:lnTo>
                <a:lnTo>
                  <a:pt x="3666731" y="47243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615045" y="2625851"/>
            <a:ext cx="256540" cy="0"/>
          </a:xfrm>
          <a:custGeom>
            <a:avLst/>
            <a:gdLst/>
            <a:ahLst/>
            <a:cxnLst/>
            <a:rect l="l" t="t" r="r" b="b"/>
            <a:pathLst>
              <a:path w="256540">
                <a:moveTo>
                  <a:pt x="0" y="0"/>
                </a:moveTo>
                <a:lnTo>
                  <a:pt x="256032" y="0"/>
                </a:lnTo>
              </a:path>
            </a:pathLst>
          </a:custGeom>
          <a:ln w="134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15501" y="2625851"/>
            <a:ext cx="200660" cy="0"/>
          </a:xfrm>
          <a:custGeom>
            <a:avLst/>
            <a:gdLst/>
            <a:ahLst/>
            <a:cxnLst/>
            <a:rect l="l" t="t" r="r" b="b"/>
            <a:pathLst>
              <a:path w="200659">
                <a:moveTo>
                  <a:pt x="0" y="0"/>
                </a:moveTo>
                <a:lnTo>
                  <a:pt x="200406" y="0"/>
                </a:lnTo>
              </a:path>
            </a:pathLst>
          </a:custGeom>
          <a:ln w="134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87575" y="2343150"/>
            <a:ext cx="3225165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8405" algn="r">
              <a:lnSpc>
                <a:spcPts val="2770"/>
              </a:lnSpc>
              <a:tabLst>
                <a:tab pos="1932374" algn="l"/>
              </a:tabLst>
            </a:pPr>
            <a:r>
              <a:rPr sz="2400">
                <a:latin typeface="Times New Roman"/>
                <a:cs typeface="Times New Roman"/>
              </a:rPr>
              <a:t>Phase  velocity	</a:t>
            </a:r>
            <a:r>
              <a:rPr sz="3900" i="1" baseline="-3267">
                <a:latin typeface="Times New Roman"/>
                <a:cs typeface="Times New Roman"/>
              </a:rPr>
              <a:t>v </a:t>
            </a:r>
            <a:r>
              <a:rPr sz="3900" baseline="-3267" dirty="0">
                <a:latin typeface="Symbol"/>
                <a:cs typeface="Symbol"/>
              </a:rPr>
              <a:t></a:t>
            </a:r>
            <a:r>
              <a:rPr sz="3900" baseline="-3267" dirty="0">
                <a:latin typeface="Times New Roman"/>
                <a:cs typeface="Times New Roman"/>
              </a:rPr>
              <a:t> </a:t>
            </a:r>
            <a:r>
              <a:rPr sz="4000" i="1" spc="-157" baseline="29835" dirty="0">
                <a:latin typeface="Symbol"/>
                <a:cs typeface="Symbol"/>
              </a:rPr>
              <a:t></a:t>
            </a:r>
            <a:r>
              <a:rPr sz="4000" i="1" spc="-157" baseline="29835" dirty="0">
                <a:latin typeface="Times New Roman"/>
                <a:cs typeface="Times New Roman"/>
              </a:rPr>
              <a:t>  </a:t>
            </a:r>
            <a:r>
              <a:rPr sz="3900" baseline="-3267" dirty="0">
                <a:latin typeface="Symbol"/>
                <a:cs typeface="Symbol"/>
              </a:rPr>
              <a:t></a:t>
            </a:r>
            <a:r>
              <a:rPr sz="3900" spc="-179" baseline="-3267" dirty="0">
                <a:latin typeface="Times New Roman"/>
                <a:cs typeface="Times New Roman"/>
              </a:rPr>
              <a:t> </a:t>
            </a:r>
            <a:r>
              <a:rPr sz="3900" i="1" baseline="31590" dirty="0">
                <a:latin typeface="Times New Roman"/>
                <a:cs typeface="Times New Roman"/>
              </a:rPr>
              <a:t>c</a:t>
            </a:r>
            <a:endParaRPr sz="3900" baseline="31590">
              <a:latin typeface="Times New Roman"/>
              <a:cs typeface="Times New Roman"/>
            </a:endParaRPr>
          </a:p>
          <a:p>
            <a:pPr marR="5080" algn="r">
              <a:lnSpc>
                <a:spcPts val="2590"/>
              </a:lnSpc>
              <a:tabLst>
                <a:tab pos="574319" algn="l"/>
              </a:tabLst>
            </a:pPr>
            <a:r>
              <a:rPr sz="2500" i="1" dirty="0">
                <a:latin typeface="Times New Roman"/>
                <a:cs typeface="Times New Roman"/>
              </a:rPr>
              <a:t>k	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96567" y="2305050"/>
            <a:ext cx="313055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 marR="5080"/>
            <a:r>
              <a:rPr sz="2400" dirty="0">
                <a:latin typeface="Times New Roman"/>
                <a:cs typeface="Times New Roman"/>
              </a:rPr>
              <a:t>The maximum amplitude  moves with 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wavevector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30417" y="2063495"/>
            <a:ext cx="197485" cy="80010"/>
          </a:xfrm>
          <a:custGeom>
            <a:avLst/>
            <a:gdLst/>
            <a:ahLst/>
            <a:cxnLst/>
            <a:rect l="l" t="t" r="r" b="b"/>
            <a:pathLst>
              <a:path w="197485" h="80010">
                <a:moveTo>
                  <a:pt x="197156" y="0"/>
                </a:moveTo>
                <a:lnTo>
                  <a:pt x="61150" y="0"/>
                </a:lnTo>
                <a:lnTo>
                  <a:pt x="0" y="28194"/>
                </a:lnTo>
                <a:lnTo>
                  <a:pt x="23622" y="80010"/>
                </a:lnTo>
                <a:lnTo>
                  <a:pt x="1971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80098" y="2168658"/>
            <a:ext cx="3829050" cy="752475"/>
          </a:xfrm>
          <a:custGeom>
            <a:avLst/>
            <a:gdLst/>
            <a:ahLst/>
            <a:cxnLst/>
            <a:rect l="l" t="t" r="r" b="b"/>
            <a:pathLst>
              <a:path w="3829050" h="752475">
                <a:moveTo>
                  <a:pt x="3829050" y="752093"/>
                </a:moveTo>
                <a:lnTo>
                  <a:pt x="3829050" y="0"/>
                </a:lnTo>
                <a:lnTo>
                  <a:pt x="0" y="0"/>
                </a:lnTo>
                <a:lnTo>
                  <a:pt x="0" y="752094"/>
                </a:lnTo>
                <a:lnTo>
                  <a:pt x="9143" y="752094"/>
                </a:lnTo>
                <a:lnTo>
                  <a:pt x="9143" y="19050"/>
                </a:lnTo>
                <a:lnTo>
                  <a:pt x="19050" y="9143"/>
                </a:lnTo>
                <a:lnTo>
                  <a:pt x="19050" y="19050"/>
                </a:lnTo>
                <a:lnTo>
                  <a:pt x="3810000" y="19049"/>
                </a:lnTo>
                <a:lnTo>
                  <a:pt x="3810000" y="9143"/>
                </a:lnTo>
                <a:lnTo>
                  <a:pt x="3819144" y="19049"/>
                </a:lnTo>
                <a:lnTo>
                  <a:pt x="3819144" y="752093"/>
                </a:lnTo>
                <a:lnTo>
                  <a:pt x="3829050" y="752093"/>
                </a:lnTo>
                <a:close/>
              </a:path>
              <a:path w="3829050" h="752475">
                <a:moveTo>
                  <a:pt x="19050" y="19050"/>
                </a:moveTo>
                <a:lnTo>
                  <a:pt x="19050" y="9143"/>
                </a:lnTo>
                <a:lnTo>
                  <a:pt x="9143" y="19050"/>
                </a:lnTo>
                <a:lnTo>
                  <a:pt x="19050" y="19050"/>
                </a:lnTo>
                <a:close/>
              </a:path>
              <a:path w="3829050" h="752475">
                <a:moveTo>
                  <a:pt x="19050" y="752094"/>
                </a:moveTo>
                <a:lnTo>
                  <a:pt x="19050" y="19050"/>
                </a:lnTo>
                <a:lnTo>
                  <a:pt x="9143" y="19050"/>
                </a:lnTo>
                <a:lnTo>
                  <a:pt x="9143" y="752094"/>
                </a:lnTo>
                <a:lnTo>
                  <a:pt x="19050" y="752094"/>
                </a:lnTo>
                <a:close/>
              </a:path>
              <a:path w="3829050" h="752475">
                <a:moveTo>
                  <a:pt x="3819144" y="19049"/>
                </a:moveTo>
                <a:lnTo>
                  <a:pt x="3810000" y="9143"/>
                </a:lnTo>
                <a:lnTo>
                  <a:pt x="3810000" y="19049"/>
                </a:lnTo>
                <a:lnTo>
                  <a:pt x="3819144" y="19049"/>
                </a:lnTo>
                <a:close/>
              </a:path>
              <a:path w="3829050" h="752475">
                <a:moveTo>
                  <a:pt x="3819144" y="752093"/>
                </a:moveTo>
                <a:lnTo>
                  <a:pt x="3819144" y="19049"/>
                </a:lnTo>
                <a:lnTo>
                  <a:pt x="3810000" y="19049"/>
                </a:lnTo>
                <a:lnTo>
                  <a:pt x="3810000" y="752093"/>
                </a:lnTo>
                <a:lnTo>
                  <a:pt x="3819144" y="752093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33020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690620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00C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996567" y="3025393"/>
            <a:ext cx="284353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-25" dirty="0">
                <a:latin typeface="Symbol"/>
                <a:cs typeface="Symbol"/>
              </a:rPr>
              <a:t></a:t>
            </a:r>
            <a:r>
              <a:rPr sz="2400" i="1" spc="-25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Times New Roman"/>
                <a:cs typeface="Times New Roman"/>
              </a:rPr>
              <a:t>and a frequency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500" i="1" spc="-44" dirty="0">
                <a:latin typeface="Symbol"/>
                <a:cs typeface="Symbol"/>
              </a:rPr>
              <a:t></a:t>
            </a:r>
            <a:r>
              <a:rPr sz="2400" spc="-44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97187" y="3356864"/>
            <a:ext cx="14001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200" b="1" dirty="0">
                <a:latin typeface="Times New Roman"/>
                <a:cs typeface="Times New Roman"/>
              </a:rPr>
              <a:t>In</a:t>
            </a:r>
            <a:r>
              <a:rPr sz="2200" b="1" spc="-10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vacuum: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9620" y="29207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FF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99620" y="29207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FF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23499" y="2920745"/>
            <a:ext cx="3676650" cy="257810"/>
          </a:xfrm>
          <a:custGeom>
            <a:avLst/>
            <a:gdLst/>
            <a:ahLst/>
            <a:cxnLst/>
            <a:rect l="l" t="t" r="r" b="b"/>
            <a:pathLst>
              <a:path w="3676650" h="257810">
                <a:moveTo>
                  <a:pt x="19050" y="238506"/>
                </a:moveTo>
                <a:lnTo>
                  <a:pt x="19050" y="0"/>
                </a:lnTo>
                <a:lnTo>
                  <a:pt x="0" y="0"/>
                </a:lnTo>
                <a:lnTo>
                  <a:pt x="0" y="257556"/>
                </a:lnTo>
                <a:lnTo>
                  <a:pt x="9144" y="257556"/>
                </a:lnTo>
                <a:lnTo>
                  <a:pt x="9144" y="238506"/>
                </a:lnTo>
                <a:lnTo>
                  <a:pt x="19050" y="238506"/>
                </a:lnTo>
                <a:close/>
              </a:path>
              <a:path w="3676650" h="257810">
                <a:moveTo>
                  <a:pt x="3666731" y="238505"/>
                </a:moveTo>
                <a:lnTo>
                  <a:pt x="9144" y="238506"/>
                </a:lnTo>
                <a:lnTo>
                  <a:pt x="19050" y="247650"/>
                </a:lnTo>
                <a:lnTo>
                  <a:pt x="19049" y="257556"/>
                </a:lnTo>
                <a:lnTo>
                  <a:pt x="3657600" y="257555"/>
                </a:lnTo>
                <a:lnTo>
                  <a:pt x="3657600" y="247649"/>
                </a:lnTo>
                <a:lnTo>
                  <a:pt x="3666731" y="238505"/>
                </a:lnTo>
                <a:close/>
              </a:path>
              <a:path w="3676650" h="257810">
                <a:moveTo>
                  <a:pt x="19049" y="257556"/>
                </a:moveTo>
                <a:lnTo>
                  <a:pt x="19050" y="247650"/>
                </a:lnTo>
                <a:lnTo>
                  <a:pt x="9144" y="238506"/>
                </a:lnTo>
                <a:lnTo>
                  <a:pt x="9144" y="257556"/>
                </a:lnTo>
                <a:lnTo>
                  <a:pt x="19049" y="257556"/>
                </a:lnTo>
                <a:close/>
              </a:path>
              <a:path w="3676650" h="257810">
                <a:moveTo>
                  <a:pt x="3676649" y="257555"/>
                </a:moveTo>
                <a:lnTo>
                  <a:pt x="3676649" y="0"/>
                </a:lnTo>
                <a:lnTo>
                  <a:pt x="3657600" y="0"/>
                </a:lnTo>
                <a:lnTo>
                  <a:pt x="3657600" y="238505"/>
                </a:lnTo>
                <a:lnTo>
                  <a:pt x="3666731" y="238505"/>
                </a:lnTo>
                <a:lnTo>
                  <a:pt x="3666731" y="257555"/>
                </a:lnTo>
                <a:lnTo>
                  <a:pt x="3676649" y="257555"/>
                </a:lnTo>
                <a:close/>
              </a:path>
              <a:path w="3676650" h="257810">
                <a:moveTo>
                  <a:pt x="3666731" y="257555"/>
                </a:moveTo>
                <a:lnTo>
                  <a:pt x="3666731" y="238505"/>
                </a:lnTo>
                <a:lnTo>
                  <a:pt x="3657600" y="247649"/>
                </a:lnTo>
                <a:lnTo>
                  <a:pt x="3657600" y="257555"/>
                </a:lnTo>
                <a:lnTo>
                  <a:pt x="3666731" y="257555"/>
                </a:lnTo>
                <a:close/>
              </a:path>
            </a:pathLst>
          </a:custGeom>
          <a:solidFill>
            <a:srgbClr val="00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73815" y="4021835"/>
            <a:ext cx="411480" cy="0"/>
          </a:xfrm>
          <a:custGeom>
            <a:avLst/>
            <a:gdLst/>
            <a:ahLst/>
            <a:cxnLst/>
            <a:rect l="l" t="t" r="r" b="b"/>
            <a:pathLst>
              <a:path w="411479">
                <a:moveTo>
                  <a:pt x="0" y="0"/>
                </a:moveTo>
                <a:lnTo>
                  <a:pt x="411480" y="0"/>
                </a:lnTo>
              </a:path>
            </a:pathLst>
          </a:custGeom>
          <a:ln w="126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815217" y="4112005"/>
            <a:ext cx="31178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400" i="1" spc="15" dirty="0">
                <a:latin typeface="Times New Roman"/>
                <a:cs typeface="Times New Roman"/>
              </a:rPr>
              <a:t>dk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97993" y="3799586"/>
            <a:ext cx="51371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400" i="1" spc="-40" dirty="0">
                <a:latin typeface="Times New Roman"/>
                <a:cs typeface="Times New Roman"/>
              </a:rPr>
              <a:t>v</a:t>
            </a:r>
            <a:r>
              <a:rPr sz="2400" spc="-60" baseline="-20833" dirty="0">
                <a:latin typeface="Times New Roman"/>
                <a:cs typeface="Times New Roman"/>
              </a:rPr>
              <a:t>g</a:t>
            </a:r>
            <a:r>
              <a:rPr sz="2400" spc="390" baseline="-20833" dirty="0">
                <a:latin typeface="Times New Roman"/>
                <a:cs typeface="Times New Roman"/>
              </a:rPr>
              <a:t> </a:t>
            </a:r>
            <a:r>
              <a:rPr sz="2400" spc="21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77924" y="3829051"/>
            <a:ext cx="1863089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400" spc="-5" dirty="0">
                <a:latin typeface="Times New Roman"/>
                <a:cs typeface="Times New Roman"/>
              </a:rPr>
              <a:t>Group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velocity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39503" y="3886961"/>
            <a:ext cx="883919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700" i="1" spc="-90" dirty="0">
                <a:latin typeface="Symbol"/>
                <a:cs typeface="Symbol"/>
              </a:rPr>
              <a:t></a:t>
            </a:r>
            <a:r>
              <a:rPr sz="2700" i="1" spc="-9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</a:t>
            </a:r>
            <a:r>
              <a:rPr sz="2500" spc="-21" dirty="0">
                <a:latin typeface="Times New Roman"/>
                <a:cs typeface="Times New Roman"/>
              </a:rPr>
              <a:t> </a:t>
            </a:r>
            <a:r>
              <a:rPr sz="2500" i="1" spc="5" dirty="0">
                <a:latin typeface="Times New Roman"/>
                <a:cs typeface="Times New Roman"/>
              </a:rPr>
              <a:t>ck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21650" y="4297679"/>
            <a:ext cx="413385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0" dirty="0">
                <a:latin typeface="Times New Roman"/>
                <a:cs typeface="Times New Roman"/>
              </a:rPr>
              <a:t>d</a:t>
            </a:r>
            <a:r>
              <a:rPr sz="2700" i="1" spc="-90" dirty="0">
                <a:latin typeface="Symbol"/>
                <a:cs typeface="Symbol"/>
              </a:rPr>
              <a:t>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642620" y="377799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339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689620" y="377799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FF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99620" y="377799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FF50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12267" y="4796790"/>
            <a:ext cx="443865" cy="0"/>
          </a:xfrm>
          <a:custGeom>
            <a:avLst/>
            <a:gdLst/>
            <a:ahLst/>
            <a:cxnLst/>
            <a:rect l="l" t="t" r="r" b="b"/>
            <a:pathLst>
              <a:path w="443865">
                <a:moveTo>
                  <a:pt x="0" y="0"/>
                </a:moveTo>
                <a:lnTo>
                  <a:pt x="443484" y="0"/>
                </a:lnTo>
              </a:path>
            </a:pathLst>
          </a:custGeom>
          <a:ln w="135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657491" y="4891272"/>
            <a:ext cx="33401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0" dirty="0">
                <a:latin typeface="Times New Roman"/>
                <a:cs typeface="Times New Roman"/>
              </a:rPr>
              <a:t>dk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9908" y="4554473"/>
            <a:ext cx="42164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spc="10" dirty="0">
                <a:latin typeface="Symbol"/>
                <a:cs typeface="Symbol"/>
              </a:rPr>
              <a:t></a:t>
            </a:r>
            <a:r>
              <a:rPr sz="2500" spc="-175" dirty="0">
                <a:latin typeface="Times New Roman"/>
                <a:cs typeface="Times New Roman"/>
              </a:rPr>
              <a:t> </a:t>
            </a:r>
            <a:r>
              <a:rPr sz="2500" i="1" spc="5" dirty="0">
                <a:latin typeface="Times New Roman"/>
                <a:cs typeface="Times New Roman"/>
              </a:rPr>
              <a:t>c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91485" y="4554473"/>
            <a:ext cx="55181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-40" dirty="0">
                <a:latin typeface="Times New Roman"/>
                <a:cs typeface="Times New Roman"/>
              </a:rPr>
              <a:t>v</a:t>
            </a:r>
            <a:r>
              <a:rPr sz="2500" spc="-60" baseline="-21241" dirty="0">
                <a:latin typeface="Times New Roman"/>
                <a:cs typeface="Times New Roman"/>
              </a:rPr>
              <a:t>g</a:t>
            </a:r>
            <a:r>
              <a:rPr sz="2500" spc="441" baseline="-21241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642620" y="4635250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339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680098" y="4635249"/>
            <a:ext cx="3829050" cy="143510"/>
          </a:xfrm>
          <a:custGeom>
            <a:avLst/>
            <a:gdLst/>
            <a:ahLst/>
            <a:cxnLst/>
            <a:rect l="l" t="t" r="r" b="b"/>
            <a:pathLst>
              <a:path w="3829050" h="143510">
                <a:moveTo>
                  <a:pt x="19050" y="124205"/>
                </a:moveTo>
                <a:lnTo>
                  <a:pt x="19050" y="0"/>
                </a:lnTo>
                <a:lnTo>
                  <a:pt x="0" y="0"/>
                </a:lnTo>
                <a:lnTo>
                  <a:pt x="0" y="143255"/>
                </a:lnTo>
                <a:lnTo>
                  <a:pt x="9144" y="143255"/>
                </a:lnTo>
                <a:lnTo>
                  <a:pt x="9143" y="124205"/>
                </a:lnTo>
                <a:lnTo>
                  <a:pt x="19050" y="124205"/>
                </a:lnTo>
                <a:close/>
              </a:path>
              <a:path w="3829050" h="143510">
                <a:moveTo>
                  <a:pt x="3819144" y="124205"/>
                </a:moveTo>
                <a:lnTo>
                  <a:pt x="9143" y="124205"/>
                </a:lnTo>
                <a:lnTo>
                  <a:pt x="19050" y="133350"/>
                </a:lnTo>
                <a:lnTo>
                  <a:pt x="19050" y="143255"/>
                </a:lnTo>
                <a:lnTo>
                  <a:pt x="3809999" y="143255"/>
                </a:lnTo>
                <a:lnTo>
                  <a:pt x="3810000" y="133350"/>
                </a:lnTo>
                <a:lnTo>
                  <a:pt x="3819144" y="124205"/>
                </a:lnTo>
                <a:close/>
              </a:path>
              <a:path w="3829050" h="143510">
                <a:moveTo>
                  <a:pt x="19050" y="143255"/>
                </a:moveTo>
                <a:lnTo>
                  <a:pt x="19050" y="133350"/>
                </a:lnTo>
                <a:lnTo>
                  <a:pt x="9143" y="124205"/>
                </a:lnTo>
                <a:lnTo>
                  <a:pt x="9144" y="143255"/>
                </a:lnTo>
                <a:lnTo>
                  <a:pt x="19050" y="143255"/>
                </a:lnTo>
                <a:close/>
              </a:path>
              <a:path w="3829050" h="143510">
                <a:moveTo>
                  <a:pt x="3829050" y="143255"/>
                </a:moveTo>
                <a:lnTo>
                  <a:pt x="3829050" y="0"/>
                </a:lnTo>
                <a:lnTo>
                  <a:pt x="3810000" y="0"/>
                </a:lnTo>
                <a:lnTo>
                  <a:pt x="3809999" y="124205"/>
                </a:lnTo>
                <a:lnTo>
                  <a:pt x="3819144" y="124205"/>
                </a:lnTo>
                <a:lnTo>
                  <a:pt x="3819144" y="143255"/>
                </a:lnTo>
                <a:lnTo>
                  <a:pt x="3829050" y="143255"/>
                </a:lnTo>
                <a:close/>
              </a:path>
              <a:path w="3829050" h="143510">
                <a:moveTo>
                  <a:pt x="3819144" y="143255"/>
                </a:moveTo>
                <a:lnTo>
                  <a:pt x="3819144" y="124205"/>
                </a:lnTo>
                <a:lnTo>
                  <a:pt x="3810000" y="133350"/>
                </a:lnTo>
                <a:lnTo>
                  <a:pt x="3809999" y="143255"/>
                </a:lnTo>
                <a:lnTo>
                  <a:pt x="3819144" y="143255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005973" y="4927854"/>
            <a:ext cx="522287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 marR="5080"/>
            <a:r>
              <a:rPr sz="2400" u="heavy" dirty="0">
                <a:solidFill>
                  <a:srgbClr val="FF0065"/>
                </a:solidFill>
                <a:latin typeface="Times New Roman"/>
                <a:cs typeface="Times New Roman"/>
              </a:rPr>
              <a:t>The group velocity defines the </a:t>
            </a:r>
            <a:r>
              <a:rPr sz="2400" u="heavy" spc="-5" dirty="0">
                <a:solidFill>
                  <a:srgbClr val="FF0065"/>
                </a:solidFill>
                <a:latin typeface="Times New Roman"/>
                <a:cs typeface="Times New Roman"/>
              </a:rPr>
              <a:t>speed with  </a:t>
            </a:r>
            <a:r>
              <a:rPr sz="2400" u="heavy" dirty="0">
                <a:solidFill>
                  <a:srgbClr val="FF0065"/>
                </a:solidFill>
                <a:latin typeface="Times New Roman"/>
                <a:cs typeface="Times New Roman"/>
              </a:rPr>
              <a:t>which </a:t>
            </a:r>
            <a:r>
              <a:rPr sz="2400" u="heavy" spc="-10" dirty="0">
                <a:solidFill>
                  <a:srgbClr val="FF0065"/>
                </a:solidFill>
                <a:latin typeface="Times New Roman"/>
                <a:cs typeface="Times New Roman"/>
              </a:rPr>
              <a:t>energy </a:t>
            </a:r>
            <a:r>
              <a:rPr sz="2400" u="heavy" dirty="0">
                <a:solidFill>
                  <a:srgbClr val="FF0065"/>
                </a:solidFill>
                <a:latin typeface="Times New Roman"/>
                <a:cs typeface="Times New Roman"/>
              </a:rPr>
              <a:t>or information is</a:t>
            </a:r>
            <a:r>
              <a:rPr sz="2400" u="heavy" spc="-13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FF0065"/>
                </a:solidFill>
                <a:latin typeface="Times New Roman"/>
                <a:cs typeface="Times New Roman"/>
              </a:rPr>
              <a:t>propagated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05981" y="5659380"/>
            <a:ext cx="535114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 marR="5080"/>
            <a:r>
              <a:rPr sz="2400" u="heavy" dirty="0">
                <a:solidFill>
                  <a:srgbClr val="FF0065"/>
                </a:solidFill>
                <a:latin typeface="Times New Roman"/>
                <a:cs typeface="Times New Roman"/>
              </a:rPr>
              <a:t>since it defines the speed of the envelope</a:t>
            </a:r>
            <a:r>
              <a:rPr sz="2400" u="heavy" spc="-19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srgbClr val="FF0065"/>
                </a:solidFill>
                <a:latin typeface="Times New Roman"/>
                <a:cs typeface="Times New Roman"/>
              </a:rPr>
              <a:t>of  the </a:t>
            </a:r>
            <a:r>
              <a:rPr sz="2400" u="heavy" spc="-5" dirty="0">
                <a:solidFill>
                  <a:srgbClr val="FF0065"/>
                </a:solidFill>
                <a:latin typeface="Times New Roman"/>
                <a:cs typeface="Times New Roman"/>
              </a:rPr>
              <a:t>amplitude</a:t>
            </a:r>
            <a:r>
              <a:rPr sz="2400" u="heavy" spc="-10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u="heavy" spc="-5" dirty="0">
                <a:solidFill>
                  <a:srgbClr val="FF0065"/>
                </a:solidFill>
                <a:latin typeface="Times New Roman"/>
                <a:cs typeface="Times New Roman"/>
              </a:rPr>
              <a:t>variation.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42620" y="5492502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3399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438030" y="5229225"/>
            <a:ext cx="1760855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100" b="1" spc="-5" dirty="0">
                <a:latin typeface="Arial"/>
                <a:cs typeface="Arial"/>
              </a:rPr>
              <a:t>group</a:t>
            </a:r>
            <a:r>
              <a:rPr sz="2100" b="1" spc="-60" dirty="0">
                <a:latin typeface="Arial"/>
                <a:cs typeface="Arial"/>
              </a:rPr>
              <a:t> </a:t>
            </a:r>
            <a:r>
              <a:rPr sz="2100" b="1" spc="-5" dirty="0">
                <a:latin typeface="Arial"/>
                <a:cs typeface="Arial"/>
              </a:rPr>
              <a:t>velocity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80306" y="6219825"/>
            <a:ext cx="1774825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100" b="1" spc="-10" dirty="0">
                <a:latin typeface="Arial"/>
                <a:cs typeface="Arial"/>
              </a:rPr>
              <a:t>phase</a:t>
            </a:r>
            <a:r>
              <a:rPr sz="2100" b="1" spc="-4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velocity</a:t>
            </a:r>
            <a:endParaRPr sz="21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8166100" y="5838825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1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013700" y="5838825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2819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9"/>
          <p:cNvSpPr txBox="1"/>
          <p:nvPr/>
        </p:nvSpPr>
        <p:spPr>
          <a:xfrm>
            <a:off x="4780919" y="3594527"/>
            <a:ext cx="413385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0" dirty="0">
                <a:latin typeface="Times New Roman"/>
                <a:cs typeface="Times New Roman"/>
              </a:rPr>
              <a:t>d</a:t>
            </a:r>
            <a:r>
              <a:rPr sz="2700" i="1" spc="-90" dirty="0">
                <a:latin typeface="Symbol"/>
                <a:cs typeface="Symbol"/>
              </a:rPr>
              <a:t>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822700" y="276225"/>
            <a:ext cx="31395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spc="-10" dirty="0">
                <a:solidFill>
                  <a:srgbClr val="FFC000"/>
                </a:solidFill>
                <a:latin typeface="Arial"/>
                <a:cs typeface="Arial"/>
              </a:rPr>
              <a:t>Group</a:t>
            </a:r>
            <a:r>
              <a:rPr lang="en-US" sz="3600" spc="-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lang="en-US" sz="3600" spc="-30" dirty="0">
                <a:solidFill>
                  <a:srgbClr val="FFC000"/>
                </a:solidFill>
                <a:latin typeface="Arial"/>
                <a:cs typeface="Arial"/>
              </a:rPr>
              <a:t>Velocity</a:t>
            </a:r>
            <a:endParaRPr lang="en-US" sz="36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772" y="479806"/>
            <a:ext cx="467614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200" b="1" dirty="0">
                <a:latin typeface="Times New Roman"/>
                <a:cs typeface="Times New Roman"/>
              </a:rPr>
              <a:t>In a medium with </a:t>
            </a:r>
            <a:r>
              <a:rPr sz="2200" b="1" i="1" dirty="0">
                <a:latin typeface="Times New Roman"/>
                <a:cs typeface="Times New Roman"/>
              </a:rPr>
              <a:t>n </a:t>
            </a:r>
            <a:r>
              <a:rPr sz="2200" b="1" dirty="0">
                <a:latin typeface="Times New Roman"/>
                <a:cs typeface="Times New Roman"/>
              </a:rPr>
              <a:t>as a function of</a:t>
            </a:r>
            <a:r>
              <a:rPr sz="2200" b="1" spc="-100" dirty="0">
                <a:latin typeface="Times New Roman"/>
                <a:cs typeface="Times New Roman"/>
              </a:rPr>
              <a:t> </a:t>
            </a:r>
            <a:r>
              <a:rPr sz="2300" b="1" i="1" spc="-21" dirty="0">
                <a:latin typeface="Symbol"/>
                <a:cs typeface="Symbol"/>
              </a:rPr>
              <a:t></a:t>
            </a:r>
            <a:r>
              <a:rPr sz="2200" b="1" spc="-30" baseline="-21072" dirty="0">
                <a:latin typeface="Times New Roman"/>
                <a:cs typeface="Times New Roman"/>
              </a:rPr>
              <a:t>0</a:t>
            </a:r>
            <a:r>
              <a:rPr sz="2200" b="1" spc="-21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84587" y="856495"/>
            <a:ext cx="139954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1240018" algn="l"/>
              </a:tabLst>
            </a:pPr>
            <a:r>
              <a:rPr sz="2500" i="1" spc="10" dirty="0">
                <a:latin typeface="Times New Roman"/>
                <a:cs typeface="Times New Roman"/>
              </a:rPr>
              <a:t>c	c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7560" y="837438"/>
            <a:ext cx="413385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5" dirty="0">
                <a:latin typeface="Times New Roman"/>
                <a:cs typeface="Times New Roman"/>
              </a:rPr>
              <a:t>d</a:t>
            </a:r>
            <a:r>
              <a:rPr sz="2700" i="1" spc="-86" dirty="0">
                <a:latin typeface="Symbol"/>
                <a:cs typeface="Symbol"/>
              </a:rPr>
              <a:t>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0635" y="908310"/>
            <a:ext cx="35369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5" dirty="0">
                <a:latin typeface="Times New Roman"/>
                <a:cs typeface="Times New Roman"/>
              </a:rPr>
              <a:t>dn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7399" y="133731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245" y="0"/>
                </a:lnTo>
              </a:path>
            </a:pathLst>
          </a:custGeom>
          <a:ln w="13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18275" y="1770888"/>
            <a:ext cx="498475" cy="0"/>
          </a:xfrm>
          <a:custGeom>
            <a:avLst/>
            <a:gdLst/>
            <a:ahLst/>
            <a:cxnLst/>
            <a:rect l="l" t="t" r="r" b="b"/>
            <a:pathLst>
              <a:path w="498475">
                <a:moveTo>
                  <a:pt x="0" y="0"/>
                </a:moveTo>
                <a:lnTo>
                  <a:pt x="498348" y="0"/>
                </a:lnTo>
              </a:path>
            </a:pathLst>
          </a:custGeom>
          <a:ln w="68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9118" y="1337310"/>
            <a:ext cx="1344930" cy="0"/>
          </a:xfrm>
          <a:custGeom>
            <a:avLst/>
            <a:gdLst/>
            <a:ahLst/>
            <a:cxnLst/>
            <a:rect l="l" t="t" r="r" b="b"/>
            <a:pathLst>
              <a:path w="1344929">
                <a:moveTo>
                  <a:pt x="0" y="0"/>
                </a:moveTo>
                <a:lnTo>
                  <a:pt x="1344930" y="0"/>
                </a:lnTo>
              </a:path>
            </a:pathLst>
          </a:custGeom>
          <a:ln w="13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92281" y="1337310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6814" y="0"/>
                </a:lnTo>
              </a:path>
            </a:pathLst>
          </a:custGeom>
          <a:ln w="13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16915" y="1433322"/>
            <a:ext cx="36131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75" dirty="0">
                <a:latin typeface="Times New Roman"/>
                <a:cs typeface="Times New Roman"/>
              </a:rPr>
              <a:t>N</a:t>
            </a:r>
            <a:r>
              <a:rPr sz="2500" spc="15" baseline="-21241" dirty="0">
                <a:latin typeface="Times New Roman"/>
                <a:cs typeface="Times New Roman"/>
              </a:rPr>
              <a:t>g</a:t>
            </a:r>
            <a:endParaRPr sz="2500" baseline="-2124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3954" y="1295407"/>
            <a:ext cx="35369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5" dirty="0">
                <a:latin typeface="Times New Roman"/>
                <a:cs typeface="Times New Roman"/>
              </a:rPr>
              <a:t>dn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53386" y="1433328"/>
            <a:ext cx="33528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5" dirty="0">
                <a:latin typeface="Times New Roman"/>
                <a:cs typeface="Times New Roman"/>
              </a:rPr>
              <a:t>dk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7398" y="1095744"/>
            <a:ext cx="303657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1149904" algn="l"/>
                <a:tab pos="2841128" algn="l"/>
              </a:tabLst>
            </a:pPr>
            <a:r>
              <a:rPr sz="2500" i="1" spc="-86" dirty="0">
                <a:latin typeface="Times New Roman"/>
                <a:cs typeface="Times New Roman"/>
              </a:rPr>
              <a:t>v</a:t>
            </a:r>
            <a:r>
              <a:rPr sz="2500" spc="15" baseline="-21241" dirty="0">
                <a:latin typeface="Times New Roman"/>
                <a:cs typeface="Times New Roman"/>
              </a:rPr>
              <a:t>g</a:t>
            </a:r>
            <a:r>
              <a:rPr sz="2500" baseline="-21241" dirty="0">
                <a:latin typeface="Times New Roman"/>
                <a:cs typeface="Times New Roman"/>
              </a:rPr>
              <a:t> </a:t>
            </a:r>
            <a:r>
              <a:rPr sz="2500" spc="-52" baseline="-21241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Symbol"/>
                <a:cs typeface="Symbol"/>
              </a:rPr>
              <a:t>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15" dirty="0">
                <a:latin typeface="Symbol"/>
                <a:cs typeface="Symbol"/>
              </a:rPr>
              <a:t>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15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8515" y="1510272"/>
            <a:ext cx="75120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5" dirty="0">
                <a:latin typeface="Times New Roman"/>
                <a:cs typeface="Times New Roman"/>
              </a:rPr>
              <a:t>n</a:t>
            </a:r>
            <a:r>
              <a:rPr sz="2500" i="1" spc="-25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Symbol"/>
                <a:cs typeface="Symbol"/>
              </a:rPr>
              <a:t></a:t>
            </a:r>
            <a:r>
              <a:rPr sz="2500" spc="-285" dirty="0">
                <a:latin typeface="Times New Roman"/>
                <a:cs typeface="Times New Roman"/>
              </a:rPr>
              <a:t> </a:t>
            </a:r>
            <a:r>
              <a:rPr sz="2700" i="1" spc="-90" dirty="0">
                <a:latin typeface="Symbol"/>
                <a:cs typeface="Symbol"/>
              </a:rPr>
              <a:t></a:t>
            </a:r>
            <a:r>
              <a:rPr sz="2500" spc="-135" baseline="-21241" dirty="0">
                <a:latin typeface="Times New Roman"/>
                <a:cs typeface="Times New Roman"/>
              </a:rPr>
              <a:t>0</a:t>
            </a:r>
            <a:endParaRPr sz="2500" baseline="-2124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35705" y="1389125"/>
            <a:ext cx="498475" cy="0"/>
          </a:xfrm>
          <a:custGeom>
            <a:avLst/>
            <a:gdLst/>
            <a:ahLst/>
            <a:cxnLst/>
            <a:rect l="l" t="t" r="r" b="b"/>
            <a:pathLst>
              <a:path w="498475">
                <a:moveTo>
                  <a:pt x="0" y="0"/>
                </a:moveTo>
                <a:lnTo>
                  <a:pt x="498348" y="0"/>
                </a:lnTo>
              </a:path>
            </a:pathLst>
          </a:custGeom>
          <a:ln w="13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45094" y="1466850"/>
            <a:ext cx="4641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0" dirty="0">
                <a:latin typeface="Times New Roman"/>
                <a:cs typeface="Times New Roman"/>
              </a:rPr>
              <a:t>d</a:t>
            </a:r>
            <a:r>
              <a:rPr sz="2700" i="1" spc="-185" dirty="0">
                <a:latin typeface="Symbol"/>
                <a:cs typeface="Symbol"/>
              </a:rPr>
              <a:t></a:t>
            </a:r>
            <a:r>
              <a:rPr sz="2500" spc="15" baseline="-21241" dirty="0">
                <a:latin typeface="Times New Roman"/>
                <a:cs typeface="Times New Roman"/>
              </a:rPr>
              <a:t>0</a:t>
            </a:r>
            <a:endParaRPr sz="2500" baseline="-2124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31001" y="1128521"/>
            <a:ext cx="144653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40" dirty="0">
                <a:latin typeface="Times New Roman"/>
                <a:cs typeface="Times New Roman"/>
              </a:rPr>
              <a:t>N</a:t>
            </a:r>
            <a:r>
              <a:rPr sz="2500" spc="60" baseline="-21241" dirty="0">
                <a:latin typeface="Times New Roman"/>
                <a:cs typeface="Times New Roman"/>
              </a:rPr>
              <a:t>g </a:t>
            </a:r>
            <a:r>
              <a:rPr sz="2500" spc="15" dirty="0">
                <a:latin typeface="Symbol"/>
                <a:cs typeface="Symbol"/>
              </a:rPr>
              <a:t>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i="1" spc="15" dirty="0">
                <a:latin typeface="Times New Roman"/>
                <a:cs typeface="Times New Roman"/>
              </a:rPr>
              <a:t>n </a:t>
            </a:r>
            <a:r>
              <a:rPr sz="2500" spc="15" dirty="0">
                <a:latin typeface="Symbol"/>
                <a:cs typeface="Symbol"/>
              </a:rPr>
              <a:t></a:t>
            </a:r>
            <a:r>
              <a:rPr sz="2500" spc="-254" dirty="0">
                <a:latin typeface="Times New Roman"/>
                <a:cs typeface="Times New Roman"/>
              </a:rPr>
              <a:t> </a:t>
            </a:r>
            <a:r>
              <a:rPr sz="2700" i="1" spc="-86" dirty="0">
                <a:latin typeface="Symbol"/>
                <a:cs typeface="Symbol"/>
              </a:rPr>
              <a:t></a:t>
            </a:r>
            <a:r>
              <a:rPr sz="2500" spc="-127" baseline="-21241" dirty="0">
                <a:latin typeface="Times New Roman"/>
                <a:cs typeface="Times New Roman"/>
              </a:rPr>
              <a:t>0</a:t>
            </a:r>
            <a:endParaRPr sz="2500" baseline="-21241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49369" y="1970279"/>
            <a:ext cx="3981450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100" b="1" i="1" dirty="0">
                <a:solidFill>
                  <a:srgbClr val="9A3365"/>
                </a:solidFill>
                <a:latin typeface="Times New Roman"/>
                <a:cs typeface="Times New Roman"/>
              </a:rPr>
              <a:t>N</a:t>
            </a:r>
            <a:r>
              <a:rPr sz="1900" b="1" baseline="-21367" dirty="0">
                <a:solidFill>
                  <a:srgbClr val="9A3365"/>
                </a:solidFill>
                <a:latin typeface="Times New Roman"/>
                <a:cs typeface="Times New Roman"/>
              </a:rPr>
              <a:t>g  </a:t>
            </a:r>
            <a:r>
              <a:rPr sz="2100" b="1" spc="-5" dirty="0">
                <a:solidFill>
                  <a:srgbClr val="9A3365"/>
                </a:solidFill>
                <a:latin typeface="Times New Roman"/>
                <a:cs typeface="Times New Roman"/>
              </a:rPr>
              <a:t>is the </a:t>
            </a:r>
            <a:r>
              <a:rPr sz="2100" b="1" spc="-10" dirty="0">
                <a:solidFill>
                  <a:srgbClr val="9A3365"/>
                </a:solidFill>
                <a:latin typeface="Times New Roman"/>
                <a:cs typeface="Times New Roman"/>
              </a:rPr>
              <a:t>group </a:t>
            </a:r>
            <a:r>
              <a:rPr sz="2100" b="1" spc="-5" dirty="0">
                <a:solidFill>
                  <a:srgbClr val="9A3365"/>
                </a:solidFill>
                <a:latin typeface="Times New Roman"/>
                <a:cs typeface="Times New Roman"/>
              </a:rPr>
              <a:t>index of the</a:t>
            </a:r>
            <a:r>
              <a:rPr sz="2100" b="1" spc="-204" dirty="0">
                <a:solidFill>
                  <a:srgbClr val="9A3365"/>
                </a:solidFill>
                <a:latin typeface="Times New Roman"/>
                <a:cs typeface="Times New Roman"/>
              </a:rPr>
              <a:t> </a:t>
            </a:r>
            <a:r>
              <a:rPr sz="2100" b="1" spc="-5" dirty="0">
                <a:solidFill>
                  <a:srgbClr val="9A3365"/>
                </a:solidFill>
                <a:latin typeface="Times New Roman"/>
                <a:cs typeface="Times New Roman"/>
              </a:rPr>
              <a:t>medium.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13497" y="2625853"/>
            <a:ext cx="6343650" cy="295275"/>
          </a:xfrm>
          <a:custGeom>
            <a:avLst/>
            <a:gdLst/>
            <a:ahLst/>
            <a:cxnLst/>
            <a:rect l="l" t="t" r="r" b="b"/>
            <a:pathLst>
              <a:path w="6343650" h="295275">
                <a:moveTo>
                  <a:pt x="6343649" y="294893"/>
                </a:moveTo>
                <a:lnTo>
                  <a:pt x="6343649" y="0"/>
                </a:lnTo>
                <a:lnTo>
                  <a:pt x="0" y="0"/>
                </a:lnTo>
                <a:lnTo>
                  <a:pt x="0" y="294894"/>
                </a:lnTo>
                <a:lnTo>
                  <a:pt x="9143" y="294894"/>
                </a:lnTo>
                <a:lnTo>
                  <a:pt x="9143" y="19050"/>
                </a:lnTo>
                <a:lnTo>
                  <a:pt x="19050" y="9143"/>
                </a:lnTo>
                <a:lnTo>
                  <a:pt x="19050" y="19050"/>
                </a:lnTo>
                <a:lnTo>
                  <a:pt x="6324600" y="19049"/>
                </a:lnTo>
                <a:lnTo>
                  <a:pt x="6324600" y="9143"/>
                </a:lnTo>
                <a:lnTo>
                  <a:pt x="6333731" y="19049"/>
                </a:lnTo>
                <a:lnTo>
                  <a:pt x="6333731" y="294893"/>
                </a:lnTo>
                <a:lnTo>
                  <a:pt x="6343649" y="294893"/>
                </a:lnTo>
                <a:close/>
              </a:path>
              <a:path w="6343650" h="295275">
                <a:moveTo>
                  <a:pt x="19050" y="19050"/>
                </a:moveTo>
                <a:lnTo>
                  <a:pt x="19050" y="9143"/>
                </a:lnTo>
                <a:lnTo>
                  <a:pt x="9143" y="19050"/>
                </a:lnTo>
                <a:lnTo>
                  <a:pt x="19050" y="19050"/>
                </a:lnTo>
                <a:close/>
              </a:path>
              <a:path w="6343650" h="295275">
                <a:moveTo>
                  <a:pt x="19050" y="294894"/>
                </a:moveTo>
                <a:lnTo>
                  <a:pt x="19050" y="19050"/>
                </a:lnTo>
                <a:lnTo>
                  <a:pt x="9143" y="19050"/>
                </a:lnTo>
                <a:lnTo>
                  <a:pt x="9143" y="294894"/>
                </a:lnTo>
                <a:lnTo>
                  <a:pt x="19050" y="294894"/>
                </a:lnTo>
                <a:close/>
              </a:path>
              <a:path w="6343650" h="295275">
                <a:moveTo>
                  <a:pt x="6333731" y="19049"/>
                </a:moveTo>
                <a:lnTo>
                  <a:pt x="6324600" y="9143"/>
                </a:lnTo>
                <a:lnTo>
                  <a:pt x="6324600" y="19049"/>
                </a:lnTo>
                <a:lnTo>
                  <a:pt x="6333731" y="19049"/>
                </a:lnTo>
                <a:close/>
              </a:path>
              <a:path w="6343650" h="295275">
                <a:moveTo>
                  <a:pt x="6333731" y="294893"/>
                </a:moveTo>
                <a:lnTo>
                  <a:pt x="6333731" y="19049"/>
                </a:lnTo>
                <a:lnTo>
                  <a:pt x="6324600" y="19049"/>
                </a:lnTo>
                <a:lnTo>
                  <a:pt x="6324600" y="294893"/>
                </a:lnTo>
                <a:lnTo>
                  <a:pt x="6333731" y="294893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06107" y="371094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245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98591" y="3710940"/>
            <a:ext cx="582929" cy="0"/>
          </a:xfrm>
          <a:custGeom>
            <a:avLst/>
            <a:gdLst/>
            <a:ahLst/>
            <a:cxnLst/>
            <a:rect l="l" t="t" r="r" b="b"/>
            <a:pathLst>
              <a:path w="582929">
                <a:moveTo>
                  <a:pt x="0" y="0"/>
                </a:moveTo>
                <a:lnTo>
                  <a:pt x="582930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29755" y="3710940"/>
            <a:ext cx="744855" cy="0"/>
          </a:xfrm>
          <a:custGeom>
            <a:avLst/>
            <a:gdLst/>
            <a:ahLst/>
            <a:cxnLst/>
            <a:rect l="l" t="t" r="r" b="b"/>
            <a:pathLst>
              <a:path w="744854">
                <a:moveTo>
                  <a:pt x="0" y="0"/>
                </a:moveTo>
                <a:lnTo>
                  <a:pt x="744474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22462" y="3710940"/>
            <a:ext cx="842011" cy="0"/>
          </a:xfrm>
          <a:custGeom>
            <a:avLst/>
            <a:gdLst/>
            <a:ahLst/>
            <a:cxnLst/>
            <a:rect l="l" t="t" r="r" b="b"/>
            <a:pathLst>
              <a:path w="842010">
                <a:moveTo>
                  <a:pt x="0" y="0"/>
                </a:moveTo>
                <a:lnTo>
                  <a:pt x="842010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12699" y="3710940"/>
            <a:ext cx="182880" cy="0"/>
          </a:xfrm>
          <a:custGeom>
            <a:avLst/>
            <a:gdLst/>
            <a:ahLst/>
            <a:cxnLst/>
            <a:rect l="l" t="t" r="r" b="b"/>
            <a:pathLst>
              <a:path w="182879">
                <a:moveTo>
                  <a:pt x="0" y="0"/>
                </a:moveTo>
                <a:lnTo>
                  <a:pt x="182880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38939" y="3710940"/>
            <a:ext cx="444500" cy="0"/>
          </a:xfrm>
          <a:custGeom>
            <a:avLst/>
            <a:gdLst/>
            <a:ahLst/>
            <a:cxnLst/>
            <a:rect l="l" t="t" r="r" b="b"/>
            <a:pathLst>
              <a:path w="444500">
                <a:moveTo>
                  <a:pt x="0" y="0"/>
                </a:moveTo>
                <a:lnTo>
                  <a:pt x="444245" y="0"/>
                </a:lnTo>
              </a:path>
            </a:pathLst>
          </a:custGeom>
          <a:ln w="13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11625" y="3496063"/>
            <a:ext cx="15176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spc="15" dirty="0">
                <a:latin typeface="Symbol"/>
                <a:cs typeface="Symbol"/>
              </a:rPr>
              <a:t>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48385" y="3468629"/>
            <a:ext cx="20637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spc="21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55677" y="3468629"/>
            <a:ext cx="20637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spc="21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24512" y="3468629"/>
            <a:ext cx="206375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spc="21" dirty="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87194" y="3261362"/>
            <a:ext cx="576581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21" dirty="0">
                <a:latin typeface="Times New Roman"/>
                <a:cs typeface="Times New Roman"/>
              </a:rPr>
              <a:t>dn</a:t>
            </a:r>
            <a:r>
              <a:rPr sz="2500" i="1" spc="10" dirty="0">
                <a:latin typeface="Times New Roman"/>
                <a:cs typeface="Times New Roman"/>
              </a:rPr>
              <a:t> </a:t>
            </a:r>
            <a:r>
              <a:rPr sz="3900" spc="22" baseline="-4357" dirty="0">
                <a:latin typeface="Symbol"/>
                <a:cs typeface="Symbol"/>
              </a:rPr>
              <a:t></a:t>
            </a:r>
            <a:endParaRPr sz="3900" baseline="-4357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38621" y="3449581"/>
            <a:ext cx="1346835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502607" algn="l"/>
              </a:tabLst>
            </a:pPr>
            <a:r>
              <a:rPr sz="2500" spc="21" dirty="0">
                <a:latin typeface="Symbol"/>
                <a:cs typeface="Symbol"/>
              </a:rPr>
              <a:t></a:t>
            </a:r>
            <a:r>
              <a:rPr sz="2500" spc="21" dirty="0">
                <a:latin typeface="Times New Roman"/>
                <a:cs typeface="Times New Roman"/>
              </a:rPr>
              <a:t>	</a:t>
            </a:r>
            <a:r>
              <a:rPr sz="3900" spc="22" baseline="-4357" dirty="0">
                <a:latin typeface="Symbol"/>
                <a:cs typeface="Symbol"/>
              </a:rPr>
              <a:t></a:t>
            </a:r>
            <a:r>
              <a:rPr sz="3900" spc="-562" baseline="-4357" dirty="0">
                <a:latin typeface="Times New Roman"/>
                <a:cs typeface="Times New Roman"/>
              </a:rPr>
              <a:t> </a:t>
            </a:r>
            <a:r>
              <a:rPr sz="2500" i="1" spc="21" dirty="0">
                <a:latin typeface="Times New Roman"/>
                <a:cs typeface="Times New Roman"/>
              </a:rPr>
              <a:t>n</a:t>
            </a:r>
            <a:r>
              <a:rPr sz="2500" i="1" spc="-240" dirty="0">
                <a:latin typeface="Times New Roman"/>
                <a:cs typeface="Times New Roman"/>
              </a:rPr>
              <a:t> </a:t>
            </a:r>
            <a:r>
              <a:rPr sz="2500" spc="21" dirty="0">
                <a:latin typeface="Symbol"/>
                <a:cs typeface="Symbol"/>
              </a:rPr>
              <a:t></a:t>
            </a:r>
            <a:r>
              <a:rPr sz="2500" spc="-350" dirty="0">
                <a:latin typeface="Times New Roman"/>
                <a:cs typeface="Times New Roman"/>
              </a:rPr>
              <a:t> </a:t>
            </a:r>
            <a:r>
              <a:rPr sz="2700" i="1" spc="-80" dirty="0">
                <a:latin typeface="Symbol"/>
                <a:cs typeface="Symbol"/>
              </a:rPr>
              <a:t>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51297" y="3153411"/>
            <a:ext cx="2446021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799602" algn="l"/>
                <a:tab pos="1700106" algn="l"/>
              </a:tabLst>
            </a:pPr>
            <a:r>
              <a:rPr sz="2500" i="1" spc="15" dirty="0">
                <a:latin typeface="Times New Roman"/>
                <a:cs typeface="Times New Roman"/>
              </a:rPr>
              <a:t>dk	cdk	</a:t>
            </a:r>
            <a:r>
              <a:rPr sz="2500" i="1" spc="21" dirty="0">
                <a:latin typeface="Times New Roman"/>
                <a:cs typeface="Times New Roman"/>
              </a:rPr>
              <a:t>d</a:t>
            </a:r>
            <a:r>
              <a:rPr sz="2500" i="1" spc="-420" dirty="0">
                <a:latin typeface="Times New Roman"/>
                <a:cs typeface="Times New Roman"/>
              </a:rPr>
              <a:t> </a:t>
            </a:r>
            <a:r>
              <a:rPr sz="3400" spc="-110" dirty="0">
                <a:latin typeface="Symbol"/>
                <a:cs typeface="Symbol"/>
              </a:rPr>
              <a:t></a:t>
            </a:r>
            <a:r>
              <a:rPr sz="2500" i="1" spc="-110" dirty="0">
                <a:latin typeface="Times New Roman"/>
                <a:cs typeface="Times New Roman"/>
              </a:rPr>
              <a:t>ck</a:t>
            </a:r>
            <a:r>
              <a:rPr sz="2500" i="1" spc="-415" dirty="0">
                <a:latin typeface="Times New Roman"/>
                <a:cs typeface="Times New Roman"/>
              </a:rPr>
              <a:t> </a:t>
            </a:r>
            <a:r>
              <a:rPr sz="3400" spc="-285" dirty="0">
                <a:latin typeface="Symbol"/>
                <a:cs typeface="Symbol"/>
              </a:rPr>
              <a:t></a:t>
            </a:r>
            <a:endParaRPr sz="34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32615" y="3153411"/>
            <a:ext cx="154876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1188619" algn="l"/>
              </a:tabLst>
            </a:pPr>
            <a:r>
              <a:rPr sz="2500" i="1" spc="21" dirty="0">
                <a:latin typeface="Times New Roman"/>
                <a:cs typeface="Times New Roman"/>
              </a:rPr>
              <a:t>d </a:t>
            </a:r>
            <a:r>
              <a:rPr sz="2500" i="1" spc="120" dirty="0">
                <a:latin typeface="Times New Roman"/>
                <a:cs typeface="Times New Roman"/>
              </a:rPr>
              <a:t> </a:t>
            </a:r>
            <a:r>
              <a:rPr sz="3400" spc="-130" dirty="0">
                <a:latin typeface="Symbol"/>
                <a:cs typeface="Symbol"/>
              </a:rPr>
              <a:t></a:t>
            </a:r>
            <a:r>
              <a:rPr sz="2500" i="1" spc="-130" dirty="0">
                <a:latin typeface="Times New Roman"/>
                <a:cs typeface="Times New Roman"/>
              </a:rPr>
              <a:t>n</a:t>
            </a:r>
            <a:r>
              <a:rPr sz="2700" i="1" spc="-130" dirty="0">
                <a:latin typeface="Symbol"/>
                <a:cs typeface="Symbol"/>
              </a:rPr>
              <a:t></a:t>
            </a:r>
            <a:r>
              <a:rPr sz="2700" i="1" spc="-130" dirty="0">
                <a:latin typeface="Times New Roman"/>
                <a:cs typeface="Times New Roman"/>
              </a:rPr>
              <a:t> </a:t>
            </a:r>
            <a:r>
              <a:rPr sz="2700" i="1" spc="21" dirty="0">
                <a:latin typeface="Times New Roman"/>
                <a:cs typeface="Times New Roman"/>
              </a:rPr>
              <a:t> </a:t>
            </a:r>
            <a:r>
              <a:rPr sz="3400" spc="-285" dirty="0">
                <a:latin typeface="Symbol"/>
                <a:cs typeface="Symbol"/>
              </a:rPr>
              <a:t></a:t>
            </a:r>
            <a:r>
              <a:rPr sz="3400" spc="-285" dirty="0">
                <a:latin typeface="Times New Roman"/>
                <a:cs typeface="Times New Roman"/>
              </a:rPr>
              <a:t>	</a:t>
            </a:r>
            <a:r>
              <a:rPr sz="2500" spc="21" dirty="0">
                <a:latin typeface="Times New Roman"/>
                <a:cs typeface="Times New Roman"/>
              </a:rPr>
              <a:t>1</a:t>
            </a:r>
            <a:r>
              <a:rPr sz="2500" spc="-305" dirty="0">
                <a:latin typeface="Times New Roman"/>
                <a:cs typeface="Times New Roman"/>
              </a:rPr>
              <a:t> </a:t>
            </a:r>
            <a:r>
              <a:rPr sz="3900" spc="22" baseline="-4357" dirty="0">
                <a:latin typeface="Symbol"/>
                <a:cs typeface="Symbol"/>
              </a:rPr>
              <a:t></a:t>
            </a:r>
            <a:endParaRPr sz="3900" baseline="-4357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76956" y="2763015"/>
            <a:ext cx="83439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5" dirty="0">
                <a:latin typeface="Times New Roman"/>
                <a:cs typeface="Times New Roman"/>
              </a:rPr>
              <a:t>ck </a:t>
            </a:r>
            <a:r>
              <a:rPr sz="2500" spc="10" dirty="0">
                <a:latin typeface="Symbol"/>
                <a:cs typeface="Symbol"/>
              </a:rPr>
              <a:t>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i="1" spc="10" dirty="0">
                <a:latin typeface="Times New Roman"/>
                <a:cs typeface="Times New Roman"/>
              </a:rPr>
              <a:t>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223020" y="29207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547620" y="29207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49"/>
                </a:lnTo>
              </a:path>
            </a:pathLst>
          </a:custGeom>
          <a:ln w="19049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526163" y="4214622"/>
            <a:ext cx="480059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spc="-210" dirty="0">
                <a:latin typeface="Times New Roman"/>
                <a:cs typeface="Times New Roman"/>
              </a:rPr>
              <a:t>2</a:t>
            </a:r>
            <a:r>
              <a:rPr sz="2700" i="1" spc="-120" dirty="0">
                <a:latin typeface="Symbol"/>
                <a:cs typeface="Symbol"/>
              </a:rPr>
              <a:t></a:t>
            </a:r>
            <a:r>
              <a:rPr sz="2500" i="1" spc="5" dirty="0">
                <a:latin typeface="Times New Roman"/>
                <a:cs typeface="Times New Roman"/>
              </a:rPr>
              <a:t>c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48321" y="3707130"/>
            <a:ext cx="615315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-35" dirty="0">
                <a:latin typeface="Times New Roman"/>
                <a:cs typeface="Times New Roman"/>
              </a:rPr>
              <a:t>d</a:t>
            </a:r>
            <a:r>
              <a:rPr sz="2700" i="1" spc="-35" dirty="0">
                <a:latin typeface="Symbol"/>
                <a:cs typeface="Symbol"/>
              </a:rPr>
              <a:t></a:t>
            </a:r>
            <a:r>
              <a:rPr sz="2700" i="1" spc="-185" dirty="0">
                <a:latin typeface="Times New Roman"/>
                <a:cs typeface="Times New Roman"/>
              </a:rPr>
              <a:t> </a:t>
            </a:r>
            <a:r>
              <a:rPr sz="3900" spc="22" baseline="-6535" dirty="0">
                <a:latin typeface="Symbol"/>
                <a:cs typeface="Symbol"/>
              </a:rPr>
              <a:t></a:t>
            </a:r>
            <a:endParaRPr sz="3900" baseline="-6535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15503" y="3707130"/>
            <a:ext cx="4365625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799602" algn="l"/>
                <a:tab pos="1810529" algn="l"/>
                <a:tab pos="2950915" algn="l"/>
                <a:tab pos="4011978" algn="l"/>
              </a:tabLst>
            </a:pPr>
            <a:r>
              <a:rPr sz="2500" i="1" spc="-35" dirty="0">
                <a:latin typeface="Times New Roman"/>
                <a:cs typeface="Times New Roman"/>
              </a:rPr>
              <a:t>d</a:t>
            </a:r>
            <a:r>
              <a:rPr sz="2700" i="1" spc="-35" dirty="0">
                <a:latin typeface="Symbol"/>
                <a:cs typeface="Symbol"/>
              </a:rPr>
              <a:t></a:t>
            </a:r>
            <a:r>
              <a:rPr sz="2700" i="1" spc="-35" dirty="0">
                <a:latin typeface="Times New Roman"/>
                <a:cs typeface="Times New Roman"/>
              </a:rPr>
              <a:t>	</a:t>
            </a:r>
            <a:r>
              <a:rPr sz="2500" i="1" spc="-25" dirty="0">
                <a:latin typeface="Times New Roman"/>
                <a:cs typeface="Times New Roman"/>
              </a:rPr>
              <a:t>cd</a:t>
            </a:r>
            <a:r>
              <a:rPr sz="2700" i="1" spc="-25" dirty="0">
                <a:latin typeface="Symbol"/>
                <a:cs typeface="Symbol"/>
              </a:rPr>
              <a:t></a:t>
            </a:r>
            <a:r>
              <a:rPr sz="2700" i="1" spc="-25" dirty="0">
                <a:latin typeface="Times New Roman"/>
                <a:cs typeface="Times New Roman"/>
              </a:rPr>
              <a:t>	</a:t>
            </a:r>
            <a:r>
              <a:rPr sz="2500" i="1" spc="-25" dirty="0">
                <a:latin typeface="Times New Roman"/>
                <a:cs typeface="Times New Roman"/>
              </a:rPr>
              <a:t>cd</a:t>
            </a:r>
            <a:r>
              <a:rPr sz="2700" i="1" spc="-25" dirty="0">
                <a:latin typeface="Symbol"/>
                <a:cs typeface="Symbol"/>
              </a:rPr>
              <a:t></a:t>
            </a:r>
            <a:r>
              <a:rPr sz="2700" i="1" spc="-25" dirty="0">
                <a:latin typeface="Times New Roman"/>
                <a:cs typeface="Times New Roman"/>
              </a:rPr>
              <a:t>	</a:t>
            </a:r>
            <a:r>
              <a:rPr sz="2500" i="1" spc="-25" dirty="0">
                <a:latin typeface="Times New Roman"/>
                <a:cs typeface="Times New Roman"/>
              </a:rPr>
              <a:t>cd</a:t>
            </a:r>
            <a:r>
              <a:rPr sz="2700" i="1" spc="-25" dirty="0">
                <a:latin typeface="Symbol"/>
                <a:cs typeface="Symbol"/>
              </a:rPr>
              <a:t></a:t>
            </a:r>
            <a:r>
              <a:rPr sz="2700" i="1" spc="-25" dirty="0">
                <a:latin typeface="Times New Roman"/>
                <a:cs typeface="Times New Roman"/>
              </a:rPr>
              <a:t>	</a:t>
            </a:r>
            <a:r>
              <a:rPr sz="2500" i="1" spc="15" dirty="0">
                <a:latin typeface="Times New Roman"/>
                <a:cs typeface="Times New Roman"/>
              </a:rPr>
              <a:t>c</a:t>
            </a:r>
            <a:r>
              <a:rPr sz="2500" i="1" spc="-220" dirty="0">
                <a:latin typeface="Times New Roman"/>
                <a:cs typeface="Times New Roman"/>
              </a:rPr>
              <a:t> </a:t>
            </a:r>
            <a:r>
              <a:rPr sz="3900" spc="22" baseline="-6535" dirty="0">
                <a:latin typeface="Symbol"/>
                <a:cs typeface="Symbol"/>
              </a:rPr>
              <a:t></a:t>
            </a:r>
            <a:endParaRPr sz="3900" baseline="-6535">
              <a:latin typeface="Symbol"/>
              <a:cs typeface="Symbo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223020" y="377799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547620" y="3777998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16765" y="4713732"/>
            <a:ext cx="497840" cy="0"/>
          </a:xfrm>
          <a:custGeom>
            <a:avLst/>
            <a:gdLst/>
            <a:ahLst/>
            <a:cxnLst/>
            <a:rect l="l" t="t" r="r" b="b"/>
            <a:pathLst>
              <a:path w="497839">
                <a:moveTo>
                  <a:pt x="0" y="0"/>
                </a:moveTo>
                <a:lnTo>
                  <a:pt x="497586" y="0"/>
                </a:lnTo>
              </a:path>
            </a:pathLst>
          </a:custGeom>
          <a:ln w="135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624448" y="4789176"/>
            <a:ext cx="249554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700" i="1" spc="-90" dirty="0">
                <a:latin typeface="Symbol"/>
                <a:cs typeface="Symbol"/>
              </a:rPr>
              <a:t>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89500" y="4391026"/>
            <a:ext cx="558166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lang="en-US" sz="2400" i="1" spc="-185" dirty="0">
                <a:latin typeface="Symbol"/>
                <a:cs typeface="Symbol"/>
              </a:rPr>
              <a:t></a:t>
            </a:r>
            <a:r>
              <a:rPr lang="en-US" sz="2400" spc="15" baseline="-21241" dirty="0">
                <a:latin typeface="Times New Roman"/>
                <a:cs typeface="Times New Roman"/>
              </a:rPr>
              <a:t>0</a:t>
            </a:r>
            <a:r>
              <a:rPr sz="2500" spc="359" baseline="-21241">
                <a:latin typeface="Times New Roman"/>
                <a:cs typeface="Times New Roman"/>
              </a:rPr>
              <a:t> </a:t>
            </a:r>
            <a:r>
              <a:rPr lang="en-US" sz="2500" spc="10" baseline="-21241" dirty="0">
                <a:latin typeface="Symbol"/>
                <a:cs typeface="Times New Roman"/>
              </a:rPr>
              <a:t>=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223020" y="4635250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547620" y="4635250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223020" y="5492502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547620" y="5492502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49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213497" y="6349753"/>
            <a:ext cx="6343650" cy="29209"/>
          </a:xfrm>
          <a:custGeom>
            <a:avLst/>
            <a:gdLst/>
            <a:ahLst/>
            <a:cxnLst/>
            <a:rect l="l" t="t" r="r" b="b"/>
            <a:pathLst>
              <a:path w="6343650" h="29210">
                <a:moveTo>
                  <a:pt x="19050" y="9906"/>
                </a:moveTo>
                <a:lnTo>
                  <a:pt x="19050" y="0"/>
                </a:lnTo>
                <a:lnTo>
                  <a:pt x="0" y="0"/>
                </a:lnTo>
                <a:lnTo>
                  <a:pt x="0" y="28956"/>
                </a:lnTo>
                <a:lnTo>
                  <a:pt x="9143" y="28956"/>
                </a:lnTo>
                <a:lnTo>
                  <a:pt x="9143" y="9906"/>
                </a:lnTo>
                <a:lnTo>
                  <a:pt x="19050" y="9906"/>
                </a:lnTo>
                <a:close/>
              </a:path>
              <a:path w="6343650" h="29210">
                <a:moveTo>
                  <a:pt x="6333731" y="9905"/>
                </a:moveTo>
                <a:lnTo>
                  <a:pt x="9143" y="9906"/>
                </a:lnTo>
                <a:lnTo>
                  <a:pt x="19050" y="19050"/>
                </a:lnTo>
                <a:lnTo>
                  <a:pt x="19050" y="28956"/>
                </a:lnTo>
                <a:lnTo>
                  <a:pt x="6324600" y="28955"/>
                </a:lnTo>
                <a:lnTo>
                  <a:pt x="6324600" y="19050"/>
                </a:lnTo>
                <a:lnTo>
                  <a:pt x="6333731" y="9905"/>
                </a:lnTo>
                <a:close/>
              </a:path>
              <a:path w="6343650" h="29210">
                <a:moveTo>
                  <a:pt x="19050" y="28956"/>
                </a:moveTo>
                <a:lnTo>
                  <a:pt x="19050" y="19050"/>
                </a:lnTo>
                <a:lnTo>
                  <a:pt x="9143" y="9906"/>
                </a:lnTo>
                <a:lnTo>
                  <a:pt x="9143" y="28956"/>
                </a:lnTo>
                <a:lnTo>
                  <a:pt x="19050" y="28956"/>
                </a:lnTo>
                <a:close/>
              </a:path>
              <a:path w="6343650" h="29210">
                <a:moveTo>
                  <a:pt x="6343649" y="28955"/>
                </a:moveTo>
                <a:lnTo>
                  <a:pt x="6343649" y="0"/>
                </a:lnTo>
                <a:lnTo>
                  <a:pt x="6324600" y="0"/>
                </a:lnTo>
                <a:lnTo>
                  <a:pt x="6324600" y="9905"/>
                </a:lnTo>
                <a:lnTo>
                  <a:pt x="6333731" y="9905"/>
                </a:lnTo>
                <a:lnTo>
                  <a:pt x="6333731" y="28955"/>
                </a:lnTo>
                <a:lnTo>
                  <a:pt x="6343649" y="28955"/>
                </a:lnTo>
                <a:close/>
              </a:path>
              <a:path w="6343650" h="29210">
                <a:moveTo>
                  <a:pt x="6333731" y="28955"/>
                </a:moveTo>
                <a:lnTo>
                  <a:pt x="6333731" y="9905"/>
                </a:lnTo>
                <a:lnTo>
                  <a:pt x="6324600" y="19050"/>
                </a:lnTo>
                <a:lnTo>
                  <a:pt x="6324600" y="28955"/>
                </a:lnTo>
                <a:lnTo>
                  <a:pt x="6333731" y="28955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xfrm>
            <a:off x="9144863" y="6656474"/>
            <a:ext cx="248920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384"/>
            <a:fld id="{81D60167-4931-47E6-BA6A-407CBD079E47}" type="slidenum">
              <a:rPr/>
              <a:pPr marL="25384"/>
              <a:t>26</a:t>
            </a:fld>
            <a:endParaRPr dirty="0"/>
          </a:p>
        </p:txBody>
      </p:sp>
      <p:sp>
        <p:nvSpPr>
          <p:cNvPr id="71" name="object 17"/>
          <p:cNvSpPr txBox="1"/>
          <p:nvPr/>
        </p:nvSpPr>
        <p:spPr>
          <a:xfrm>
            <a:off x="3822704" y="1800225"/>
            <a:ext cx="4641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500" i="1" spc="10" dirty="0">
                <a:latin typeface="Times New Roman"/>
                <a:cs typeface="Times New Roman"/>
              </a:rPr>
              <a:t>d</a:t>
            </a:r>
            <a:r>
              <a:rPr sz="2700" i="1" spc="-185" dirty="0">
                <a:latin typeface="Symbol"/>
                <a:cs typeface="Symbol"/>
              </a:rPr>
              <a:t></a:t>
            </a:r>
            <a:r>
              <a:rPr sz="2500" spc="15" baseline="-21241" dirty="0">
                <a:latin typeface="Times New Roman"/>
                <a:cs typeface="Times New Roman"/>
              </a:rPr>
              <a:t>0</a:t>
            </a:r>
            <a:endParaRPr sz="2500" baseline="-21241">
              <a:latin typeface="Times New Roman"/>
              <a:cs typeface="Times New Roman"/>
            </a:endParaRPr>
          </a:p>
        </p:txBody>
      </p:sp>
      <p:graphicFrame>
        <p:nvGraphicFramePr>
          <p:cNvPr id="72" name="Object 71"/>
          <p:cNvGraphicFramePr>
            <a:graphicFrameLocks noChangeAspect="1"/>
          </p:cNvGraphicFramePr>
          <p:nvPr/>
        </p:nvGraphicFramePr>
        <p:xfrm>
          <a:off x="2374900" y="5229230"/>
          <a:ext cx="5957046" cy="937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431640" progId="Equation.3">
                  <p:embed/>
                </p:oleObj>
              </mc:Choice>
              <mc:Fallback>
                <p:oleObj name="Equation" r:id="rId2" imgW="27432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5229230"/>
                        <a:ext cx="5957046" cy="9376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352425"/>
            <a:ext cx="883385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0319"/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Group Index </a:t>
            </a:r>
            <a:r>
              <a:rPr sz="3200" spc="-5" dirty="0">
                <a:solidFill>
                  <a:srgbClr val="FFC000"/>
                </a:solidFill>
                <a:latin typeface="Arial"/>
                <a:cs typeface="Arial"/>
              </a:rPr>
              <a:t>of the</a:t>
            </a:r>
            <a:r>
              <a:rPr sz="3200" spc="-44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Medium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1573" y="1284480"/>
            <a:ext cx="5831841" cy="2662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 algn="just"/>
            <a:r>
              <a:rPr sz="2100" b="1" spc="-10" dirty="0">
                <a:latin typeface="Times New Roman"/>
                <a:cs typeface="Times New Roman"/>
              </a:rPr>
              <a:t>Pure</a:t>
            </a:r>
            <a:r>
              <a:rPr sz="2100" b="1" spc="-90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SiO</a:t>
            </a:r>
            <a:r>
              <a:rPr sz="1900" b="1" baseline="-21367" dirty="0">
                <a:latin typeface="Times New Roman"/>
                <a:cs typeface="Times New Roman"/>
              </a:rPr>
              <a:t>2</a:t>
            </a:r>
            <a:endParaRPr sz="1900" baseline="-21367" dirty="0">
              <a:latin typeface="Times New Roman"/>
              <a:cs typeface="Times New Roman"/>
            </a:endParaRPr>
          </a:p>
          <a:p>
            <a:pPr algn="just">
              <a:spcBef>
                <a:spcPts val="22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535744" marR="5080" algn="just"/>
            <a:r>
              <a:rPr sz="2100" spc="-5" dirty="0">
                <a:latin typeface="Arial"/>
                <a:cs typeface="Arial"/>
              </a:rPr>
              <a:t>For silica, </a:t>
            </a:r>
            <a:r>
              <a:rPr sz="2100" i="1" spc="5" dirty="0">
                <a:latin typeface="Arial"/>
                <a:cs typeface="Arial"/>
              </a:rPr>
              <a:t>N</a:t>
            </a:r>
            <a:r>
              <a:rPr sz="1900" spc="7" baseline="-21367" dirty="0">
                <a:latin typeface="Arial"/>
                <a:cs typeface="Arial"/>
              </a:rPr>
              <a:t>g </a:t>
            </a:r>
            <a:r>
              <a:rPr sz="2100" spc="-5" dirty="0">
                <a:latin typeface="Arial"/>
                <a:cs typeface="Arial"/>
              </a:rPr>
              <a:t>is minimum around </a:t>
            </a:r>
            <a:r>
              <a:rPr sz="2100" spc="-10" dirty="0">
                <a:latin typeface="Arial"/>
                <a:cs typeface="Arial"/>
              </a:rPr>
              <a:t>1300  </a:t>
            </a:r>
            <a:r>
              <a:rPr sz="2100" spc="-5" dirty="0">
                <a:latin typeface="Arial"/>
                <a:cs typeface="Arial"/>
              </a:rPr>
              <a:t>nm, which means that light waves  with </a:t>
            </a:r>
            <a:r>
              <a:rPr sz="2100" spc="-10" dirty="0">
                <a:latin typeface="Arial"/>
                <a:cs typeface="Arial"/>
              </a:rPr>
              <a:t>wavelengths close </a:t>
            </a:r>
            <a:r>
              <a:rPr sz="2100" spc="-5" dirty="0">
                <a:latin typeface="Arial"/>
                <a:cs typeface="Arial"/>
              </a:rPr>
              <a:t>to </a:t>
            </a:r>
            <a:r>
              <a:rPr sz="2100" spc="-10" dirty="0">
                <a:latin typeface="Arial"/>
                <a:cs typeface="Arial"/>
              </a:rPr>
              <a:t>1300 nm  </a:t>
            </a:r>
            <a:r>
              <a:rPr sz="2100" spc="-5" dirty="0">
                <a:latin typeface="Arial"/>
                <a:cs typeface="Arial"/>
              </a:rPr>
              <a:t>travel with the same group velocity  and do not </a:t>
            </a:r>
            <a:r>
              <a:rPr sz="2100" spc="-10" dirty="0">
                <a:latin typeface="Arial"/>
                <a:cs typeface="Arial"/>
              </a:rPr>
              <a:t>experience</a:t>
            </a:r>
            <a:r>
              <a:rPr sz="2100" spc="-5" dirty="0">
                <a:latin typeface="Arial"/>
                <a:cs typeface="Arial"/>
              </a:rPr>
              <a:t> </a:t>
            </a:r>
            <a:r>
              <a:rPr sz="2100" spc="-10" dirty="0">
                <a:latin typeface="Arial"/>
                <a:cs typeface="Arial"/>
              </a:rPr>
              <a:t>dispersion.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2305" y="885825"/>
            <a:ext cx="4644389" cy="41308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29764" y="5416804"/>
            <a:ext cx="8591550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 marR="5080" algn="just"/>
            <a:r>
              <a:rPr sz="2100" spc="-5" dirty="0">
                <a:latin typeface="Arial"/>
                <a:cs typeface="Arial"/>
              </a:rPr>
              <a:t>Both </a:t>
            </a:r>
            <a:r>
              <a:rPr sz="2100" i="1" spc="-5" dirty="0">
                <a:latin typeface="Arial"/>
                <a:cs typeface="Arial"/>
              </a:rPr>
              <a:t>n </a:t>
            </a:r>
            <a:r>
              <a:rPr sz="2100" spc="-5" dirty="0">
                <a:latin typeface="Arial"/>
                <a:cs typeface="Arial"/>
              </a:rPr>
              <a:t>and </a:t>
            </a:r>
            <a:r>
              <a:rPr sz="2100" i="1" spc="5" dirty="0">
                <a:latin typeface="Arial"/>
                <a:cs typeface="Arial"/>
              </a:rPr>
              <a:t>N</a:t>
            </a:r>
            <a:r>
              <a:rPr sz="1900" spc="7" baseline="-21367" dirty="0">
                <a:latin typeface="Arial"/>
                <a:cs typeface="Arial"/>
              </a:rPr>
              <a:t>g </a:t>
            </a:r>
            <a:r>
              <a:rPr sz="2100" spc="-5" dirty="0">
                <a:latin typeface="Arial"/>
                <a:cs typeface="Arial"/>
              </a:rPr>
              <a:t>are functions </a:t>
            </a:r>
            <a:r>
              <a:rPr sz="2100" dirty="0">
                <a:latin typeface="Arial"/>
                <a:cs typeface="Arial"/>
              </a:rPr>
              <a:t>of </a:t>
            </a:r>
            <a:r>
              <a:rPr sz="2100" spc="-5" dirty="0">
                <a:latin typeface="Arial"/>
                <a:cs typeface="Arial"/>
              </a:rPr>
              <a:t>the free space wavelength. Such a medium is  </a:t>
            </a:r>
            <a:r>
              <a:rPr sz="2100" spc="-10" dirty="0">
                <a:latin typeface="Arial"/>
                <a:cs typeface="Arial"/>
              </a:rPr>
              <a:t>called </a:t>
            </a:r>
            <a:r>
              <a:rPr sz="2100" spc="-5" dirty="0">
                <a:latin typeface="Arial"/>
                <a:cs typeface="Arial"/>
              </a:rPr>
              <a:t>a </a:t>
            </a:r>
            <a:r>
              <a:rPr sz="2100" b="1" spc="-10" dirty="0">
                <a:latin typeface="Arial"/>
                <a:cs typeface="Arial"/>
              </a:rPr>
              <a:t>dispersive </a:t>
            </a:r>
            <a:r>
              <a:rPr sz="2100" b="1" spc="-5" dirty="0">
                <a:latin typeface="Arial"/>
                <a:cs typeface="Arial"/>
              </a:rPr>
              <a:t>medium</a:t>
            </a:r>
            <a:r>
              <a:rPr sz="2100" spc="-5" dirty="0">
                <a:latin typeface="Arial"/>
                <a:cs typeface="Arial"/>
              </a:rPr>
              <a:t>. </a:t>
            </a:r>
            <a:r>
              <a:rPr sz="2100" i="1" spc="-5" dirty="0">
                <a:latin typeface="Arial"/>
                <a:cs typeface="Arial"/>
              </a:rPr>
              <a:t>n </a:t>
            </a:r>
            <a:r>
              <a:rPr sz="2100" spc="-5" dirty="0">
                <a:latin typeface="Arial"/>
                <a:cs typeface="Arial"/>
              </a:rPr>
              <a:t>and </a:t>
            </a:r>
            <a:r>
              <a:rPr sz="2100" i="1" spc="5" dirty="0">
                <a:latin typeface="Arial"/>
                <a:cs typeface="Arial"/>
              </a:rPr>
              <a:t>N</a:t>
            </a:r>
            <a:r>
              <a:rPr sz="1900" spc="7" baseline="-21367" dirty="0">
                <a:latin typeface="Arial"/>
                <a:cs typeface="Arial"/>
              </a:rPr>
              <a:t>g </a:t>
            </a:r>
            <a:r>
              <a:rPr sz="2100" spc="-5" dirty="0">
                <a:latin typeface="Arial"/>
                <a:cs typeface="Arial"/>
              </a:rPr>
              <a:t>of </a:t>
            </a:r>
            <a:r>
              <a:rPr sz="2100" dirty="0">
                <a:latin typeface="Arial"/>
                <a:cs typeface="Arial"/>
              </a:rPr>
              <a:t>SiO</a:t>
            </a:r>
            <a:r>
              <a:rPr sz="1900" baseline="-21367" dirty="0">
                <a:latin typeface="Arial"/>
                <a:cs typeface="Arial"/>
              </a:rPr>
              <a:t>2 </a:t>
            </a:r>
            <a:r>
              <a:rPr sz="2100" spc="-5" dirty="0">
                <a:latin typeface="Arial"/>
                <a:cs typeface="Arial"/>
              </a:rPr>
              <a:t>are important parameters for  optical fiber design in optical</a:t>
            </a:r>
            <a:r>
              <a:rPr sz="2100" spc="65" dirty="0">
                <a:latin typeface="Arial"/>
                <a:cs typeface="Arial"/>
              </a:rPr>
              <a:t> </a:t>
            </a:r>
            <a:r>
              <a:rPr sz="2100" spc="-5" dirty="0">
                <a:latin typeface="Arial"/>
                <a:cs typeface="Arial"/>
              </a:rPr>
              <a:t>communications.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144863" y="6656474"/>
            <a:ext cx="248920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384"/>
            <a:fld id="{81D60167-4931-47E6-BA6A-407CBD079E47}" type="slidenum">
              <a:rPr/>
              <a:pPr marL="25384"/>
              <a:t>27</a:t>
            </a:fld>
            <a:endParaRPr/>
          </a:p>
        </p:txBody>
      </p:sp>
    </p:spTree>
  </p:cSld>
  <p:clrMapOvr>
    <a:masterClrMapping/>
  </p:clrMapOvr>
  <p:transition spd="slow"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98700" y="2638425"/>
            <a:ext cx="594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Ray Transmission Theory</a:t>
            </a:r>
          </a:p>
        </p:txBody>
      </p:sp>
    </p:spTree>
  </p:cSld>
  <p:clrMapOvr>
    <a:masterClrMapping/>
  </p:clrMapOvr>
  <p:transition spd="slow"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200025"/>
            <a:ext cx="883385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0319"/>
            <a:r>
              <a:rPr lang="en-US" sz="3200" spc="-10" dirty="0">
                <a:solidFill>
                  <a:srgbClr val="FFC000"/>
                </a:solidFill>
                <a:latin typeface="Arial"/>
                <a:cs typeface="Arial"/>
              </a:rPr>
              <a:t>Ray optics: basic laws 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9500" y="809625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Ray optics is based on three laws which describe the propagation of rays:</a:t>
            </a:r>
          </a:p>
          <a:p>
            <a:pPr marL="799819" lvl="1" indent="-342900" algn="just">
              <a:buFont typeface="+mj-lt"/>
              <a:buAutoNum type="arabicPeriod"/>
            </a:pPr>
            <a:r>
              <a:rPr lang="en-US" sz="2400" dirty="0"/>
              <a:t>Light rays in homogeneous media are straight lines.</a:t>
            </a:r>
          </a:p>
          <a:p>
            <a:pPr marL="799819" lvl="1" indent="-342900" algn="just">
              <a:buFont typeface="+mj-lt"/>
              <a:buAutoNum type="arabicPeriod"/>
            </a:pPr>
            <a:r>
              <a:rPr lang="en-US" sz="2400" dirty="0"/>
              <a:t>Law of reflection: Reflection in a mirror or at the boundary between two media of different refractive indices: the reflected ray lies in the plan of incidence, the angle of reflection equals the angle of incidence (i.e. </a:t>
            </a:r>
            <a:r>
              <a:rPr lang="en-US" sz="2400" i="1" spc="-21" dirty="0">
                <a:latin typeface="Symbol"/>
                <a:cs typeface="Times New Roman" panose="02020603050405020304" pitchFamily="18" charset="0"/>
              </a:rPr>
              <a:t></a:t>
            </a:r>
            <a:r>
              <a:rPr lang="en-US" sz="2000" spc="-30" baseline="-20833" dirty="0">
                <a:latin typeface="Times New Roman"/>
                <a:cs typeface="Times New Roman"/>
              </a:rPr>
              <a:t>r</a:t>
            </a:r>
            <a:r>
              <a:rPr lang="en-US" sz="2400" dirty="0"/>
              <a:t> =</a:t>
            </a:r>
            <a:r>
              <a:rPr lang="en-US" sz="2400" i="1" spc="-21" dirty="0">
                <a:latin typeface="Symbol"/>
                <a:cs typeface="Times New Roman" panose="02020603050405020304" pitchFamily="18" charset="0"/>
              </a:rPr>
              <a:t> </a:t>
            </a:r>
            <a:r>
              <a:rPr lang="en-US" sz="2000" spc="-30" baseline="-20833" dirty="0">
                <a:latin typeface="Times New Roman"/>
                <a:cs typeface="Times New Roman"/>
              </a:rPr>
              <a:t>i</a:t>
            </a:r>
            <a:r>
              <a:rPr lang="en-US" sz="2400" dirty="0"/>
              <a:t>)   </a:t>
            </a:r>
          </a:p>
        </p:txBody>
      </p:sp>
      <p:pic>
        <p:nvPicPr>
          <p:cNvPr id="88066" name="Picture 2" descr="The Law of Reflec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5900" y="3552825"/>
            <a:ext cx="5410200" cy="3787140"/>
          </a:xfrm>
          <a:prstGeom prst="rect">
            <a:avLst/>
          </a:prstGeom>
          <a:noFill/>
        </p:spPr>
      </p:pic>
    </p:spTree>
  </p:cSld>
  <p:clrMapOvr>
    <a:masterClrMapping/>
  </p:clrMapOvr>
  <p:transition spd="slow"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500" y="276225"/>
            <a:ext cx="76962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0319" algn="ctr"/>
            <a:r>
              <a:rPr lang="en-US" sz="3200" spc="-10" dirty="0">
                <a:solidFill>
                  <a:srgbClr val="FFC000"/>
                </a:solidFill>
                <a:latin typeface="Arial"/>
                <a:cs typeface="Arial"/>
              </a:rPr>
              <a:t>Snell’s law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9500" y="809625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At the boundary between two media of different refractive indices n, the reflected ray lies in the plane of incidence. The angle of refraction  </a:t>
            </a:r>
            <a:r>
              <a:rPr lang="en-US" sz="2400" i="1" spc="-21" dirty="0">
                <a:latin typeface="Symbol"/>
                <a:cs typeface="Symbol"/>
              </a:rPr>
              <a:t></a:t>
            </a:r>
            <a:r>
              <a:rPr lang="en-US" sz="2000" spc="-30" baseline="-20833" dirty="0">
                <a:latin typeface="Times New Roman"/>
                <a:cs typeface="Times New Roman"/>
              </a:rPr>
              <a:t>t</a:t>
            </a:r>
            <a:r>
              <a:rPr lang="en-US" sz="2400" dirty="0"/>
              <a:t>  is related to the angle of incidence  </a:t>
            </a:r>
            <a:r>
              <a:rPr lang="en-US" sz="2400" i="1" spc="-21" dirty="0">
                <a:latin typeface="Symbol"/>
                <a:cs typeface="Symbol"/>
              </a:rPr>
              <a:t></a:t>
            </a:r>
            <a:r>
              <a:rPr lang="en-US" sz="2000" spc="-30" baseline="-20833" dirty="0" err="1">
                <a:latin typeface="Times New Roman"/>
                <a:cs typeface="Times New Roman"/>
              </a:rPr>
              <a:t>i</a:t>
            </a:r>
            <a:r>
              <a:rPr lang="en-US" sz="2400" dirty="0"/>
              <a:t>  by</a:t>
            </a:r>
          </a:p>
          <a:p>
            <a:pPr algn="just"/>
            <a:r>
              <a:rPr lang="en-US" sz="2400" dirty="0"/>
              <a:t> </a:t>
            </a:r>
            <a:r>
              <a:rPr lang="en-US" sz="2400" i="1" spc="-21" dirty="0" err="1"/>
              <a:t>n</a:t>
            </a:r>
            <a:r>
              <a:rPr lang="en-US" sz="2000" spc="-30" baseline="-20833" dirty="0" err="1">
                <a:latin typeface="Times New Roman"/>
                <a:cs typeface="Times New Roman"/>
              </a:rPr>
              <a:t>i</a:t>
            </a:r>
            <a:r>
              <a:rPr lang="en-US" sz="2400" dirty="0"/>
              <a:t> </a:t>
            </a:r>
            <a:r>
              <a:rPr lang="en-US" sz="2400" dirty="0" err="1"/>
              <a:t>sin</a:t>
            </a:r>
            <a:r>
              <a:rPr lang="en-US" sz="2400" i="1" spc="-21" dirty="0" err="1">
                <a:latin typeface="Symbol"/>
                <a:cs typeface="Symbol"/>
              </a:rPr>
              <a:t></a:t>
            </a:r>
            <a:r>
              <a:rPr lang="en-US" sz="2000" spc="-30" baseline="-20833" dirty="0" err="1">
                <a:latin typeface="Times New Roman"/>
                <a:cs typeface="Times New Roman"/>
              </a:rPr>
              <a:t>i</a:t>
            </a:r>
            <a:r>
              <a:rPr lang="en-US" sz="2400" dirty="0"/>
              <a:t> = </a:t>
            </a:r>
            <a:r>
              <a:rPr lang="en-US" sz="2400" i="1" spc="-21" dirty="0" err="1"/>
              <a:t>n</a:t>
            </a:r>
            <a:r>
              <a:rPr lang="en-US" sz="2000" spc="-30" baseline="-20833" dirty="0" err="1">
                <a:latin typeface="Times New Roman"/>
                <a:cs typeface="Times New Roman"/>
              </a:rPr>
              <a:t>t</a:t>
            </a:r>
            <a:r>
              <a:rPr lang="en-US" sz="2400" dirty="0"/>
              <a:t> </a:t>
            </a:r>
            <a:r>
              <a:rPr lang="en-US" sz="2400" dirty="0" err="1"/>
              <a:t>sin</a:t>
            </a:r>
            <a:r>
              <a:rPr lang="en-US" sz="2400" i="1" spc="-21" dirty="0" err="1">
                <a:latin typeface="Symbol"/>
                <a:cs typeface="Symbol"/>
              </a:rPr>
              <a:t></a:t>
            </a:r>
            <a:r>
              <a:rPr lang="en-US" sz="2000" spc="-30" baseline="-20833" dirty="0" err="1">
                <a:latin typeface="Times New Roman"/>
                <a:cs typeface="Times New Roman"/>
              </a:rPr>
              <a:t>t</a:t>
            </a:r>
            <a:r>
              <a:rPr lang="en-US" sz="2400" i="1" spc="-21" dirty="0"/>
              <a:t> .</a:t>
            </a:r>
            <a:r>
              <a:rPr lang="en-US" sz="2400" dirty="0"/>
              <a:t>  </a:t>
            </a:r>
          </a:p>
        </p:txBody>
      </p:sp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7700" y="2562225"/>
            <a:ext cx="7447420" cy="304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155700" y="5686425"/>
            <a:ext cx="9220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When a ray is incident on the interface between two dielectrics of different refractive indices (e.g. glass-air), reflection and refraction occur.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 err="1"/>
              <a:t>snells</a:t>
            </a:r>
            <a:r>
              <a:rPr lang="en-US" sz="2400" dirty="0"/>
              <a:t> law of refraction: </a:t>
            </a:r>
            <a:r>
              <a:rPr lang="en-US" sz="2400" i="1" spc="-21" dirty="0"/>
              <a:t>n</a:t>
            </a:r>
            <a:r>
              <a:rPr lang="en-US" sz="2000" spc="-30" baseline="-20833" dirty="0">
                <a:latin typeface="Times New Roman"/>
                <a:cs typeface="Times New Roman"/>
              </a:rPr>
              <a:t>1</a:t>
            </a:r>
            <a:r>
              <a:rPr lang="en-US" sz="2400" dirty="0"/>
              <a:t> sin</a:t>
            </a:r>
            <a:r>
              <a:rPr lang="en-US" sz="2400" i="1" spc="-21" dirty="0">
                <a:latin typeface="Symbol"/>
                <a:cs typeface="Symbol"/>
              </a:rPr>
              <a:t></a:t>
            </a:r>
            <a:r>
              <a:rPr lang="en-US" sz="2000" spc="-30" baseline="-20833" dirty="0">
                <a:latin typeface="Times New Roman"/>
                <a:cs typeface="Times New Roman"/>
              </a:rPr>
              <a:t>1</a:t>
            </a:r>
            <a:r>
              <a:rPr lang="en-US" sz="2400" dirty="0"/>
              <a:t> = </a:t>
            </a:r>
            <a:r>
              <a:rPr lang="en-US" sz="2400" i="1" spc="-21" dirty="0"/>
              <a:t>n</a:t>
            </a:r>
            <a:r>
              <a:rPr lang="en-US" sz="2000" spc="-30" baseline="-20833" dirty="0">
                <a:latin typeface="Times New Roman"/>
                <a:cs typeface="Times New Roman"/>
              </a:rPr>
              <a:t>2</a:t>
            </a:r>
            <a:r>
              <a:rPr lang="en-US" sz="2400" dirty="0"/>
              <a:t> sin</a:t>
            </a:r>
            <a:r>
              <a:rPr lang="en-US" sz="2400" i="1" spc="-21" dirty="0">
                <a:latin typeface="Symbol"/>
                <a:cs typeface="Symbol"/>
              </a:rPr>
              <a:t></a:t>
            </a:r>
            <a:r>
              <a:rPr lang="en-US" sz="2000" spc="-30" baseline="-20833" dirty="0">
                <a:latin typeface="Times New Roman"/>
                <a:cs typeface="Times New Roman"/>
              </a:rPr>
              <a:t>2</a:t>
            </a:r>
            <a:r>
              <a:rPr lang="en-US" sz="2400" i="1" spc="-21" dirty="0"/>
              <a:t> .</a:t>
            </a:r>
            <a:r>
              <a:rPr lang="en-US" sz="2400" dirty="0"/>
              <a:t>  </a:t>
            </a:r>
          </a:p>
        </p:txBody>
      </p:sp>
    </p:spTree>
  </p:cSld>
  <p:clrMapOvr>
    <a:masterClrMapping/>
  </p:clrMapOvr>
  <p:transition spd="slow"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8095" y="492251"/>
            <a:ext cx="2152650" cy="714375"/>
          </a:xfrm>
          <a:custGeom>
            <a:avLst/>
            <a:gdLst/>
            <a:ahLst/>
            <a:cxnLst/>
            <a:rect l="l" t="t" r="r" b="b"/>
            <a:pathLst>
              <a:path w="2152650" h="714375">
                <a:moveTo>
                  <a:pt x="2152650" y="713994"/>
                </a:moveTo>
                <a:lnTo>
                  <a:pt x="2152650" y="0"/>
                </a:lnTo>
                <a:lnTo>
                  <a:pt x="0" y="0"/>
                </a:lnTo>
                <a:lnTo>
                  <a:pt x="0" y="713994"/>
                </a:lnTo>
                <a:lnTo>
                  <a:pt x="9143" y="713994"/>
                </a:lnTo>
                <a:lnTo>
                  <a:pt x="9143" y="19050"/>
                </a:lnTo>
                <a:lnTo>
                  <a:pt x="19050" y="9143"/>
                </a:lnTo>
                <a:lnTo>
                  <a:pt x="19050" y="19050"/>
                </a:lnTo>
                <a:lnTo>
                  <a:pt x="2133600" y="19049"/>
                </a:lnTo>
                <a:lnTo>
                  <a:pt x="2133600" y="9143"/>
                </a:lnTo>
                <a:lnTo>
                  <a:pt x="2142744" y="19049"/>
                </a:lnTo>
                <a:lnTo>
                  <a:pt x="2142744" y="713994"/>
                </a:lnTo>
                <a:lnTo>
                  <a:pt x="2152650" y="713994"/>
                </a:lnTo>
                <a:close/>
              </a:path>
              <a:path w="2152650" h="714375">
                <a:moveTo>
                  <a:pt x="19050" y="19050"/>
                </a:moveTo>
                <a:lnTo>
                  <a:pt x="19050" y="9143"/>
                </a:lnTo>
                <a:lnTo>
                  <a:pt x="9143" y="19050"/>
                </a:lnTo>
                <a:lnTo>
                  <a:pt x="19050" y="19050"/>
                </a:lnTo>
                <a:close/>
              </a:path>
              <a:path w="2152650" h="714375">
                <a:moveTo>
                  <a:pt x="19050" y="713994"/>
                </a:moveTo>
                <a:lnTo>
                  <a:pt x="19050" y="19050"/>
                </a:lnTo>
                <a:lnTo>
                  <a:pt x="9143" y="19050"/>
                </a:lnTo>
                <a:lnTo>
                  <a:pt x="9143" y="713994"/>
                </a:lnTo>
                <a:lnTo>
                  <a:pt x="19050" y="713994"/>
                </a:lnTo>
                <a:close/>
              </a:path>
              <a:path w="2152650" h="714375">
                <a:moveTo>
                  <a:pt x="2142744" y="19049"/>
                </a:moveTo>
                <a:lnTo>
                  <a:pt x="2133600" y="9143"/>
                </a:lnTo>
                <a:lnTo>
                  <a:pt x="2133600" y="19049"/>
                </a:lnTo>
                <a:lnTo>
                  <a:pt x="2142744" y="19049"/>
                </a:lnTo>
                <a:close/>
              </a:path>
              <a:path w="2152650" h="714375">
                <a:moveTo>
                  <a:pt x="2142744" y="713994"/>
                </a:moveTo>
                <a:lnTo>
                  <a:pt x="2142744" y="19049"/>
                </a:lnTo>
                <a:lnTo>
                  <a:pt x="2133600" y="19049"/>
                </a:lnTo>
                <a:lnTo>
                  <a:pt x="2133600" y="713994"/>
                </a:lnTo>
                <a:lnTo>
                  <a:pt x="2142744" y="713994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9506" y="535181"/>
            <a:ext cx="1751211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900" b="1" dirty="0">
                <a:solidFill>
                  <a:srgbClr val="422ED6"/>
                </a:solidFill>
                <a:latin typeface="Times New Roman"/>
                <a:cs typeface="Times New Roman"/>
              </a:rPr>
              <a:t>Refraction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1047" y="1098806"/>
            <a:ext cx="6350000" cy="107950"/>
          </a:xfrm>
          <a:custGeom>
            <a:avLst/>
            <a:gdLst/>
            <a:ahLst/>
            <a:cxnLst/>
            <a:rect l="l" t="t" r="r" b="b"/>
            <a:pathLst>
              <a:path w="6350000" h="107950">
                <a:moveTo>
                  <a:pt x="6349746" y="107441"/>
                </a:moveTo>
                <a:lnTo>
                  <a:pt x="6349746" y="5334"/>
                </a:lnTo>
                <a:lnTo>
                  <a:pt x="6344412" y="0"/>
                </a:lnTo>
                <a:lnTo>
                  <a:pt x="5333" y="0"/>
                </a:lnTo>
                <a:lnTo>
                  <a:pt x="0" y="5334"/>
                </a:lnTo>
                <a:lnTo>
                  <a:pt x="0" y="107441"/>
                </a:lnTo>
                <a:lnTo>
                  <a:pt x="12192" y="107441"/>
                </a:lnTo>
                <a:lnTo>
                  <a:pt x="12192" y="25146"/>
                </a:lnTo>
                <a:lnTo>
                  <a:pt x="25146" y="12192"/>
                </a:lnTo>
                <a:lnTo>
                  <a:pt x="25146" y="25146"/>
                </a:lnTo>
                <a:lnTo>
                  <a:pt x="6324600" y="25146"/>
                </a:lnTo>
                <a:lnTo>
                  <a:pt x="6324600" y="12192"/>
                </a:lnTo>
                <a:lnTo>
                  <a:pt x="6336792" y="25146"/>
                </a:lnTo>
                <a:lnTo>
                  <a:pt x="6336792" y="107441"/>
                </a:lnTo>
                <a:lnTo>
                  <a:pt x="6349746" y="107441"/>
                </a:lnTo>
                <a:close/>
              </a:path>
              <a:path w="6350000" h="107950">
                <a:moveTo>
                  <a:pt x="25146" y="25146"/>
                </a:moveTo>
                <a:lnTo>
                  <a:pt x="25146" y="12192"/>
                </a:lnTo>
                <a:lnTo>
                  <a:pt x="12192" y="25146"/>
                </a:lnTo>
                <a:lnTo>
                  <a:pt x="25146" y="25146"/>
                </a:lnTo>
                <a:close/>
              </a:path>
              <a:path w="6350000" h="107950">
                <a:moveTo>
                  <a:pt x="25146" y="107441"/>
                </a:moveTo>
                <a:lnTo>
                  <a:pt x="25146" y="25146"/>
                </a:lnTo>
                <a:lnTo>
                  <a:pt x="12192" y="25146"/>
                </a:lnTo>
                <a:lnTo>
                  <a:pt x="12192" y="107441"/>
                </a:lnTo>
                <a:lnTo>
                  <a:pt x="25146" y="107441"/>
                </a:lnTo>
                <a:close/>
              </a:path>
              <a:path w="6350000" h="107950">
                <a:moveTo>
                  <a:pt x="6336792" y="25146"/>
                </a:moveTo>
                <a:lnTo>
                  <a:pt x="6324600" y="12192"/>
                </a:lnTo>
                <a:lnTo>
                  <a:pt x="6324600" y="25146"/>
                </a:lnTo>
                <a:lnTo>
                  <a:pt x="6336792" y="25146"/>
                </a:lnTo>
                <a:close/>
              </a:path>
              <a:path w="6350000" h="107950">
                <a:moveTo>
                  <a:pt x="6336792" y="107441"/>
                </a:moveTo>
                <a:lnTo>
                  <a:pt x="6336792" y="25146"/>
                </a:lnTo>
                <a:lnTo>
                  <a:pt x="6324600" y="25146"/>
                </a:lnTo>
                <a:lnTo>
                  <a:pt x="6324600" y="107441"/>
                </a:lnTo>
                <a:lnTo>
                  <a:pt x="6336792" y="107441"/>
                </a:lnTo>
                <a:close/>
              </a:path>
            </a:pathLst>
          </a:custGeom>
          <a:solidFill>
            <a:srgbClr val="CC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7620" y="1206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60700" y="1206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9050">
            <a:solidFill>
              <a:srgbClr val="00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44370" y="475237"/>
            <a:ext cx="5996940" cy="1441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5095"/>
            <a:r>
              <a:rPr sz="3200" spc="-5" dirty="0">
                <a:solidFill>
                  <a:srgbClr val="FFC000"/>
                </a:solidFill>
                <a:latin typeface="Arial"/>
                <a:cs typeface="Arial"/>
              </a:rPr>
              <a:t>Total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Internal</a:t>
            </a:r>
            <a:r>
              <a:rPr sz="3200" spc="-4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C000"/>
                </a:solidFill>
                <a:latin typeface="Arial"/>
                <a:cs typeface="Arial"/>
              </a:rPr>
              <a:t>Reflection</a:t>
            </a:r>
            <a:endParaRPr sz="3200" dirty="0">
              <a:solidFill>
                <a:srgbClr val="FFC000"/>
              </a:solidFill>
              <a:latin typeface="Arial"/>
              <a:cs typeface="Arial"/>
            </a:endParaRPr>
          </a:p>
          <a:p>
            <a:pPr marL="12693" marR="5080">
              <a:lnSpc>
                <a:spcPts val="2878"/>
              </a:lnSpc>
              <a:spcBef>
                <a:spcPts val="1550"/>
              </a:spcBef>
            </a:pPr>
            <a:r>
              <a:rPr sz="2400" spc="-5" dirty="0">
                <a:latin typeface="Times New Roman"/>
                <a:cs typeface="Times New Roman"/>
              </a:rPr>
              <a:t>When 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r>
              <a:rPr sz="2400" spc="-7" baseline="-20833" dirty="0">
                <a:latin typeface="Times New Roman"/>
                <a:cs typeface="Times New Roman"/>
              </a:rPr>
              <a:t>1 </a:t>
            </a:r>
            <a:r>
              <a:rPr sz="2400" dirty="0">
                <a:latin typeface="Times New Roman"/>
                <a:cs typeface="Times New Roman"/>
              </a:rPr>
              <a:t>&gt; </a:t>
            </a:r>
            <a:r>
              <a:rPr sz="2400" i="1" spc="-5" dirty="0">
                <a:latin typeface="Times New Roman"/>
                <a:cs typeface="Times New Roman"/>
              </a:rPr>
              <a:t>n</a:t>
            </a:r>
            <a:r>
              <a:rPr sz="2400" spc="-7" baseline="-20833" dirty="0">
                <a:latin typeface="Times New Roman"/>
                <a:cs typeface="Times New Roman"/>
              </a:rPr>
              <a:t>2 </a:t>
            </a:r>
            <a:r>
              <a:rPr sz="2400" spc="-5" dirty="0">
                <a:latin typeface="Times New Roman"/>
                <a:cs typeface="Times New Roman"/>
              </a:rPr>
              <a:t>and </a:t>
            </a:r>
            <a:r>
              <a:rPr sz="2500" i="1" spc="-30" dirty="0">
                <a:latin typeface="Symbol"/>
                <a:cs typeface="Symbol"/>
              </a:rPr>
              <a:t></a:t>
            </a:r>
            <a:r>
              <a:rPr sz="2400" spc="-44" baseline="-20833" dirty="0">
                <a:latin typeface="Times New Roman"/>
                <a:cs typeface="Times New Roman"/>
              </a:rPr>
              <a:t>t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90</a:t>
            </a:r>
            <a:r>
              <a:rPr sz="2400" spc="-5" dirty="0">
                <a:latin typeface="Symbol"/>
                <a:cs typeface="Symbol"/>
              </a:rPr>
              <a:t></a:t>
            </a:r>
            <a:r>
              <a:rPr sz="2400" spc="-5" dirty="0">
                <a:latin typeface="Times New Roman"/>
                <a:cs typeface="Times New Roman"/>
              </a:rPr>
              <a:t>, the incidence angle is  called the </a:t>
            </a:r>
            <a:r>
              <a:rPr sz="2400" b="1" spc="-5" dirty="0">
                <a:latin typeface="Times New Roman"/>
                <a:cs typeface="Times New Roman"/>
              </a:rPr>
              <a:t>critical angle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500" i="1" spc="-21" dirty="0">
                <a:latin typeface="Symbol"/>
                <a:cs typeface="Symbol"/>
              </a:rPr>
              <a:t></a:t>
            </a:r>
            <a:r>
              <a:rPr sz="2400" spc="-30" baseline="-20833" dirty="0">
                <a:latin typeface="Times New Roman"/>
                <a:cs typeface="Times New Roman"/>
              </a:rPr>
              <a:t>c</a:t>
            </a:r>
            <a:r>
              <a:rPr sz="2400" spc="-21" dirty="0"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13620" y="12062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5146">
            <a:solidFill>
              <a:srgbClr val="CC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38220" y="12062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49"/>
                </a:lnTo>
              </a:path>
            </a:pathLst>
          </a:custGeom>
          <a:ln w="25146">
            <a:solidFill>
              <a:srgbClr val="CC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18095" y="2063496"/>
            <a:ext cx="2152650" cy="429258"/>
          </a:xfrm>
          <a:custGeom>
            <a:avLst/>
            <a:gdLst/>
            <a:ahLst/>
            <a:cxnLst/>
            <a:rect l="l" t="t" r="r" b="b"/>
            <a:pathLst>
              <a:path w="2152650" h="429260">
                <a:moveTo>
                  <a:pt x="19050" y="409955"/>
                </a:moveTo>
                <a:lnTo>
                  <a:pt x="19050" y="0"/>
                </a:lnTo>
                <a:lnTo>
                  <a:pt x="0" y="0"/>
                </a:lnTo>
                <a:lnTo>
                  <a:pt x="0" y="429005"/>
                </a:lnTo>
                <a:lnTo>
                  <a:pt x="9144" y="429005"/>
                </a:lnTo>
                <a:lnTo>
                  <a:pt x="9143" y="409955"/>
                </a:lnTo>
                <a:lnTo>
                  <a:pt x="19050" y="409955"/>
                </a:lnTo>
                <a:close/>
              </a:path>
              <a:path w="2152650" h="429260">
                <a:moveTo>
                  <a:pt x="2142743" y="409955"/>
                </a:moveTo>
                <a:lnTo>
                  <a:pt x="9143" y="409955"/>
                </a:lnTo>
                <a:lnTo>
                  <a:pt x="19050" y="419099"/>
                </a:lnTo>
                <a:lnTo>
                  <a:pt x="19049" y="429005"/>
                </a:lnTo>
                <a:lnTo>
                  <a:pt x="2133600" y="429005"/>
                </a:lnTo>
                <a:lnTo>
                  <a:pt x="2133600" y="419099"/>
                </a:lnTo>
                <a:lnTo>
                  <a:pt x="2142743" y="409955"/>
                </a:lnTo>
                <a:close/>
              </a:path>
              <a:path w="2152650" h="429260">
                <a:moveTo>
                  <a:pt x="19049" y="429005"/>
                </a:moveTo>
                <a:lnTo>
                  <a:pt x="19050" y="419099"/>
                </a:lnTo>
                <a:lnTo>
                  <a:pt x="9143" y="409955"/>
                </a:lnTo>
                <a:lnTo>
                  <a:pt x="9144" y="429005"/>
                </a:lnTo>
                <a:lnTo>
                  <a:pt x="19049" y="429005"/>
                </a:lnTo>
                <a:close/>
              </a:path>
              <a:path w="2152650" h="429260">
                <a:moveTo>
                  <a:pt x="2152650" y="429005"/>
                </a:moveTo>
                <a:lnTo>
                  <a:pt x="2152650" y="0"/>
                </a:lnTo>
                <a:lnTo>
                  <a:pt x="2133600" y="0"/>
                </a:lnTo>
                <a:lnTo>
                  <a:pt x="2133600" y="409955"/>
                </a:lnTo>
                <a:lnTo>
                  <a:pt x="2142743" y="409955"/>
                </a:lnTo>
                <a:lnTo>
                  <a:pt x="2142743" y="429005"/>
                </a:lnTo>
                <a:lnTo>
                  <a:pt x="2152650" y="429005"/>
                </a:lnTo>
                <a:close/>
              </a:path>
              <a:path w="2152650" h="429260">
                <a:moveTo>
                  <a:pt x="2142743" y="429005"/>
                </a:moveTo>
                <a:lnTo>
                  <a:pt x="2142743" y="409955"/>
                </a:lnTo>
                <a:lnTo>
                  <a:pt x="2133600" y="419099"/>
                </a:lnTo>
                <a:lnTo>
                  <a:pt x="2133600" y="429005"/>
                </a:lnTo>
                <a:lnTo>
                  <a:pt x="2142743" y="429005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52363" y="2599944"/>
            <a:ext cx="466090" cy="0"/>
          </a:xfrm>
          <a:custGeom>
            <a:avLst/>
            <a:gdLst/>
            <a:ahLst/>
            <a:cxnLst/>
            <a:rect l="l" t="t" r="r" b="b"/>
            <a:pathLst>
              <a:path w="466090">
                <a:moveTo>
                  <a:pt x="0" y="0"/>
                </a:moveTo>
                <a:lnTo>
                  <a:pt x="465581" y="0"/>
                </a:lnTo>
              </a:path>
            </a:pathLst>
          </a:custGeom>
          <a:ln w="190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182738" y="2151892"/>
            <a:ext cx="198120" cy="422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700" spc="5" dirty="0">
                <a:latin typeface="Times New Roman"/>
                <a:cs typeface="Times New Roman"/>
              </a:rPr>
              <a:t>2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70170" y="1922519"/>
            <a:ext cx="2552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3700" i="1" spc="5" dirty="0">
                <a:latin typeface="Times New Roman"/>
                <a:cs typeface="Times New Roman"/>
              </a:rPr>
              <a:t>n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65193" y="2232405"/>
            <a:ext cx="1386839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>
              <a:tabLst>
                <a:tab pos="1120079" algn="l"/>
              </a:tabLst>
            </a:pPr>
            <a:r>
              <a:rPr sz="3700" dirty="0">
                <a:latin typeface="Times New Roman"/>
                <a:cs typeface="Times New Roman"/>
              </a:rPr>
              <a:t>si</a:t>
            </a:r>
            <a:r>
              <a:rPr sz="3700" spc="300" dirty="0">
                <a:latin typeface="Times New Roman"/>
                <a:cs typeface="Times New Roman"/>
              </a:rPr>
              <a:t>n</a:t>
            </a:r>
            <a:r>
              <a:rPr sz="3800" i="1" spc="-60" dirty="0">
                <a:latin typeface="Symbol"/>
                <a:cs typeface="Symbol"/>
              </a:rPr>
              <a:t></a:t>
            </a:r>
            <a:r>
              <a:rPr sz="4000" spc="7" baseline="-18518" dirty="0">
                <a:latin typeface="Times New Roman"/>
                <a:cs typeface="Times New Roman"/>
              </a:rPr>
              <a:t>c</a:t>
            </a:r>
            <a:r>
              <a:rPr sz="4000" baseline="-18518" dirty="0">
                <a:latin typeface="Times New Roman"/>
                <a:cs typeface="Times New Roman"/>
              </a:rPr>
              <a:t>	</a:t>
            </a:r>
            <a:r>
              <a:rPr sz="3700" spc="10" dirty="0">
                <a:latin typeface="Symbol"/>
                <a:cs typeface="Symbol"/>
              </a:rPr>
              <a:t>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13620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5146">
            <a:solidFill>
              <a:srgbClr val="CC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538220" y="206349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49"/>
                </a:lnTo>
              </a:path>
            </a:pathLst>
          </a:custGeom>
          <a:ln w="25146">
            <a:solidFill>
              <a:srgbClr val="CC00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02914" y="2731015"/>
            <a:ext cx="372745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3700" i="1" spc="-430" dirty="0">
                <a:latin typeface="Times New Roman"/>
                <a:cs typeface="Times New Roman"/>
              </a:rPr>
              <a:t>n</a:t>
            </a:r>
            <a:r>
              <a:rPr sz="4000" spc="7" baseline="-18518" dirty="0">
                <a:latin typeface="Times New Roman"/>
                <a:cs typeface="Times New Roman"/>
              </a:rPr>
              <a:t>1</a:t>
            </a:r>
            <a:endParaRPr sz="4000" baseline="-1851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01047" y="2920745"/>
            <a:ext cx="6350000" cy="565785"/>
          </a:xfrm>
          <a:custGeom>
            <a:avLst/>
            <a:gdLst/>
            <a:ahLst/>
            <a:cxnLst/>
            <a:rect l="l" t="t" r="r" b="b"/>
            <a:pathLst>
              <a:path w="6350000" h="565785">
                <a:moveTo>
                  <a:pt x="25146" y="540258"/>
                </a:moveTo>
                <a:lnTo>
                  <a:pt x="25146" y="0"/>
                </a:lnTo>
                <a:lnTo>
                  <a:pt x="0" y="0"/>
                </a:lnTo>
                <a:lnTo>
                  <a:pt x="0" y="560070"/>
                </a:lnTo>
                <a:lnTo>
                  <a:pt x="5334" y="565404"/>
                </a:lnTo>
                <a:lnTo>
                  <a:pt x="12191" y="565404"/>
                </a:lnTo>
                <a:lnTo>
                  <a:pt x="12192" y="540258"/>
                </a:lnTo>
                <a:lnTo>
                  <a:pt x="25146" y="540258"/>
                </a:lnTo>
                <a:close/>
              </a:path>
              <a:path w="6350000" h="565785">
                <a:moveTo>
                  <a:pt x="6336792" y="540258"/>
                </a:moveTo>
                <a:lnTo>
                  <a:pt x="12192" y="540258"/>
                </a:lnTo>
                <a:lnTo>
                  <a:pt x="25146" y="552450"/>
                </a:lnTo>
                <a:lnTo>
                  <a:pt x="25146" y="565404"/>
                </a:lnTo>
                <a:lnTo>
                  <a:pt x="6324600" y="565404"/>
                </a:lnTo>
                <a:lnTo>
                  <a:pt x="6324600" y="552450"/>
                </a:lnTo>
                <a:lnTo>
                  <a:pt x="6336792" y="540258"/>
                </a:lnTo>
                <a:close/>
              </a:path>
              <a:path w="6350000" h="565785">
                <a:moveTo>
                  <a:pt x="25146" y="565404"/>
                </a:moveTo>
                <a:lnTo>
                  <a:pt x="25146" y="552450"/>
                </a:lnTo>
                <a:lnTo>
                  <a:pt x="12192" y="540258"/>
                </a:lnTo>
                <a:lnTo>
                  <a:pt x="12191" y="565404"/>
                </a:lnTo>
                <a:lnTo>
                  <a:pt x="25146" y="565404"/>
                </a:lnTo>
                <a:close/>
              </a:path>
              <a:path w="6350000" h="565785">
                <a:moveTo>
                  <a:pt x="6349746" y="560070"/>
                </a:moveTo>
                <a:lnTo>
                  <a:pt x="6349746" y="0"/>
                </a:lnTo>
                <a:lnTo>
                  <a:pt x="6324600" y="0"/>
                </a:lnTo>
                <a:lnTo>
                  <a:pt x="6324600" y="540258"/>
                </a:lnTo>
                <a:lnTo>
                  <a:pt x="6336792" y="540258"/>
                </a:lnTo>
                <a:lnTo>
                  <a:pt x="6336792" y="565404"/>
                </a:lnTo>
                <a:lnTo>
                  <a:pt x="6344412" y="565404"/>
                </a:lnTo>
                <a:lnTo>
                  <a:pt x="6349746" y="560070"/>
                </a:lnTo>
                <a:close/>
              </a:path>
              <a:path w="6350000" h="565785">
                <a:moveTo>
                  <a:pt x="6336792" y="565404"/>
                </a:moveTo>
                <a:lnTo>
                  <a:pt x="6336792" y="540258"/>
                </a:lnTo>
                <a:lnTo>
                  <a:pt x="6324600" y="552450"/>
                </a:lnTo>
                <a:lnTo>
                  <a:pt x="6324600" y="565404"/>
                </a:lnTo>
                <a:lnTo>
                  <a:pt x="6336792" y="565404"/>
                </a:lnTo>
                <a:close/>
              </a:path>
            </a:pathLst>
          </a:custGeom>
          <a:solidFill>
            <a:srgbClr val="CC00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11824" y="3556253"/>
            <a:ext cx="8675370" cy="2960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1003300" y="1038225"/>
          <a:ext cx="186017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431640" progId="Equation.3">
                  <p:embed/>
                </p:oleObj>
              </mc:Choice>
              <mc:Fallback>
                <p:oleObj name="Equation" r:id="rId3" imgW="7110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038225"/>
                        <a:ext cx="1860177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79900" y="352425"/>
            <a:ext cx="1751211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sz="2900" b="1" dirty="0">
                <a:solidFill>
                  <a:srgbClr val="FFC000"/>
                </a:solidFill>
                <a:latin typeface="Times New Roman"/>
                <a:cs typeface="Times New Roman"/>
              </a:rPr>
              <a:t>Refraction</a:t>
            </a:r>
            <a:endParaRPr sz="29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27100" y="962025"/>
                <a:ext cx="8991600" cy="3358868"/>
              </a:xfrm>
              <a:prstGeom prst="rect">
                <a:avLst/>
              </a:prstGeom>
              <a:ln w="44450" cmpd="dbl">
                <a:solidFill>
                  <a:srgbClr val="92D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 light ray is incident from medium-1 to medium-2. If the refractive indices of medium-1 and medium-2 are 1.5 and 1.36 respectively then determine the angle of refraction for an angle of incidence of 30</a:t>
                </a:r>
                <a:r>
                  <a:rPr lang="en-US" baseline="30000" dirty="0"/>
                  <a:t>o</a:t>
                </a:r>
                <a:r>
                  <a:rPr lang="en-US" dirty="0"/>
                  <a:t> 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b="1" dirty="0"/>
                  <a:t>Solution: From Snell’s law:	 n</a:t>
                </a:r>
                <a:r>
                  <a:rPr lang="en-US" b="1" baseline="-25000" dirty="0"/>
                  <a:t>1</a:t>
                </a:r>
                <a:r>
                  <a:rPr lang="en-US" b="1" dirty="0"/>
                  <a:t>sin</a:t>
                </a:r>
                <a:r>
                  <a:rPr lang="el-GR" b="1" dirty="0"/>
                  <a:t>θ</a:t>
                </a:r>
                <a:r>
                  <a:rPr lang="en-US" b="1" baseline="-25000" dirty="0"/>
                  <a:t>1</a:t>
                </a:r>
                <a:r>
                  <a:rPr lang="en-US" b="1" dirty="0"/>
                  <a:t>=n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sin</a:t>
                </a:r>
                <a:r>
                  <a:rPr lang="el-GR" b="1" dirty="0"/>
                  <a:t>θ</a:t>
                </a:r>
                <a:r>
                  <a:rPr lang="en-US" b="1" baseline="-25000" dirty="0"/>
                  <a:t>2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b="1" baseline="-25000" dirty="0"/>
                  <a:t>			</a:t>
                </a:r>
                <a:r>
                  <a:rPr lang="en-US" b="1" dirty="0"/>
                  <a:t>1.5sin30</a:t>
                </a:r>
                <a:r>
                  <a:rPr lang="en-US" b="1" baseline="30000" dirty="0"/>
                  <a:t>0</a:t>
                </a:r>
                <a:r>
                  <a:rPr lang="en-US" b="1" dirty="0"/>
                  <a:t>=1.36sin</a:t>
                </a:r>
                <a:r>
                  <a:rPr lang="el-GR" b="1" dirty="0"/>
                  <a:t>θ</a:t>
                </a:r>
                <a:r>
                  <a:rPr lang="en-US" b="1" baseline="-25000" dirty="0"/>
                  <a:t>2</a:t>
                </a:r>
                <a:endParaRPr lang="en-US" b="1" dirty="0"/>
              </a:p>
              <a:p>
                <a:pPr>
                  <a:spcBef>
                    <a:spcPts val="600"/>
                  </a:spcBef>
                </a:pPr>
                <a:r>
                  <a:rPr lang="en-US" b="1" baseline="-25000" dirty="0"/>
                  <a:t>	</a:t>
                </a:r>
                <a:r>
                  <a:rPr lang="en-US" b="1" dirty="0"/>
                  <a:t>		sin</a:t>
                </a:r>
                <a:r>
                  <a:rPr lang="el-GR" b="1" dirty="0"/>
                  <a:t>θ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𝟑𝟔</m:t>
                        </m:r>
                      </m:den>
                    </m:f>
                  </m:oMath>
                </a14:m>
                <a:r>
                  <a:rPr lang="en-US" b="1" dirty="0"/>
                  <a:t>sin30</a:t>
                </a:r>
                <a:r>
                  <a:rPr lang="en-US" b="1" baseline="30000" dirty="0"/>
                  <a:t>0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b="1" baseline="-25000" dirty="0"/>
                  <a:t>			</a:t>
                </a:r>
                <a:r>
                  <a:rPr lang="en-US" b="1" dirty="0"/>
                  <a:t>sin</a:t>
                </a:r>
                <a:r>
                  <a:rPr lang="el-GR" b="1" dirty="0"/>
                  <a:t> θ</a:t>
                </a:r>
                <a:r>
                  <a:rPr lang="en-US" b="1" baseline="-25000" dirty="0"/>
                  <a:t>2 </a:t>
                </a:r>
                <a:r>
                  <a:rPr lang="en-US" b="1" dirty="0"/>
                  <a:t>=0.55147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b="1" baseline="-25000" dirty="0"/>
                  <a:t>			         </a:t>
                </a:r>
                <a:r>
                  <a:rPr lang="el-GR" b="1" dirty="0"/>
                  <a:t>θ</a:t>
                </a:r>
                <a:r>
                  <a:rPr lang="en-US" b="1" baseline="-25000" dirty="0"/>
                  <a:t>2 </a:t>
                </a:r>
                <a:r>
                  <a:rPr lang="en-US" b="1" dirty="0"/>
                  <a:t>=33.46</a:t>
                </a:r>
                <a:r>
                  <a:rPr lang="en-US" b="1" baseline="30000" dirty="0"/>
                  <a:t>0</a:t>
                </a:r>
                <a:endParaRPr lang="en-US" b="1" baseline="-25000" dirty="0"/>
              </a:p>
              <a:p>
                <a:endParaRPr lang="en-US" b="1" baseline="-25000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00" y="962025"/>
                <a:ext cx="8991600" cy="3358868"/>
              </a:xfrm>
              <a:prstGeom prst="rect">
                <a:avLst/>
              </a:prstGeom>
              <a:blipFill>
                <a:blip r:embed="rId2"/>
                <a:stretch>
                  <a:fillRect l="-337" t="-538"/>
                </a:stretch>
              </a:blipFill>
              <a:ln w="44450" cmpd="dbl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B36A828-B781-4092-82FC-5C85C5DE320F}"/>
              </a:ext>
            </a:extLst>
          </p:cNvPr>
          <p:cNvSpPr txBox="1"/>
          <p:nvPr/>
        </p:nvSpPr>
        <p:spPr>
          <a:xfrm>
            <a:off x="927100" y="4619625"/>
            <a:ext cx="8991600" cy="369332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A light ray is incident from glass to air. Calculate the critical angle (</a:t>
            </a:r>
            <a:r>
              <a:rPr lang="el-GR" b="1" dirty="0"/>
              <a:t>θ</a:t>
            </a:r>
            <a:r>
              <a:rPr lang="en-US" b="1" baseline="-25000" dirty="0"/>
              <a:t>c </a:t>
            </a:r>
            <a:r>
              <a:rPr lang="en-US" dirty="0"/>
              <a:t>). </a:t>
            </a:r>
          </a:p>
        </p:txBody>
      </p:sp>
    </p:spTree>
  </p:cSld>
  <p:clrMapOvr>
    <a:masterClrMapping/>
  </p:clrMapOvr>
  <p:transition spd="slow"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22700" y="366383"/>
            <a:ext cx="4038600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lang="en-US" sz="2900" b="1" dirty="0">
                <a:solidFill>
                  <a:srgbClr val="FFC000"/>
                </a:solidFill>
                <a:latin typeface="Times New Roman"/>
                <a:cs typeface="Times New Roman"/>
              </a:rPr>
              <a:t>Optical fiber structures</a:t>
            </a:r>
            <a:endParaRPr sz="29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pic>
        <p:nvPicPr>
          <p:cNvPr id="141314" name="Picture 2" descr="Basic Structure of an Optical Fiber - Engineer-Educators.com">
            <a:extLst>
              <a:ext uri="{FF2B5EF4-FFF2-40B4-BE49-F238E27FC236}">
                <a16:creationId xmlns:a16="http://schemas.microsoft.com/office/drawing/2014/main" id="{7ABBF57A-E08F-42BB-B0E7-B2AB2542F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809" y="1094458"/>
            <a:ext cx="5791202" cy="329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0BD79-BF08-4EDB-BF90-9D06EC5947AA}"/>
              </a:ext>
            </a:extLst>
          </p:cNvPr>
          <p:cNvSpPr txBox="1"/>
          <p:nvPr/>
        </p:nvSpPr>
        <p:spPr>
          <a:xfrm>
            <a:off x="698499" y="4543425"/>
            <a:ext cx="9677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0000"/>
                </a:solidFill>
                <a:effectLst/>
                <a:latin typeface="ff5"/>
              </a:rPr>
              <a:t>Core: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f5"/>
              </a:rPr>
              <a:t>The inner light-carrying layer with a high index of refraction. The core diameter can vary from about 5 </a:t>
            </a:r>
            <a:r>
              <a:rPr lang="el-G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 to 100 </a:t>
            </a:r>
            <a:r>
              <a:rPr lang="el-G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m.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0D34C-F957-45A8-B85B-6C2161F7A77F}"/>
              </a:ext>
            </a:extLst>
          </p:cNvPr>
          <p:cNvSpPr txBox="1"/>
          <p:nvPr/>
        </p:nvSpPr>
        <p:spPr>
          <a:xfrm>
            <a:off x="698499" y="5229225"/>
            <a:ext cx="96013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000000"/>
                </a:solidFill>
                <a:effectLst/>
                <a:latin typeface="ff5"/>
              </a:rPr>
              <a:t>Cladding: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f5"/>
              </a:rPr>
              <a:t>The middle layer, which serves to confine the light to the core. It has a lower refraction index than the core.</a:t>
            </a:r>
            <a:endParaRPr lang="en-US" sz="2000" b="0" i="0" dirty="0">
              <a:solidFill>
                <a:srgbClr val="000000"/>
              </a:solidFill>
              <a:effectLst/>
              <a:latin typeface="Roboto" panose="020B06040202020202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1B7B3-F033-474E-B6E4-5DA79CE180A1}"/>
              </a:ext>
            </a:extLst>
          </p:cNvPr>
          <p:cNvSpPr txBox="1"/>
          <p:nvPr/>
        </p:nvSpPr>
        <p:spPr>
          <a:xfrm>
            <a:off x="698498" y="5915025"/>
            <a:ext cx="98298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Jacket/Buffer: </a:t>
            </a:r>
            <a:r>
              <a:rPr lang="en-US" sz="2000" dirty="0"/>
              <a:t>The outer layer, which serves as a "shock absorber" to protect the core and cladding from damage. The coating usually comprises one or more coats of a plastic material to protect the fiber from the physical environment. Sometimes metallic sheaths are added to the coating for further physical protection. The typical diameter of fiber after coating is 2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ff5"/>
              </a:rPr>
              <a:t>50 </a:t>
            </a:r>
            <a:r>
              <a:rPr lang="el-G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 to 300 </a:t>
            </a:r>
            <a:r>
              <a:rPr lang="el-GR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59249143"/>
      </p:ext>
    </p:extLst>
  </p:cSld>
  <p:clrMapOvr>
    <a:masterClrMapping/>
  </p:clrMapOvr>
  <p:transition spd="slow"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41700" y="352425"/>
            <a:ext cx="4648200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lang="en-US" sz="2900" b="1" dirty="0">
                <a:solidFill>
                  <a:srgbClr val="FFC000"/>
                </a:solidFill>
                <a:latin typeface="Times New Roman"/>
                <a:cs typeface="Times New Roman"/>
              </a:rPr>
              <a:t>Working Principle of Fiber</a:t>
            </a:r>
            <a:endParaRPr sz="29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B3627D-3964-4142-832B-C5D493F33167}"/>
              </a:ext>
            </a:extLst>
          </p:cNvPr>
          <p:cNvSpPr txBox="1"/>
          <p:nvPr/>
        </p:nvSpPr>
        <p:spPr>
          <a:xfrm>
            <a:off x="1143320" y="5981833"/>
            <a:ext cx="8775379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When an ray of light travels from a denser (high index) to a rarer (low index) medium such that the angle of incidence is greater than the critical angle, the ray reflects back into the same medium.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 the optical fiber the rays undergo repeated total number of reflections until emerges out of the other end of the fiber, even if fiber is bend.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2FC0D28-4608-4379-814B-9087FCCB39A9}"/>
              </a:ext>
            </a:extLst>
          </p:cNvPr>
          <p:cNvGrpSpPr/>
          <p:nvPr/>
        </p:nvGrpSpPr>
        <p:grpSpPr>
          <a:xfrm>
            <a:off x="926806" y="1038225"/>
            <a:ext cx="8382294" cy="1940480"/>
            <a:chOff x="850606" y="1036542"/>
            <a:chExt cx="8382294" cy="194048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24354D6-41E3-4DE1-B7C0-7702090C0F71}"/>
                </a:ext>
              </a:extLst>
            </p:cNvPr>
            <p:cNvGrpSpPr/>
            <p:nvPr/>
          </p:nvGrpSpPr>
          <p:grpSpPr>
            <a:xfrm>
              <a:off x="850606" y="1036542"/>
              <a:ext cx="8382294" cy="1940480"/>
              <a:chOff x="1420794" y="1190625"/>
              <a:chExt cx="7492066" cy="1737360"/>
            </a:xfrm>
          </p:grpSpPr>
          <p:sp>
            <p:nvSpPr>
              <p:cNvPr id="142356" name="Oval 142355">
                <a:extLst>
                  <a:ext uri="{FF2B5EF4-FFF2-40B4-BE49-F238E27FC236}">
                    <a16:creationId xmlns:a16="http://schemas.microsoft.com/office/drawing/2014/main" id="{75D5705B-2305-4463-B440-D7EEB2ECD97F}"/>
                  </a:ext>
                </a:extLst>
              </p:cNvPr>
              <p:cNvSpPr/>
              <p:nvPr/>
            </p:nvSpPr>
            <p:spPr>
              <a:xfrm>
                <a:off x="7175500" y="1190625"/>
                <a:ext cx="1737360" cy="1737360"/>
              </a:xfrm>
              <a:prstGeom prst="ellipse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2358" name="Straight Connector 142357">
                <a:extLst>
                  <a:ext uri="{FF2B5EF4-FFF2-40B4-BE49-F238E27FC236}">
                    <a16:creationId xmlns:a16="http://schemas.microsoft.com/office/drawing/2014/main" id="{ABBA5E83-5DE2-42B3-BEAE-2FDE4312604D}"/>
                  </a:ext>
                </a:extLst>
              </p:cNvPr>
              <p:cNvCxnSpPr/>
              <p:nvPr/>
            </p:nvCxnSpPr>
            <p:spPr>
              <a:xfrm>
                <a:off x="3421881" y="1190625"/>
                <a:ext cx="4668019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360" name="Straight Connector 142359">
                <a:extLst>
                  <a:ext uri="{FF2B5EF4-FFF2-40B4-BE49-F238E27FC236}">
                    <a16:creationId xmlns:a16="http://schemas.microsoft.com/office/drawing/2014/main" id="{F2497388-C55C-4E53-AA15-9B175B7E7789}"/>
                  </a:ext>
                </a:extLst>
              </p:cNvPr>
              <p:cNvCxnSpPr>
                <a:endCxn id="142356" idx="4"/>
              </p:cNvCxnSpPr>
              <p:nvPr/>
            </p:nvCxnSpPr>
            <p:spPr>
              <a:xfrm>
                <a:off x="3421881" y="2926646"/>
                <a:ext cx="4622299" cy="133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361" name="Oval 142360">
                <a:extLst>
                  <a:ext uri="{FF2B5EF4-FFF2-40B4-BE49-F238E27FC236}">
                    <a16:creationId xmlns:a16="http://schemas.microsoft.com/office/drawing/2014/main" id="{A44C84C1-3F4C-48E9-8009-12B2105693EE}"/>
                  </a:ext>
                </a:extLst>
              </p:cNvPr>
              <p:cNvSpPr/>
              <p:nvPr/>
            </p:nvSpPr>
            <p:spPr>
              <a:xfrm>
                <a:off x="7556500" y="1556385"/>
                <a:ext cx="1005840" cy="1005840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2362" name="Oval 142361">
                <a:extLst>
                  <a:ext uri="{FF2B5EF4-FFF2-40B4-BE49-F238E27FC236}">
                    <a16:creationId xmlns:a16="http://schemas.microsoft.com/office/drawing/2014/main" id="{CF801FA6-9F9B-4B33-8A67-4A547A2E7D78}"/>
                  </a:ext>
                </a:extLst>
              </p:cNvPr>
              <p:cNvSpPr/>
              <p:nvPr/>
            </p:nvSpPr>
            <p:spPr>
              <a:xfrm>
                <a:off x="7830820" y="1840176"/>
                <a:ext cx="457200" cy="4572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42364" name="Straight Connector 142363">
                <a:extLst>
                  <a:ext uri="{FF2B5EF4-FFF2-40B4-BE49-F238E27FC236}">
                    <a16:creationId xmlns:a16="http://schemas.microsoft.com/office/drawing/2014/main" id="{F43B9704-053D-428F-BB95-3E3A9A453467}"/>
                  </a:ext>
                </a:extLst>
              </p:cNvPr>
              <p:cNvCxnSpPr>
                <a:stCxn id="142352" idx="0"/>
                <a:endCxn id="142361" idx="0"/>
              </p:cNvCxnSpPr>
              <p:nvPr/>
            </p:nvCxnSpPr>
            <p:spPr>
              <a:xfrm flipV="1">
                <a:off x="4274408" y="1556385"/>
                <a:ext cx="3785012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E5BE0359-353F-475F-856E-4B21F696E37B}"/>
                  </a:ext>
                </a:extLst>
              </p:cNvPr>
              <p:cNvCxnSpPr/>
              <p:nvPr/>
            </p:nvCxnSpPr>
            <p:spPr>
              <a:xfrm flipV="1">
                <a:off x="4426808" y="2562225"/>
                <a:ext cx="3785012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366" name="Straight Connector 142365">
                <a:extLst>
                  <a:ext uri="{FF2B5EF4-FFF2-40B4-BE49-F238E27FC236}">
                    <a16:creationId xmlns:a16="http://schemas.microsoft.com/office/drawing/2014/main" id="{D1FE513D-5BD1-45E4-A4F6-330DB0A2DFB6}"/>
                  </a:ext>
                </a:extLst>
              </p:cNvPr>
              <p:cNvCxnSpPr>
                <a:stCxn id="142353" idx="0"/>
                <a:endCxn id="142362" idx="0"/>
              </p:cNvCxnSpPr>
              <p:nvPr/>
            </p:nvCxnSpPr>
            <p:spPr>
              <a:xfrm flipV="1">
                <a:off x="5121580" y="1840176"/>
                <a:ext cx="2937840" cy="2038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D9F859D-B422-42BD-AD75-3DB34CB869D6}"/>
                  </a:ext>
                </a:extLst>
              </p:cNvPr>
              <p:cNvCxnSpPr/>
              <p:nvPr/>
            </p:nvCxnSpPr>
            <p:spPr>
              <a:xfrm flipV="1">
                <a:off x="5155663" y="2284754"/>
                <a:ext cx="2937840" cy="2038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2367" name="Group 142366">
                <a:extLst>
                  <a:ext uri="{FF2B5EF4-FFF2-40B4-BE49-F238E27FC236}">
                    <a16:creationId xmlns:a16="http://schemas.microsoft.com/office/drawing/2014/main" id="{4BCE3467-E5E1-4D2B-A078-EF41A487ADFC}"/>
                  </a:ext>
                </a:extLst>
              </p:cNvPr>
              <p:cNvGrpSpPr/>
              <p:nvPr/>
            </p:nvGrpSpPr>
            <p:grpSpPr>
              <a:xfrm>
                <a:off x="1420794" y="1229445"/>
                <a:ext cx="4041812" cy="1671817"/>
                <a:chOff x="1420794" y="1229445"/>
                <a:chExt cx="4041812" cy="1671817"/>
              </a:xfrm>
            </p:grpSpPr>
            <p:grpSp>
              <p:nvGrpSpPr>
                <p:cNvPr id="142355" name="Group 142354">
                  <a:extLst>
                    <a:ext uri="{FF2B5EF4-FFF2-40B4-BE49-F238E27FC236}">
                      <a16:creationId xmlns:a16="http://schemas.microsoft.com/office/drawing/2014/main" id="{9BD4D8F8-C692-4308-A710-4ED91F65C5F7}"/>
                    </a:ext>
                  </a:extLst>
                </p:cNvPr>
                <p:cNvGrpSpPr/>
                <p:nvPr/>
              </p:nvGrpSpPr>
              <p:grpSpPr>
                <a:xfrm>
                  <a:off x="1420794" y="1229445"/>
                  <a:ext cx="4041812" cy="1671817"/>
                  <a:chOff x="1384300" y="1404668"/>
                  <a:chExt cx="4041812" cy="1671817"/>
                </a:xfrm>
              </p:grpSpPr>
              <p:sp>
                <p:nvSpPr>
                  <p:cNvPr id="142354" name="Flowchart: Direct Access Storage 142353">
                    <a:extLst>
                      <a:ext uri="{FF2B5EF4-FFF2-40B4-BE49-F238E27FC236}">
                        <a16:creationId xmlns:a16="http://schemas.microsoft.com/office/drawing/2014/main" id="{CAA86855-3EFC-40A0-AFC1-FAFA7658C6DA}"/>
                      </a:ext>
                    </a:extLst>
                  </p:cNvPr>
                  <p:cNvSpPr/>
                  <p:nvPr/>
                </p:nvSpPr>
                <p:spPr>
                  <a:xfrm>
                    <a:off x="1384300" y="1404668"/>
                    <a:ext cx="2392963" cy="1671817"/>
                  </a:xfrm>
                  <a:prstGeom prst="flowChartMagneticDrum">
                    <a:avLst/>
                  </a:prstGeom>
                  <a:solidFill>
                    <a:srgbClr val="002060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2352" name="Flowchart: Direct Access Storage 142351">
                    <a:extLst>
                      <a:ext uri="{FF2B5EF4-FFF2-40B4-BE49-F238E27FC236}">
                        <a16:creationId xmlns:a16="http://schemas.microsoft.com/office/drawing/2014/main" id="{57E2F3F1-F23C-4D25-8E9F-F58F47050C47}"/>
                      </a:ext>
                    </a:extLst>
                  </p:cNvPr>
                  <p:cNvSpPr/>
                  <p:nvPr/>
                </p:nvSpPr>
                <p:spPr>
                  <a:xfrm>
                    <a:off x="3385387" y="1749088"/>
                    <a:ext cx="1705054" cy="982975"/>
                  </a:xfrm>
                  <a:prstGeom prst="flowChartMagneticDrum">
                    <a:avLst/>
                  </a:prstGeom>
                  <a:solidFill>
                    <a:srgbClr val="0070C0"/>
                  </a:solidFill>
                  <a:ln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2353" name="Flowchart: Direct Access Storage 142352">
                    <a:extLst>
                      <a:ext uri="{FF2B5EF4-FFF2-40B4-BE49-F238E27FC236}">
                        <a16:creationId xmlns:a16="http://schemas.microsoft.com/office/drawing/2014/main" id="{56C1277D-2CF0-404D-B469-99B136F875C4}"/>
                      </a:ext>
                    </a:extLst>
                  </p:cNvPr>
                  <p:cNvSpPr/>
                  <p:nvPr/>
                </p:nvSpPr>
                <p:spPr>
                  <a:xfrm>
                    <a:off x="4744060" y="2017437"/>
                    <a:ext cx="682052" cy="446276"/>
                  </a:xfrm>
                  <a:prstGeom prst="flowChartMagneticDrum">
                    <a:avLst/>
                  </a:prstGeom>
                  <a:solidFill>
                    <a:srgbClr val="00B0F0"/>
                  </a:solidFill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4A43D8A4-18D0-42F0-BE0D-5F27D6A8BEFC}"/>
                    </a:ext>
                  </a:extLst>
                </p:cNvPr>
                <p:cNvSpPr txBox="1"/>
                <p:nvPr/>
              </p:nvSpPr>
              <p:spPr>
                <a:xfrm>
                  <a:off x="1985505" y="1840176"/>
                  <a:ext cx="93915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Coating</a:t>
                  </a: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B5406DF-7428-4C5F-B79C-D352C293D9AB}"/>
                    </a:ext>
                  </a:extLst>
                </p:cNvPr>
                <p:cNvSpPr txBox="1"/>
                <p:nvPr/>
              </p:nvSpPr>
              <p:spPr>
                <a:xfrm>
                  <a:off x="3504145" y="1844277"/>
                  <a:ext cx="93915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Cladding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7A4EF635-175B-4670-9BC1-3A550084AAFE}"/>
                    </a:ext>
                  </a:extLst>
                </p:cNvPr>
                <p:cNvSpPr txBox="1"/>
                <p:nvPr/>
              </p:nvSpPr>
              <p:spPr>
                <a:xfrm>
                  <a:off x="4889500" y="1847468"/>
                  <a:ext cx="49680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Core </a:t>
                  </a:r>
                </a:p>
              </p:txBody>
            </p:sp>
          </p:grp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A31F95C-D3F4-41A9-80A1-FB63398EF583}"/>
                </a:ext>
              </a:extLst>
            </p:cNvPr>
            <p:cNvSpPr txBox="1"/>
            <p:nvPr/>
          </p:nvSpPr>
          <p:spPr>
            <a:xfrm>
              <a:off x="8166100" y="1800225"/>
              <a:ext cx="2286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n</a:t>
              </a:r>
              <a:r>
                <a:rPr lang="en-US" baseline="-25000" dirty="0"/>
                <a:t>1</a:t>
              </a:r>
              <a:endParaRPr 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E1EDE7C-B657-4D54-8D1C-C06869009E29}"/>
                </a:ext>
              </a:extLst>
            </p:cNvPr>
            <p:cNvSpPr txBox="1"/>
            <p:nvPr/>
          </p:nvSpPr>
          <p:spPr>
            <a:xfrm>
              <a:off x="8166100" y="1419225"/>
              <a:ext cx="22860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n</a:t>
              </a:r>
              <a:r>
                <a:rPr lang="en-US" baseline="-25000" dirty="0"/>
                <a:t>2</a:t>
              </a:r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E4FDFA3-959B-48D8-B49C-A8387D27A3DB}"/>
              </a:ext>
            </a:extLst>
          </p:cNvPr>
          <p:cNvGrpSpPr/>
          <p:nvPr/>
        </p:nvGrpSpPr>
        <p:grpSpPr>
          <a:xfrm>
            <a:off x="926806" y="3385730"/>
            <a:ext cx="8635360" cy="2248731"/>
            <a:chOff x="1213329" y="3937218"/>
            <a:chExt cx="8635360" cy="2248731"/>
          </a:xfrm>
        </p:grpSpPr>
        <p:grpSp>
          <p:nvGrpSpPr>
            <p:cNvPr id="142349" name="Group 142348">
              <a:extLst>
                <a:ext uri="{FF2B5EF4-FFF2-40B4-BE49-F238E27FC236}">
                  <a16:creationId xmlns:a16="http://schemas.microsoft.com/office/drawing/2014/main" id="{6277B453-03C1-4AD3-913B-76469F616CB5}"/>
                </a:ext>
              </a:extLst>
            </p:cNvPr>
            <p:cNvGrpSpPr/>
            <p:nvPr/>
          </p:nvGrpSpPr>
          <p:grpSpPr>
            <a:xfrm>
              <a:off x="1213329" y="3937218"/>
              <a:ext cx="8635360" cy="2248731"/>
              <a:chOff x="1155700" y="3590094"/>
              <a:chExt cx="8635360" cy="2248731"/>
            </a:xfrm>
          </p:grpSpPr>
          <p:grpSp>
            <p:nvGrpSpPr>
              <p:cNvPr id="142348" name="Group 142347">
                <a:extLst>
                  <a:ext uri="{FF2B5EF4-FFF2-40B4-BE49-F238E27FC236}">
                    <a16:creationId xmlns:a16="http://schemas.microsoft.com/office/drawing/2014/main" id="{F1BED16E-EF1E-4ACB-9214-A7292EF52BD1}"/>
                  </a:ext>
                </a:extLst>
              </p:cNvPr>
              <p:cNvGrpSpPr/>
              <p:nvPr/>
            </p:nvGrpSpPr>
            <p:grpSpPr>
              <a:xfrm>
                <a:off x="1155700" y="3933825"/>
                <a:ext cx="8635360" cy="1905000"/>
                <a:chOff x="1155700" y="3933825"/>
                <a:chExt cx="8635360" cy="1905000"/>
              </a:xfrm>
            </p:grpSpPr>
            <p:grpSp>
              <p:nvGrpSpPr>
                <p:cNvPr id="142347" name="Group 142346">
                  <a:extLst>
                    <a:ext uri="{FF2B5EF4-FFF2-40B4-BE49-F238E27FC236}">
                      <a16:creationId xmlns:a16="http://schemas.microsoft.com/office/drawing/2014/main" id="{911EF637-DE7F-462E-9ACD-D5863B1F1285}"/>
                    </a:ext>
                  </a:extLst>
                </p:cNvPr>
                <p:cNvGrpSpPr/>
                <p:nvPr/>
              </p:nvGrpSpPr>
              <p:grpSpPr>
                <a:xfrm>
                  <a:off x="1155700" y="3933825"/>
                  <a:ext cx="8635360" cy="1905000"/>
                  <a:chOff x="1155700" y="4314825"/>
                  <a:chExt cx="8635360" cy="1905000"/>
                </a:xfrm>
              </p:grpSpPr>
              <p:grpSp>
                <p:nvGrpSpPr>
                  <p:cNvPr id="142346" name="Group 142345">
                    <a:extLst>
                      <a:ext uri="{FF2B5EF4-FFF2-40B4-BE49-F238E27FC236}">
                        <a16:creationId xmlns:a16="http://schemas.microsoft.com/office/drawing/2014/main" id="{A867EF07-4F98-49F4-A1B0-FA741E138F2D}"/>
                      </a:ext>
                    </a:extLst>
                  </p:cNvPr>
                  <p:cNvGrpSpPr/>
                  <p:nvPr/>
                </p:nvGrpSpPr>
                <p:grpSpPr>
                  <a:xfrm>
                    <a:off x="1155700" y="4314825"/>
                    <a:ext cx="8635360" cy="1905000"/>
                    <a:chOff x="1155700" y="4314825"/>
                    <a:chExt cx="8635360" cy="1905000"/>
                  </a:xfrm>
                </p:grpSpPr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A9773A7C-1D1B-4CD3-8BC0-168242416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5087" y="4314825"/>
                      <a:ext cx="4452613" cy="19050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F34E89F8-4DE7-49B2-ADBF-7269928C5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5086" y="4855845"/>
                      <a:ext cx="4452614" cy="822960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42345" name="Group 142344">
                      <a:extLst>
                        <a:ext uri="{FF2B5EF4-FFF2-40B4-BE49-F238E27FC236}">
                          <a16:creationId xmlns:a16="http://schemas.microsoft.com/office/drawing/2014/main" id="{0AF28A28-656B-4844-B631-D13CDB1AD0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55700" y="4314825"/>
                      <a:ext cx="4129646" cy="1905000"/>
                      <a:chOff x="1155700" y="4314825"/>
                      <a:chExt cx="4129646" cy="1905000"/>
                    </a:xfrm>
                  </p:grpSpPr>
                  <p:grpSp>
                    <p:nvGrpSpPr>
                      <p:cNvPr id="142344" name="Group 142343">
                        <a:extLst>
                          <a:ext uri="{FF2B5EF4-FFF2-40B4-BE49-F238E27FC236}">
                            <a16:creationId xmlns:a16="http://schemas.microsoft.com/office/drawing/2014/main" id="{49D21B7A-C064-4F2D-9AEA-A755745DAA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55700" y="4314825"/>
                        <a:ext cx="4129646" cy="1905000"/>
                        <a:chOff x="1155700" y="4314825"/>
                        <a:chExt cx="4129646" cy="1905000"/>
                      </a:xfrm>
                    </p:grpSpPr>
                    <p:sp>
                      <p:nvSpPr>
                        <p:cNvPr id="6" name="Oval 5">
                          <a:extLst>
                            <a:ext uri="{FF2B5EF4-FFF2-40B4-BE49-F238E27FC236}">
                              <a16:creationId xmlns:a16="http://schemas.microsoft.com/office/drawing/2014/main" id="{9C07A95F-6FC3-4576-B811-6F1D3DB65F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55700" y="4314825"/>
                          <a:ext cx="1905000" cy="1905000"/>
                        </a:xfrm>
                        <a:prstGeom prst="ellips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" name="Oval 3">
                          <a:extLst>
                            <a:ext uri="{FF2B5EF4-FFF2-40B4-BE49-F238E27FC236}">
                              <a16:creationId xmlns:a16="http://schemas.microsoft.com/office/drawing/2014/main" id="{2E3F7553-3512-43B1-92A8-590FDD6513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96720" y="4855845"/>
                          <a:ext cx="822960" cy="822960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12" name="Straight Connector 11">
                          <a:extLst>
                            <a:ext uri="{FF2B5EF4-FFF2-40B4-BE49-F238E27FC236}">
                              <a16:creationId xmlns:a16="http://schemas.microsoft.com/office/drawing/2014/main" id="{B26612B0-2630-4703-B06F-A2A42603E64F}"/>
                            </a:ext>
                          </a:extLst>
                        </p:cNvPr>
                        <p:cNvCxnSpPr>
                          <a:cxnSpLocks/>
                          <a:stCxn id="6" idx="0"/>
                        </p:cNvCxnSpPr>
                        <p:nvPr/>
                      </p:nvCxnSpPr>
                      <p:spPr>
                        <a:xfrm>
                          <a:off x="2108200" y="4314825"/>
                          <a:ext cx="3086100" cy="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2060"/>
                          </a:solidFill>
                          <a:prstDash val="das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" name="Straight Connector 13">
                          <a:extLst>
                            <a:ext uri="{FF2B5EF4-FFF2-40B4-BE49-F238E27FC236}">
                              <a16:creationId xmlns:a16="http://schemas.microsoft.com/office/drawing/2014/main" id="{E8468D53-8E4F-406F-900A-948667DD2C83}"/>
                            </a:ext>
                          </a:extLst>
                        </p:cNvPr>
                        <p:cNvCxnSpPr>
                          <a:stCxn id="6" idx="4"/>
                        </p:cNvCxnSpPr>
                        <p:nvPr/>
                      </p:nvCxnSpPr>
                      <p:spPr>
                        <a:xfrm>
                          <a:off x="2108200" y="6219825"/>
                          <a:ext cx="3086100" cy="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2060"/>
                          </a:solidFill>
                          <a:prstDash val="das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6" name="TextBox 15">
                          <a:extLst>
                            <a:ext uri="{FF2B5EF4-FFF2-40B4-BE49-F238E27FC236}">
                              <a16:creationId xmlns:a16="http://schemas.microsoft.com/office/drawing/2014/main" id="{422A0023-7BD8-48F9-9EDC-C33CE661424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993900" y="5078282"/>
                          <a:ext cx="228600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n</a:t>
                          </a:r>
                          <a:r>
                            <a:rPr lang="en-US" baseline="-25000" dirty="0"/>
                            <a:t>1</a:t>
                          </a:r>
                          <a:endParaRPr lang="en-US" dirty="0"/>
                        </a:p>
                      </p:txBody>
                    </p:sp>
                    <p:cxnSp>
                      <p:nvCxnSpPr>
                        <p:cNvPr id="43" name="Straight Connector 42">
                          <a:extLst>
                            <a:ext uri="{FF2B5EF4-FFF2-40B4-BE49-F238E27FC236}">
                              <a16:creationId xmlns:a16="http://schemas.microsoft.com/office/drawing/2014/main" id="{6749BBCF-0196-47E6-988F-6FFB25C0A572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199246" y="5678805"/>
                          <a:ext cx="3086100" cy="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2060"/>
                          </a:solidFill>
                          <a:prstDash val="das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8876987D-2E24-4072-B2BC-56DC5984AC6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93900" y="4527650"/>
                        <a:ext cx="22860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r>
                          <a:rPr lang="en-US" dirty="0"/>
                          <a:t>n</a:t>
                        </a:r>
                        <a:r>
                          <a:rPr lang="en-US" baseline="-25000" dirty="0"/>
                          <a:t>2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CD8DA59-72B7-4725-A1F9-8C58BD81F3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27700" y="4799826"/>
                      <a:ext cx="2286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p:txBody>
                </p:sp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D2B914A1-9552-4590-A2F1-38B00E7C43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27700" y="4391025"/>
                      <a:ext cx="2286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p:txBody>
                </p:sp>
                <p:cxnSp>
                  <p:nvCxnSpPr>
                    <p:cNvPr id="18" name="Straight Arrow Connector 17">
                      <a:extLst>
                        <a:ext uri="{FF2B5EF4-FFF2-40B4-BE49-F238E27FC236}">
                          <a16:creationId xmlns:a16="http://schemas.microsoft.com/office/drawing/2014/main" id="{206DF817-A80F-44AB-A349-CDA48E58FA2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975101" y="4855844"/>
                      <a:ext cx="2743199" cy="95250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Arrow Connector 22">
                      <a:extLst>
                        <a:ext uri="{FF2B5EF4-FFF2-40B4-BE49-F238E27FC236}">
                          <a16:creationId xmlns:a16="http://schemas.microsoft.com/office/drawing/2014/main" id="{6A8C4240-00E1-44C2-84DA-5079DEB7B7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718300" y="4855844"/>
                      <a:ext cx="1439547" cy="82296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11BF6287-F0CB-462D-A3C5-0552D7D440F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8089900" y="4855844"/>
                      <a:ext cx="1295400" cy="82296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E696B095-D2CE-4431-9563-7C72C40FF00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85300" y="4855844"/>
                      <a:ext cx="405760" cy="29718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AF3BEBD0-7B07-4846-95D0-8B7EABBDF5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32071" y="4909902"/>
                      <a:ext cx="2286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θ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p:txBody>
                </p:sp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D873E57A-8344-4A8F-970C-23E31FBBF7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2352" y="4467225"/>
                      <a:ext cx="74549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</a:t>
                      </a:r>
                      <a:r>
                        <a:rPr lang="en-US" dirty="0"/>
                        <a:t>&gt;n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p:txBody>
                </p:sp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6A063450-5AC4-4AF5-ADE8-1BB9DA9A45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0605" y="4876026"/>
                      <a:ext cx="74549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θ</a:t>
                      </a:r>
                      <a:r>
                        <a:rPr lang="en-US" baseline="-25000" dirty="0"/>
                        <a:t>1</a:t>
                      </a:r>
                      <a:r>
                        <a:rPr lang="en-US" dirty="0"/>
                        <a:t>&gt;</a:t>
                      </a:r>
                      <a:r>
                        <a:rPr lang="en-US" dirty="0" err="1"/>
                        <a:t>θ</a:t>
                      </a:r>
                      <a:r>
                        <a:rPr lang="en-US" baseline="-25000" dirty="0" err="1"/>
                        <a:t>c</a:t>
                      </a:r>
                      <a:endParaRPr lang="en-US" dirty="0"/>
                    </a:p>
                  </p:txBody>
                </p:sp>
              </p:grp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082CD6D8-9DFA-4053-95D3-539214F37D3D}"/>
                      </a:ext>
                    </a:extLst>
                  </p:cNvPr>
                  <p:cNvCxnSpPr/>
                  <p:nvPr/>
                </p:nvCxnSpPr>
                <p:spPr>
                  <a:xfrm>
                    <a:off x="2146300" y="4848225"/>
                    <a:ext cx="3086100" cy="0"/>
                  </a:xfrm>
                  <a:prstGeom prst="line">
                    <a:avLst/>
                  </a:prstGeom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145E560-0070-4AF7-8612-CDF6F755E874}"/>
                    </a:ext>
                  </a:extLst>
                </p:cNvPr>
                <p:cNvSpPr txBox="1"/>
                <p:nvPr/>
              </p:nvSpPr>
              <p:spPr>
                <a:xfrm>
                  <a:off x="8328675" y="4006617"/>
                  <a:ext cx="93915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/>
                    <a:t>Cladding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E6B5F5-05BA-424A-8054-D2D22B28FA53}"/>
                    </a:ext>
                  </a:extLst>
                </p:cNvPr>
                <p:cNvSpPr txBox="1"/>
                <p:nvPr/>
              </p:nvSpPr>
              <p:spPr>
                <a:xfrm>
                  <a:off x="8318500" y="4543425"/>
                  <a:ext cx="93915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/>
                    <a:t>Core</a:t>
                  </a:r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17A1D9-20F1-4D8E-910C-185F85E812D7}"/>
                  </a:ext>
                </a:extLst>
              </p:cNvPr>
              <p:cNvSpPr txBox="1"/>
              <p:nvPr/>
            </p:nvSpPr>
            <p:spPr>
              <a:xfrm>
                <a:off x="1951972" y="3590094"/>
                <a:ext cx="9391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Air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796B515-C2AB-4353-AE80-833B4C284299}"/>
                </a:ext>
              </a:extLst>
            </p:cNvPr>
            <p:cNvGrpSpPr/>
            <p:nvPr/>
          </p:nvGrpSpPr>
          <p:grpSpPr>
            <a:xfrm>
              <a:off x="6337300" y="4695825"/>
              <a:ext cx="745494" cy="571499"/>
              <a:chOff x="6337300" y="4695825"/>
              <a:chExt cx="745494" cy="57149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6542396-62A6-4116-9BE1-6B0737664842}"/>
                  </a:ext>
                </a:extLst>
              </p:cNvPr>
              <p:cNvCxnSpPr/>
              <p:nvPr/>
            </p:nvCxnSpPr>
            <p:spPr>
              <a:xfrm>
                <a:off x="6718300" y="4855844"/>
                <a:ext cx="0" cy="4114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339" name="Arc 142338">
                <a:extLst>
                  <a:ext uri="{FF2B5EF4-FFF2-40B4-BE49-F238E27FC236}">
                    <a16:creationId xmlns:a16="http://schemas.microsoft.com/office/drawing/2014/main" id="{32E158BC-3B02-4652-8C57-CD6D3100DEE9}"/>
                  </a:ext>
                </a:extLst>
              </p:cNvPr>
              <p:cNvSpPr/>
              <p:nvPr/>
            </p:nvSpPr>
            <p:spPr>
              <a:xfrm flipH="1" flipV="1">
                <a:off x="6337300" y="4695825"/>
                <a:ext cx="745494" cy="495299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0570376"/>
      </p:ext>
    </p:extLst>
  </p:cSld>
  <p:clrMapOvr>
    <a:masterClrMapping/>
  </p:clrMapOvr>
  <p:transition spd="slow"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41700" y="352425"/>
            <a:ext cx="4648200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/>
            <a:r>
              <a:rPr lang="en-US" sz="2900" b="1" dirty="0">
                <a:solidFill>
                  <a:srgbClr val="FFC000"/>
                </a:solidFill>
                <a:latin typeface="Times New Roman"/>
                <a:cs typeface="Times New Roman"/>
              </a:rPr>
              <a:t>Light ray guiding condition</a:t>
            </a:r>
            <a:endParaRPr sz="29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E4FDFA3-959B-48D8-B49C-A8387D27A3DB}"/>
              </a:ext>
            </a:extLst>
          </p:cNvPr>
          <p:cNvGrpSpPr/>
          <p:nvPr/>
        </p:nvGrpSpPr>
        <p:grpSpPr>
          <a:xfrm>
            <a:off x="1120603" y="775492"/>
            <a:ext cx="8635360" cy="2248731"/>
            <a:chOff x="1213329" y="3937218"/>
            <a:chExt cx="8635360" cy="2248731"/>
          </a:xfrm>
        </p:grpSpPr>
        <p:grpSp>
          <p:nvGrpSpPr>
            <p:cNvPr id="142349" name="Group 142348">
              <a:extLst>
                <a:ext uri="{FF2B5EF4-FFF2-40B4-BE49-F238E27FC236}">
                  <a16:creationId xmlns:a16="http://schemas.microsoft.com/office/drawing/2014/main" id="{6277B453-03C1-4AD3-913B-76469F616CB5}"/>
                </a:ext>
              </a:extLst>
            </p:cNvPr>
            <p:cNvGrpSpPr/>
            <p:nvPr/>
          </p:nvGrpSpPr>
          <p:grpSpPr>
            <a:xfrm>
              <a:off x="1213329" y="3937218"/>
              <a:ext cx="8635360" cy="2248731"/>
              <a:chOff x="1155700" y="3590094"/>
              <a:chExt cx="8635360" cy="2248731"/>
            </a:xfrm>
          </p:grpSpPr>
          <p:grpSp>
            <p:nvGrpSpPr>
              <p:cNvPr id="142348" name="Group 142347">
                <a:extLst>
                  <a:ext uri="{FF2B5EF4-FFF2-40B4-BE49-F238E27FC236}">
                    <a16:creationId xmlns:a16="http://schemas.microsoft.com/office/drawing/2014/main" id="{F1BED16E-EF1E-4ACB-9214-A7292EF52BD1}"/>
                  </a:ext>
                </a:extLst>
              </p:cNvPr>
              <p:cNvGrpSpPr/>
              <p:nvPr/>
            </p:nvGrpSpPr>
            <p:grpSpPr>
              <a:xfrm>
                <a:off x="1155700" y="3933825"/>
                <a:ext cx="8635360" cy="1905000"/>
                <a:chOff x="1155700" y="3933825"/>
                <a:chExt cx="8635360" cy="1905000"/>
              </a:xfrm>
            </p:grpSpPr>
            <p:grpSp>
              <p:nvGrpSpPr>
                <p:cNvPr id="142347" name="Group 142346">
                  <a:extLst>
                    <a:ext uri="{FF2B5EF4-FFF2-40B4-BE49-F238E27FC236}">
                      <a16:creationId xmlns:a16="http://schemas.microsoft.com/office/drawing/2014/main" id="{911EF637-DE7F-462E-9ACD-D5863B1F1285}"/>
                    </a:ext>
                  </a:extLst>
                </p:cNvPr>
                <p:cNvGrpSpPr/>
                <p:nvPr/>
              </p:nvGrpSpPr>
              <p:grpSpPr>
                <a:xfrm>
                  <a:off x="1155700" y="3933825"/>
                  <a:ext cx="8635360" cy="1905000"/>
                  <a:chOff x="1155700" y="4314825"/>
                  <a:chExt cx="8635360" cy="1905000"/>
                </a:xfrm>
              </p:grpSpPr>
              <p:grpSp>
                <p:nvGrpSpPr>
                  <p:cNvPr id="142346" name="Group 142345">
                    <a:extLst>
                      <a:ext uri="{FF2B5EF4-FFF2-40B4-BE49-F238E27FC236}">
                        <a16:creationId xmlns:a16="http://schemas.microsoft.com/office/drawing/2014/main" id="{A867EF07-4F98-49F4-A1B0-FA741E138F2D}"/>
                      </a:ext>
                    </a:extLst>
                  </p:cNvPr>
                  <p:cNvGrpSpPr/>
                  <p:nvPr/>
                </p:nvGrpSpPr>
                <p:grpSpPr>
                  <a:xfrm>
                    <a:off x="1155700" y="4314825"/>
                    <a:ext cx="8635360" cy="1905000"/>
                    <a:chOff x="1155700" y="4314825"/>
                    <a:chExt cx="8635360" cy="1905000"/>
                  </a:xfrm>
                </p:grpSpPr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A9773A7C-1D1B-4CD3-8BC0-168242416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5087" y="4314825"/>
                      <a:ext cx="4452613" cy="19050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F34E89F8-4DE7-49B2-ADBF-7269928C5F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5086" y="4855845"/>
                      <a:ext cx="4452614" cy="822960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grpSp>
                  <p:nvGrpSpPr>
                    <p:cNvPr id="142345" name="Group 142344">
                      <a:extLst>
                        <a:ext uri="{FF2B5EF4-FFF2-40B4-BE49-F238E27FC236}">
                          <a16:creationId xmlns:a16="http://schemas.microsoft.com/office/drawing/2014/main" id="{0AF28A28-656B-4844-B631-D13CDB1AD00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55700" y="4314825"/>
                      <a:ext cx="4129646" cy="1905000"/>
                      <a:chOff x="1155700" y="4314825"/>
                      <a:chExt cx="4129646" cy="1905000"/>
                    </a:xfrm>
                  </p:grpSpPr>
                  <p:grpSp>
                    <p:nvGrpSpPr>
                      <p:cNvPr id="142344" name="Group 142343">
                        <a:extLst>
                          <a:ext uri="{FF2B5EF4-FFF2-40B4-BE49-F238E27FC236}">
                            <a16:creationId xmlns:a16="http://schemas.microsoft.com/office/drawing/2014/main" id="{49D21B7A-C064-4F2D-9AEA-A755745DAA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55700" y="4314825"/>
                        <a:ext cx="4129646" cy="1905000"/>
                        <a:chOff x="1155700" y="4314825"/>
                        <a:chExt cx="4129646" cy="1905000"/>
                      </a:xfrm>
                    </p:grpSpPr>
                    <p:sp>
                      <p:nvSpPr>
                        <p:cNvPr id="6" name="Oval 5">
                          <a:extLst>
                            <a:ext uri="{FF2B5EF4-FFF2-40B4-BE49-F238E27FC236}">
                              <a16:creationId xmlns:a16="http://schemas.microsoft.com/office/drawing/2014/main" id="{9C07A95F-6FC3-4576-B811-6F1D3DB65F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55700" y="4314825"/>
                          <a:ext cx="1905000" cy="1905000"/>
                        </a:xfrm>
                        <a:prstGeom prst="ellips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  <p:sp>
                      <p:nvSpPr>
                        <p:cNvPr id="4" name="Oval 3">
                          <a:extLst>
                            <a:ext uri="{FF2B5EF4-FFF2-40B4-BE49-F238E27FC236}">
                              <a16:creationId xmlns:a16="http://schemas.microsoft.com/office/drawing/2014/main" id="{2E3F7553-3512-43B1-92A8-590FDD6513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96720" y="4855845"/>
                          <a:ext cx="822960" cy="822960"/>
                        </a:xfrm>
                        <a:prstGeom prst="ellipse">
                          <a:avLst/>
                        </a:prstGeom>
                        <a:solidFill>
                          <a:srgbClr val="00B0F0"/>
                        </a:solidFill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cxnSp>
                      <p:nvCxnSpPr>
                        <p:cNvPr id="12" name="Straight Connector 11">
                          <a:extLst>
                            <a:ext uri="{FF2B5EF4-FFF2-40B4-BE49-F238E27FC236}">
                              <a16:creationId xmlns:a16="http://schemas.microsoft.com/office/drawing/2014/main" id="{B26612B0-2630-4703-B06F-A2A42603E64F}"/>
                            </a:ext>
                          </a:extLst>
                        </p:cNvPr>
                        <p:cNvCxnSpPr>
                          <a:cxnSpLocks/>
                          <a:stCxn id="6" idx="0"/>
                        </p:cNvCxnSpPr>
                        <p:nvPr/>
                      </p:nvCxnSpPr>
                      <p:spPr>
                        <a:xfrm>
                          <a:off x="2108200" y="4314825"/>
                          <a:ext cx="3086100" cy="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2060"/>
                          </a:solidFill>
                          <a:prstDash val="das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4" name="Straight Connector 13">
                          <a:extLst>
                            <a:ext uri="{FF2B5EF4-FFF2-40B4-BE49-F238E27FC236}">
                              <a16:creationId xmlns:a16="http://schemas.microsoft.com/office/drawing/2014/main" id="{E8468D53-8E4F-406F-900A-948667DD2C83}"/>
                            </a:ext>
                          </a:extLst>
                        </p:cNvPr>
                        <p:cNvCxnSpPr>
                          <a:stCxn id="6" idx="4"/>
                        </p:cNvCxnSpPr>
                        <p:nvPr/>
                      </p:nvCxnSpPr>
                      <p:spPr>
                        <a:xfrm>
                          <a:off x="2108200" y="6219825"/>
                          <a:ext cx="3086100" cy="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2060"/>
                          </a:solidFill>
                          <a:prstDash val="das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16" name="TextBox 15">
                          <a:extLst>
                            <a:ext uri="{FF2B5EF4-FFF2-40B4-BE49-F238E27FC236}">
                              <a16:creationId xmlns:a16="http://schemas.microsoft.com/office/drawing/2014/main" id="{422A0023-7BD8-48F9-9EDC-C33CE661424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993900" y="5078282"/>
                          <a:ext cx="228600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lIns="0" tIns="0" rIns="0" bIns="0" rtlCol="0">
                          <a:spAutoFit/>
                        </a:bodyPr>
                        <a:lstStyle/>
                        <a:p>
                          <a:r>
                            <a:rPr lang="en-US" dirty="0"/>
                            <a:t>n</a:t>
                          </a:r>
                          <a:r>
                            <a:rPr lang="en-US" baseline="-25000" dirty="0"/>
                            <a:t>1</a:t>
                          </a:r>
                          <a:endParaRPr lang="en-US" dirty="0"/>
                        </a:p>
                      </p:txBody>
                    </p:sp>
                    <p:cxnSp>
                      <p:nvCxnSpPr>
                        <p:cNvPr id="43" name="Straight Connector 42">
                          <a:extLst>
                            <a:ext uri="{FF2B5EF4-FFF2-40B4-BE49-F238E27FC236}">
                              <a16:creationId xmlns:a16="http://schemas.microsoft.com/office/drawing/2014/main" id="{6749BBCF-0196-47E6-988F-6FFB25C0A572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>
                          <a:off x="2199246" y="5678805"/>
                          <a:ext cx="3086100" cy="0"/>
                        </a:xfrm>
                        <a:prstGeom prst="line">
                          <a:avLst/>
                        </a:prstGeom>
                        <a:ln>
                          <a:solidFill>
                            <a:srgbClr val="002060"/>
                          </a:solidFill>
                          <a:prstDash val="dash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8876987D-2E24-4072-B2BC-56DC5984AC6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93900" y="4527650"/>
                        <a:ext cx="228600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r>
                          <a:rPr lang="en-US" dirty="0"/>
                          <a:t>n</a:t>
                        </a:r>
                        <a:r>
                          <a:rPr lang="en-US" baseline="-25000" dirty="0"/>
                          <a:t>2</a:t>
                        </a:r>
                        <a:endParaRPr lang="en-US" dirty="0"/>
                      </a:p>
                    </p:txBody>
                  </p:sp>
                </p:grpSp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CD8DA59-72B7-4725-A1F9-8C58BD81F3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27700" y="4799826"/>
                      <a:ext cx="2286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p:txBody>
                </p:sp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D2B914A1-9552-4590-A2F1-38B00E7C43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27700" y="4391025"/>
                      <a:ext cx="2286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p:txBody>
                </p:sp>
                <p:cxnSp>
                  <p:nvCxnSpPr>
                    <p:cNvPr id="18" name="Straight Arrow Connector 17">
                      <a:extLst>
                        <a:ext uri="{FF2B5EF4-FFF2-40B4-BE49-F238E27FC236}">
                          <a16:creationId xmlns:a16="http://schemas.microsoft.com/office/drawing/2014/main" id="{206DF817-A80F-44AB-A349-CDA48E58FA2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975101" y="4855844"/>
                      <a:ext cx="2743199" cy="95250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Arrow Connector 22">
                      <a:extLst>
                        <a:ext uri="{FF2B5EF4-FFF2-40B4-BE49-F238E27FC236}">
                          <a16:creationId xmlns:a16="http://schemas.microsoft.com/office/drawing/2014/main" id="{6A8C4240-00E1-44C2-84DA-5079DEB7B71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718300" y="4855844"/>
                      <a:ext cx="1439547" cy="82296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11BF6287-F0CB-462D-A3C5-0552D7D440F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8089900" y="4855844"/>
                      <a:ext cx="1295400" cy="82296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E696B095-D2CE-4431-9563-7C72C40FF00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385300" y="4855844"/>
                      <a:ext cx="405760" cy="297181"/>
                    </a:xfrm>
                    <a:prstGeom prst="straightConnector1">
                      <a:avLst/>
                    </a:prstGeom>
                    <a:ln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TextBox 36">
                      <a:extLst>
                        <a:ext uri="{FF2B5EF4-FFF2-40B4-BE49-F238E27FC236}">
                          <a16:creationId xmlns:a16="http://schemas.microsoft.com/office/drawing/2014/main" id="{AF3BEBD0-7B07-4846-95D0-8B7EABBDF5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32071" y="4909902"/>
                      <a:ext cx="2286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θ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p:txBody>
                </p:sp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D873E57A-8344-4A8F-970C-23E31FBBF7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12352" y="4467225"/>
                      <a:ext cx="74549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</a:t>
                      </a:r>
                      <a:r>
                        <a:rPr lang="en-US" dirty="0"/>
                        <a:t>&gt;n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p:txBody>
                </p:sp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6A063450-5AC4-4AF5-ADE8-1BB9DA9A45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20605" y="4876026"/>
                      <a:ext cx="74549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r>
                        <a:rPr lang="en-US" dirty="0"/>
                        <a:t>θ</a:t>
                      </a:r>
                      <a:r>
                        <a:rPr lang="en-US" baseline="-25000" dirty="0"/>
                        <a:t>1</a:t>
                      </a:r>
                      <a:r>
                        <a:rPr lang="en-US" dirty="0"/>
                        <a:t>&gt;</a:t>
                      </a:r>
                      <a:r>
                        <a:rPr lang="en-US" dirty="0" err="1"/>
                        <a:t>θ</a:t>
                      </a:r>
                      <a:r>
                        <a:rPr lang="en-US" baseline="-25000" dirty="0" err="1"/>
                        <a:t>c</a:t>
                      </a:r>
                      <a:endParaRPr lang="en-US" dirty="0"/>
                    </a:p>
                  </p:txBody>
                </p:sp>
              </p:grp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082CD6D8-9DFA-4053-95D3-539214F37D3D}"/>
                      </a:ext>
                    </a:extLst>
                  </p:cNvPr>
                  <p:cNvCxnSpPr/>
                  <p:nvPr/>
                </p:nvCxnSpPr>
                <p:spPr>
                  <a:xfrm>
                    <a:off x="2146300" y="4848225"/>
                    <a:ext cx="3086100" cy="0"/>
                  </a:xfrm>
                  <a:prstGeom prst="line">
                    <a:avLst/>
                  </a:prstGeom>
                  <a:ln>
                    <a:solidFill>
                      <a:srgbClr val="00206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145E560-0070-4AF7-8612-CDF6F755E874}"/>
                    </a:ext>
                  </a:extLst>
                </p:cNvPr>
                <p:cNvSpPr txBox="1"/>
                <p:nvPr/>
              </p:nvSpPr>
              <p:spPr>
                <a:xfrm>
                  <a:off x="8328675" y="4006617"/>
                  <a:ext cx="93915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/>
                    <a:t>Cladding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B2E6B5F5-05BA-424A-8054-D2D22B28FA53}"/>
                    </a:ext>
                  </a:extLst>
                </p:cNvPr>
                <p:cNvSpPr txBox="1"/>
                <p:nvPr/>
              </p:nvSpPr>
              <p:spPr>
                <a:xfrm>
                  <a:off x="8318500" y="4543425"/>
                  <a:ext cx="93915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dirty="0"/>
                    <a:t>Core</a:t>
                  </a:r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17A1D9-20F1-4D8E-910C-185F85E812D7}"/>
                  </a:ext>
                </a:extLst>
              </p:cNvPr>
              <p:cNvSpPr txBox="1"/>
              <p:nvPr/>
            </p:nvSpPr>
            <p:spPr>
              <a:xfrm>
                <a:off x="1951972" y="3590094"/>
                <a:ext cx="9391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/>
                  <a:t>Air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796B515-C2AB-4353-AE80-833B4C284299}"/>
                </a:ext>
              </a:extLst>
            </p:cNvPr>
            <p:cNvGrpSpPr/>
            <p:nvPr/>
          </p:nvGrpSpPr>
          <p:grpSpPr>
            <a:xfrm>
              <a:off x="6337300" y="4695825"/>
              <a:ext cx="745494" cy="571499"/>
              <a:chOff x="6337300" y="4695825"/>
              <a:chExt cx="745494" cy="571499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46542396-62A6-4116-9BE1-6B0737664842}"/>
                  </a:ext>
                </a:extLst>
              </p:cNvPr>
              <p:cNvCxnSpPr/>
              <p:nvPr/>
            </p:nvCxnSpPr>
            <p:spPr>
              <a:xfrm>
                <a:off x="6718300" y="4855844"/>
                <a:ext cx="0" cy="4114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339" name="Arc 142338">
                <a:extLst>
                  <a:ext uri="{FF2B5EF4-FFF2-40B4-BE49-F238E27FC236}">
                    <a16:creationId xmlns:a16="http://schemas.microsoft.com/office/drawing/2014/main" id="{32E158BC-3B02-4652-8C57-CD6D3100DEE9}"/>
                  </a:ext>
                </a:extLst>
              </p:cNvPr>
              <p:cNvSpPr/>
              <p:nvPr/>
            </p:nvSpPr>
            <p:spPr>
              <a:xfrm flipH="1" flipV="1">
                <a:off x="6337300" y="4695825"/>
                <a:ext cx="745494" cy="495299"/>
              </a:xfrm>
              <a:prstGeom prst="arc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519F373-F931-4D9F-A0A5-A8B62E47EA0C}"/>
              </a:ext>
            </a:extLst>
          </p:cNvPr>
          <p:cNvSpPr txBox="1"/>
          <p:nvPr/>
        </p:nvSpPr>
        <p:spPr>
          <a:xfrm>
            <a:off x="856068" y="3469741"/>
            <a:ext cx="8981263" cy="339580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The refractive index of a core is n</a:t>
            </a:r>
            <a:r>
              <a:rPr lang="en-US" sz="2800" baseline="-25000" dirty="0"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1</a:t>
            </a:r>
            <a:r>
              <a:rPr lang="en-US" sz="2800" dirty="0"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 = 1.46, and cladding n</a:t>
            </a:r>
            <a:r>
              <a:rPr lang="en-US" sz="2800" baseline="-25000" dirty="0"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2</a:t>
            </a:r>
            <a:r>
              <a:rPr lang="en-US" sz="2800" dirty="0">
                <a:effectLst/>
                <a:latin typeface="Times New Roman" panose="02020603050405020304" pitchFamily="18" charset="0"/>
                <a:ea typeface="Batang" panose="020B0503020000020004" pitchFamily="18" charset="-127"/>
              </a:rPr>
              <a:t> = 1.44. Under what conditions will light be trapped inside the core?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Batang" panose="020B0503020000020004" pitchFamily="18" charset="-127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ea typeface="Batang" panose="020B0503020000020004" pitchFamily="18" charset="-127"/>
              </a:rPr>
              <a:t>Solution: </a:t>
            </a:r>
          </a:p>
          <a:p>
            <a:pPr algn="just"/>
            <a:r>
              <a:rPr lang="pt-BR" sz="2800" dirty="0"/>
              <a:t>θ</a:t>
            </a:r>
            <a:r>
              <a:rPr lang="pt-BR" sz="2800" baseline="-25000" dirty="0"/>
              <a:t>c</a:t>
            </a:r>
            <a:r>
              <a:rPr lang="pt-BR" sz="2800" dirty="0"/>
              <a:t> = sin</a:t>
            </a:r>
            <a:r>
              <a:rPr lang="pt-BR" sz="2800" baseline="30000" dirty="0"/>
              <a:t>-1</a:t>
            </a:r>
            <a:r>
              <a:rPr lang="pt-BR" sz="2800" dirty="0"/>
              <a:t> (n</a:t>
            </a:r>
            <a:r>
              <a:rPr lang="pt-BR" sz="2800" baseline="-25000" dirty="0"/>
              <a:t>2</a:t>
            </a:r>
            <a:r>
              <a:rPr lang="pt-BR" sz="2800" dirty="0"/>
              <a:t>/n</a:t>
            </a:r>
            <a:r>
              <a:rPr lang="pt-BR" sz="2800" baseline="-25000" dirty="0"/>
              <a:t>1</a:t>
            </a:r>
            <a:r>
              <a:rPr lang="pt-BR" sz="2800" dirty="0"/>
              <a:t>) = sin</a:t>
            </a:r>
            <a:r>
              <a:rPr lang="pt-BR" sz="2800" baseline="30000" dirty="0"/>
              <a:t>-1</a:t>
            </a:r>
            <a:r>
              <a:rPr lang="pt-BR" sz="2800" dirty="0"/>
              <a:t> (1.44/1.46) = 80.5</a:t>
            </a:r>
            <a:r>
              <a:rPr lang="pt-BR" sz="2800" baseline="30000" dirty="0"/>
              <a:t>º</a:t>
            </a:r>
          </a:p>
          <a:p>
            <a:pPr algn="just"/>
            <a:endParaRPr lang="pt-BR" sz="2800" baseline="30000" dirty="0"/>
          </a:p>
          <a:p>
            <a:pPr algn="just"/>
            <a:r>
              <a:rPr lang="pt-BR" sz="2800" dirty="0"/>
              <a:t>If θ</a:t>
            </a:r>
            <a:r>
              <a:rPr lang="pt-BR" sz="2800" baseline="-25000" dirty="0"/>
              <a:t>i</a:t>
            </a:r>
            <a:r>
              <a:rPr lang="pt-BR" sz="2800" dirty="0"/>
              <a:t>&gt; θ</a:t>
            </a:r>
            <a:r>
              <a:rPr lang="pt-BR" sz="2800" baseline="-25000" dirty="0"/>
              <a:t>c</a:t>
            </a:r>
            <a:r>
              <a:rPr lang="pt-BR" sz="2800" dirty="0"/>
              <a:t>, the light will be trapped inside the core.</a:t>
            </a:r>
            <a:endParaRPr lang="en-US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1381421836"/>
      </p:ext>
    </p:extLst>
  </p:cSld>
  <p:clrMapOvr>
    <a:masterClrMapping/>
  </p:clrMapOvr>
  <p:transition spd="slow"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68503" y="327369"/>
            <a:ext cx="4648200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3" algn="ctr"/>
            <a:r>
              <a:rPr lang="en-US" sz="2900" b="1" dirty="0">
                <a:solidFill>
                  <a:srgbClr val="FFC000"/>
                </a:solidFill>
                <a:latin typeface="Times New Roman"/>
                <a:cs typeface="Times New Roman"/>
              </a:rPr>
              <a:t>Silica optical fibers </a:t>
            </a:r>
            <a:endParaRPr lang="en-US" sz="29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7D42B3-3787-4C07-BBA8-38C3EF77AC2D}"/>
              </a:ext>
            </a:extLst>
          </p:cNvPr>
          <p:cNvSpPr txBox="1"/>
          <p:nvPr/>
        </p:nvSpPr>
        <p:spPr>
          <a:xfrm>
            <a:off x="1115632" y="1190625"/>
            <a:ext cx="8458200" cy="1384995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Both the core and the cladding are made from a type of glass known as silica (SiO2) which is almost transparent in the visible and near-IR.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D5760F-3B0A-4B5D-B515-FAE97C1BD002}"/>
              </a:ext>
            </a:extLst>
          </p:cNvPr>
          <p:cNvSpPr txBox="1"/>
          <p:nvPr/>
        </p:nvSpPr>
        <p:spPr>
          <a:xfrm>
            <a:off x="1003300" y="3088927"/>
            <a:ext cx="8686800" cy="1384995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n-US" sz="2800" dirty="0"/>
              <a:t>The higher core refractive index (~ 0.3% higher) is typically obtained by doping the silica core with germanium dioxide (GeO2). </a:t>
            </a:r>
          </a:p>
        </p:txBody>
      </p:sp>
    </p:spTree>
    <p:extLst>
      <p:ext uri="{BB962C8B-B14F-4D97-AF65-F5344CB8AC3E}">
        <p14:creationId xmlns:p14="http://schemas.microsoft.com/office/powerpoint/2010/main" val="2232947383"/>
      </p:ext>
    </p:extLst>
  </p:cSld>
  <p:clrMapOvr>
    <a:masterClrMapping/>
  </p:clrMapOvr>
  <p:transition spd="slow"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17BFD6-6873-429C-951B-AACF84797ED7}"/>
              </a:ext>
            </a:extLst>
          </p:cNvPr>
          <p:cNvSpPr txBox="1"/>
          <p:nvPr/>
        </p:nvSpPr>
        <p:spPr>
          <a:xfrm>
            <a:off x="1308100" y="1057711"/>
            <a:ext cx="8153400" cy="2062103"/>
          </a:xfrm>
          <a:prstGeom prst="rect">
            <a:avLst/>
          </a:prstGeom>
          <a:noFill/>
          <a:ln w="53975" cmpd="dbl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In Lab1, </a:t>
            </a:r>
            <a:r>
              <a:rPr lang="en-US" sz="3200" dirty="0"/>
              <a:t>we shall learn how to strip off the jacket to expose the cladding. This is necessary in order to “cleave” the fiber for a smooth end face for light coupling.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A1283-696A-4077-BC66-0CD973E16918}"/>
              </a:ext>
            </a:extLst>
          </p:cNvPr>
          <p:cNvSpPr txBox="1"/>
          <p:nvPr/>
        </p:nvSpPr>
        <p:spPr>
          <a:xfrm>
            <a:off x="1308100" y="3943484"/>
            <a:ext cx="8153400" cy="2062103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3200" b="1" dirty="0"/>
              <a:t>In Lab 1, </a:t>
            </a:r>
            <a:r>
              <a:rPr lang="en-US" sz="3200" dirty="0"/>
              <a:t>we should be able to see the step boundary between the core and the cladding, by end-illuminating the fiber and imaging the output-end cross-section using a microscope. </a:t>
            </a:r>
          </a:p>
        </p:txBody>
      </p:sp>
    </p:spTree>
    <p:extLst>
      <p:ext uri="{BB962C8B-B14F-4D97-AF65-F5344CB8AC3E}">
        <p14:creationId xmlns:p14="http://schemas.microsoft.com/office/powerpoint/2010/main" val="278934376"/>
      </p:ext>
    </p:extLst>
  </p:cSld>
  <p:clrMapOvr>
    <a:masterClrMapping/>
  </p:clrMapOvr>
  <p:transition spd="slow"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716" y="4037625"/>
            <a:ext cx="8583968" cy="1909210"/>
          </a:xfrm>
          <a:prstGeom prst="rect">
            <a:avLst/>
          </a:prstGeom>
        </p:spPr>
        <p:txBody>
          <a:bodyPr vert="horz" wrap="square" lIns="0" tIns="14829" rIns="0" bIns="0" rtlCol="0">
            <a:spAutoFit/>
          </a:bodyPr>
          <a:lstStyle/>
          <a:p>
            <a:pPr marL="24714">
              <a:spcBef>
                <a:spcPts val="117"/>
              </a:spcBef>
            </a:pPr>
            <a:r>
              <a:rPr sz="2287" spc="10" dirty="0">
                <a:latin typeface="Times New Roman"/>
                <a:cs typeface="Times New Roman"/>
              </a:rPr>
              <a:t>The </a:t>
            </a:r>
            <a:r>
              <a:rPr sz="2287" spc="5" dirty="0">
                <a:solidFill>
                  <a:srgbClr val="FF0000"/>
                </a:solidFill>
                <a:latin typeface="Times New Roman"/>
                <a:cs typeface="Times New Roman"/>
              </a:rPr>
              <a:t>numerical aperture </a:t>
            </a:r>
            <a:r>
              <a:rPr sz="2287" spc="10" dirty="0">
                <a:solidFill>
                  <a:srgbClr val="FF0000"/>
                </a:solidFill>
                <a:latin typeface="Times New Roman"/>
                <a:cs typeface="Times New Roman"/>
              </a:rPr>
              <a:t>(NA) </a:t>
            </a:r>
            <a:r>
              <a:rPr sz="2287" spc="5" dirty="0">
                <a:latin typeface="Times New Roman"/>
                <a:cs typeface="Times New Roman"/>
              </a:rPr>
              <a:t>is defined</a:t>
            </a:r>
            <a:r>
              <a:rPr sz="2287" spc="-10" dirty="0">
                <a:latin typeface="Times New Roman"/>
                <a:cs typeface="Times New Roman"/>
              </a:rPr>
              <a:t> </a:t>
            </a:r>
            <a:r>
              <a:rPr sz="2287" spc="5" dirty="0">
                <a:latin typeface="Times New Roman"/>
                <a:cs typeface="Times New Roman"/>
              </a:rPr>
              <a:t>as:</a:t>
            </a:r>
            <a:endParaRPr sz="2287" dirty="0">
              <a:latin typeface="Times New Roman"/>
              <a:cs typeface="Times New Roman"/>
            </a:endParaRPr>
          </a:p>
          <a:p>
            <a:pPr>
              <a:spcBef>
                <a:spcPts val="44"/>
              </a:spcBef>
            </a:pPr>
            <a:endParaRPr sz="2433" dirty="0">
              <a:latin typeface="Times New Roman"/>
              <a:cs typeface="Times New Roman"/>
            </a:endParaRPr>
          </a:p>
          <a:p>
            <a:pPr marR="68582" algn="ctr">
              <a:tabLst>
                <a:tab pos="553598" algn="l"/>
                <a:tab pos="865615" algn="l"/>
              </a:tabLst>
            </a:pPr>
            <a:r>
              <a:rPr sz="2287" spc="15" dirty="0">
                <a:solidFill>
                  <a:srgbClr val="3333CC"/>
                </a:solidFill>
                <a:latin typeface="Times New Roman"/>
                <a:cs typeface="Times New Roman"/>
              </a:rPr>
              <a:t>NA	</a:t>
            </a:r>
            <a:r>
              <a:rPr sz="2287" spc="10" dirty="0">
                <a:solidFill>
                  <a:srgbClr val="3333CC"/>
                </a:solidFill>
                <a:latin typeface="Times New Roman"/>
                <a:cs typeface="Times New Roman"/>
              </a:rPr>
              <a:t>=	n</a:t>
            </a:r>
            <a:r>
              <a:rPr sz="2262" spc="15" baseline="-21505" dirty="0">
                <a:solidFill>
                  <a:srgbClr val="3333CC"/>
                </a:solidFill>
                <a:latin typeface="Times New Roman"/>
                <a:cs typeface="Times New Roman"/>
              </a:rPr>
              <a:t>o  </a:t>
            </a:r>
            <a:r>
              <a:rPr sz="2287" spc="5" dirty="0">
                <a:solidFill>
                  <a:srgbClr val="3333CC"/>
                </a:solidFill>
                <a:latin typeface="Times New Roman"/>
                <a:cs typeface="Times New Roman"/>
              </a:rPr>
              <a:t>sin</a:t>
            </a:r>
            <a:r>
              <a:rPr sz="2287" spc="-198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87" spc="1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2287" dirty="0">
              <a:latin typeface="Symbol"/>
              <a:cs typeface="Symbol"/>
            </a:endParaRPr>
          </a:p>
          <a:p>
            <a:pPr marL="479455" marR="42014">
              <a:lnSpc>
                <a:spcPct val="101400"/>
              </a:lnSpc>
              <a:spcBef>
                <a:spcPts val="1922"/>
              </a:spcBef>
            </a:pPr>
            <a:r>
              <a:rPr sz="1897" spc="10" dirty="0">
                <a:latin typeface="Times New Roman"/>
                <a:cs typeface="Times New Roman"/>
              </a:rPr>
              <a:t>where n</a:t>
            </a:r>
            <a:r>
              <a:rPr sz="1897" spc="15" baseline="-21367" dirty="0">
                <a:latin typeface="Times New Roman"/>
                <a:cs typeface="Times New Roman"/>
              </a:rPr>
              <a:t>o </a:t>
            </a:r>
            <a:r>
              <a:rPr sz="1897" spc="5" dirty="0">
                <a:latin typeface="Times New Roman"/>
                <a:cs typeface="Times New Roman"/>
              </a:rPr>
              <a:t>is the refractive </a:t>
            </a:r>
            <a:r>
              <a:rPr sz="1897" spc="10" dirty="0">
                <a:latin typeface="Times New Roman"/>
                <a:cs typeface="Times New Roman"/>
              </a:rPr>
              <a:t>index of </a:t>
            </a:r>
            <a:r>
              <a:rPr sz="1897" spc="5" dirty="0">
                <a:latin typeface="Times New Roman"/>
                <a:cs typeface="Times New Roman"/>
              </a:rPr>
              <a:t>the </a:t>
            </a:r>
            <a:r>
              <a:rPr sz="1897" spc="10" dirty="0">
                <a:latin typeface="Times New Roman"/>
                <a:cs typeface="Times New Roman"/>
              </a:rPr>
              <a:t>medium between </a:t>
            </a:r>
            <a:r>
              <a:rPr sz="1897" spc="5" dirty="0">
                <a:latin typeface="Times New Roman"/>
                <a:cs typeface="Times New Roman"/>
              </a:rPr>
              <a:t>the lens </a:t>
            </a:r>
            <a:r>
              <a:rPr sz="1897" spc="10" dirty="0">
                <a:latin typeface="Times New Roman"/>
                <a:cs typeface="Times New Roman"/>
              </a:rPr>
              <a:t>and </a:t>
            </a:r>
            <a:r>
              <a:rPr sz="1897" spc="5" dirty="0">
                <a:latin typeface="Times New Roman"/>
                <a:cs typeface="Times New Roman"/>
              </a:rPr>
              <a:t>the  </a:t>
            </a:r>
            <a:r>
              <a:rPr sz="1897" spc="10" dirty="0">
                <a:latin typeface="Times New Roman"/>
                <a:cs typeface="Times New Roman"/>
              </a:rPr>
              <a:t>image plane </a:t>
            </a:r>
            <a:r>
              <a:rPr sz="1897" spc="5" dirty="0">
                <a:latin typeface="Times New Roman"/>
                <a:cs typeface="Times New Roman"/>
              </a:rPr>
              <a:t>(e.g. </a:t>
            </a:r>
            <a:r>
              <a:rPr sz="1897" spc="10" dirty="0">
                <a:latin typeface="Times New Roman"/>
                <a:cs typeface="Times New Roman"/>
              </a:rPr>
              <a:t>a </a:t>
            </a:r>
            <a:r>
              <a:rPr sz="1897" spc="5" dirty="0">
                <a:latin typeface="Times New Roman"/>
                <a:cs typeface="Times New Roman"/>
              </a:rPr>
              <a:t>photodetector) </a:t>
            </a:r>
            <a:r>
              <a:rPr sz="1897" spc="10" dirty="0">
                <a:latin typeface="Times New Roman"/>
                <a:cs typeface="Times New Roman"/>
              </a:rPr>
              <a:t>and </a:t>
            </a:r>
            <a:r>
              <a:rPr sz="1897" spc="10" dirty="0">
                <a:latin typeface="Symbol"/>
                <a:cs typeface="Symbol"/>
              </a:rPr>
              <a:t></a:t>
            </a:r>
            <a:r>
              <a:rPr sz="1897" spc="10" dirty="0">
                <a:latin typeface="Times New Roman"/>
                <a:cs typeface="Times New Roman"/>
              </a:rPr>
              <a:t> </a:t>
            </a:r>
            <a:r>
              <a:rPr sz="1897" spc="5" dirty="0">
                <a:latin typeface="Times New Roman"/>
                <a:cs typeface="Times New Roman"/>
              </a:rPr>
              <a:t>is the </a:t>
            </a:r>
            <a:r>
              <a:rPr sz="1897" spc="10" dirty="0">
                <a:latin typeface="Times New Roman"/>
                <a:cs typeface="Times New Roman"/>
              </a:rPr>
              <a:t>maximum </a:t>
            </a:r>
            <a:r>
              <a:rPr sz="1897" spc="5" dirty="0">
                <a:latin typeface="Times New Roman"/>
                <a:cs typeface="Times New Roman"/>
              </a:rPr>
              <a:t>acceptance</a:t>
            </a:r>
            <a:r>
              <a:rPr sz="1897" spc="78" dirty="0">
                <a:latin typeface="Times New Roman"/>
                <a:cs typeface="Times New Roman"/>
              </a:rPr>
              <a:t> </a:t>
            </a:r>
            <a:r>
              <a:rPr sz="1897" spc="5" dirty="0">
                <a:latin typeface="Times New Roman"/>
                <a:cs typeface="Times New Roman"/>
              </a:rPr>
              <a:t>angle.</a:t>
            </a:r>
            <a:endParaRPr sz="1897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3939" y="307491"/>
            <a:ext cx="3721138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Numerical</a:t>
            </a:r>
            <a:r>
              <a:rPr sz="3200" spc="-24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aperture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9630" y="976597"/>
            <a:ext cx="8281444" cy="706409"/>
          </a:xfrm>
          <a:prstGeom prst="rect">
            <a:avLst/>
          </a:prstGeom>
        </p:spPr>
        <p:txBody>
          <a:bodyPr vert="horz" wrap="square" lIns="0" tIns="9268" rIns="0" bIns="0" rtlCol="0">
            <a:spAutoFit/>
          </a:bodyPr>
          <a:lstStyle/>
          <a:p>
            <a:pPr marL="12357" marR="4943">
              <a:lnSpc>
                <a:spcPct val="101699"/>
              </a:lnSpc>
              <a:spcBef>
                <a:spcPts val="73"/>
              </a:spcBef>
              <a:tabLst>
                <a:tab pos="245288" algn="l"/>
                <a:tab pos="245905" algn="l"/>
              </a:tabLst>
            </a:pPr>
            <a:r>
              <a:rPr sz="2287" spc="10" dirty="0">
                <a:latin typeface="Times New Roman"/>
                <a:cs typeface="Times New Roman"/>
              </a:rPr>
              <a:t>An </a:t>
            </a:r>
            <a:r>
              <a:rPr sz="2287" spc="5" dirty="0">
                <a:latin typeface="Times New Roman"/>
                <a:cs typeface="Times New Roman"/>
              </a:rPr>
              <a:t>important characteristic of an optic system is </a:t>
            </a:r>
            <a:r>
              <a:rPr sz="2287" dirty="0">
                <a:latin typeface="Times New Roman"/>
                <a:cs typeface="Times New Roman"/>
              </a:rPr>
              <a:t>its </a:t>
            </a:r>
            <a:r>
              <a:rPr sz="2287" spc="5" dirty="0">
                <a:latin typeface="Times New Roman"/>
                <a:cs typeface="Times New Roman"/>
              </a:rPr>
              <a:t>ability to collect  light incident over </a:t>
            </a:r>
            <a:r>
              <a:rPr sz="2287" spc="10" dirty="0">
                <a:latin typeface="Times New Roman"/>
                <a:cs typeface="Times New Roman"/>
              </a:rPr>
              <a:t>a wide </a:t>
            </a:r>
            <a:r>
              <a:rPr sz="2287" spc="5" dirty="0">
                <a:latin typeface="Times New Roman"/>
                <a:cs typeface="Times New Roman"/>
              </a:rPr>
              <a:t>range of</a:t>
            </a:r>
            <a:r>
              <a:rPr sz="2287" spc="-10" dirty="0">
                <a:latin typeface="Times New Roman"/>
                <a:cs typeface="Times New Roman"/>
              </a:rPr>
              <a:t> </a:t>
            </a:r>
            <a:r>
              <a:rPr sz="2287" spc="5" dirty="0">
                <a:latin typeface="Times New Roman"/>
                <a:cs typeface="Times New Roman"/>
              </a:rPr>
              <a:t>angles.</a:t>
            </a:r>
            <a:endParaRPr sz="2287" dirty="0">
              <a:latin typeface="Times New Roman"/>
              <a:cs typeface="Times New Roman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4EF7950-212B-4588-B4D1-1857264B64A2}"/>
              </a:ext>
            </a:extLst>
          </p:cNvPr>
          <p:cNvGrpSpPr/>
          <p:nvPr/>
        </p:nvGrpSpPr>
        <p:grpSpPr>
          <a:xfrm>
            <a:off x="1489059" y="1882735"/>
            <a:ext cx="3447152" cy="1808362"/>
            <a:chOff x="1753200" y="2493010"/>
            <a:chExt cx="3447152" cy="1808362"/>
          </a:xfrm>
        </p:grpSpPr>
        <p:grpSp>
          <p:nvGrpSpPr>
            <p:cNvPr id="5" name="object 5"/>
            <p:cNvGrpSpPr/>
            <p:nvPr/>
          </p:nvGrpSpPr>
          <p:grpSpPr>
            <a:xfrm>
              <a:off x="1820024" y="2844310"/>
              <a:ext cx="2794053" cy="1456961"/>
              <a:chOff x="1404808" y="2923120"/>
              <a:chExt cx="2871470" cy="1497330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2617393" y="3057144"/>
                <a:ext cx="226695" cy="1356995"/>
              </a:xfrm>
              <a:custGeom>
                <a:avLst/>
                <a:gdLst/>
                <a:ahLst/>
                <a:cxnLst/>
                <a:rect l="l" t="t" r="r" b="b"/>
                <a:pathLst>
                  <a:path w="226694" h="1356995">
                    <a:moveTo>
                      <a:pt x="113055" y="0"/>
                    </a:moveTo>
                    <a:lnTo>
                      <a:pt x="77323" y="34581"/>
                    </a:lnTo>
                    <a:lnTo>
                      <a:pt x="55996" y="92610"/>
                    </a:lnTo>
                    <a:lnTo>
                      <a:pt x="46288" y="130876"/>
                    </a:lnTo>
                    <a:lnTo>
                      <a:pt x="37309" y="174758"/>
                    </a:lnTo>
                    <a:lnTo>
                      <a:pt x="29128" y="223841"/>
                    </a:lnTo>
                    <a:lnTo>
                      <a:pt x="21814" y="277713"/>
                    </a:lnTo>
                    <a:lnTo>
                      <a:pt x="15436" y="335959"/>
                    </a:lnTo>
                    <a:lnTo>
                      <a:pt x="10063" y="398165"/>
                    </a:lnTo>
                    <a:lnTo>
                      <a:pt x="5764" y="463918"/>
                    </a:lnTo>
                    <a:lnTo>
                      <a:pt x="2607" y="532804"/>
                    </a:lnTo>
                    <a:lnTo>
                      <a:pt x="663" y="604409"/>
                    </a:lnTo>
                    <a:lnTo>
                      <a:pt x="0" y="678319"/>
                    </a:lnTo>
                    <a:lnTo>
                      <a:pt x="663" y="752229"/>
                    </a:lnTo>
                    <a:lnTo>
                      <a:pt x="2607" y="823834"/>
                    </a:lnTo>
                    <a:lnTo>
                      <a:pt x="5764" y="892720"/>
                    </a:lnTo>
                    <a:lnTo>
                      <a:pt x="10063" y="958473"/>
                    </a:lnTo>
                    <a:lnTo>
                      <a:pt x="15436" y="1020680"/>
                    </a:lnTo>
                    <a:lnTo>
                      <a:pt x="21814" y="1078926"/>
                    </a:lnTo>
                    <a:lnTo>
                      <a:pt x="29128" y="1132797"/>
                    </a:lnTo>
                    <a:lnTo>
                      <a:pt x="37309" y="1181881"/>
                    </a:lnTo>
                    <a:lnTo>
                      <a:pt x="46288" y="1225762"/>
                    </a:lnTo>
                    <a:lnTo>
                      <a:pt x="55996" y="1264028"/>
                    </a:lnTo>
                    <a:lnTo>
                      <a:pt x="77323" y="1322058"/>
                    </a:lnTo>
                    <a:lnTo>
                      <a:pt x="100737" y="1352659"/>
                    </a:lnTo>
                    <a:lnTo>
                      <a:pt x="113055" y="1356639"/>
                    </a:lnTo>
                    <a:lnTo>
                      <a:pt x="125375" y="1352659"/>
                    </a:lnTo>
                    <a:lnTo>
                      <a:pt x="148792" y="1322058"/>
                    </a:lnTo>
                    <a:lnTo>
                      <a:pt x="170119" y="1264028"/>
                    </a:lnTo>
                    <a:lnTo>
                      <a:pt x="179827" y="1225762"/>
                    </a:lnTo>
                    <a:lnTo>
                      <a:pt x="188806" y="1181881"/>
                    </a:lnTo>
                    <a:lnTo>
                      <a:pt x="196986" y="1132797"/>
                    </a:lnTo>
                    <a:lnTo>
                      <a:pt x="204299" y="1078926"/>
                    </a:lnTo>
                    <a:lnTo>
                      <a:pt x="210677" y="1020680"/>
                    </a:lnTo>
                    <a:lnTo>
                      <a:pt x="216049" y="958473"/>
                    </a:lnTo>
                    <a:lnTo>
                      <a:pt x="220347" y="892720"/>
                    </a:lnTo>
                    <a:lnTo>
                      <a:pt x="223503" y="823834"/>
                    </a:lnTo>
                    <a:lnTo>
                      <a:pt x="225447" y="752229"/>
                    </a:lnTo>
                    <a:lnTo>
                      <a:pt x="226110" y="678319"/>
                    </a:lnTo>
                    <a:lnTo>
                      <a:pt x="225447" y="604409"/>
                    </a:lnTo>
                    <a:lnTo>
                      <a:pt x="223503" y="532804"/>
                    </a:lnTo>
                    <a:lnTo>
                      <a:pt x="220347" y="463918"/>
                    </a:lnTo>
                    <a:lnTo>
                      <a:pt x="216049" y="398165"/>
                    </a:lnTo>
                    <a:lnTo>
                      <a:pt x="210677" y="335959"/>
                    </a:lnTo>
                    <a:lnTo>
                      <a:pt x="204299" y="277713"/>
                    </a:lnTo>
                    <a:lnTo>
                      <a:pt x="196986" y="223841"/>
                    </a:lnTo>
                    <a:lnTo>
                      <a:pt x="188806" y="174758"/>
                    </a:lnTo>
                    <a:lnTo>
                      <a:pt x="179827" y="130876"/>
                    </a:lnTo>
                    <a:lnTo>
                      <a:pt x="170119" y="92610"/>
                    </a:lnTo>
                    <a:lnTo>
                      <a:pt x="148792" y="34581"/>
                    </a:lnTo>
                    <a:lnTo>
                      <a:pt x="125375" y="3980"/>
                    </a:lnTo>
                    <a:lnTo>
                      <a:pt x="113055" y="0"/>
                    </a:lnTo>
                    <a:close/>
                  </a:path>
                </a:pathLst>
              </a:custGeom>
              <a:solidFill>
                <a:srgbClr val="00D2A9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617401" y="3057139"/>
                <a:ext cx="226695" cy="1356995"/>
              </a:xfrm>
              <a:custGeom>
                <a:avLst/>
                <a:gdLst/>
                <a:ahLst/>
                <a:cxnLst/>
                <a:rect l="l" t="t" r="r" b="b"/>
                <a:pathLst>
                  <a:path w="226694" h="1356995">
                    <a:moveTo>
                      <a:pt x="0" y="678318"/>
                    </a:moveTo>
                    <a:lnTo>
                      <a:pt x="663" y="604407"/>
                    </a:lnTo>
                    <a:lnTo>
                      <a:pt x="2607" y="532802"/>
                    </a:lnTo>
                    <a:lnTo>
                      <a:pt x="5763" y="463916"/>
                    </a:lnTo>
                    <a:lnTo>
                      <a:pt x="10061" y="398163"/>
                    </a:lnTo>
                    <a:lnTo>
                      <a:pt x="15434" y="335956"/>
                    </a:lnTo>
                    <a:lnTo>
                      <a:pt x="21811" y="277711"/>
                    </a:lnTo>
                    <a:lnTo>
                      <a:pt x="29124" y="223839"/>
                    </a:lnTo>
                    <a:lnTo>
                      <a:pt x="37305" y="174756"/>
                    </a:lnTo>
                    <a:lnTo>
                      <a:pt x="46283" y="130875"/>
                    </a:lnTo>
                    <a:lnTo>
                      <a:pt x="55991" y="92609"/>
                    </a:lnTo>
                    <a:lnTo>
                      <a:pt x="77318" y="34580"/>
                    </a:lnTo>
                    <a:lnTo>
                      <a:pt x="100734" y="3980"/>
                    </a:lnTo>
                    <a:lnTo>
                      <a:pt x="113053" y="0"/>
                    </a:lnTo>
                    <a:lnTo>
                      <a:pt x="148788" y="34580"/>
                    </a:lnTo>
                    <a:lnTo>
                      <a:pt x="170114" y="92609"/>
                    </a:lnTo>
                    <a:lnTo>
                      <a:pt x="179822" y="130875"/>
                    </a:lnTo>
                    <a:lnTo>
                      <a:pt x="188800" y="174756"/>
                    </a:lnTo>
                    <a:lnTo>
                      <a:pt x="196981" y="223839"/>
                    </a:lnTo>
                    <a:lnTo>
                      <a:pt x="204294" y="277711"/>
                    </a:lnTo>
                    <a:lnTo>
                      <a:pt x="210672" y="335956"/>
                    </a:lnTo>
                    <a:lnTo>
                      <a:pt x="216044" y="398163"/>
                    </a:lnTo>
                    <a:lnTo>
                      <a:pt x="220343" y="463916"/>
                    </a:lnTo>
                    <a:lnTo>
                      <a:pt x="223498" y="532802"/>
                    </a:lnTo>
                    <a:lnTo>
                      <a:pt x="225442" y="604407"/>
                    </a:lnTo>
                    <a:lnTo>
                      <a:pt x="226106" y="678318"/>
                    </a:lnTo>
                    <a:lnTo>
                      <a:pt x="225442" y="752229"/>
                    </a:lnTo>
                    <a:lnTo>
                      <a:pt x="223498" y="823835"/>
                    </a:lnTo>
                    <a:lnTo>
                      <a:pt x="220343" y="892721"/>
                    </a:lnTo>
                    <a:lnTo>
                      <a:pt x="216044" y="958474"/>
                    </a:lnTo>
                    <a:lnTo>
                      <a:pt x="210672" y="1020680"/>
                    </a:lnTo>
                    <a:lnTo>
                      <a:pt x="204294" y="1078926"/>
                    </a:lnTo>
                    <a:lnTo>
                      <a:pt x="196981" y="1132797"/>
                    </a:lnTo>
                    <a:lnTo>
                      <a:pt x="188800" y="1181881"/>
                    </a:lnTo>
                    <a:lnTo>
                      <a:pt x="179822" y="1225762"/>
                    </a:lnTo>
                    <a:lnTo>
                      <a:pt x="170114" y="1264027"/>
                    </a:lnTo>
                    <a:lnTo>
                      <a:pt x="148788" y="1322056"/>
                    </a:lnTo>
                    <a:lnTo>
                      <a:pt x="125372" y="1352657"/>
                    </a:lnTo>
                    <a:lnTo>
                      <a:pt x="113053" y="1356637"/>
                    </a:lnTo>
                    <a:lnTo>
                      <a:pt x="100734" y="1352657"/>
                    </a:lnTo>
                    <a:lnTo>
                      <a:pt x="88799" y="1340992"/>
                    </a:lnTo>
                    <a:lnTo>
                      <a:pt x="66359" y="1296263"/>
                    </a:lnTo>
                    <a:lnTo>
                      <a:pt x="46283" y="1225762"/>
                    </a:lnTo>
                    <a:lnTo>
                      <a:pt x="37305" y="1181881"/>
                    </a:lnTo>
                    <a:lnTo>
                      <a:pt x="29124" y="1132797"/>
                    </a:lnTo>
                    <a:lnTo>
                      <a:pt x="21811" y="1078926"/>
                    </a:lnTo>
                    <a:lnTo>
                      <a:pt x="15434" y="1020680"/>
                    </a:lnTo>
                    <a:lnTo>
                      <a:pt x="10061" y="958474"/>
                    </a:lnTo>
                    <a:lnTo>
                      <a:pt x="5763" y="892721"/>
                    </a:lnTo>
                    <a:lnTo>
                      <a:pt x="2607" y="823835"/>
                    </a:lnTo>
                    <a:lnTo>
                      <a:pt x="663" y="752229"/>
                    </a:lnTo>
                    <a:lnTo>
                      <a:pt x="0" y="678318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1411158" y="3132231"/>
                <a:ext cx="1332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32230">
                    <a:moveTo>
                      <a:pt x="0" y="0"/>
                    </a:moveTo>
                    <a:lnTo>
                      <a:pt x="1332194" y="0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693098" y="3094558"/>
                <a:ext cx="75565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75564">
                    <a:moveTo>
                      <a:pt x="0" y="0"/>
                    </a:moveTo>
                    <a:lnTo>
                      <a:pt x="0" y="75361"/>
                    </a:lnTo>
                    <a:lnTo>
                      <a:pt x="75374" y="376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1411158" y="4338734"/>
                <a:ext cx="13322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32230">
                    <a:moveTo>
                      <a:pt x="0" y="0"/>
                    </a:moveTo>
                    <a:lnTo>
                      <a:pt x="1332194" y="0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2693098" y="4301058"/>
                <a:ext cx="75565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75564">
                    <a:moveTo>
                      <a:pt x="0" y="0"/>
                    </a:moveTo>
                    <a:lnTo>
                      <a:pt x="0" y="75361"/>
                    </a:lnTo>
                    <a:lnTo>
                      <a:pt x="75374" y="376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2693067" y="3744429"/>
                <a:ext cx="1559560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1559560" h="594360">
                    <a:moveTo>
                      <a:pt x="0" y="594305"/>
                    </a:moveTo>
                    <a:lnTo>
                      <a:pt x="1559262" y="0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191952" y="3727119"/>
                <a:ext cx="84455" cy="7048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70485">
                    <a:moveTo>
                      <a:pt x="0" y="0"/>
                    </a:moveTo>
                    <a:lnTo>
                      <a:pt x="26847" y="70421"/>
                    </a:lnTo>
                    <a:lnTo>
                      <a:pt x="83845" y="83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2693067" y="3132231"/>
                <a:ext cx="1559560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1559560" h="594360">
                    <a:moveTo>
                      <a:pt x="0" y="0"/>
                    </a:moveTo>
                    <a:lnTo>
                      <a:pt x="1559262" y="594305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4191952" y="3673437"/>
                <a:ext cx="84455" cy="7048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70485">
                    <a:moveTo>
                      <a:pt x="26847" y="0"/>
                    </a:moveTo>
                    <a:lnTo>
                      <a:pt x="0" y="70421"/>
                    </a:lnTo>
                    <a:lnTo>
                      <a:pt x="83845" y="62052"/>
                    </a:lnTo>
                    <a:lnTo>
                      <a:pt x="26847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2717992" y="2981424"/>
                <a:ext cx="15328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32889">
                    <a:moveTo>
                      <a:pt x="0" y="0"/>
                    </a:moveTo>
                    <a:lnTo>
                      <a:pt x="1532883" y="0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2693060" y="2923120"/>
                <a:ext cx="114642" cy="11661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4161155" y="2923120"/>
                <a:ext cx="114642" cy="116611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3808932" y="2493010"/>
              <a:ext cx="106275" cy="366930"/>
            </a:xfrm>
            <a:prstGeom prst="rect">
              <a:avLst/>
            </a:prstGeom>
          </p:spPr>
          <p:txBody>
            <a:bodyPr vert="horz" wrap="square" lIns="0" tIns="14829" rIns="0" bIns="0" rtlCol="0">
              <a:spAutoFit/>
            </a:bodyPr>
            <a:lstStyle/>
            <a:p>
              <a:pPr marL="12357">
                <a:spcBef>
                  <a:spcPts val="117"/>
                </a:spcBef>
              </a:pPr>
              <a:r>
                <a:rPr sz="2287" i="1" spc="5" dirty="0">
                  <a:solidFill>
                    <a:srgbClr val="3333CC"/>
                  </a:solidFill>
                  <a:latin typeface="Times New Roman"/>
                  <a:cs typeface="Times New Roman"/>
                </a:rPr>
                <a:t>f</a:t>
              </a:r>
              <a:endParaRPr sz="2287">
                <a:latin typeface="Times New Roman"/>
                <a:cs typeface="Times New Roman"/>
              </a:endParaRPr>
            </a:p>
          </p:txBody>
        </p:sp>
        <p:grpSp>
          <p:nvGrpSpPr>
            <p:cNvPr id="20" name="object 20"/>
            <p:cNvGrpSpPr/>
            <p:nvPr/>
          </p:nvGrpSpPr>
          <p:grpSpPr>
            <a:xfrm>
              <a:off x="1753200" y="2968605"/>
              <a:ext cx="3447152" cy="1332767"/>
              <a:chOff x="1336132" y="3050858"/>
              <a:chExt cx="3542665" cy="1369695"/>
            </a:xfrm>
          </p:grpSpPr>
          <p:sp>
            <p:nvSpPr>
              <p:cNvPr id="21" name="object 21"/>
              <p:cNvSpPr/>
              <p:nvPr/>
            </p:nvSpPr>
            <p:spPr>
              <a:xfrm>
                <a:off x="1336132" y="3735457"/>
                <a:ext cx="3542665" cy="0"/>
              </a:xfrm>
              <a:custGeom>
                <a:avLst/>
                <a:gdLst/>
                <a:ahLst/>
                <a:cxnLst/>
                <a:rect l="l" t="t" r="r" b="b"/>
                <a:pathLst>
                  <a:path w="3542665">
                    <a:moveTo>
                      <a:pt x="0" y="0"/>
                    </a:moveTo>
                    <a:lnTo>
                      <a:pt x="2939385" y="0"/>
                    </a:lnTo>
                  </a:path>
                  <a:path w="3542665">
                    <a:moveTo>
                      <a:pt x="3014747" y="0"/>
                    </a:moveTo>
                    <a:lnTo>
                      <a:pt x="3542331" y="0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4275518" y="3057143"/>
                <a:ext cx="75565" cy="135699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1356995">
                    <a:moveTo>
                      <a:pt x="75361" y="0"/>
                    </a:moveTo>
                    <a:lnTo>
                      <a:pt x="0" y="0"/>
                    </a:lnTo>
                    <a:lnTo>
                      <a:pt x="0" y="1356639"/>
                    </a:lnTo>
                    <a:lnTo>
                      <a:pt x="75361" y="1356639"/>
                    </a:lnTo>
                    <a:lnTo>
                      <a:pt x="75361" y="0"/>
                    </a:lnTo>
                    <a:close/>
                  </a:path>
                </a:pathLst>
              </a:custGeom>
              <a:solidFill>
                <a:srgbClr val="434DD6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4275514" y="3057139"/>
                <a:ext cx="75565" cy="135699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1356995">
                    <a:moveTo>
                      <a:pt x="0" y="0"/>
                    </a:moveTo>
                    <a:lnTo>
                      <a:pt x="75368" y="0"/>
                    </a:lnTo>
                    <a:lnTo>
                      <a:pt x="75368" y="1356637"/>
                    </a:lnTo>
                    <a:lnTo>
                      <a:pt x="0" y="1356637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6AE487D-6440-48C1-8D31-EA1D3FE47A07}"/>
              </a:ext>
            </a:extLst>
          </p:cNvPr>
          <p:cNvGrpSpPr/>
          <p:nvPr/>
        </p:nvGrpSpPr>
        <p:grpSpPr>
          <a:xfrm>
            <a:off x="5605356" y="1757868"/>
            <a:ext cx="3459291" cy="2023557"/>
            <a:chOff x="5633869" y="2308718"/>
            <a:chExt cx="3459291" cy="2023557"/>
          </a:xfrm>
        </p:grpSpPr>
        <p:grpSp>
          <p:nvGrpSpPr>
            <p:cNvPr id="34" name="object 34"/>
            <p:cNvGrpSpPr/>
            <p:nvPr/>
          </p:nvGrpSpPr>
          <p:grpSpPr>
            <a:xfrm>
              <a:off x="6074199" y="2308718"/>
              <a:ext cx="3018961" cy="2023557"/>
              <a:chOff x="5776856" y="2372687"/>
              <a:chExt cx="3102610" cy="2079625"/>
            </a:xfrm>
          </p:grpSpPr>
          <p:sp>
            <p:nvSpPr>
              <p:cNvPr id="35" name="object 35"/>
              <p:cNvSpPr/>
              <p:nvPr/>
            </p:nvSpPr>
            <p:spPr>
              <a:xfrm>
                <a:off x="5783137" y="3735487"/>
                <a:ext cx="1484630" cy="668655"/>
              </a:xfrm>
              <a:custGeom>
                <a:avLst/>
                <a:gdLst/>
                <a:ahLst/>
                <a:cxnLst/>
                <a:rect l="l" t="t" r="r" b="b"/>
                <a:pathLst>
                  <a:path w="1484629" h="668654">
                    <a:moveTo>
                      <a:pt x="0" y="0"/>
                    </a:moveTo>
                    <a:lnTo>
                      <a:pt x="1484418" y="668338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7206272" y="4348835"/>
                <a:ext cx="84455" cy="6921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69214">
                    <a:moveTo>
                      <a:pt x="30937" y="0"/>
                    </a:moveTo>
                    <a:lnTo>
                      <a:pt x="0" y="68732"/>
                    </a:lnTo>
                    <a:lnTo>
                      <a:pt x="84188" y="65316"/>
                    </a:lnTo>
                    <a:lnTo>
                      <a:pt x="30937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5783137" y="2378968"/>
                <a:ext cx="1484630" cy="668020"/>
              </a:xfrm>
              <a:custGeom>
                <a:avLst/>
                <a:gdLst/>
                <a:ahLst/>
                <a:cxnLst/>
                <a:rect l="l" t="t" r="r" b="b"/>
                <a:pathLst>
                  <a:path w="1484629" h="668019">
                    <a:moveTo>
                      <a:pt x="0" y="0"/>
                    </a:moveTo>
                    <a:lnTo>
                      <a:pt x="1484418" y="667557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7206272" y="2991548"/>
                <a:ext cx="84455" cy="69215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69214">
                    <a:moveTo>
                      <a:pt x="30911" y="0"/>
                    </a:moveTo>
                    <a:lnTo>
                      <a:pt x="0" y="68745"/>
                    </a:lnTo>
                    <a:lnTo>
                      <a:pt x="84188" y="65277"/>
                    </a:lnTo>
                    <a:lnTo>
                      <a:pt x="30911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7290472" y="3056822"/>
                <a:ext cx="1489075" cy="1341120"/>
              </a:xfrm>
              <a:custGeom>
                <a:avLst/>
                <a:gdLst/>
                <a:ahLst/>
                <a:cxnLst/>
                <a:rect l="l" t="t" r="r" b="b"/>
                <a:pathLst>
                  <a:path w="1489075" h="1341120">
                    <a:moveTo>
                      <a:pt x="0" y="0"/>
                    </a:moveTo>
                    <a:lnTo>
                      <a:pt x="1488661" y="1340505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8716568" y="4335703"/>
                <a:ext cx="81280" cy="78740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78739">
                    <a:moveTo>
                      <a:pt x="50431" y="0"/>
                    </a:moveTo>
                    <a:lnTo>
                      <a:pt x="0" y="56006"/>
                    </a:lnTo>
                    <a:lnTo>
                      <a:pt x="81229" y="78447"/>
                    </a:lnTo>
                    <a:lnTo>
                      <a:pt x="50431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7290472" y="4414142"/>
                <a:ext cx="148272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82725">
                    <a:moveTo>
                      <a:pt x="0" y="0"/>
                    </a:moveTo>
                    <a:lnTo>
                      <a:pt x="1482202" y="0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8722423" y="4376458"/>
                <a:ext cx="75565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75565" h="75564">
                    <a:moveTo>
                      <a:pt x="0" y="0"/>
                    </a:moveTo>
                    <a:lnTo>
                      <a:pt x="0" y="75374"/>
                    </a:lnTo>
                    <a:lnTo>
                      <a:pt x="75374" y="376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8797633" y="3057143"/>
                <a:ext cx="75565" cy="1356995"/>
              </a:xfrm>
              <a:custGeom>
                <a:avLst/>
                <a:gdLst/>
                <a:ahLst/>
                <a:cxnLst/>
                <a:rect l="l" t="t" r="r" b="b"/>
                <a:pathLst>
                  <a:path w="75565" h="1356995">
                    <a:moveTo>
                      <a:pt x="75374" y="0"/>
                    </a:moveTo>
                    <a:lnTo>
                      <a:pt x="0" y="0"/>
                    </a:lnTo>
                    <a:lnTo>
                      <a:pt x="0" y="1356639"/>
                    </a:lnTo>
                    <a:lnTo>
                      <a:pt x="75374" y="1356639"/>
                    </a:lnTo>
                    <a:lnTo>
                      <a:pt x="75374" y="0"/>
                    </a:lnTo>
                    <a:close/>
                  </a:path>
                </a:pathLst>
              </a:custGeom>
              <a:solidFill>
                <a:srgbClr val="434DD6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8797639" y="3057139"/>
                <a:ext cx="75565" cy="1356995"/>
              </a:xfrm>
              <a:custGeom>
                <a:avLst/>
                <a:gdLst/>
                <a:ahLst/>
                <a:cxnLst/>
                <a:rect l="l" t="t" r="r" b="b"/>
                <a:pathLst>
                  <a:path w="75565" h="1356995">
                    <a:moveTo>
                      <a:pt x="0" y="0"/>
                    </a:moveTo>
                    <a:lnTo>
                      <a:pt x="75368" y="0"/>
                    </a:lnTo>
                    <a:lnTo>
                      <a:pt x="75368" y="1356637"/>
                    </a:lnTo>
                    <a:lnTo>
                      <a:pt x="0" y="1356637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6454142" y="3433982"/>
                <a:ext cx="82550" cy="3016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301625">
                    <a:moveTo>
                      <a:pt x="82434" y="0"/>
                    </a:moveTo>
                    <a:lnTo>
                      <a:pt x="59176" y="37684"/>
                    </a:lnTo>
                    <a:lnTo>
                      <a:pt x="37684" y="75368"/>
                    </a:lnTo>
                    <a:lnTo>
                      <a:pt x="19725" y="113053"/>
                    </a:lnTo>
                    <a:lnTo>
                      <a:pt x="7065" y="150737"/>
                    </a:lnTo>
                    <a:lnTo>
                      <a:pt x="883" y="188421"/>
                    </a:lnTo>
                    <a:lnTo>
                      <a:pt x="0" y="226106"/>
                    </a:lnTo>
                    <a:lnTo>
                      <a:pt x="2649" y="263790"/>
                    </a:lnTo>
                    <a:lnTo>
                      <a:pt x="7065" y="301475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CF6BCB5-2EC7-4F36-BEE9-3911FAD480DF}"/>
                </a:ext>
              </a:extLst>
            </p:cNvPr>
            <p:cNvGrpSpPr/>
            <p:nvPr/>
          </p:nvGrpSpPr>
          <p:grpSpPr>
            <a:xfrm>
              <a:off x="5633869" y="2419667"/>
              <a:ext cx="3385982" cy="1881754"/>
              <a:chOff x="5633869" y="2419667"/>
              <a:chExt cx="3385982" cy="1881754"/>
            </a:xfrm>
          </p:grpSpPr>
          <p:grpSp>
            <p:nvGrpSpPr>
              <p:cNvPr id="24" name="object 24"/>
              <p:cNvGrpSpPr/>
              <p:nvPr/>
            </p:nvGrpSpPr>
            <p:grpSpPr>
              <a:xfrm>
                <a:off x="5633869" y="2770932"/>
                <a:ext cx="3385982" cy="1530489"/>
                <a:chOff x="5324326" y="2847708"/>
                <a:chExt cx="3479800" cy="1572895"/>
              </a:xfrm>
            </p:grpSpPr>
            <p:sp>
              <p:nvSpPr>
                <p:cNvPr id="25" name="object 25"/>
                <p:cNvSpPr/>
                <p:nvPr/>
              </p:nvSpPr>
              <p:spPr>
                <a:xfrm>
                  <a:off x="7139520" y="3057144"/>
                  <a:ext cx="226695" cy="1356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95" h="1356995">
                      <a:moveTo>
                        <a:pt x="113055" y="0"/>
                      </a:moveTo>
                      <a:lnTo>
                        <a:pt x="77323" y="34581"/>
                      </a:lnTo>
                      <a:lnTo>
                        <a:pt x="55996" y="92610"/>
                      </a:lnTo>
                      <a:lnTo>
                        <a:pt x="46288" y="130876"/>
                      </a:lnTo>
                      <a:lnTo>
                        <a:pt x="37309" y="174758"/>
                      </a:lnTo>
                      <a:lnTo>
                        <a:pt x="29128" y="223841"/>
                      </a:lnTo>
                      <a:lnTo>
                        <a:pt x="21814" y="277713"/>
                      </a:lnTo>
                      <a:lnTo>
                        <a:pt x="15436" y="335959"/>
                      </a:lnTo>
                      <a:lnTo>
                        <a:pt x="10063" y="398165"/>
                      </a:lnTo>
                      <a:lnTo>
                        <a:pt x="5764" y="463918"/>
                      </a:lnTo>
                      <a:lnTo>
                        <a:pt x="2607" y="532804"/>
                      </a:lnTo>
                      <a:lnTo>
                        <a:pt x="663" y="604409"/>
                      </a:lnTo>
                      <a:lnTo>
                        <a:pt x="0" y="678319"/>
                      </a:lnTo>
                      <a:lnTo>
                        <a:pt x="663" y="752229"/>
                      </a:lnTo>
                      <a:lnTo>
                        <a:pt x="2607" y="823834"/>
                      </a:lnTo>
                      <a:lnTo>
                        <a:pt x="5764" y="892720"/>
                      </a:lnTo>
                      <a:lnTo>
                        <a:pt x="10063" y="958473"/>
                      </a:lnTo>
                      <a:lnTo>
                        <a:pt x="15436" y="1020680"/>
                      </a:lnTo>
                      <a:lnTo>
                        <a:pt x="21814" y="1078926"/>
                      </a:lnTo>
                      <a:lnTo>
                        <a:pt x="29128" y="1132797"/>
                      </a:lnTo>
                      <a:lnTo>
                        <a:pt x="37309" y="1181881"/>
                      </a:lnTo>
                      <a:lnTo>
                        <a:pt x="46288" y="1225762"/>
                      </a:lnTo>
                      <a:lnTo>
                        <a:pt x="55996" y="1264028"/>
                      </a:lnTo>
                      <a:lnTo>
                        <a:pt x="77323" y="1322058"/>
                      </a:lnTo>
                      <a:lnTo>
                        <a:pt x="100737" y="1352659"/>
                      </a:lnTo>
                      <a:lnTo>
                        <a:pt x="113055" y="1356639"/>
                      </a:lnTo>
                      <a:lnTo>
                        <a:pt x="125373" y="1352659"/>
                      </a:lnTo>
                      <a:lnTo>
                        <a:pt x="148787" y="1322058"/>
                      </a:lnTo>
                      <a:lnTo>
                        <a:pt x="170114" y="1264028"/>
                      </a:lnTo>
                      <a:lnTo>
                        <a:pt x="179822" y="1225762"/>
                      </a:lnTo>
                      <a:lnTo>
                        <a:pt x="188800" y="1181881"/>
                      </a:lnTo>
                      <a:lnTo>
                        <a:pt x="196981" y="1132797"/>
                      </a:lnTo>
                      <a:lnTo>
                        <a:pt x="204296" y="1078926"/>
                      </a:lnTo>
                      <a:lnTo>
                        <a:pt x="210674" y="1020680"/>
                      </a:lnTo>
                      <a:lnTo>
                        <a:pt x="216047" y="958473"/>
                      </a:lnTo>
                      <a:lnTo>
                        <a:pt x="220346" y="892720"/>
                      </a:lnTo>
                      <a:lnTo>
                        <a:pt x="223502" y="823834"/>
                      </a:lnTo>
                      <a:lnTo>
                        <a:pt x="225447" y="752229"/>
                      </a:lnTo>
                      <a:lnTo>
                        <a:pt x="226110" y="678319"/>
                      </a:lnTo>
                      <a:lnTo>
                        <a:pt x="225447" y="604409"/>
                      </a:lnTo>
                      <a:lnTo>
                        <a:pt x="223502" y="532804"/>
                      </a:lnTo>
                      <a:lnTo>
                        <a:pt x="220346" y="463918"/>
                      </a:lnTo>
                      <a:lnTo>
                        <a:pt x="216047" y="398165"/>
                      </a:lnTo>
                      <a:lnTo>
                        <a:pt x="210674" y="335959"/>
                      </a:lnTo>
                      <a:lnTo>
                        <a:pt x="204296" y="277713"/>
                      </a:lnTo>
                      <a:lnTo>
                        <a:pt x="196981" y="223841"/>
                      </a:lnTo>
                      <a:lnTo>
                        <a:pt x="188800" y="174758"/>
                      </a:lnTo>
                      <a:lnTo>
                        <a:pt x="179822" y="130876"/>
                      </a:lnTo>
                      <a:lnTo>
                        <a:pt x="170114" y="92610"/>
                      </a:lnTo>
                      <a:lnTo>
                        <a:pt x="148787" y="34581"/>
                      </a:lnTo>
                      <a:lnTo>
                        <a:pt x="125373" y="3980"/>
                      </a:lnTo>
                      <a:lnTo>
                        <a:pt x="113055" y="0"/>
                      </a:lnTo>
                      <a:close/>
                    </a:path>
                  </a:pathLst>
                </a:custGeom>
                <a:solidFill>
                  <a:srgbClr val="00D2A9"/>
                </a:solidFill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7139527" y="3057139"/>
                  <a:ext cx="226695" cy="1356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95" h="1356995">
                      <a:moveTo>
                        <a:pt x="0" y="678318"/>
                      </a:moveTo>
                      <a:lnTo>
                        <a:pt x="663" y="604407"/>
                      </a:lnTo>
                      <a:lnTo>
                        <a:pt x="2607" y="532802"/>
                      </a:lnTo>
                      <a:lnTo>
                        <a:pt x="5763" y="463916"/>
                      </a:lnTo>
                      <a:lnTo>
                        <a:pt x="10061" y="398163"/>
                      </a:lnTo>
                      <a:lnTo>
                        <a:pt x="15434" y="335956"/>
                      </a:lnTo>
                      <a:lnTo>
                        <a:pt x="21811" y="277711"/>
                      </a:lnTo>
                      <a:lnTo>
                        <a:pt x="29124" y="223839"/>
                      </a:lnTo>
                      <a:lnTo>
                        <a:pt x="37305" y="174756"/>
                      </a:lnTo>
                      <a:lnTo>
                        <a:pt x="46283" y="130875"/>
                      </a:lnTo>
                      <a:lnTo>
                        <a:pt x="55991" y="92609"/>
                      </a:lnTo>
                      <a:lnTo>
                        <a:pt x="77318" y="34580"/>
                      </a:lnTo>
                      <a:lnTo>
                        <a:pt x="100734" y="3980"/>
                      </a:lnTo>
                      <a:lnTo>
                        <a:pt x="113053" y="0"/>
                      </a:lnTo>
                      <a:lnTo>
                        <a:pt x="148788" y="34580"/>
                      </a:lnTo>
                      <a:lnTo>
                        <a:pt x="170114" y="92609"/>
                      </a:lnTo>
                      <a:lnTo>
                        <a:pt x="179822" y="130875"/>
                      </a:lnTo>
                      <a:lnTo>
                        <a:pt x="188800" y="174756"/>
                      </a:lnTo>
                      <a:lnTo>
                        <a:pt x="196981" y="223839"/>
                      </a:lnTo>
                      <a:lnTo>
                        <a:pt x="204294" y="277711"/>
                      </a:lnTo>
                      <a:lnTo>
                        <a:pt x="210672" y="335956"/>
                      </a:lnTo>
                      <a:lnTo>
                        <a:pt x="216044" y="398163"/>
                      </a:lnTo>
                      <a:lnTo>
                        <a:pt x="220343" y="463916"/>
                      </a:lnTo>
                      <a:lnTo>
                        <a:pt x="223498" y="532802"/>
                      </a:lnTo>
                      <a:lnTo>
                        <a:pt x="225442" y="604407"/>
                      </a:lnTo>
                      <a:lnTo>
                        <a:pt x="226106" y="678318"/>
                      </a:lnTo>
                      <a:lnTo>
                        <a:pt x="225442" y="752229"/>
                      </a:lnTo>
                      <a:lnTo>
                        <a:pt x="223498" y="823835"/>
                      </a:lnTo>
                      <a:lnTo>
                        <a:pt x="220343" y="892721"/>
                      </a:lnTo>
                      <a:lnTo>
                        <a:pt x="216044" y="958474"/>
                      </a:lnTo>
                      <a:lnTo>
                        <a:pt x="210672" y="1020680"/>
                      </a:lnTo>
                      <a:lnTo>
                        <a:pt x="204294" y="1078926"/>
                      </a:lnTo>
                      <a:lnTo>
                        <a:pt x="196981" y="1132797"/>
                      </a:lnTo>
                      <a:lnTo>
                        <a:pt x="188800" y="1181881"/>
                      </a:lnTo>
                      <a:lnTo>
                        <a:pt x="179822" y="1225762"/>
                      </a:lnTo>
                      <a:lnTo>
                        <a:pt x="170114" y="1264027"/>
                      </a:lnTo>
                      <a:lnTo>
                        <a:pt x="148788" y="1322056"/>
                      </a:lnTo>
                      <a:lnTo>
                        <a:pt x="125372" y="1352657"/>
                      </a:lnTo>
                      <a:lnTo>
                        <a:pt x="113053" y="1356637"/>
                      </a:lnTo>
                      <a:lnTo>
                        <a:pt x="100734" y="1352657"/>
                      </a:lnTo>
                      <a:lnTo>
                        <a:pt x="88799" y="1340992"/>
                      </a:lnTo>
                      <a:lnTo>
                        <a:pt x="66359" y="1296263"/>
                      </a:lnTo>
                      <a:lnTo>
                        <a:pt x="46283" y="1225762"/>
                      </a:lnTo>
                      <a:lnTo>
                        <a:pt x="37305" y="1181881"/>
                      </a:lnTo>
                      <a:lnTo>
                        <a:pt x="29124" y="1132797"/>
                      </a:lnTo>
                      <a:lnTo>
                        <a:pt x="21811" y="1078926"/>
                      </a:lnTo>
                      <a:lnTo>
                        <a:pt x="15434" y="1020680"/>
                      </a:lnTo>
                      <a:lnTo>
                        <a:pt x="10061" y="958474"/>
                      </a:lnTo>
                      <a:lnTo>
                        <a:pt x="5763" y="892721"/>
                      </a:lnTo>
                      <a:lnTo>
                        <a:pt x="2607" y="823835"/>
                      </a:lnTo>
                      <a:lnTo>
                        <a:pt x="663" y="752229"/>
                      </a:lnTo>
                      <a:lnTo>
                        <a:pt x="0" y="678318"/>
                      </a:lnTo>
                      <a:close/>
                    </a:path>
                  </a:pathLst>
                </a:custGeom>
                <a:ln w="12561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  <p:sp>
              <p:nvSpPr>
                <p:cNvPr id="27" name="object 27"/>
                <p:cNvSpPr/>
                <p:nvPr/>
              </p:nvSpPr>
              <p:spPr>
                <a:xfrm>
                  <a:off x="5330676" y="3735458"/>
                  <a:ext cx="34671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100">
                      <a:moveTo>
                        <a:pt x="0" y="0"/>
                      </a:moveTo>
                      <a:lnTo>
                        <a:pt x="3466955" y="0"/>
                      </a:lnTo>
                    </a:path>
                  </a:pathLst>
                </a:custGeom>
                <a:ln w="12561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  <p:sp>
              <p:nvSpPr>
                <p:cNvPr id="28" name="object 28"/>
                <p:cNvSpPr/>
                <p:nvPr/>
              </p:nvSpPr>
              <p:spPr>
                <a:xfrm>
                  <a:off x="5707728" y="3056822"/>
                  <a:ext cx="3067685" cy="1347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7684" h="1347470">
                      <a:moveTo>
                        <a:pt x="0" y="0"/>
                      </a:moveTo>
                      <a:lnTo>
                        <a:pt x="3067073" y="1347211"/>
                      </a:lnTo>
                    </a:path>
                  </a:pathLst>
                </a:custGeom>
                <a:ln w="12561">
                  <a:solidFill>
                    <a:srgbClr val="FF26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  <p:sp>
              <p:nvSpPr>
                <p:cNvPr id="29" name="object 29"/>
                <p:cNvSpPr/>
                <p:nvPr/>
              </p:nvSpPr>
              <p:spPr>
                <a:xfrm>
                  <a:off x="8713635" y="4349330"/>
                  <a:ext cx="84455" cy="69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54" h="69214">
                      <a:moveTo>
                        <a:pt x="30314" y="0"/>
                      </a:moveTo>
                      <a:lnTo>
                        <a:pt x="0" y="69011"/>
                      </a:lnTo>
                      <a:lnTo>
                        <a:pt x="84162" y="64820"/>
                      </a:lnTo>
                      <a:lnTo>
                        <a:pt x="30314" y="0"/>
                      </a:lnTo>
                      <a:close/>
                    </a:path>
                  </a:pathLst>
                </a:custGeom>
                <a:solidFill>
                  <a:srgbClr val="FF2600"/>
                </a:solidFill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  <p:sp>
              <p:nvSpPr>
                <p:cNvPr id="30" name="object 30"/>
                <p:cNvSpPr/>
                <p:nvPr/>
              </p:nvSpPr>
              <p:spPr>
                <a:xfrm>
                  <a:off x="7239989" y="2906015"/>
                  <a:ext cx="153289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2890">
                      <a:moveTo>
                        <a:pt x="0" y="0"/>
                      </a:moveTo>
                      <a:lnTo>
                        <a:pt x="1532883" y="0"/>
                      </a:lnTo>
                    </a:path>
                  </a:pathLst>
                </a:custGeom>
                <a:ln w="12561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  <p:sp>
              <p:nvSpPr>
                <p:cNvPr id="31" name="object 31"/>
                <p:cNvSpPr/>
                <p:nvPr/>
              </p:nvSpPr>
              <p:spPr>
                <a:xfrm>
                  <a:off x="7215060" y="2847708"/>
                  <a:ext cx="114642" cy="116624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  <p:sp>
              <p:nvSpPr>
                <p:cNvPr id="32" name="object 32"/>
                <p:cNvSpPr/>
                <p:nvPr/>
              </p:nvSpPr>
              <p:spPr>
                <a:xfrm>
                  <a:off x="8683154" y="2847708"/>
                  <a:ext cx="114642" cy="116624"/>
                </a:xfrm>
                <a:prstGeom prst="rect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sz="1751"/>
                </a:p>
              </p:txBody>
            </p:sp>
          </p:grpSp>
          <p:sp>
            <p:nvSpPr>
              <p:cNvPr id="33" name="object 33"/>
              <p:cNvSpPr txBox="1"/>
              <p:nvPr/>
            </p:nvSpPr>
            <p:spPr>
              <a:xfrm>
                <a:off x="8209139" y="2419667"/>
                <a:ext cx="106275" cy="366930"/>
              </a:xfrm>
              <a:prstGeom prst="rect">
                <a:avLst/>
              </a:prstGeom>
            </p:spPr>
            <p:txBody>
              <a:bodyPr vert="horz" wrap="square" lIns="0" tIns="14829" rIns="0" bIns="0" rtlCol="0">
                <a:spAutoFit/>
              </a:bodyPr>
              <a:lstStyle/>
              <a:p>
                <a:pPr marL="12357">
                  <a:spcBef>
                    <a:spcPts val="117"/>
                  </a:spcBef>
                </a:pPr>
                <a:r>
                  <a:rPr sz="2287" i="1" spc="5" dirty="0">
                    <a:solidFill>
                      <a:srgbClr val="3333CC"/>
                    </a:solidFill>
                    <a:latin typeface="Times New Roman"/>
                    <a:cs typeface="Times New Roman"/>
                  </a:rPr>
                  <a:t>f</a:t>
                </a:r>
                <a:endParaRPr sz="2287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46" name="object 46"/>
              <p:cNvSpPr txBox="1"/>
              <p:nvPr/>
            </p:nvSpPr>
            <p:spPr>
              <a:xfrm>
                <a:off x="6485724" y="3226371"/>
                <a:ext cx="177949" cy="366930"/>
              </a:xfrm>
              <a:prstGeom prst="rect">
                <a:avLst/>
              </a:prstGeom>
            </p:spPr>
            <p:txBody>
              <a:bodyPr vert="horz" wrap="square" lIns="0" tIns="14829" rIns="0" bIns="0" rtlCol="0">
                <a:spAutoFit/>
              </a:bodyPr>
              <a:lstStyle/>
              <a:p>
                <a:pPr marL="12357">
                  <a:spcBef>
                    <a:spcPts val="117"/>
                  </a:spcBef>
                </a:pPr>
                <a:r>
                  <a:rPr sz="2287" spc="10" dirty="0">
                    <a:latin typeface="Symbol"/>
                    <a:cs typeface="Symbol"/>
                  </a:rPr>
                  <a:t></a:t>
                </a:r>
                <a:endParaRPr sz="2287">
                  <a:latin typeface="Symbol"/>
                  <a:cs typeface="Symbol"/>
                </a:endParaRPr>
              </a:p>
            </p:txBody>
          </p:sp>
        </p:grpSp>
      </p:grpSp>
    </p:spTree>
  </p:cSld>
  <p:clrMapOvr>
    <a:masterClrMapping/>
  </p:clrMapOvr>
  <p:transition spd="slow"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3939" y="307491"/>
            <a:ext cx="3721138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Numerical</a:t>
            </a:r>
            <a:r>
              <a:rPr sz="3200" spc="-24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aperture</a:t>
            </a:r>
          </a:p>
        </p:txBody>
      </p:sp>
      <p:sp>
        <p:nvSpPr>
          <p:cNvPr id="50" name="object 2">
            <a:extLst>
              <a:ext uri="{FF2B5EF4-FFF2-40B4-BE49-F238E27FC236}">
                <a16:creationId xmlns:a16="http://schemas.microsoft.com/office/drawing/2014/main" id="{F2F6EC80-2F7F-4536-9D2A-77A902BB0FC2}"/>
              </a:ext>
            </a:extLst>
          </p:cNvPr>
          <p:cNvSpPr txBox="1"/>
          <p:nvPr/>
        </p:nvSpPr>
        <p:spPr>
          <a:xfrm>
            <a:off x="927100" y="1038225"/>
            <a:ext cx="9144000" cy="569309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31800" marR="374015" indent="-342900">
              <a:lnSpc>
                <a:spcPct val="101699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39090" algn="l"/>
                <a:tab pos="339725" algn="l"/>
              </a:tabLst>
            </a:pPr>
            <a:r>
              <a:rPr sz="2350" spc="10" dirty="0">
                <a:latin typeface="Times New Roman"/>
                <a:cs typeface="Times New Roman"/>
              </a:rPr>
              <a:t>The </a:t>
            </a:r>
            <a:r>
              <a:rPr sz="2350" spc="5" dirty="0">
                <a:latin typeface="Times New Roman"/>
                <a:cs typeface="Times New Roman"/>
              </a:rPr>
              <a:t>definition of numerical aperture applies to </a:t>
            </a:r>
            <a:r>
              <a:rPr sz="2350" i="1" spc="5" dirty="0">
                <a:solidFill>
                  <a:srgbClr val="3333CC"/>
                </a:solidFill>
                <a:latin typeface="Times New Roman"/>
                <a:cs typeface="Times New Roman"/>
              </a:rPr>
              <a:t>all light-collecting  systems</a:t>
            </a:r>
            <a:r>
              <a:rPr sz="2350" spc="5" dirty="0">
                <a:latin typeface="Times New Roman"/>
                <a:cs typeface="Times New Roman"/>
              </a:rPr>
              <a:t>, including optical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fibers.</a:t>
            </a:r>
            <a:endParaRPr lang="en-US" sz="2350" spc="5" dirty="0">
              <a:latin typeface="Times New Roman"/>
              <a:cs typeface="Times New Roman"/>
            </a:endParaRPr>
          </a:p>
          <a:p>
            <a:pPr marL="431800" marR="374015" indent="-342900">
              <a:lnSpc>
                <a:spcPct val="101699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39090" algn="l"/>
                <a:tab pos="339725" algn="l"/>
              </a:tabLst>
            </a:pPr>
            <a:r>
              <a:rPr sz="2350" spc="5" dirty="0">
                <a:latin typeface="Times New Roman"/>
                <a:cs typeface="Times New Roman"/>
              </a:rPr>
              <a:t>e.g. Light rays incident at angles </a:t>
            </a:r>
            <a:r>
              <a:rPr sz="2350" i="1" spc="5" dirty="0">
                <a:latin typeface="Times New Roman"/>
                <a:cs typeface="Times New Roman"/>
              </a:rPr>
              <a:t>outside </a:t>
            </a:r>
            <a:r>
              <a:rPr sz="2350" spc="5" dirty="0">
                <a:latin typeface="Times New Roman"/>
                <a:cs typeface="Times New Roman"/>
              </a:rPr>
              <a:t>the collection </a:t>
            </a:r>
            <a:r>
              <a:rPr sz="2350" spc="10" dirty="0">
                <a:latin typeface="Times New Roman"/>
                <a:cs typeface="Times New Roman"/>
              </a:rPr>
              <a:t>cone </a:t>
            </a:r>
            <a:r>
              <a:rPr sz="2350" spc="5" dirty="0">
                <a:latin typeface="Times New Roman"/>
                <a:cs typeface="Times New Roman"/>
              </a:rPr>
              <a:t>for </a:t>
            </a:r>
            <a:r>
              <a:rPr sz="2350" spc="10" dirty="0">
                <a:latin typeface="Times New Roman"/>
                <a:cs typeface="Times New Roman"/>
              </a:rPr>
              <a:t>a </a:t>
            </a:r>
            <a:r>
              <a:rPr sz="2350" spc="5" dirty="0">
                <a:latin typeface="Times New Roman"/>
                <a:cs typeface="Times New Roman"/>
              </a:rPr>
              <a:t>fiber  will </a:t>
            </a:r>
            <a:r>
              <a:rPr sz="2350" i="1" spc="10" dirty="0">
                <a:latin typeface="Times New Roman"/>
                <a:cs typeface="Times New Roman"/>
              </a:rPr>
              <a:t>not </a:t>
            </a:r>
            <a:r>
              <a:rPr sz="2350" spc="5" dirty="0">
                <a:latin typeface="Times New Roman"/>
                <a:cs typeface="Times New Roman"/>
              </a:rPr>
              <a:t>propagate along the fiber (</a:t>
            </a:r>
            <a:r>
              <a:rPr sz="2350" i="1" spc="5" dirty="0">
                <a:latin typeface="Times New Roman"/>
                <a:cs typeface="Times New Roman"/>
              </a:rPr>
              <a:t>instead will attenuate</a:t>
            </a:r>
            <a:r>
              <a:rPr sz="2350" i="1" spc="25" dirty="0">
                <a:latin typeface="Times New Roman"/>
                <a:cs typeface="Times New Roman"/>
              </a:rPr>
              <a:t> </a:t>
            </a:r>
            <a:r>
              <a:rPr sz="2350" i="1" spc="5" dirty="0">
                <a:latin typeface="Times New Roman"/>
                <a:cs typeface="Times New Roman"/>
              </a:rPr>
              <a:t>rapidly</a:t>
            </a:r>
            <a:r>
              <a:rPr sz="2350" spc="5" dirty="0">
                <a:latin typeface="Times New Roman"/>
                <a:cs typeface="Times New Roman"/>
              </a:rPr>
              <a:t>).</a:t>
            </a:r>
            <a:endParaRPr lang="en-US" sz="2350" dirty="0">
              <a:latin typeface="Times New Roman"/>
              <a:cs typeface="Times New Roman"/>
            </a:endParaRPr>
          </a:p>
          <a:p>
            <a:pPr marL="431800" marR="374015" indent="-342900">
              <a:lnSpc>
                <a:spcPct val="101699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39090" algn="l"/>
                <a:tab pos="339725" algn="l"/>
              </a:tabLst>
            </a:pPr>
            <a:r>
              <a:rPr sz="2350" spc="10" dirty="0">
                <a:latin typeface="Times New Roman"/>
                <a:cs typeface="Times New Roman"/>
              </a:rPr>
              <a:t>The </a:t>
            </a:r>
            <a:r>
              <a:rPr sz="2350" spc="5" dirty="0">
                <a:latin typeface="Times New Roman"/>
                <a:cs typeface="Times New Roman"/>
              </a:rPr>
              <a:t>numerical aperture is often measured in </a:t>
            </a:r>
            <a:r>
              <a:rPr sz="2350" spc="-20" dirty="0">
                <a:latin typeface="Times New Roman"/>
                <a:cs typeface="Times New Roman"/>
              </a:rPr>
              <a:t>air, </a:t>
            </a:r>
            <a:r>
              <a:rPr sz="2350" spc="10" dirty="0">
                <a:solidFill>
                  <a:srgbClr val="006600"/>
                </a:solidFill>
                <a:latin typeface="Times New Roman"/>
                <a:cs typeface="Times New Roman"/>
              </a:rPr>
              <a:t>n</a:t>
            </a:r>
            <a:r>
              <a:rPr sz="2325" spc="15" baseline="-21505" dirty="0">
                <a:solidFill>
                  <a:srgbClr val="006600"/>
                </a:solidFill>
                <a:latin typeface="Times New Roman"/>
                <a:cs typeface="Times New Roman"/>
              </a:rPr>
              <a:t>o </a:t>
            </a:r>
            <a:r>
              <a:rPr sz="2350" spc="10" dirty="0">
                <a:solidFill>
                  <a:srgbClr val="006600"/>
                </a:solidFill>
                <a:latin typeface="Times New Roman"/>
                <a:cs typeface="Times New Roman"/>
              </a:rPr>
              <a:t>=</a:t>
            </a:r>
            <a:r>
              <a:rPr sz="2350" spc="-17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350" spc="10" dirty="0">
                <a:solidFill>
                  <a:srgbClr val="006600"/>
                </a:solidFill>
                <a:latin typeface="Times New Roman"/>
                <a:cs typeface="Times New Roman"/>
              </a:rPr>
              <a:t>1</a:t>
            </a:r>
            <a:endParaRPr sz="2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Times New Roman"/>
              <a:buChar char="•"/>
            </a:pPr>
            <a:endParaRPr sz="2450" dirty="0">
              <a:latin typeface="Times New Roman"/>
              <a:cs typeface="Times New Roman"/>
            </a:endParaRPr>
          </a:p>
          <a:p>
            <a:pPr marR="36449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tabLst>
                <a:tab pos="568960" algn="l"/>
                <a:tab pos="889635" algn="l"/>
              </a:tabLst>
            </a:pPr>
            <a:r>
              <a:rPr sz="2350" spc="15" dirty="0">
                <a:solidFill>
                  <a:srgbClr val="3333CC"/>
                </a:solidFill>
                <a:latin typeface="Times New Roman"/>
                <a:cs typeface="Times New Roman"/>
              </a:rPr>
              <a:t>NA	</a:t>
            </a:r>
            <a:r>
              <a:rPr sz="2350" spc="10" dirty="0">
                <a:solidFill>
                  <a:srgbClr val="3333CC"/>
                </a:solidFill>
                <a:latin typeface="Times New Roman"/>
                <a:cs typeface="Times New Roman"/>
              </a:rPr>
              <a:t>=	</a:t>
            </a:r>
            <a:r>
              <a:rPr sz="2350" spc="5" dirty="0">
                <a:solidFill>
                  <a:srgbClr val="3333CC"/>
                </a:solidFill>
                <a:latin typeface="Times New Roman"/>
                <a:cs typeface="Times New Roman"/>
              </a:rPr>
              <a:t>sin</a:t>
            </a:r>
            <a:r>
              <a:rPr sz="235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350" spc="1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endParaRPr sz="2350" dirty="0">
              <a:latin typeface="Symbol"/>
              <a:cs typeface="Symbol"/>
            </a:endParaRPr>
          </a:p>
          <a:p>
            <a:pPr marL="431166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28295" algn="l"/>
                <a:tab pos="328930" algn="l"/>
              </a:tabLst>
            </a:pPr>
            <a:r>
              <a:rPr sz="2350" spc="15" dirty="0">
                <a:latin typeface="Times New Roman"/>
                <a:cs typeface="Times New Roman"/>
              </a:rPr>
              <a:t>A </a:t>
            </a:r>
            <a:r>
              <a:rPr sz="23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low </a:t>
            </a:r>
            <a:r>
              <a:rPr sz="2350" spc="15" dirty="0">
                <a:latin typeface="Times New Roman"/>
                <a:cs typeface="Times New Roman"/>
              </a:rPr>
              <a:t>NA </a:t>
            </a:r>
            <a:r>
              <a:rPr sz="2350" spc="5" dirty="0">
                <a:latin typeface="Times New Roman"/>
                <a:cs typeface="Times New Roman"/>
              </a:rPr>
              <a:t>indicates </a:t>
            </a:r>
            <a:r>
              <a:rPr sz="2350" spc="10" dirty="0">
                <a:latin typeface="Times New Roman"/>
                <a:cs typeface="Times New Roman"/>
              </a:rPr>
              <a:t>a </a:t>
            </a:r>
            <a:r>
              <a:rPr sz="23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small </a:t>
            </a:r>
            <a:r>
              <a:rPr sz="2350" spc="5" dirty="0">
                <a:latin typeface="Times New Roman"/>
                <a:cs typeface="Times New Roman"/>
              </a:rPr>
              <a:t>acceptance</a:t>
            </a:r>
            <a:r>
              <a:rPr sz="2350" spc="-285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angle.</a:t>
            </a:r>
            <a:endParaRPr lang="en-US" sz="2350" dirty="0">
              <a:latin typeface="Times New Roman"/>
              <a:cs typeface="Times New Roman"/>
            </a:endParaRPr>
          </a:p>
          <a:p>
            <a:pPr marL="431166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328295" algn="l"/>
                <a:tab pos="328930" algn="l"/>
              </a:tabLst>
            </a:pPr>
            <a:r>
              <a:rPr sz="2350" spc="10" dirty="0">
                <a:latin typeface="Times New Roman"/>
                <a:cs typeface="Times New Roman"/>
              </a:rPr>
              <a:t>Light </a:t>
            </a:r>
            <a:r>
              <a:rPr sz="2350" spc="5" dirty="0">
                <a:latin typeface="Times New Roman"/>
                <a:cs typeface="Times New Roman"/>
              </a:rPr>
              <a:t>coupling to </a:t>
            </a:r>
            <a:r>
              <a:rPr sz="2350" spc="10" dirty="0">
                <a:latin typeface="Times New Roman"/>
                <a:cs typeface="Times New Roman"/>
              </a:rPr>
              <a:t>a low-NA </a:t>
            </a:r>
            <a:r>
              <a:rPr sz="2350" spc="5" dirty="0">
                <a:latin typeface="Times New Roman"/>
                <a:cs typeface="Times New Roman"/>
              </a:rPr>
              <a:t>optical system (e.g. fiber) is </a:t>
            </a:r>
            <a:r>
              <a:rPr sz="2350" spc="10" dirty="0">
                <a:latin typeface="Times New Roman"/>
                <a:cs typeface="Times New Roman"/>
              </a:rPr>
              <a:t>more  </a:t>
            </a:r>
            <a:r>
              <a:rPr sz="2350" dirty="0">
                <a:latin typeface="Times New Roman"/>
                <a:cs typeface="Times New Roman"/>
              </a:rPr>
              <a:t>difficult </a:t>
            </a:r>
            <a:r>
              <a:rPr sz="2350" spc="5" dirty="0">
                <a:latin typeface="Times New Roman"/>
                <a:cs typeface="Times New Roman"/>
              </a:rPr>
              <a:t>(</a:t>
            </a:r>
            <a:r>
              <a:rPr sz="2350" i="1" spc="5" dirty="0">
                <a:latin typeface="Times New Roman"/>
                <a:cs typeface="Times New Roman"/>
              </a:rPr>
              <a:t>alignment is </a:t>
            </a:r>
            <a:r>
              <a:rPr sz="2350" i="1" spc="-15" dirty="0">
                <a:latin typeface="Times New Roman"/>
                <a:cs typeface="Times New Roman"/>
              </a:rPr>
              <a:t>more </a:t>
            </a:r>
            <a:r>
              <a:rPr sz="2350" i="1" spc="5" dirty="0">
                <a:latin typeface="Times New Roman"/>
                <a:cs typeface="Times New Roman"/>
              </a:rPr>
              <a:t>sensitive</a:t>
            </a:r>
            <a:r>
              <a:rPr sz="2350" spc="5" dirty="0">
                <a:latin typeface="Times New Roman"/>
                <a:cs typeface="Times New Roman"/>
              </a:rPr>
              <a:t>) and less </a:t>
            </a:r>
            <a:r>
              <a:rPr sz="2350" dirty="0">
                <a:latin typeface="Times New Roman"/>
                <a:cs typeface="Times New Roman"/>
              </a:rPr>
              <a:t>efficient </a:t>
            </a:r>
            <a:r>
              <a:rPr sz="2350" spc="10" dirty="0">
                <a:latin typeface="Times New Roman"/>
                <a:cs typeface="Times New Roman"/>
              </a:rPr>
              <a:t>(</a:t>
            </a:r>
            <a:r>
              <a:rPr sz="2350" i="1" spc="10" dirty="0">
                <a:latin typeface="Times New Roman"/>
                <a:cs typeface="Times New Roman"/>
              </a:rPr>
              <a:t>some </a:t>
            </a:r>
            <a:r>
              <a:rPr sz="2350" i="1" spc="5" dirty="0">
                <a:latin typeface="Times New Roman"/>
                <a:cs typeface="Times New Roman"/>
              </a:rPr>
              <a:t>of the  rays </a:t>
            </a:r>
            <a:r>
              <a:rPr sz="2350" i="1" spc="-20" dirty="0">
                <a:latin typeface="Times New Roman"/>
                <a:cs typeface="Times New Roman"/>
              </a:rPr>
              <a:t>are </a:t>
            </a:r>
            <a:r>
              <a:rPr sz="2350" i="1" spc="5" dirty="0">
                <a:latin typeface="Times New Roman"/>
                <a:cs typeface="Times New Roman"/>
              </a:rPr>
              <a:t>outside the acceptance angle</a:t>
            </a:r>
            <a:r>
              <a:rPr sz="2350" spc="5" dirty="0">
                <a:latin typeface="Times New Roman"/>
                <a:cs typeface="Times New Roman"/>
              </a:rPr>
              <a:t>) than is coupling to </a:t>
            </a:r>
            <a:r>
              <a:rPr sz="2350" spc="10" dirty="0">
                <a:latin typeface="Times New Roman"/>
                <a:cs typeface="Times New Roman"/>
              </a:rPr>
              <a:t>a high-NA  </a:t>
            </a:r>
            <a:r>
              <a:rPr sz="2350" spc="5" dirty="0">
                <a:latin typeface="Times New Roman"/>
                <a:cs typeface="Times New Roman"/>
              </a:rPr>
              <a:t>optical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2350" spc="5" dirty="0">
                <a:latin typeface="Times New Roman"/>
                <a:cs typeface="Times New Roman"/>
              </a:rPr>
              <a:t>system.</a:t>
            </a:r>
            <a:endParaRPr sz="23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0203660"/>
      </p:ext>
    </p:extLst>
  </p:cSld>
  <p:clrMapOvr>
    <a:masterClrMapping/>
  </p:clrMapOvr>
  <p:transition spd="slow"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06076" y="733425"/>
            <a:ext cx="7796409" cy="1065417"/>
          </a:xfrm>
          <a:prstGeom prst="rect">
            <a:avLst/>
          </a:prstGeom>
          <a:ln w="25400">
            <a:solidFill>
              <a:srgbClr val="92D050"/>
            </a:solidFill>
          </a:ln>
        </p:spPr>
        <p:txBody>
          <a:bodyPr vert="horz" wrap="square" lIns="0" tIns="9268" rIns="0" bIns="0" rtlCol="0">
            <a:spAutoFit/>
          </a:bodyPr>
          <a:lstStyle/>
          <a:p>
            <a:pPr marL="37071" marR="29657" algn="just">
              <a:lnSpc>
                <a:spcPct val="101699"/>
              </a:lnSpc>
              <a:spcBef>
                <a:spcPts val="73"/>
              </a:spcBef>
              <a:tabLst>
                <a:tab pos="286685" algn="l"/>
              </a:tabLst>
            </a:pPr>
            <a:r>
              <a:rPr sz="2287" spc="10" dirty="0">
                <a:latin typeface="Times New Roman"/>
                <a:cs typeface="Times New Roman"/>
              </a:rPr>
              <a:t>Only </a:t>
            </a:r>
            <a:r>
              <a:rPr sz="2287" spc="5" dirty="0">
                <a:latin typeface="Times New Roman"/>
                <a:cs typeface="Times New Roman"/>
              </a:rPr>
              <a:t>rays with </a:t>
            </a:r>
            <a:r>
              <a:rPr sz="2287" spc="10" dirty="0">
                <a:latin typeface="Times New Roman"/>
                <a:cs typeface="Times New Roman"/>
              </a:rPr>
              <a:t>a </a:t>
            </a:r>
            <a:r>
              <a:rPr sz="2287" dirty="0">
                <a:latin typeface="Times New Roman"/>
                <a:cs typeface="Times New Roman"/>
              </a:rPr>
              <a:t>sufficiently </a:t>
            </a:r>
            <a:r>
              <a:rPr sz="2287" spc="5" dirty="0">
                <a:latin typeface="Times New Roman"/>
                <a:cs typeface="Times New Roman"/>
              </a:rPr>
              <a:t>shallow grazing angle (i.e. with an  angle to the normal greater than </a:t>
            </a:r>
            <a:r>
              <a:rPr sz="2287" spc="10" dirty="0">
                <a:latin typeface="Symbol"/>
                <a:cs typeface="Symbol"/>
              </a:rPr>
              <a:t></a:t>
            </a:r>
            <a:r>
              <a:rPr sz="2262" spc="15" baseline="-21505" dirty="0">
                <a:latin typeface="Times New Roman"/>
                <a:cs typeface="Times New Roman"/>
              </a:rPr>
              <a:t>c</a:t>
            </a:r>
            <a:r>
              <a:rPr sz="2287" spc="10" dirty="0">
                <a:latin typeface="Times New Roman"/>
                <a:cs typeface="Times New Roman"/>
              </a:rPr>
              <a:t>) </a:t>
            </a:r>
            <a:r>
              <a:rPr sz="2287" spc="5" dirty="0">
                <a:latin typeface="Times New Roman"/>
                <a:cs typeface="Times New Roman"/>
              </a:rPr>
              <a:t>at the core-cladding interface  are transmitted </a:t>
            </a:r>
            <a:r>
              <a:rPr sz="2287" spc="10" dirty="0">
                <a:latin typeface="Times New Roman"/>
                <a:cs typeface="Times New Roman"/>
              </a:rPr>
              <a:t>by </a:t>
            </a:r>
            <a:r>
              <a:rPr sz="2287" spc="5" dirty="0">
                <a:latin typeface="Times New Roman"/>
                <a:cs typeface="Times New Roman"/>
              </a:rPr>
              <a:t>total internal</a:t>
            </a:r>
            <a:r>
              <a:rPr sz="2287" spc="-5" dirty="0">
                <a:latin typeface="Times New Roman"/>
                <a:cs typeface="Times New Roman"/>
              </a:rPr>
              <a:t> </a:t>
            </a:r>
            <a:r>
              <a:rPr sz="2287" spc="5" dirty="0">
                <a:latin typeface="Times New Roman"/>
                <a:cs typeface="Times New Roman"/>
              </a:rPr>
              <a:t>reflection.</a:t>
            </a:r>
            <a:endParaRPr sz="2287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3888515" y="200025"/>
            <a:ext cx="3363185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Acceptance</a:t>
            </a:r>
            <a:r>
              <a:rPr sz="3200" spc="-34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angle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5282C7-E422-4B22-8D2E-316E2AD960C8}"/>
              </a:ext>
            </a:extLst>
          </p:cNvPr>
          <p:cNvGrpSpPr/>
          <p:nvPr/>
        </p:nvGrpSpPr>
        <p:grpSpPr>
          <a:xfrm>
            <a:off x="1556331" y="1876425"/>
            <a:ext cx="6700749" cy="1632383"/>
            <a:chOff x="1732597" y="3408558"/>
            <a:chExt cx="6700749" cy="163238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B75BA4C-874F-4B79-9DA5-568211474A0D}"/>
                </a:ext>
              </a:extLst>
            </p:cNvPr>
            <p:cNvGrpSpPr/>
            <p:nvPr/>
          </p:nvGrpSpPr>
          <p:grpSpPr>
            <a:xfrm>
              <a:off x="1732597" y="3408558"/>
              <a:ext cx="6700749" cy="1632383"/>
              <a:chOff x="1732597" y="3408558"/>
              <a:chExt cx="6700749" cy="1632383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38DB2E0-AF0E-4F23-A35A-9D374A0887E2}"/>
                  </a:ext>
                </a:extLst>
              </p:cNvPr>
              <p:cNvGrpSpPr/>
              <p:nvPr/>
            </p:nvGrpSpPr>
            <p:grpSpPr>
              <a:xfrm>
                <a:off x="1732597" y="3408558"/>
                <a:ext cx="6700749" cy="1632383"/>
                <a:chOff x="1732597" y="3408558"/>
                <a:chExt cx="6700749" cy="1632383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1E8F1C5E-19EB-4E0F-AE98-5A79FC5ED493}"/>
                    </a:ext>
                  </a:extLst>
                </p:cNvPr>
                <p:cNvGrpSpPr/>
                <p:nvPr/>
              </p:nvGrpSpPr>
              <p:grpSpPr>
                <a:xfrm>
                  <a:off x="1732597" y="3408558"/>
                  <a:ext cx="6700749" cy="1632383"/>
                  <a:chOff x="1732597" y="3408558"/>
                  <a:chExt cx="6700749" cy="1632383"/>
                </a:xfrm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3B8B0E85-09DD-445A-925D-4ECB37CFD2D8}"/>
                      </a:ext>
                    </a:extLst>
                  </p:cNvPr>
                  <p:cNvGrpSpPr/>
                  <p:nvPr/>
                </p:nvGrpSpPr>
                <p:grpSpPr>
                  <a:xfrm>
                    <a:off x="1732597" y="3408558"/>
                    <a:ext cx="6700749" cy="1632383"/>
                    <a:chOff x="1732597" y="3408558"/>
                    <a:chExt cx="6700749" cy="1632383"/>
                  </a:xfrm>
                </p:grpSpPr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B159D46E-EFDF-479A-8A1D-9E53EC8C72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2597" y="3408558"/>
                      <a:ext cx="6700749" cy="1632383"/>
                      <a:chOff x="1732597" y="3408558"/>
                      <a:chExt cx="6700749" cy="1632383"/>
                    </a:xfrm>
                  </p:grpSpPr>
                  <p:grpSp>
                    <p:nvGrpSpPr>
                      <p:cNvPr id="35" name="Group 34">
                        <a:extLst>
                          <a:ext uri="{FF2B5EF4-FFF2-40B4-BE49-F238E27FC236}">
                            <a16:creationId xmlns:a16="http://schemas.microsoft.com/office/drawing/2014/main" id="{6EAE3B92-0524-48EC-9475-A767621F4B5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2597" y="3408558"/>
                        <a:ext cx="6700749" cy="1632383"/>
                        <a:chOff x="1732597" y="3408558"/>
                        <a:chExt cx="6700749" cy="1632383"/>
                      </a:xfrm>
                    </p:grpSpPr>
                    <p:sp>
                      <p:nvSpPr>
                        <p:cNvPr id="23" name="object 23"/>
                        <p:cNvSpPr txBox="1"/>
                        <p:nvPr/>
                      </p:nvSpPr>
                      <p:spPr>
                        <a:xfrm>
                          <a:off x="2151266" y="4350866"/>
                          <a:ext cx="111836" cy="248273"/>
                        </a:xfrm>
                        <a:prstGeom prst="rect">
                          <a:avLst/>
                        </a:prstGeom>
                      </p:spPr>
                      <p:txBody>
                        <a:bodyPr vert="horz" wrap="square" lIns="0" tIns="16065" rIns="0" bIns="0" rtlCol="0">
                          <a:spAutoFit/>
                        </a:bodyPr>
                        <a:lstStyle/>
                        <a:p>
                          <a:pPr marL="12357">
                            <a:spcBef>
                              <a:spcPts val="126"/>
                            </a:spcBef>
                          </a:pPr>
                          <a:r>
                            <a:rPr sz="1508" spc="10" dirty="0">
                              <a:latin typeface="Times New Roman"/>
                              <a:cs typeface="Times New Roman"/>
                            </a:rPr>
                            <a:t>a</a:t>
                          </a:r>
                          <a:endParaRPr sz="1508" dirty="0">
                            <a:latin typeface="Times New Roman"/>
                            <a:cs typeface="Times New Roman"/>
                          </a:endParaRPr>
                        </a:p>
                      </p:txBody>
                    </p:sp>
                    <p:grpSp>
                      <p:nvGrpSpPr>
                        <p:cNvPr id="34" name="Group 33">
                          <a:extLst>
                            <a:ext uri="{FF2B5EF4-FFF2-40B4-BE49-F238E27FC236}">
                              <a16:creationId xmlns:a16="http://schemas.microsoft.com/office/drawing/2014/main" id="{B67D9A8B-0792-4CDD-9F99-3027930B9CF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2597" y="3408558"/>
                          <a:ext cx="6700749" cy="1632383"/>
                          <a:chOff x="1732597" y="3408558"/>
                          <a:chExt cx="6700749" cy="1632383"/>
                        </a:xfrm>
                      </p:grpSpPr>
                      <p:sp>
                        <p:nvSpPr>
                          <p:cNvPr id="27" name="object 27"/>
                          <p:cNvSpPr txBox="1"/>
                          <p:nvPr/>
                        </p:nvSpPr>
                        <p:spPr>
                          <a:xfrm>
                            <a:off x="2537496" y="4512822"/>
                            <a:ext cx="307704" cy="366930"/>
                          </a:xfrm>
                          <a:prstGeom prst="rect">
                            <a:avLst/>
                          </a:prstGeom>
                        </p:spPr>
                        <p:txBody>
                          <a:bodyPr vert="horz" wrap="square" lIns="0" tIns="14829" rIns="0" bIns="0" rtlCol="0">
                            <a:spAutoFit/>
                          </a:bodyPr>
                          <a:lstStyle/>
                          <a:p>
                            <a:pPr marL="37071">
                              <a:spcBef>
                                <a:spcPts val="117"/>
                              </a:spcBef>
                            </a:pPr>
                            <a:r>
                              <a:rPr sz="2287" spc="10" dirty="0">
                                <a:latin typeface="Times New Roman"/>
                                <a:cs typeface="Times New Roman"/>
                              </a:rPr>
                              <a:t>n</a:t>
                            </a:r>
                            <a:r>
                              <a:rPr sz="2262" spc="15" baseline="-21505" dirty="0">
                                <a:latin typeface="Times New Roman"/>
                                <a:cs typeface="Times New Roman"/>
                              </a:rPr>
                              <a:t>a</a:t>
                            </a:r>
                            <a:endParaRPr sz="2262" baseline="-21505" dirty="0">
                              <a:latin typeface="Times New Roman"/>
                              <a:cs typeface="Times New Roman"/>
                            </a:endParaRPr>
                          </a:p>
                        </p:txBody>
                      </p:sp>
                      <p:grpSp>
                        <p:nvGrpSpPr>
                          <p:cNvPr id="33" name="Group 32">
                            <a:extLst>
                              <a:ext uri="{FF2B5EF4-FFF2-40B4-BE49-F238E27FC236}">
                                <a16:creationId xmlns:a16="http://schemas.microsoft.com/office/drawing/2014/main" id="{444ADD0D-3482-490F-A0EA-6A32E5DDFB8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32597" y="3408558"/>
                            <a:ext cx="6700749" cy="1632383"/>
                            <a:chOff x="1732597" y="3408558"/>
                            <a:chExt cx="6700749" cy="1632383"/>
                          </a:xfrm>
                        </p:grpSpPr>
                        <p:sp>
                          <p:nvSpPr>
                            <p:cNvPr id="22" name="object 22"/>
                            <p:cNvSpPr txBox="1"/>
                            <p:nvPr/>
                          </p:nvSpPr>
                          <p:spPr>
                            <a:xfrm>
                              <a:off x="1998433" y="4179748"/>
                              <a:ext cx="177949" cy="366930"/>
                            </a:xfrm>
                            <a:prstGeom prst="rect">
                              <a:avLst/>
                            </a:prstGeom>
                          </p:spPr>
                          <p:txBody>
                            <a:bodyPr vert="horz" wrap="square" lIns="0" tIns="14829" rIns="0" bIns="0" rtlCol="0">
                              <a:spAutoFit/>
                            </a:bodyPr>
                            <a:lstStyle/>
                            <a:p>
                              <a:pPr marL="12357">
                                <a:spcBef>
                                  <a:spcPts val="117"/>
                                </a:spcBef>
                              </a:pPr>
                              <a:r>
                                <a:rPr sz="2287" spc="10" dirty="0">
                                  <a:latin typeface="Symbol"/>
                                  <a:cs typeface="Symbol"/>
                                </a:rPr>
                                <a:t></a:t>
                              </a:r>
                              <a:endParaRPr sz="2287" dirty="0">
                                <a:latin typeface="Symbol"/>
                                <a:cs typeface="Symbol"/>
                              </a:endParaRPr>
                            </a:p>
                          </p:txBody>
                        </p:sp>
                        <p:grpSp>
                          <p:nvGrpSpPr>
                            <p:cNvPr id="32" name="Group 31">
                              <a:extLst>
                                <a:ext uri="{FF2B5EF4-FFF2-40B4-BE49-F238E27FC236}">
                                  <a16:creationId xmlns:a16="http://schemas.microsoft.com/office/drawing/2014/main" id="{993C5132-1649-4585-ACE2-CA673ADBB5B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732597" y="3408558"/>
                              <a:ext cx="6700749" cy="1632383"/>
                              <a:chOff x="1732597" y="3408558"/>
                              <a:chExt cx="6700749" cy="1632383"/>
                            </a:xfrm>
                          </p:grpSpPr>
                          <p:grpSp>
                            <p:nvGrpSpPr>
                              <p:cNvPr id="31" name="Group 30">
                                <a:extLst>
                                  <a:ext uri="{FF2B5EF4-FFF2-40B4-BE49-F238E27FC236}">
                                    <a16:creationId xmlns:a16="http://schemas.microsoft.com/office/drawing/2014/main" id="{4BFB87A5-F1BA-4803-8C2C-F3F2E2570A9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813846" y="3408558"/>
                                <a:ext cx="6619500" cy="1632383"/>
                                <a:chOff x="1813846" y="3408558"/>
                                <a:chExt cx="6619500" cy="1632383"/>
                              </a:xfrm>
                            </p:grpSpPr>
                            <p:grpSp>
                              <p:nvGrpSpPr>
                                <p:cNvPr id="4" name="object 4"/>
                                <p:cNvGrpSpPr/>
                                <p:nvPr/>
                              </p:nvGrpSpPr>
                              <p:grpSpPr>
                                <a:xfrm>
                                  <a:off x="2914443" y="3408558"/>
                                  <a:ext cx="5518903" cy="1479204"/>
                                  <a:chOff x="2529550" y="3503001"/>
                                  <a:chExt cx="5671820" cy="1520190"/>
                                </a:xfrm>
                              </p:grpSpPr>
                              <p:sp>
                                <p:nvSpPr>
                                  <p:cNvPr id="5" name="object 5"/>
                                  <p:cNvSpPr/>
                                  <p:nvPr/>
                                </p:nvSpPr>
                                <p:spPr>
                                  <a:xfrm>
                                    <a:off x="2542032" y="3509352"/>
                                    <a:ext cx="5652770" cy="150749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1507489">
                                        <a:moveTo>
                                          <a:pt x="5652655" y="1130528"/>
                                        </a:moveTo>
                                        <a:lnTo>
                                          <a:pt x="0" y="1130528"/>
                                        </a:lnTo>
                                        <a:lnTo>
                                          <a:pt x="0" y="1507375"/>
                                        </a:lnTo>
                                        <a:lnTo>
                                          <a:pt x="5652655" y="1507375"/>
                                        </a:lnTo>
                                        <a:lnTo>
                                          <a:pt x="5652655" y="1130528"/>
                                        </a:lnTo>
                                        <a:close/>
                                      </a:path>
                                      <a:path w="5652770" h="1507489">
                                        <a:moveTo>
                                          <a:pt x="5652655" y="0"/>
                                        </a:moveTo>
                                        <a:lnTo>
                                          <a:pt x="0" y="0"/>
                                        </a:lnTo>
                                        <a:lnTo>
                                          <a:pt x="0" y="370560"/>
                                        </a:lnTo>
                                        <a:lnTo>
                                          <a:pt x="5652655" y="370560"/>
                                        </a:lnTo>
                                        <a:lnTo>
                                          <a:pt x="5652655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0070C0"/>
                                  </a:solidFill>
                                  <a:ln>
                                    <a:solidFill>
                                      <a:srgbClr val="0070C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 dirty="0"/>
                                  </a:p>
                                </p:txBody>
                              </p:sp>
                              <p:sp>
                                <p:nvSpPr>
                                  <p:cNvPr id="6" name="object 6"/>
                                  <p:cNvSpPr/>
                                  <p:nvPr/>
                                </p:nvSpPr>
                                <p:spPr>
                                  <a:xfrm>
                                    <a:off x="2542033" y="3509351"/>
                                    <a:ext cx="5652770" cy="150749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1507489">
                                        <a:moveTo>
                                          <a:pt x="0" y="0"/>
                                        </a:moveTo>
                                        <a:lnTo>
                                          <a:pt x="5652656" y="0"/>
                                        </a:lnTo>
                                        <a:lnTo>
                                          <a:pt x="5652656" y="1507375"/>
                                        </a:lnTo>
                                        <a:lnTo>
                                          <a:pt x="0" y="1507375"/>
                                        </a:lnTo>
                                        <a:lnTo>
                                          <a:pt x="0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7" name="object 7"/>
                                  <p:cNvSpPr/>
                                  <p:nvPr/>
                                </p:nvSpPr>
                                <p:spPr>
                                  <a:xfrm>
                                    <a:off x="2542031" y="3879913"/>
                                    <a:ext cx="5652770" cy="76009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760095">
                                        <a:moveTo>
                                          <a:pt x="5652655" y="0"/>
                                        </a:moveTo>
                                        <a:lnTo>
                                          <a:pt x="0" y="0"/>
                                        </a:lnTo>
                                        <a:lnTo>
                                          <a:pt x="0" y="759968"/>
                                        </a:lnTo>
                                        <a:lnTo>
                                          <a:pt x="5652655" y="759968"/>
                                        </a:lnTo>
                                        <a:lnTo>
                                          <a:pt x="5652655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00B0F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8" name="object 8"/>
                                  <p:cNvSpPr/>
                                  <p:nvPr/>
                                </p:nvSpPr>
                                <p:spPr>
                                  <a:xfrm>
                                    <a:off x="2542033" y="3879914"/>
                                    <a:ext cx="5652770" cy="76009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760095">
                                        <a:moveTo>
                                          <a:pt x="0" y="0"/>
                                        </a:moveTo>
                                        <a:lnTo>
                                          <a:pt x="5652656" y="0"/>
                                        </a:lnTo>
                                        <a:lnTo>
                                          <a:pt x="5652656" y="759968"/>
                                        </a:lnTo>
                                        <a:lnTo>
                                          <a:pt x="0" y="759968"/>
                                        </a:lnTo>
                                        <a:lnTo>
                                          <a:pt x="0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9" name="object 9"/>
                                  <p:cNvSpPr/>
                                  <p:nvPr/>
                                </p:nvSpPr>
                                <p:spPr>
                                  <a:xfrm>
                                    <a:off x="2542250" y="3889756"/>
                                    <a:ext cx="2688590" cy="37401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688590" h="374014">
                                        <a:moveTo>
                                          <a:pt x="0" y="373569"/>
                                        </a:moveTo>
                                        <a:lnTo>
                                          <a:pt x="2688162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FF26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0" name="object 10"/>
                                  <p:cNvSpPr/>
                                  <p:nvPr/>
                                </p:nvSpPr>
                                <p:spPr>
                                  <a:xfrm>
                                    <a:off x="5175453" y="3859352"/>
                                    <a:ext cx="80010" cy="7493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0010" h="74929">
                                        <a:moveTo>
                                          <a:pt x="0" y="0"/>
                                        </a:moveTo>
                                        <a:lnTo>
                                          <a:pt x="10375" y="74650"/>
                                        </a:lnTo>
                                        <a:lnTo>
                                          <a:pt x="79832" y="26949"/>
                                        </a:lnTo>
                                        <a:lnTo>
                                          <a:pt x="0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FF260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1" name="object 11"/>
                                  <p:cNvSpPr/>
                                  <p:nvPr/>
                                </p:nvSpPr>
                                <p:spPr>
                                  <a:xfrm>
                                    <a:off x="5179880" y="3886294"/>
                                    <a:ext cx="1558290" cy="22288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558290" h="222885">
                                        <a:moveTo>
                                          <a:pt x="1557868" y="222664"/>
                                        </a:moveTo>
                                        <a:lnTo>
                                          <a:pt x="0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FF26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2" name="object 12"/>
                                  <p:cNvSpPr/>
                                  <p:nvPr/>
                                </p:nvSpPr>
                                <p:spPr>
                                  <a:xfrm>
                                    <a:off x="6682676" y="4064546"/>
                                    <a:ext cx="80010" cy="7493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0009" h="74929">
                                        <a:moveTo>
                                          <a:pt x="10667" y="0"/>
                                        </a:moveTo>
                                        <a:lnTo>
                                          <a:pt x="0" y="74612"/>
                                        </a:lnTo>
                                        <a:lnTo>
                                          <a:pt x="79946" y="47967"/>
                                        </a:lnTo>
                                        <a:lnTo>
                                          <a:pt x="10667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FF260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3" name="object 13"/>
                                  <p:cNvSpPr/>
                                  <p:nvPr/>
                                </p:nvSpPr>
                                <p:spPr>
                                  <a:xfrm>
                                    <a:off x="5255308" y="3886195"/>
                                    <a:ext cx="0" cy="45275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h="452754">
                                        <a:moveTo>
                                          <a:pt x="0" y="0"/>
                                        </a:moveTo>
                                        <a:lnTo>
                                          <a:pt x="0" y="452212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4" name="object 14"/>
                                  <p:cNvSpPr/>
                                  <p:nvPr/>
                                </p:nvSpPr>
                                <p:spPr>
                                  <a:xfrm>
                                    <a:off x="4878464" y="3961564"/>
                                    <a:ext cx="377190" cy="22669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77189" h="226695">
                                        <a:moveTo>
                                          <a:pt x="0" y="0"/>
                                        </a:moveTo>
                                        <a:lnTo>
                                          <a:pt x="5593" y="42100"/>
                                        </a:lnTo>
                                        <a:lnTo>
                                          <a:pt x="16486" y="82434"/>
                                        </a:lnTo>
                                        <a:lnTo>
                                          <a:pt x="37978" y="119235"/>
                                        </a:lnTo>
                                        <a:lnTo>
                                          <a:pt x="75368" y="150737"/>
                                        </a:lnTo>
                                        <a:lnTo>
                                          <a:pt x="111221" y="168096"/>
                                        </a:lnTo>
                                        <a:lnTo>
                                          <a:pt x="154924" y="182839"/>
                                        </a:lnTo>
                                        <a:lnTo>
                                          <a:pt x="204908" y="195487"/>
                                        </a:lnTo>
                                        <a:lnTo>
                                          <a:pt x="259603" y="206566"/>
                                        </a:lnTo>
                                        <a:lnTo>
                                          <a:pt x="317438" y="216597"/>
                                        </a:lnTo>
                                        <a:lnTo>
                                          <a:pt x="376843" y="226106"/>
                                        </a:lnTo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16" name="object 16"/>
                                <p:cNvGrpSpPr/>
                                <p:nvPr/>
                              </p:nvGrpSpPr>
                              <p:grpSpPr>
                                <a:xfrm>
                                  <a:off x="1813846" y="4135747"/>
                                  <a:ext cx="2078548" cy="905194"/>
                                  <a:chOff x="1398458" y="4250339"/>
                                  <a:chExt cx="2136140" cy="930275"/>
                                </a:xfrm>
                              </p:grpSpPr>
                              <p:sp>
                                <p:nvSpPr>
                                  <p:cNvPr id="17" name="object 17"/>
                                  <p:cNvSpPr/>
                                  <p:nvPr/>
                                </p:nvSpPr>
                                <p:spPr>
                                  <a:xfrm>
                                    <a:off x="1788345" y="4263039"/>
                                    <a:ext cx="1733550" cy="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733550">
                                        <a:moveTo>
                                          <a:pt x="0" y="0"/>
                                        </a:moveTo>
                                        <a:lnTo>
                                          <a:pt x="1733481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 dirty="0"/>
                                  </a:p>
                                </p:txBody>
                              </p:sp>
                              <p:sp>
                                <p:nvSpPr>
                                  <p:cNvPr id="18" name="object 18"/>
                                  <p:cNvSpPr/>
                                  <p:nvPr/>
                                </p:nvSpPr>
                                <p:spPr>
                                  <a:xfrm>
                                    <a:off x="1411158" y="4279013"/>
                                    <a:ext cx="1111885" cy="88900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111885" h="889000">
                                        <a:moveTo>
                                          <a:pt x="0" y="888391"/>
                                        </a:moveTo>
                                        <a:lnTo>
                                          <a:pt x="1111468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FF26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9" name="object 19"/>
                                  <p:cNvSpPr/>
                                  <p:nvPr/>
                                </p:nvSpPr>
                                <p:spPr>
                                  <a:xfrm>
                                    <a:off x="2459850" y="4263326"/>
                                    <a:ext cx="82550" cy="7683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2550" h="76835">
                                        <a:moveTo>
                                          <a:pt x="82397" y="0"/>
                                        </a:moveTo>
                                        <a:lnTo>
                                          <a:pt x="0" y="17627"/>
                                        </a:lnTo>
                                        <a:lnTo>
                                          <a:pt x="47053" y="76504"/>
                                        </a:lnTo>
                                        <a:lnTo>
                                          <a:pt x="82397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FF260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20" name="object 20"/>
                                  <p:cNvSpPr/>
                                  <p:nvPr/>
                                </p:nvSpPr>
                                <p:spPr>
                                  <a:xfrm>
                                    <a:off x="1932017" y="4263039"/>
                                    <a:ext cx="82550" cy="37719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2550" h="377189">
                                        <a:moveTo>
                                          <a:pt x="7065" y="0"/>
                                        </a:moveTo>
                                        <a:lnTo>
                                          <a:pt x="2649" y="60942"/>
                                        </a:lnTo>
                                        <a:lnTo>
                                          <a:pt x="0" y="120118"/>
                                        </a:lnTo>
                                        <a:lnTo>
                                          <a:pt x="883" y="175762"/>
                                        </a:lnTo>
                                        <a:lnTo>
                                          <a:pt x="7065" y="226106"/>
                                        </a:lnTo>
                                        <a:lnTo>
                                          <a:pt x="19725" y="269973"/>
                                        </a:lnTo>
                                        <a:lnTo>
                                          <a:pt x="37684" y="308540"/>
                                        </a:lnTo>
                                        <a:lnTo>
                                          <a:pt x="59176" y="343575"/>
                                        </a:lnTo>
                                        <a:lnTo>
                                          <a:pt x="82434" y="376843"/>
                                        </a:lnTo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</p:grpSp>
                          </p:grpSp>
                          <p:sp>
                            <p:nvSpPr>
                              <p:cNvPr id="28" name="object 28"/>
                              <p:cNvSpPr txBox="1"/>
                              <p:nvPr/>
                            </p:nvSpPr>
                            <p:spPr>
                              <a:xfrm>
                                <a:off x="1732597" y="4546435"/>
                                <a:ext cx="236647" cy="366930"/>
                              </a:xfrm>
                              <a:prstGeom prst="rect">
                                <a:avLst/>
                              </a:prstGeom>
                            </p:spPr>
                            <p:txBody>
                              <a:bodyPr vert="horz" wrap="square" lIns="0" tIns="14829" rIns="0" bIns="0" rtlCol="0">
                                <a:spAutoFit/>
                              </a:bodyPr>
                              <a:lstStyle/>
                              <a:p>
                                <a:pPr marL="12357">
                                  <a:spcBef>
                                    <a:spcPts val="117"/>
                                  </a:spcBef>
                                </a:pPr>
                                <a:r>
                                  <a:rPr sz="2287" spc="15" dirty="0">
                                    <a:latin typeface="Times New Roman"/>
                                    <a:cs typeface="Times New Roman"/>
                                  </a:rPr>
                                  <a:t>A</a:t>
                                </a:r>
                                <a:endParaRPr sz="2287" dirty="0">
                                  <a:latin typeface="Times New Roman"/>
                                  <a:cs typeface="Times New Roman"/>
                                </a:endParaRPr>
                              </a:p>
                            </p:txBody>
                          </p:sp>
                        </p:grpSp>
                      </p:grpSp>
                    </p:grpSp>
                  </p:grpSp>
                  <p:sp>
                    <p:nvSpPr>
                      <p:cNvPr id="15" name="object 15"/>
                      <p:cNvSpPr txBox="1"/>
                      <p:nvPr/>
                    </p:nvSpPr>
                    <p:spPr>
                      <a:xfrm>
                        <a:off x="5104281" y="3959745"/>
                        <a:ext cx="313883" cy="366930"/>
                      </a:xfrm>
                      <a:prstGeom prst="rect">
                        <a:avLst/>
                      </a:prstGeom>
                    </p:spPr>
                    <p:txBody>
                      <a:bodyPr vert="horz" wrap="square" lIns="0" tIns="14829" rIns="0" bIns="0" rtlCol="0">
                        <a:spAutoFit/>
                      </a:bodyPr>
                      <a:lstStyle/>
                      <a:p>
                        <a:pPr marL="37071">
                          <a:spcBef>
                            <a:spcPts val="117"/>
                          </a:spcBef>
                        </a:pPr>
                        <a:r>
                          <a:rPr sz="2287" spc="10" dirty="0">
                            <a:latin typeface="Symbol"/>
                            <a:cs typeface="Symbol"/>
                          </a:rPr>
                          <a:t></a:t>
                        </a:r>
                        <a:r>
                          <a:rPr sz="2262" spc="15" baseline="-21505" dirty="0">
                            <a:latin typeface="Times New Roman"/>
                            <a:cs typeface="Times New Roman"/>
                          </a:rPr>
                          <a:t>c</a:t>
                        </a:r>
                        <a:endParaRPr sz="2262" baseline="-21505" dirty="0">
                          <a:latin typeface="Times New Roman"/>
                          <a:cs typeface="Times New Roman"/>
                        </a:endParaRPr>
                      </a:p>
                    </p:txBody>
                  </p:sp>
                </p:grpSp>
                <p:sp>
                  <p:nvSpPr>
                    <p:cNvPr id="21" name="object 21"/>
                    <p:cNvSpPr txBox="1"/>
                    <p:nvPr/>
                  </p:nvSpPr>
                  <p:spPr>
                    <a:xfrm>
                      <a:off x="3921733" y="3886403"/>
                      <a:ext cx="346013" cy="366930"/>
                    </a:xfrm>
                    <a:prstGeom prst="rect">
                      <a:avLst/>
                    </a:prstGeom>
                  </p:spPr>
                  <p:txBody>
                    <a:bodyPr vert="horz" wrap="square" lIns="0" tIns="14829" rIns="0" bIns="0" rtlCol="0">
                      <a:spAutoFit/>
                    </a:bodyPr>
                    <a:lstStyle/>
                    <a:p>
                      <a:pPr marL="37071">
                        <a:spcBef>
                          <a:spcPts val="117"/>
                        </a:spcBef>
                      </a:pPr>
                      <a:r>
                        <a:rPr sz="2287" spc="10" dirty="0">
                          <a:latin typeface="Symbol"/>
                          <a:cs typeface="Symbol"/>
                        </a:rPr>
                        <a:t></a:t>
                      </a:r>
                      <a:r>
                        <a:rPr sz="2262" spc="15" baseline="-21505" dirty="0">
                          <a:latin typeface="Times New Roman"/>
                          <a:cs typeface="Times New Roman"/>
                        </a:rPr>
                        <a:t>c</a:t>
                      </a:r>
                      <a:endParaRPr sz="2262" baseline="-21505" dirty="0">
                        <a:latin typeface="Times New Roman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24" name="object 24"/>
                  <p:cNvSpPr txBox="1"/>
                  <p:nvPr/>
                </p:nvSpPr>
                <p:spPr>
                  <a:xfrm>
                    <a:off x="3148900" y="4106418"/>
                    <a:ext cx="171771" cy="366930"/>
                  </a:xfrm>
                  <a:prstGeom prst="rect">
                    <a:avLst/>
                  </a:prstGeom>
                </p:spPr>
                <p:txBody>
                  <a:bodyPr vert="horz" wrap="square" lIns="0" tIns="14829" rIns="0" bIns="0" rtlCol="0">
                    <a:spAutoFit/>
                  </a:bodyPr>
                  <a:lstStyle/>
                  <a:p>
                    <a:pPr marL="12357">
                      <a:spcBef>
                        <a:spcPts val="117"/>
                      </a:spcBef>
                    </a:pPr>
                    <a:r>
                      <a:rPr sz="2287" spc="10" dirty="0">
                        <a:latin typeface="Times New Roman"/>
                        <a:cs typeface="Times New Roman"/>
                      </a:rPr>
                      <a:t>n</a:t>
                    </a:r>
                    <a:endParaRPr sz="2287">
                      <a:latin typeface="Times New Roman"/>
                      <a:cs typeface="Times New Roman"/>
                    </a:endParaRPr>
                  </a:p>
                </p:txBody>
              </p:sp>
            </p:grpSp>
            <p:sp>
              <p:nvSpPr>
                <p:cNvPr id="25" name="object 25"/>
                <p:cNvSpPr txBox="1"/>
                <p:nvPr/>
              </p:nvSpPr>
              <p:spPr>
                <a:xfrm>
                  <a:off x="3295574" y="4277536"/>
                  <a:ext cx="122957" cy="248273"/>
                </a:xfrm>
                <a:prstGeom prst="rect">
                  <a:avLst/>
                </a:prstGeom>
              </p:spPr>
              <p:txBody>
                <a:bodyPr vert="horz" wrap="square" lIns="0" tIns="16065" rIns="0" bIns="0" rtlCol="0">
                  <a:spAutoFit/>
                </a:bodyPr>
                <a:lstStyle/>
                <a:p>
                  <a:pPr marL="12357">
                    <a:spcBef>
                      <a:spcPts val="126"/>
                    </a:spcBef>
                  </a:pPr>
                  <a:r>
                    <a:rPr sz="1508" spc="15" dirty="0">
                      <a:latin typeface="Times New Roman"/>
                      <a:cs typeface="Times New Roman"/>
                    </a:rPr>
                    <a:t>1</a:t>
                  </a:r>
                  <a:endParaRPr sz="1508" dirty="0">
                    <a:latin typeface="Times New Roman"/>
                    <a:cs typeface="Times New Roman"/>
                  </a:endParaRPr>
                </a:p>
              </p:txBody>
            </p:sp>
          </p:grpSp>
          <p:sp>
            <p:nvSpPr>
              <p:cNvPr id="26" name="object 26"/>
              <p:cNvSpPr txBox="1"/>
              <p:nvPr/>
            </p:nvSpPr>
            <p:spPr>
              <a:xfrm>
                <a:off x="3136543" y="4473105"/>
                <a:ext cx="306468" cy="366930"/>
              </a:xfrm>
              <a:prstGeom prst="rect">
                <a:avLst/>
              </a:prstGeom>
            </p:spPr>
            <p:txBody>
              <a:bodyPr vert="horz" wrap="square" lIns="0" tIns="14829" rIns="0" bIns="0" rtlCol="0">
                <a:spAutoFit/>
              </a:bodyPr>
              <a:lstStyle/>
              <a:p>
                <a:pPr marL="24714">
                  <a:spcBef>
                    <a:spcPts val="117"/>
                  </a:spcBef>
                </a:pPr>
                <a:r>
                  <a:rPr sz="2287" spc="10" dirty="0">
                    <a:latin typeface="Times New Roman"/>
                    <a:cs typeface="Times New Roman"/>
                  </a:rPr>
                  <a:t>n</a:t>
                </a:r>
                <a:r>
                  <a:rPr sz="2262" spc="15" baseline="-21505" dirty="0">
                    <a:latin typeface="Times New Roman"/>
                    <a:cs typeface="Times New Roman"/>
                  </a:rPr>
                  <a:t>2</a:t>
                </a:r>
                <a:endParaRPr sz="2262" baseline="-21505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30" name="object 30"/>
            <p:cNvSpPr/>
            <p:nvPr/>
          </p:nvSpPr>
          <p:spPr>
            <a:xfrm>
              <a:off x="3806630" y="4001430"/>
              <a:ext cx="0" cy="147055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150737"/>
                  </a:moveTo>
                  <a:lnTo>
                    <a:pt x="0" y="105987"/>
                  </a:lnTo>
                  <a:lnTo>
                    <a:pt x="0" y="75368"/>
                  </a:lnTo>
                  <a:lnTo>
                    <a:pt x="0" y="44750"/>
                  </a:lnTo>
                  <a:lnTo>
                    <a:pt x="0" y="0"/>
                  </a:lnTo>
                </a:path>
              </a:pathLst>
            </a:custGeom>
            <a:ln w="125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51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9AE4B5-359B-4517-89DA-2C9D31A86F14}"/>
              </a:ext>
            </a:extLst>
          </p:cNvPr>
          <p:cNvGrpSpPr/>
          <p:nvPr/>
        </p:nvGrpSpPr>
        <p:grpSpPr>
          <a:xfrm>
            <a:off x="750419" y="3561273"/>
            <a:ext cx="7483633" cy="1515552"/>
            <a:chOff x="1488927" y="1015832"/>
            <a:chExt cx="6947868" cy="1515552"/>
          </a:xfrm>
        </p:grpSpPr>
        <p:grpSp>
          <p:nvGrpSpPr>
            <p:cNvPr id="43" name="object 3">
              <a:extLst>
                <a:ext uri="{FF2B5EF4-FFF2-40B4-BE49-F238E27FC236}">
                  <a16:creationId xmlns:a16="http://schemas.microsoft.com/office/drawing/2014/main" id="{D89E3ECD-9920-4CA4-824E-AEDBBDBDF91F}"/>
                </a:ext>
              </a:extLst>
            </p:cNvPr>
            <p:cNvGrpSpPr/>
            <p:nvPr/>
          </p:nvGrpSpPr>
          <p:grpSpPr>
            <a:xfrm>
              <a:off x="3309805" y="1015832"/>
              <a:ext cx="5126990" cy="1372870"/>
              <a:chOff x="3309805" y="1015832"/>
              <a:chExt cx="5126990" cy="1372870"/>
            </a:xfrm>
          </p:grpSpPr>
          <p:sp>
            <p:nvSpPr>
              <p:cNvPr id="65" name="object 4">
                <a:extLst>
                  <a:ext uri="{FF2B5EF4-FFF2-40B4-BE49-F238E27FC236}">
                    <a16:creationId xmlns:a16="http://schemas.microsoft.com/office/drawing/2014/main" id="{D87538E6-9D6A-4479-85B3-0EBB54405DC6}"/>
                  </a:ext>
                </a:extLst>
              </p:cNvPr>
              <p:cNvSpPr/>
              <p:nvPr/>
            </p:nvSpPr>
            <p:spPr>
              <a:xfrm>
                <a:off x="3322408" y="1022184"/>
                <a:ext cx="5107940" cy="334645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334644">
                    <a:moveTo>
                      <a:pt x="0" y="334454"/>
                    </a:moveTo>
                    <a:lnTo>
                      <a:pt x="5107800" y="334454"/>
                    </a:lnTo>
                    <a:lnTo>
                      <a:pt x="5107800" y="0"/>
                    </a:lnTo>
                    <a:lnTo>
                      <a:pt x="0" y="0"/>
                    </a:lnTo>
                    <a:lnTo>
                      <a:pt x="0" y="334454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6" name="object 5">
                <a:extLst>
                  <a:ext uri="{FF2B5EF4-FFF2-40B4-BE49-F238E27FC236}">
                    <a16:creationId xmlns:a16="http://schemas.microsoft.com/office/drawing/2014/main" id="{A8ED0534-F5D9-4322-8971-824B1A8CE16A}"/>
                  </a:ext>
                </a:extLst>
              </p:cNvPr>
              <p:cNvSpPr/>
              <p:nvPr/>
            </p:nvSpPr>
            <p:spPr>
              <a:xfrm>
                <a:off x="3322416" y="1022182"/>
                <a:ext cx="5107940" cy="1360170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1360170">
                    <a:moveTo>
                      <a:pt x="0" y="0"/>
                    </a:moveTo>
                    <a:lnTo>
                      <a:pt x="5107805" y="0"/>
                    </a:lnTo>
                    <a:lnTo>
                      <a:pt x="5107805" y="1359773"/>
                    </a:lnTo>
                    <a:lnTo>
                      <a:pt x="0" y="1359773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7" name="object 6">
                <a:extLst>
                  <a:ext uri="{FF2B5EF4-FFF2-40B4-BE49-F238E27FC236}">
                    <a16:creationId xmlns:a16="http://schemas.microsoft.com/office/drawing/2014/main" id="{5D8E33C1-9411-4AA8-AF84-7B2375DB0679}"/>
                  </a:ext>
                </a:extLst>
              </p:cNvPr>
              <p:cNvSpPr/>
              <p:nvPr/>
            </p:nvSpPr>
            <p:spPr>
              <a:xfrm>
                <a:off x="3322408" y="1356639"/>
                <a:ext cx="5107940" cy="686435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686435">
                    <a:moveTo>
                      <a:pt x="5107800" y="0"/>
                    </a:moveTo>
                    <a:lnTo>
                      <a:pt x="0" y="0"/>
                    </a:lnTo>
                    <a:lnTo>
                      <a:pt x="0" y="686168"/>
                    </a:lnTo>
                    <a:lnTo>
                      <a:pt x="5107800" y="686168"/>
                    </a:lnTo>
                    <a:lnTo>
                      <a:pt x="5107800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8" name="object 7">
                <a:extLst>
                  <a:ext uri="{FF2B5EF4-FFF2-40B4-BE49-F238E27FC236}">
                    <a16:creationId xmlns:a16="http://schemas.microsoft.com/office/drawing/2014/main" id="{CD9F3AD4-3309-4750-AA9B-10C5E7E4DEAF}"/>
                  </a:ext>
                </a:extLst>
              </p:cNvPr>
              <p:cNvSpPr/>
              <p:nvPr/>
            </p:nvSpPr>
            <p:spPr>
              <a:xfrm>
                <a:off x="3322416" y="1356632"/>
                <a:ext cx="5107940" cy="686435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686435">
                    <a:moveTo>
                      <a:pt x="0" y="0"/>
                    </a:moveTo>
                    <a:lnTo>
                      <a:pt x="5107805" y="0"/>
                    </a:lnTo>
                    <a:lnTo>
                      <a:pt x="5107805" y="686174"/>
                    </a:lnTo>
                    <a:lnTo>
                      <a:pt x="0" y="686174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8">
                <a:extLst>
                  <a:ext uri="{FF2B5EF4-FFF2-40B4-BE49-F238E27FC236}">
                    <a16:creationId xmlns:a16="http://schemas.microsoft.com/office/drawing/2014/main" id="{DDB25A1E-36DB-40C7-9BF7-74F9CEF5F630}"/>
                  </a:ext>
                </a:extLst>
              </p:cNvPr>
              <p:cNvSpPr/>
              <p:nvPr/>
            </p:nvSpPr>
            <p:spPr>
              <a:xfrm>
                <a:off x="3322505" y="1366403"/>
                <a:ext cx="2428240" cy="335915"/>
              </a:xfrm>
              <a:custGeom>
                <a:avLst/>
                <a:gdLst/>
                <a:ahLst/>
                <a:cxnLst/>
                <a:rect l="l" t="t" r="r" b="b"/>
                <a:pathLst>
                  <a:path w="2428240" h="335914">
                    <a:moveTo>
                      <a:pt x="0" y="335492"/>
                    </a:moveTo>
                    <a:lnTo>
                      <a:pt x="2427803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0" name="object 9">
                <a:extLst>
                  <a:ext uri="{FF2B5EF4-FFF2-40B4-BE49-F238E27FC236}">
                    <a16:creationId xmlns:a16="http://schemas.microsoft.com/office/drawing/2014/main" id="{43C01C7A-CFBC-4A28-A600-21591ACA59FF}"/>
                  </a:ext>
                </a:extLst>
              </p:cNvPr>
              <p:cNvSpPr/>
              <p:nvPr/>
            </p:nvSpPr>
            <p:spPr>
              <a:xfrm>
                <a:off x="5695378" y="1335963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10" h="74930">
                    <a:moveTo>
                      <a:pt x="0" y="0"/>
                    </a:moveTo>
                    <a:lnTo>
                      <a:pt x="10312" y="74650"/>
                    </a:lnTo>
                    <a:lnTo>
                      <a:pt x="79819" y="27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1" name="object 10">
                <a:extLst>
                  <a:ext uri="{FF2B5EF4-FFF2-40B4-BE49-F238E27FC236}">
                    <a16:creationId xmlns:a16="http://schemas.microsoft.com/office/drawing/2014/main" id="{6DE04D69-47A0-4DF7-BFF2-EDE2019B514A}"/>
                  </a:ext>
                </a:extLst>
              </p:cNvPr>
              <p:cNvSpPr/>
              <p:nvPr/>
            </p:nvSpPr>
            <p:spPr>
              <a:xfrm>
                <a:off x="5706146" y="1362964"/>
                <a:ext cx="1405890" cy="200660"/>
              </a:xfrm>
              <a:custGeom>
                <a:avLst/>
                <a:gdLst/>
                <a:ahLst/>
                <a:cxnLst/>
                <a:rect l="l" t="t" r="r" b="b"/>
                <a:pathLst>
                  <a:path w="1405890" h="200659">
                    <a:moveTo>
                      <a:pt x="1405459" y="200449"/>
                    </a:moveTo>
                    <a:lnTo>
                      <a:pt x="0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2" name="object 11">
                <a:extLst>
                  <a:ext uri="{FF2B5EF4-FFF2-40B4-BE49-F238E27FC236}">
                    <a16:creationId xmlns:a16="http://schemas.microsoft.com/office/drawing/2014/main" id="{C82FF3A5-2130-4FB3-A188-349B3D6FEE8B}"/>
                  </a:ext>
                </a:extLst>
              </p:cNvPr>
              <p:cNvSpPr/>
              <p:nvPr/>
            </p:nvSpPr>
            <p:spPr>
              <a:xfrm>
                <a:off x="7056539" y="1519021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09" h="74930">
                    <a:moveTo>
                      <a:pt x="10642" y="0"/>
                    </a:moveTo>
                    <a:lnTo>
                      <a:pt x="0" y="74612"/>
                    </a:lnTo>
                    <a:lnTo>
                      <a:pt x="79933" y="47942"/>
                    </a:lnTo>
                    <a:lnTo>
                      <a:pt x="10642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12">
                <a:extLst>
                  <a:ext uri="{FF2B5EF4-FFF2-40B4-BE49-F238E27FC236}">
                    <a16:creationId xmlns:a16="http://schemas.microsoft.com/office/drawing/2014/main" id="{CFF03080-9A19-4EEC-8787-D5FDE9CD242C}"/>
                  </a:ext>
                </a:extLst>
              </p:cNvPr>
              <p:cNvSpPr/>
              <p:nvPr/>
            </p:nvSpPr>
            <p:spPr>
              <a:xfrm>
                <a:off x="5775036" y="1362912"/>
                <a:ext cx="0" cy="407034"/>
              </a:xfrm>
              <a:custGeom>
                <a:avLst/>
                <a:gdLst/>
                <a:ahLst/>
                <a:cxnLst/>
                <a:rect l="l" t="t" r="r" b="b"/>
                <a:pathLst>
                  <a:path h="407035">
                    <a:moveTo>
                      <a:pt x="0" y="0"/>
                    </a:moveTo>
                    <a:lnTo>
                      <a:pt x="0" y="406676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13">
                <a:extLst>
                  <a:ext uri="{FF2B5EF4-FFF2-40B4-BE49-F238E27FC236}">
                    <a16:creationId xmlns:a16="http://schemas.microsoft.com/office/drawing/2014/main" id="{B7809B8B-9284-45C3-B0E5-CDE53B19C89C}"/>
                  </a:ext>
                </a:extLst>
              </p:cNvPr>
              <p:cNvSpPr/>
              <p:nvPr/>
            </p:nvSpPr>
            <p:spPr>
              <a:xfrm>
                <a:off x="5434314" y="1430430"/>
                <a:ext cx="340995" cy="204470"/>
              </a:xfrm>
              <a:custGeom>
                <a:avLst/>
                <a:gdLst/>
                <a:ahLst/>
                <a:cxnLst/>
                <a:rect l="l" t="t" r="r" b="b"/>
                <a:pathLst>
                  <a:path w="340995" h="204469">
                    <a:moveTo>
                      <a:pt x="0" y="0"/>
                    </a:moveTo>
                    <a:lnTo>
                      <a:pt x="5056" y="38007"/>
                    </a:lnTo>
                    <a:lnTo>
                      <a:pt x="34334" y="107643"/>
                    </a:lnTo>
                    <a:lnTo>
                      <a:pt x="68138" y="136079"/>
                    </a:lnTo>
                    <a:lnTo>
                      <a:pt x="140074" y="165063"/>
                    </a:lnTo>
                    <a:lnTo>
                      <a:pt x="185269" y="176483"/>
                    </a:lnTo>
                    <a:lnTo>
                      <a:pt x="234721" y="186486"/>
                    </a:lnTo>
                    <a:lnTo>
                      <a:pt x="287012" y="195543"/>
                    </a:lnTo>
                    <a:lnTo>
                      <a:pt x="340722" y="204128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4" name="object 14">
              <a:extLst>
                <a:ext uri="{FF2B5EF4-FFF2-40B4-BE49-F238E27FC236}">
                  <a16:creationId xmlns:a16="http://schemas.microsoft.com/office/drawing/2014/main" id="{EF7E3531-EC8F-43C0-B4D2-2B9909FCF687}"/>
                </a:ext>
              </a:extLst>
            </p:cNvPr>
            <p:cNvSpPr txBox="1"/>
            <p:nvPr/>
          </p:nvSpPr>
          <p:spPr>
            <a:xfrm>
              <a:off x="5350040" y="1530476"/>
              <a:ext cx="32258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</a:t>
              </a:r>
              <a:r>
                <a:rPr sz="2325" spc="15" baseline="-21505" dirty="0">
                  <a:latin typeface="Times New Roman"/>
                  <a:cs typeface="Times New Roman"/>
                </a:rPr>
                <a:t>c</a:t>
              </a:r>
              <a:endParaRPr sz="2325" baseline="-21505">
                <a:latin typeface="Times New Roman"/>
                <a:cs typeface="Times New Roman"/>
              </a:endParaRPr>
            </a:p>
          </p:txBody>
        </p:sp>
        <p:sp>
          <p:nvSpPr>
            <p:cNvPr id="45" name="object 15">
              <a:extLst>
                <a:ext uri="{FF2B5EF4-FFF2-40B4-BE49-F238E27FC236}">
                  <a16:creationId xmlns:a16="http://schemas.microsoft.com/office/drawing/2014/main" id="{C436FE3F-2CD9-4FC2-8105-E480C902D397}"/>
                </a:ext>
              </a:extLst>
            </p:cNvPr>
            <p:cNvSpPr/>
            <p:nvPr/>
          </p:nvSpPr>
          <p:spPr>
            <a:xfrm>
              <a:off x="2642524" y="1702074"/>
              <a:ext cx="1565910" cy="0"/>
            </a:xfrm>
            <a:custGeom>
              <a:avLst/>
              <a:gdLst/>
              <a:ahLst/>
              <a:cxnLst/>
              <a:rect l="l" t="t" r="r" b="b"/>
              <a:pathLst>
                <a:path w="1565910">
                  <a:moveTo>
                    <a:pt x="0" y="0"/>
                  </a:moveTo>
                  <a:lnTo>
                    <a:pt x="1565474" y="0"/>
                  </a:lnTo>
                </a:path>
              </a:pathLst>
            </a:custGeom>
            <a:ln w="25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16">
              <a:extLst>
                <a:ext uri="{FF2B5EF4-FFF2-40B4-BE49-F238E27FC236}">
                  <a16:creationId xmlns:a16="http://schemas.microsoft.com/office/drawing/2014/main" id="{A049C3D5-B3A5-4247-BB7F-D65833F3A545}"/>
                </a:ext>
              </a:extLst>
            </p:cNvPr>
            <p:cNvSpPr txBox="1"/>
            <p:nvPr/>
          </p:nvSpPr>
          <p:spPr>
            <a:xfrm>
              <a:off x="4252480" y="1464525"/>
              <a:ext cx="35560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</a:t>
              </a:r>
              <a:r>
                <a:rPr sz="2325" spc="15" baseline="-21505" dirty="0">
                  <a:latin typeface="Times New Roman"/>
                  <a:cs typeface="Times New Roman"/>
                </a:rPr>
                <a:t>c</a:t>
              </a:r>
              <a:endParaRPr sz="2325" baseline="-21505" dirty="0">
                <a:latin typeface="Times New Roman"/>
                <a:cs typeface="Times New Roman"/>
              </a:endParaRPr>
            </a:p>
          </p:txBody>
        </p:sp>
        <p:grpSp>
          <p:nvGrpSpPr>
            <p:cNvPr id="47" name="object 17">
              <a:extLst>
                <a:ext uri="{FF2B5EF4-FFF2-40B4-BE49-F238E27FC236}">
                  <a16:creationId xmlns:a16="http://schemas.microsoft.com/office/drawing/2014/main" id="{2510FFAA-E3FB-4B03-8377-0B47453CF8AA}"/>
                </a:ext>
              </a:extLst>
            </p:cNvPr>
            <p:cNvGrpSpPr/>
            <p:nvPr/>
          </p:nvGrpSpPr>
          <p:grpSpPr>
            <a:xfrm>
              <a:off x="2289043" y="1695724"/>
              <a:ext cx="1033780" cy="835660"/>
              <a:chOff x="2289043" y="1695724"/>
              <a:chExt cx="1033780" cy="835660"/>
            </a:xfrm>
          </p:grpSpPr>
          <p:sp>
            <p:nvSpPr>
              <p:cNvPr id="62" name="object 18">
                <a:extLst>
                  <a:ext uri="{FF2B5EF4-FFF2-40B4-BE49-F238E27FC236}">
                    <a16:creationId xmlns:a16="http://schemas.microsoft.com/office/drawing/2014/main" id="{53B73B7E-4A1D-4076-8FC2-19AB4E6DD477}"/>
                  </a:ext>
                </a:extLst>
              </p:cNvPr>
              <p:cNvSpPr/>
              <p:nvPr/>
            </p:nvSpPr>
            <p:spPr>
              <a:xfrm>
                <a:off x="2301743" y="1717593"/>
                <a:ext cx="1001394" cy="801370"/>
              </a:xfrm>
              <a:custGeom>
                <a:avLst/>
                <a:gdLst/>
                <a:ahLst/>
                <a:cxnLst/>
                <a:rect l="l" t="t" r="r" b="b"/>
                <a:pathLst>
                  <a:path w="1001395" h="801369">
                    <a:moveTo>
                      <a:pt x="0" y="801074"/>
                    </a:moveTo>
                    <a:lnTo>
                      <a:pt x="1001148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19">
                <a:extLst>
                  <a:ext uri="{FF2B5EF4-FFF2-40B4-BE49-F238E27FC236}">
                    <a16:creationId xmlns:a16="http://schemas.microsoft.com/office/drawing/2014/main" id="{0C1F72D5-8129-46D3-BB03-7AD85B06D1DB}"/>
                  </a:ext>
                </a:extLst>
              </p:cNvPr>
              <p:cNvSpPr/>
              <p:nvPr/>
            </p:nvSpPr>
            <p:spPr>
              <a:xfrm>
                <a:off x="3240112" y="1701901"/>
                <a:ext cx="82550" cy="7683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6835">
                    <a:moveTo>
                      <a:pt x="82397" y="0"/>
                    </a:moveTo>
                    <a:lnTo>
                      <a:pt x="0" y="17665"/>
                    </a:lnTo>
                    <a:lnTo>
                      <a:pt x="47091" y="76517"/>
                    </a:lnTo>
                    <a:lnTo>
                      <a:pt x="82397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20">
                <a:extLst>
                  <a:ext uri="{FF2B5EF4-FFF2-40B4-BE49-F238E27FC236}">
                    <a16:creationId xmlns:a16="http://schemas.microsoft.com/office/drawing/2014/main" id="{16485022-EA69-40A0-A910-50369E02BF86}"/>
                  </a:ext>
                </a:extLst>
              </p:cNvPr>
              <p:cNvSpPr/>
              <p:nvPr/>
            </p:nvSpPr>
            <p:spPr>
              <a:xfrm>
                <a:off x="2771575" y="1702074"/>
                <a:ext cx="75565" cy="34099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340994">
                    <a:moveTo>
                      <a:pt x="6435" y="0"/>
                    </a:moveTo>
                    <a:lnTo>
                      <a:pt x="2414" y="55103"/>
                    </a:lnTo>
                    <a:lnTo>
                      <a:pt x="0" y="108608"/>
                    </a:lnTo>
                    <a:lnTo>
                      <a:pt x="803" y="158918"/>
                    </a:lnTo>
                    <a:lnTo>
                      <a:pt x="6435" y="204435"/>
                    </a:lnTo>
                    <a:lnTo>
                      <a:pt x="17961" y="244097"/>
                    </a:lnTo>
                    <a:lnTo>
                      <a:pt x="34316" y="278970"/>
                    </a:lnTo>
                    <a:lnTo>
                      <a:pt x="53888" y="310650"/>
                    </a:lnTo>
                    <a:lnTo>
                      <a:pt x="75068" y="340732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8" name="object 21">
              <a:extLst>
                <a:ext uri="{FF2B5EF4-FFF2-40B4-BE49-F238E27FC236}">
                  <a16:creationId xmlns:a16="http://schemas.microsoft.com/office/drawing/2014/main" id="{B21CD475-04BD-4DDB-B67D-B99483FAEB57}"/>
                </a:ext>
              </a:extLst>
            </p:cNvPr>
            <p:cNvSpPr txBox="1"/>
            <p:nvPr/>
          </p:nvSpPr>
          <p:spPr>
            <a:xfrm>
              <a:off x="2469032" y="1695282"/>
              <a:ext cx="283264" cy="377026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</a:t>
              </a:r>
              <a:r>
                <a:rPr lang="en-US" sz="2350" spc="1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sz="2350" dirty="0">
                <a:latin typeface="Symbol"/>
                <a:cs typeface="Symbol"/>
              </a:endParaRPr>
            </a:p>
          </p:txBody>
        </p:sp>
        <p:sp>
          <p:nvSpPr>
            <p:cNvPr id="49" name="object 23">
              <a:extLst>
                <a:ext uri="{FF2B5EF4-FFF2-40B4-BE49-F238E27FC236}">
                  <a16:creationId xmlns:a16="http://schemas.microsoft.com/office/drawing/2014/main" id="{81526C1F-69DC-4AC3-AFA0-BC01F2A51550}"/>
                </a:ext>
              </a:extLst>
            </p:cNvPr>
            <p:cNvSpPr txBox="1"/>
            <p:nvPr/>
          </p:nvSpPr>
          <p:spPr>
            <a:xfrm>
              <a:off x="3536759" y="1667078"/>
              <a:ext cx="17653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Times New Roman"/>
                  <a:cs typeface="Times New Roman"/>
                </a:rPr>
                <a:t>n</a:t>
              </a:r>
              <a:endParaRPr sz="2350">
                <a:latin typeface="Times New Roman"/>
                <a:cs typeface="Times New Roman"/>
              </a:endParaRPr>
            </a:p>
          </p:txBody>
        </p:sp>
        <p:sp>
          <p:nvSpPr>
            <p:cNvPr id="50" name="object 24">
              <a:extLst>
                <a:ext uri="{FF2B5EF4-FFF2-40B4-BE49-F238E27FC236}">
                  <a16:creationId xmlns:a16="http://schemas.microsoft.com/office/drawing/2014/main" id="{61130B7D-0124-4AB1-985B-A8F6EF045E2A}"/>
                </a:ext>
              </a:extLst>
            </p:cNvPr>
            <p:cNvSpPr txBox="1"/>
            <p:nvPr/>
          </p:nvSpPr>
          <p:spPr>
            <a:xfrm>
              <a:off x="3687497" y="1842938"/>
              <a:ext cx="126364" cy="2667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550" spc="15" dirty="0">
                  <a:latin typeface="Times New Roman"/>
                  <a:cs typeface="Times New Roman"/>
                </a:rPr>
                <a:t>1</a:t>
              </a:r>
              <a:endParaRPr sz="1550">
                <a:latin typeface="Times New Roman"/>
                <a:cs typeface="Times New Roman"/>
              </a:endParaRPr>
            </a:p>
          </p:txBody>
        </p:sp>
        <p:sp>
          <p:nvSpPr>
            <p:cNvPr id="51" name="object 25">
              <a:extLst>
                <a:ext uri="{FF2B5EF4-FFF2-40B4-BE49-F238E27FC236}">
                  <a16:creationId xmlns:a16="http://schemas.microsoft.com/office/drawing/2014/main" id="{3F03C43E-687D-4390-A638-CD0F1EE45833}"/>
                </a:ext>
              </a:extLst>
            </p:cNvPr>
            <p:cNvSpPr txBox="1"/>
            <p:nvPr/>
          </p:nvSpPr>
          <p:spPr>
            <a:xfrm>
              <a:off x="3322416" y="2042806"/>
              <a:ext cx="5107940" cy="339725"/>
            </a:xfrm>
            <a:prstGeom prst="rect">
              <a:avLst/>
            </a:prstGeom>
            <a:solidFill>
              <a:srgbClr val="0070C0"/>
            </a:solidFill>
            <a:ln w="12561">
              <a:solidFill>
                <a:srgbClr val="0070C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26695">
                <a:lnSpc>
                  <a:spcPts val="2655"/>
                </a:lnSpc>
              </a:pPr>
              <a:r>
                <a:rPr sz="2350" spc="10" dirty="0">
                  <a:latin typeface="Times New Roman"/>
                  <a:cs typeface="Times New Roman"/>
                </a:rPr>
                <a:t>n</a:t>
              </a:r>
              <a:r>
                <a:rPr sz="2325" spc="15" baseline="-21505" dirty="0">
                  <a:latin typeface="Times New Roman"/>
                  <a:cs typeface="Times New Roman"/>
                </a:rPr>
                <a:t>2</a:t>
              </a:r>
              <a:endParaRPr sz="2325" baseline="-21505">
                <a:latin typeface="Times New Roman"/>
                <a:cs typeface="Times New Roman"/>
              </a:endParaRPr>
            </a:p>
          </p:txBody>
        </p:sp>
        <p:sp>
          <p:nvSpPr>
            <p:cNvPr id="52" name="object 26">
              <a:extLst>
                <a:ext uri="{FF2B5EF4-FFF2-40B4-BE49-F238E27FC236}">
                  <a16:creationId xmlns:a16="http://schemas.microsoft.com/office/drawing/2014/main" id="{A838C3C4-B89D-4258-B5B3-A460F90FCF8E}"/>
                </a:ext>
              </a:extLst>
            </p:cNvPr>
            <p:cNvSpPr txBox="1"/>
            <p:nvPr/>
          </p:nvSpPr>
          <p:spPr>
            <a:xfrm>
              <a:off x="2966504" y="2043925"/>
              <a:ext cx="31623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Times New Roman"/>
                  <a:cs typeface="Times New Roman"/>
                </a:rPr>
                <a:t>n</a:t>
              </a:r>
              <a:r>
                <a:rPr sz="2325" spc="15" baseline="-21505" dirty="0">
                  <a:latin typeface="Times New Roman"/>
                  <a:cs typeface="Times New Roman"/>
                </a:rPr>
                <a:t>a</a:t>
              </a:r>
              <a:endParaRPr sz="2325" baseline="-21505">
                <a:latin typeface="Times New Roman"/>
                <a:cs typeface="Times New Roman"/>
              </a:endParaRPr>
            </a:p>
          </p:txBody>
        </p:sp>
        <p:grpSp>
          <p:nvGrpSpPr>
            <p:cNvPr id="53" name="object 27">
              <a:extLst>
                <a:ext uri="{FF2B5EF4-FFF2-40B4-BE49-F238E27FC236}">
                  <a16:creationId xmlns:a16="http://schemas.microsoft.com/office/drawing/2014/main" id="{A3FF6510-0F8E-4BF7-85C5-E653DCD1ED47}"/>
                </a:ext>
              </a:extLst>
            </p:cNvPr>
            <p:cNvGrpSpPr/>
            <p:nvPr/>
          </p:nvGrpSpPr>
          <p:grpSpPr>
            <a:xfrm>
              <a:off x="2152657" y="1332496"/>
              <a:ext cx="6141720" cy="1062355"/>
              <a:chOff x="2152657" y="1332496"/>
              <a:chExt cx="6141720" cy="1062355"/>
            </a:xfrm>
          </p:grpSpPr>
          <p:sp>
            <p:nvSpPr>
              <p:cNvPr id="55" name="object 28">
                <a:extLst>
                  <a:ext uri="{FF2B5EF4-FFF2-40B4-BE49-F238E27FC236}">
                    <a16:creationId xmlns:a16="http://schemas.microsoft.com/office/drawing/2014/main" id="{5311B08B-4E32-4947-97F5-F9EB1702FCB8}"/>
                  </a:ext>
                </a:extLst>
              </p:cNvPr>
              <p:cNvSpPr/>
              <p:nvPr/>
            </p:nvSpPr>
            <p:spPr>
              <a:xfrm>
                <a:off x="2165219" y="1714625"/>
                <a:ext cx="1136015" cy="668020"/>
              </a:xfrm>
              <a:custGeom>
                <a:avLst/>
                <a:gdLst/>
                <a:ahLst/>
                <a:cxnLst/>
                <a:rect l="l" t="t" r="r" b="b"/>
                <a:pathLst>
                  <a:path w="1136014" h="668019">
                    <a:moveTo>
                      <a:pt x="0" y="667517"/>
                    </a:moveTo>
                    <a:lnTo>
                      <a:pt x="1135635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29">
                <a:extLst>
                  <a:ext uri="{FF2B5EF4-FFF2-40B4-BE49-F238E27FC236}">
                    <a16:creationId xmlns:a16="http://schemas.microsoft.com/office/drawing/2014/main" id="{FB52B70B-FC32-4379-A8C1-2066EFDD19F9}"/>
                  </a:ext>
                </a:extLst>
              </p:cNvPr>
              <p:cNvSpPr/>
              <p:nvPr/>
            </p:nvSpPr>
            <p:spPr>
              <a:xfrm>
                <a:off x="3238436" y="1701901"/>
                <a:ext cx="84455" cy="71120"/>
              </a:xfrm>
              <a:custGeom>
                <a:avLst/>
                <a:gdLst/>
                <a:ahLst/>
                <a:cxnLst/>
                <a:rect l="l" t="t" r="r" b="b"/>
                <a:pathLst>
                  <a:path w="84454" h="71119">
                    <a:moveTo>
                      <a:pt x="84074" y="0"/>
                    </a:moveTo>
                    <a:lnTo>
                      <a:pt x="0" y="5702"/>
                    </a:lnTo>
                    <a:lnTo>
                      <a:pt x="38188" y="70675"/>
                    </a:lnTo>
                    <a:lnTo>
                      <a:pt x="84074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7" name="object 30">
                <a:extLst>
                  <a:ext uri="{FF2B5EF4-FFF2-40B4-BE49-F238E27FC236}">
                    <a16:creationId xmlns:a16="http://schemas.microsoft.com/office/drawing/2014/main" id="{D09B2244-70D6-412B-A686-A07C1E3E65AA}"/>
                  </a:ext>
                </a:extLst>
              </p:cNvPr>
              <p:cNvSpPr/>
              <p:nvPr/>
            </p:nvSpPr>
            <p:spPr>
              <a:xfrm>
                <a:off x="3322505" y="1365312"/>
                <a:ext cx="3585210" cy="337185"/>
              </a:xfrm>
              <a:custGeom>
                <a:avLst/>
                <a:gdLst/>
                <a:ahLst/>
                <a:cxnLst/>
                <a:rect l="l" t="t" r="r" b="b"/>
                <a:pathLst>
                  <a:path w="3585209" h="337185">
                    <a:moveTo>
                      <a:pt x="0" y="336583"/>
                    </a:moveTo>
                    <a:lnTo>
                      <a:pt x="3584971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31">
                <a:extLst>
                  <a:ext uri="{FF2B5EF4-FFF2-40B4-BE49-F238E27FC236}">
                    <a16:creationId xmlns:a16="http://schemas.microsoft.com/office/drawing/2014/main" id="{470FB2B5-17BB-4DF5-A326-0380594EB942}"/>
                  </a:ext>
                </a:extLst>
              </p:cNvPr>
              <p:cNvSpPr/>
              <p:nvPr/>
            </p:nvSpPr>
            <p:spPr>
              <a:xfrm>
                <a:off x="6853923" y="1332496"/>
                <a:ext cx="78740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78740" h="75565">
                    <a:moveTo>
                      <a:pt x="0" y="0"/>
                    </a:moveTo>
                    <a:lnTo>
                      <a:pt x="7048" y="75031"/>
                    </a:lnTo>
                    <a:lnTo>
                      <a:pt x="78562" y="304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32">
                <a:extLst>
                  <a:ext uri="{FF2B5EF4-FFF2-40B4-BE49-F238E27FC236}">
                    <a16:creationId xmlns:a16="http://schemas.microsoft.com/office/drawing/2014/main" id="{38A53AE8-A9D9-4714-AC5A-C5CA4EB5ECC3}"/>
                  </a:ext>
                </a:extLst>
              </p:cNvPr>
              <p:cNvSpPr/>
              <p:nvPr/>
            </p:nvSpPr>
            <p:spPr>
              <a:xfrm>
                <a:off x="6932263" y="1362912"/>
                <a:ext cx="0" cy="407034"/>
              </a:xfrm>
              <a:custGeom>
                <a:avLst/>
                <a:gdLst/>
                <a:ahLst/>
                <a:cxnLst/>
                <a:rect l="l" t="t" r="r" b="b"/>
                <a:pathLst>
                  <a:path h="407035">
                    <a:moveTo>
                      <a:pt x="0" y="0"/>
                    </a:moveTo>
                    <a:lnTo>
                      <a:pt x="0" y="406676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33">
                <a:extLst>
                  <a:ext uri="{FF2B5EF4-FFF2-40B4-BE49-F238E27FC236}">
                    <a16:creationId xmlns:a16="http://schemas.microsoft.com/office/drawing/2014/main" id="{1019839F-AF2B-479C-B97C-8ACEA72C6686}"/>
                  </a:ext>
                </a:extLst>
              </p:cNvPr>
              <p:cNvSpPr/>
              <p:nvPr/>
            </p:nvSpPr>
            <p:spPr>
              <a:xfrm>
                <a:off x="6865014" y="1362964"/>
                <a:ext cx="1403985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1403984" h="132715">
                    <a:moveTo>
                      <a:pt x="1403738" y="132577"/>
                    </a:moveTo>
                    <a:lnTo>
                      <a:pt x="0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1" name="object 34">
                <a:extLst>
                  <a:ext uri="{FF2B5EF4-FFF2-40B4-BE49-F238E27FC236}">
                    <a16:creationId xmlns:a16="http://schemas.microsoft.com/office/drawing/2014/main" id="{94FE8FF7-A175-411D-AB99-DD0CDDC3081B}"/>
                  </a:ext>
                </a:extLst>
              </p:cNvPr>
              <p:cNvSpPr/>
              <p:nvPr/>
            </p:nvSpPr>
            <p:spPr>
              <a:xfrm>
                <a:off x="8215185" y="1453299"/>
                <a:ext cx="78740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78740" h="75565">
                    <a:moveTo>
                      <a:pt x="7086" y="0"/>
                    </a:moveTo>
                    <a:lnTo>
                      <a:pt x="0" y="75044"/>
                    </a:lnTo>
                    <a:lnTo>
                      <a:pt x="78574" y="44602"/>
                    </a:lnTo>
                    <a:lnTo>
                      <a:pt x="7086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4" name="object 67">
              <a:extLst>
                <a:ext uri="{FF2B5EF4-FFF2-40B4-BE49-F238E27FC236}">
                  <a16:creationId xmlns:a16="http://schemas.microsoft.com/office/drawing/2014/main" id="{8C912239-6D55-44B6-85B4-763DCD6997CE}"/>
                </a:ext>
              </a:extLst>
            </p:cNvPr>
            <p:cNvSpPr txBox="1"/>
            <p:nvPr/>
          </p:nvSpPr>
          <p:spPr>
            <a:xfrm>
              <a:off x="1488927" y="1582293"/>
              <a:ext cx="800735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</a:t>
              </a:r>
              <a:r>
                <a:rPr sz="2350" spc="10" dirty="0">
                  <a:latin typeface="Times New Roman"/>
                  <a:cs typeface="Times New Roman"/>
                </a:rPr>
                <a:t> &lt;</a:t>
              </a:r>
              <a:r>
                <a:rPr sz="2350" spc="-70" dirty="0">
                  <a:latin typeface="Times New Roman"/>
                  <a:cs typeface="Times New Roman"/>
                </a:rPr>
                <a:t> </a:t>
              </a:r>
              <a:r>
                <a:rPr sz="2350" spc="10" dirty="0">
                  <a:latin typeface="Symbol"/>
                  <a:cs typeface="Symbol"/>
                </a:rPr>
                <a:t></a:t>
              </a:r>
              <a:r>
                <a:rPr sz="2325" spc="15" baseline="-21505" dirty="0">
                  <a:latin typeface="Times New Roman"/>
                  <a:cs typeface="Times New Roman"/>
                </a:rPr>
                <a:t>a</a:t>
              </a:r>
              <a:endParaRPr sz="2325" baseline="-21505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F41CC64-44B8-4119-BF08-2FED8A21AF02}"/>
              </a:ext>
            </a:extLst>
          </p:cNvPr>
          <p:cNvGrpSpPr/>
          <p:nvPr/>
        </p:nvGrpSpPr>
        <p:grpSpPr>
          <a:xfrm>
            <a:off x="748606" y="5076825"/>
            <a:ext cx="7502082" cy="1650141"/>
            <a:chOff x="1486402" y="3002115"/>
            <a:chExt cx="6950393" cy="1650141"/>
          </a:xfrm>
        </p:grpSpPr>
        <p:grpSp>
          <p:nvGrpSpPr>
            <p:cNvPr id="76" name="object 35">
              <a:extLst>
                <a:ext uri="{FF2B5EF4-FFF2-40B4-BE49-F238E27FC236}">
                  <a16:creationId xmlns:a16="http://schemas.microsoft.com/office/drawing/2014/main" id="{C48967D5-A8C0-4C85-95E7-FCAB3763CEFB}"/>
                </a:ext>
              </a:extLst>
            </p:cNvPr>
            <p:cNvGrpSpPr/>
            <p:nvPr/>
          </p:nvGrpSpPr>
          <p:grpSpPr>
            <a:xfrm>
              <a:off x="3309805" y="3002115"/>
              <a:ext cx="5126990" cy="1372870"/>
              <a:chOff x="3309805" y="3002115"/>
              <a:chExt cx="5126990" cy="1372870"/>
            </a:xfrm>
          </p:grpSpPr>
          <p:sp>
            <p:nvSpPr>
              <p:cNvPr id="99" name="object 36">
                <a:extLst>
                  <a:ext uri="{FF2B5EF4-FFF2-40B4-BE49-F238E27FC236}">
                    <a16:creationId xmlns:a16="http://schemas.microsoft.com/office/drawing/2014/main" id="{5516654F-69CB-4893-9048-024C0D64D07E}"/>
                  </a:ext>
                </a:extLst>
              </p:cNvPr>
              <p:cNvSpPr/>
              <p:nvPr/>
            </p:nvSpPr>
            <p:spPr>
              <a:xfrm>
                <a:off x="3322408" y="3008464"/>
                <a:ext cx="510794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333375">
                    <a:moveTo>
                      <a:pt x="0" y="332879"/>
                    </a:moveTo>
                    <a:lnTo>
                      <a:pt x="5107800" y="332879"/>
                    </a:lnTo>
                    <a:lnTo>
                      <a:pt x="5107800" y="0"/>
                    </a:lnTo>
                    <a:lnTo>
                      <a:pt x="0" y="0"/>
                    </a:lnTo>
                    <a:lnTo>
                      <a:pt x="0" y="332879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" name="object 37">
                <a:extLst>
                  <a:ext uri="{FF2B5EF4-FFF2-40B4-BE49-F238E27FC236}">
                    <a16:creationId xmlns:a16="http://schemas.microsoft.com/office/drawing/2014/main" id="{AB91FDB2-B9DE-4D2F-B49C-80D9C5E6F667}"/>
                  </a:ext>
                </a:extLst>
              </p:cNvPr>
              <p:cNvSpPr/>
              <p:nvPr/>
            </p:nvSpPr>
            <p:spPr>
              <a:xfrm>
                <a:off x="3322416" y="3008465"/>
                <a:ext cx="5107940" cy="1360170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1360170">
                    <a:moveTo>
                      <a:pt x="0" y="0"/>
                    </a:moveTo>
                    <a:lnTo>
                      <a:pt x="5107805" y="0"/>
                    </a:lnTo>
                    <a:lnTo>
                      <a:pt x="5107805" y="1359773"/>
                    </a:lnTo>
                    <a:lnTo>
                      <a:pt x="0" y="1359773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object 38">
                <a:extLst>
                  <a:ext uri="{FF2B5EF4-FFF2-40B4-BE49-F238E27FC236}">
                    <a16:creationId xmlns:a16="http://schemas.microsoft.com/office/drawing/2014/main" id="{54CB7885-556E-419C-B3D8-D56E2D582077}"/>
                  </a:ext>
                </a:extLst>
              </p:cNvPr>
              <p:cNvSpPr/>
              <p:nvPr/>
            </p:nvSpPr>
            <p:spPr>
              <a:xfrm>
                <a:off x="3322408" y="3341344"/>
                <a:ext cx="5107940" cy="686435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686435">
                    <a:moveTo>
                      <a:pt x="5107800" y="0"/>
                    </a:moveTo>
                    <a:lnTo>
                      <a:pt x="0" y="0"/>
                    </a:lnTo>
                    <a:lnTo>
                      <a:pt x="0" y="686168"/>
                    </a:lnTo>
                    <a:lnTo>
                      <a:pt x="5107800" y="686168"/>
                    </a:lnTo>
                    <a:lnTo>
                      <a:pt x="5107800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" name="object 39">
                <a:extLst>
                  <a:ext uri="{FF2B5EF4-FFF2-40B4-BE49-F238E27FC236}">
                    <a16:creationId xmlns:a16="http://schemas.microsoft.com/office/drawing/2014/main" id="{D34B4A18-256A-44E6-958F-7841D7B4544E}"/>
                  </a:ext>
                </a:extLst>
              </p:cNvPr>
              <p:cNvSpPr/>
              <p:nvPr/>
            </p:nvSpPr>
            <p:spPr>
              <a:xfrm>
                <a:off x="3322416" y="3341344"/>
                <a:ext cx="5107940" cy="686435"/>
              </a:xfrm>
              <a:custGeom>
                <a:avLst/>
                <a:gdLst/>
                <a:ahLst/>
                <a:cxnLst/>
                <a:rect l="l" t="t" r="r" b="b"/>
                <a:pathLst>
                  <a:path w="5107940" h="686435">
                    <a:moveTo>
                      <a:pt x="0" y="0"/>
                    </a:moveTo>
                    <a:lnTo>
                      <a:pt x="5107805" y="0"/>
                    </a:lnTo>
                    <a:lnTo>
                      <a:pt x="5107805" y="686162"/>
                    </a:lnTo>
                    <a:lnTo>
                      <a:pt x="0" y="686162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" name="object 40">
                <a:extLst>
                  <a:ext uri="{FF2B5EF4-FFF2-40B4-BE49-F238E27FC236}">
                    <a16:creationId xmlns:a16="http://schemas.microsoft.com/office/drawing/2014/main" id="{A3F19816-931D-461F-BBA9-AA12D799CDE3}"/>
                  </a:ext>
                </a:extLst>
              </p:cNvPr>
              <p:cNvSpPr/>
              <p:nvPr/>
            </p:nvSpPr>
            <p:spPr>
              <a:xfrm>
                <a:off x="3322505" y="3350800"/>
                <a:ext cx="2428240" cy="338455"/>
              </a:xfrm>
              <a:custGeom>
                <a:avLst/>
                <a:gdLst/>
                <a:ahLst/>
                <a:cxnLst/>
                <a:rect l="l" t="t" r="r" b="b"/>
                <a:pathLst>
                  <a:path w="2428240" h="338454">
                    <a:moveTo>
                      <a:pt x="0" y="337853"/>
                    </a:moveTo>
                    <a:lnTo>
                      <a:pt x="2427813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" name="object 41">
                <a:extLst>
                  <a:ext uri="{FF2B5EF4-FFF2-40B4-BE49-F238E27FC236}">
                    <a16:creationId xmlns:a16="http://schemas.microsoft.com/office/drawing/2014/main" id="{3B8D20E9-91AC-4CAA-92F8-D4470BCB8C9E}"/>
                  </a:ext>
                </a:extLst>
              </p:cNvPr>
              <p:cNvSpPr/>
              <p:nvPr/>
            </p:nvSpPr>
            <p:spPr>
              <a:xfrm>
                <a:off x="5695353" y="3320414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10" h="74929">
                    <a:moveTo>
                      <a:pt x="0" y="0"/>
                    </a:moveTo>
                    <a:lnTo>
                      <a:pt x="10388" y="74637"/>
                    </a:lnTo>
                    <a:lnTo>
                      <a:pt x="79844" y="269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" name="object 42">
                <a:extLst>
                  <a:ext uri="{FF2B5EF4-FFF2-40B4-BE49-F238E27FC236}">
                    <a16:creationId xmlns:a16="http://schemas.microsoft.com/office/drawing/2014/main" id="{F4C85D7C-2C9D-4D46-B9C4-974787D5E400}"/>
                  </a:ext>
                </a:extLst>
              </p:cNvPr>
              <p:cNvSpPr/>
              <p:nvPr/>
            </p:nvSpPr>
            <p:spPr>
              <a:xfrm>
                <a:off x="5706146" y="3347338"/>
                <a:ext cx="1405890" cy="201295"/>
              </a:xfrm>
              <a:custGeom>
                <a:avLst/>
                <a:gdLst/>
                <a:ahLst/>
                <a:cxnLst/>
                <a:rect l="l" t="t" r="r" b="b"/>
                <a:pathLst>
                  <a:path w="1405890" h="201295">
                    <a:moveTo>
                      <a:pt x="1405469" y="201230"/>
                    </a:moveTo>
                    <a:lnTo>
                      <a:pt x="0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6" name="object 43">
                <a:extLst>
                  <a:ext uri="{FF2B5EF4-FFF2-40B4-BE49-F238E27FC236}">
                    <a16:creationId xmlns:a16="http://schemas.microsoft.com/office/drawing/2014/main" id="{142C174B-5ED3-4F5A-9B91-2691281714E3}"/>
                  </a:ext>
                </a:extLst>
              </p:cNvPr>
              <p:cNvSpPr/>
              <p:nvPr/>
            </p:nvSpPr>
            <p:spPr>
              <a:xfrm>
                <a:off x="7056526" y="3504145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09" h="74929">
                    <a:moveTo>
                      <a:pt x="10680" y="0"/>
                    </a:moveTo>
                    <a:lnTo>
                      <a:pt x="0" y="74612"/>
                    </a:lnTo>
                    <a:lnTo>
                      <a:pt x="79946" y="47980"/>
                    </a:lnTo>
                    <a:lnTo>
                      <a:pt x="1068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7" name="object 44">
                <a:extLst>
                  <a:ext uri="{FF2B5EF4-FFF2-40B4-BE49-F238E27FC236}">
                    <a16:creationId xmlns:a16="http://schemas.microsoft.com/office/drawing/2014/main" id="{9DC85491-F09F-4AD9-9F6B-6DD650F4C282}"/>
                  </a:ext>
                </a:extLst>
              </p:cNvPr>
              <p:cNvSpPr/>
              <p:nvPr/>
            </p:nvSpPr>
            <p:spPr>
              <a:xfrm>
                <a:off x="5775036" y="3347625"/>
                <a:ext cx="0" cy="408305"/>
              </a:xfrm>
              <a:custGeom>
                <a:avLst/>
                <a:gdLst/>
                <a:ahLst/>
                <a:cxnLst/>
                <a:rect l="l" t="t" r="r" b="b"/>
                <a:pathLst>
                  <a:path h="408304">
                    <a:moveTo>
                      <a:pt x="0" y="0"/>
                    </a:moveTo>
                    <a:lnTo>
                      <a:pt x="0" y="408247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8" name="object 45">
                <a:extLst>
                  <a:ext uri="{FF2B5EF4-FFF2-40B4-BE49-F238E27FC236}">
                    <a16:creationId xmlns:a16="http://schemas.microsoft.com/office/drawing/2014/main" id="{AD2EB9B7-6AB4-49B0-AC8A-BEC57331E755}"/>
                  </a:ext>
                </a:extLst>
              </p:cNvPr>
              <p:cNvSpPr/>
              <p:nvPr/>
            </p:nvSpPr>
            <p:spPr>
              <a:xfrm>
                <a:off x="5434314" y="3415140"/>
                <a:ext cx="340995" cy="204470"/>
              </a:xfrm>
              <a:custGeom>
                <a:avLst/>
                <a:gdLst/>
                <a:ahLst/>
                <a:cxnLst/>
                <a:rect l="l" t="t" r="r" b="b"/>
                <a:pathLst>
                  <a:path w="340995" h="204470">
                    <a:moveTo>
                      <a:pt x="0" y="0"/>
                    </a:moveTo>
                    <a:lnTo>
                      <a:pt x="5056" y="38006"/>
                    </a:lnTo>
                    <a:lnTo>
                      <a:pt x="34334" y="107642"/>
                    </a:lnTo>
                    <a:lnTo>
                      <a:pt x="68138" y="136079"/>
                    </a:lnTo>
                    <a:lnTo>
                      <a:pt x="140074" y="165062"/>
                    </a:lnTo>
                    <a:lnTo>
                      <a:pt x="185269" y="176482"/>
                    </a:lnTo>
                    <a:lnTo>
                      <a:pt x="234721" y="186483"/>
                    </a:lnTo>
                    <a:lnTo>
                      <a:pt x="287012" y="195537"/>
                    </a:lnTo>
                    <a:lnTo>
                      <a:pt x="340722" y="204118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7" name="object 46">
              <a:extLst>
                <a:ext uri="{FF2B5EF4-FFF2-40B4-BE49-F238E27FC236}">
                  <a16:creationId xmlns:a16="http://schemas.microsoft.com/office/drawing/2014/main" id="{6425D96B-3850-40A8-BFB7-89698C4D750A}"/>
                </a:ext>
              </a:extLst>
            </p:cNvPr>
            <p:cNvSpPr txBox="1"/>
            <p:nvPr/>
          </p:nvSpPr>
          <p:spPr>
            <a:xfrm>
              <a:off x="5350040" y="3516757"/>
              <a:ext cx="32258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</a:t>
              </a:r>
              <a:r>
                <a:rPr sz="2325" spc="15" baseline="-21505" dirty="0">
                  <a:latin typeface="Times New Roman"/>
                  <a:cs typeface="Times New Roman"/>
                </a:rPr>
                <a:t>c</a:t>
              </a:r>
              <a:endParaRPr sz="2325" baseline="-21505">
                <a:latin typeface="Times New Roman"/>
                <a:cs typeface="Times New Roman"/>
              </a:endParaRPr>
            </a:p>
          </p:txBody>
        </p:sp>
        <p:sp>
          <p:nvSpPr>
            <p:cNvPr id="78" name="object 47">
              <a:extLst>
                <a:ext uri="{FF2B5EF4-FFF2-40B4-BE49-F238E27FC236}">
                  <a16:creationId xmlns:a16="http://schemas.microsoft.com/office/drawing/2014/main" id="{CB8FC39A-BCB9-4BE7-86AE-DED13C203D1B}"/>
                </a:ext>
              </a:extLst>
            </p:cNvPr>
            <p:cNvSpPr/>
            <p:nvPr/>
          </p:nvSpPr>
          <p:spPr>
            <a:xfrm>
              <a:off x="2642524" y="3688347"/>
              <a:ext cx="1565910" cy="0"/>
            </a:xfrm>
            <a:custGeom>
              <a:avLst/>
              <a:gdLst/>
              <a:ahLst/>
              <a:cxnLst/>
              <a:rect l="l" t="t" r="r" b="b"/>
              <a:pathLst>
                <a:path w="1565910">
                  <a:moveTo>
                    <a:pt x="0" y="0"/>
                  </a:moveTo>
                  <a:lnTo>
                    <a:pt x="1565474" y="0"/>
                  </a:lnTo>
                </a:path>
              </a:pathLst>
            </a:custGeom>
            <a:ln w="25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48">
              <a:extLst>
                <a:ext uri="{FF2B5EF4-FFF2-40B4-BE49-F238E27FC236}">
                  <a16:creationId xmlns:a16="http://schemas.microsoft.com/office/drawing/2014/main" id="{517A0901-C1CB-4818-A945-8C276FCEB717}"/>
                </a:ext>
              </a:extLst>
            </p:cNvPr>
            <p:cNvSpPr txBox="1"/>
            <p:nvPr/>
          </p:nvSpPr>
          <p:spPr>
            <a:xfrm>
              <a:off x="4252480" y="3449243"/>
              <a:ext cx="35560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</a:t>
              </a:r>
              <a:r>
                <a:rPr sz="2325" spc="15" baseline="-21505" dirty="0">
                  <a:latin typeface="Times New Roman"/>
                  <a:cs typeface="Times New Roman"/>
                </a:rPr>
                <a:t>c</a:t>
              </a:r>
              <a:endParaRPr sz="2325" baseline="-21505">
                <a:latin typeface="Times New Roman"/>
                <a:cs typeface="Times New Roman"/>
              </a:endParaRPr>
            </a:p>
          </p:txBody>
        </p:sp>
        <p:grpSp>
          <p:nvGrpSpPr>
            <p:cNvPr id="80" name="object 49">
              <a:extLst>
                <a:ext uri="{FF2B5EF4-FFF2-40B4-BE49-F238E27FC236}">
                  <a16:creationId xmlns:a16="http://schemas.microsoft.com/office/drawing/2014/main" id="{799E13CE-9D49-4756-8077-91A9152A9665}"/>
                </a:ext>
              </a:extLst>
            </p:cNvPr>
            <p:cNvGrpSpPr/>
            <p:nvPr/>
          </p:nvGrpSpPr>
          <p:grpSpPr>
            <a:xfrm>
              <a:off x="2289043" y="3681997"/>
              <a:ext cx="1033780" cy="833755"/>
              <a:chOff x="2289043" y="3681997"/>
              <a:chExt cx="1033780" cy="833755"/>
            </a:xfrm>
          </p:grpSpPr>
          <p:sp>
            <p:nvSpPr>
              <p:cNvPr id="96" name="object 50">
                <a:extLst>
                  <a:ext uri="{FF2B5EF4-FFF2-40B4-BE49-F238E27FC236}">
                    <a16:creationId xmlns:a16="http://schemas.microsoft.com/office/drawing/2014/main" id="{6DD9AC6A-5910-4BD6-9610-B70BC71A84DC}"/>
                  </a:ext>
                </a:extLst>
              </p:cNvPr>
              <p:cNvSpPr/>
              <p:nvPr/>
            </p:nvSpPr>
            <p:spPr>
              <a:xfrm>
                <a:off x="2301743" y="3704321"/>
                <a:ext cx="1001394" cy="798830"/>
              </a:xfrm>
              <a:custGeom>
                <a:avLst/>
                <a:gdLst/>
                <a:ahLst/>
                <a:cxnLst/>
                <a:rect l="l" t="t" r="r" b="b"/>
                <a:pathLst>
                  <a:path w="1001395" h="798829">
                    <a:moveTo>
                      <a:pt x="0" y="798720"/>
                    </a:moveTo>
                    <a:lnTo>
                      <a:pt x="1001128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" name="object 51">
                <a:extLst>
                  <a:ext uri="{FF2B5EF4-FFF2-40B4-BE49-F238E27FC236}">
                    <a16:creationId xmlns:a16="http://schemas.microsoft.com/office/drawing/2014/main" id="{35BA4FD0-DC3F-41D3-896E-AD1FCA5F6541}"/>
                  </a:ext>
                </a:extLst>
              </p:cNvPr>
              <p:cNvSpPr/>
              <p:nvPr/>
            </p:nvSpPr>
            <p:spPr>
              <a:xfrm>
                <a:off x="3240087" y="3688664"/>
                <a:ext cx="82550" cy="7683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6835">
                    <a:moveTo>
                      <a:pt x="82423" y="0"/>
                    </a:moveTo>
                    <a:lnTo>
                      <a:pt x="0" y="17538"/>
                    </a:lnTo>
                    <a:lnTo>
                      <a:pt x="47002" y="76453"/>
                    </a:lnTo>
                    <a:lnTo>
                      <a:pt x="82423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" name="object 52">
                <a:extLst>
                  <a:ext uri="{FF2B5EF4-FFF2-40B4-BE49-F238E27FC236}">
                    <a16:creationId xmlns:a16="http://schemas.microsoft.com/office/drawing/2014/main" id="{699AF6FD-FE15-4CD5-90EA-CD49EE4B7C2A}"/>
                  </a:ext>
                </a:extLst>
              </p:cNvPr>
              <p:cNvSpPr/>
              <p:nvPr/>
            </p:nvSpPr>
            <p:spPr>
              <a:xfrm>
                <a:off x="2771575" y="3688347"/>
                <a:ext cx="75565" cy="33972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339725">
                    <a:moveTo>
                      <a:pt x="6435" y="0"/>
                    </a:moveTo>
                    <a:lnTo>
                      <a:pt x="2414" y="54850"/>
                    </a:lnTo>
                    <a:lnTo>
                      <a:pt x="0" y="108108"/>
                    </a:lnTo>
                    <a:lnTo>
                      <a:pt x="803" y="158186"/>
                    </a:lnTo>
                    <a:lnTo>
                      <a:pt x="6435" y="203495"/>
                    </a:lnTo>
                    <a:lnTo>
                      <a:pt x="17961" y="242980"/>
                    </a:lnTo>
                    <a:lnTo>
                      <a:pt x="34316" y="277692"/>
                    </a:lnTo>
                    <a:lnTo>
                      <a:pt x="53888" y="309221"/>
                    </a:lnTo>
                    <a:lnTo>
                      <a:pt x="75068" y="339159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1" name="object 53">
              <a:extLst>
                <a:ext uri="{FF2B5EF4-FFF2-40B4-BE49-F238E27FC236}">
                  <a16:creationId xmlns:a16="http://schemas.microsoft.com/office/drawing/2014/main" id="{49995E46-5527-4090-BBEF-CB9B947A27F3}"/>
                </a:ext>
              </a:extLst>
            </p:cNvPr>
            <p:cNvSpPr txBox="1"/>
            <p:nvPr/>
          </p:nvSpPr>
          <p:spPr>
            <a:xfrm>
              <a:off x="2469032" y="3720884"/>
              <a:ext cx="18288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</a:t>
              </a:r>
              <a:endParaRPr sz="2350">
                <a:latin typeface="Symbol"/>
                <a:cs typeface="Symbol"/>
              </a:endParaRPr>
            </a:p>
          </p:txBody>
        </p:sp>
        <p:sp>
          <p:nvSpPr>
            <p:cNvPr id="82" name="object 54">
              <a:extLst>
                <a:ext uri="{FF2B5EF4-FFF2-40B4-BE49-F238E27FC236}">
                  <a16:creationId xmlns:a16="http://schemas.microsoft.com/office/drawing/2014/main" id="{BC076EB8-C08C-4338-BDF8-0CA77DB75435}"/>
                </a:ext>
              </a:extLst>
            </p:cNvPr>
            <p:cNvSpPr txBox="1"/>
            <p:nvPr/>
          </p:nvSpPr>
          <p:spPr>
            <a:xfrm>
              <a:off x="2626099" y="3896744"/>
              <a:ext cx="114935" cy="2667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550" spc="10" dirty="0">
                  <a:latin typeface="Times New Roman"/>
                  <a:cs typeface="Times New Roman"/>
                </a:rPr>
                <a:t>a</a:t>
              </a:r>
              <a:endParaRPr sz="1550">
                <a:latin typeface="Times New Roman"/>
                <a:cs typeface="Times New Roman"/>
              </a:endParaRPr>
            </a:p>
          </p:txBody>
        </p:sp>
        <p:sp>
          <p:nvSpPr>
            <p:cNvPr id="83" name="object 55">
              <a:extLst>
                <a:ext uri="{FF2B5EF4-FFF2-40B4-BE49-F238E27FC236}">
                  <a16:creationId xmlns:a16="http://schemas.microsoft.com/office/drawing/2014/main" id="{D3E96C70-09B8-47B8-B6FF-07D4A62A7514}"/>
                </a:ext>
              </a:extLst>
            </p:cNvPr>
            <p:cNvSpPr txBox="1"/>
            <p:nvPr/>
          </p:nvSpPr>
          <p:spPr>
            <a:xfrm>
              <a:off x="3536759" y="3651796"/>
              <a:ext cx="17653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Times New Roman"/>
                  <a:cs typeface="Times New Roman"/>
                </a:rPr>
                <a:t>n</a:t>
              </a:r>
              <a:endParaRPr sz="2350">
                <a:latin typeface="Times New Roman"/>
                <a:cs typeface="Times New Roman"/>
              </a:endParaRPr>
            </a:p>
          </p:txBody>
        </p:sp>
        <p:sp>
          <p:nvSpPr>
            <p:cNvPr id="84" name="object 56">
              <a:extLst>
                <a:ext uri="{FF2B5EF4-FFF2-40B4-BE49-F238E27FC236}">
                  <a16:creationId xmlns:a16="http://schemas.microsoft.com/office/drawing/2014/main" id="{734D6BB4-2107-4140-8A3D-163F033166CE}"/>
                </a:ext>
              </a:extLst>
            </p:cNvPr>
            <p:cNvSpPr txBox="1"/>
            <p:nvPr/>
          </p:nvSpPr>
          <p:spPr>
            <a:xfrm>
              <a:off x="3687497" y="3827656"/>
              <a:ext cx="126364" cy="26670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550" spc="15" dirty="0">
                  <a:latin typeface="Times New Roman"/>
                  <a:cs typeface="Times New Roman"/>
                </a:rPr>
                <a:t>1</a:t>
              </a:r>
              <a:endParaRPr sz="1550">
                <a:latin typeface="Times New Roman"/>
                <a:cs typeface="Times New Roman"/>
              </a:endParaRPr>
            </a:p>
          </p:txBody>
        </p:sp>
        <p:sp>
          <p:nvSpPr>
            <p:cNvPr id="85" name="object 57">
              <a:extLst>
                <a:ext uri="{FF2B5EF4-FFF2-40B4-BE49-F238E27FC236}">
                  <a16:creationId xmlns:a16="http://schemas.microsoft.com/office/drawing/2014/main" id="{77C66C94-351E-436D-81FF-093E9B737DD1}"/>
                </a:ext>
              </a:extLst>
            </p:cNvPr>
            <p:cNvSpPr txBox="1"/>
            <p:nvPr/>
          </p:nvSpPr>
          <p:spPr>
            <a:xfrm>
              <a:off x="3322416" y="4027506"/>
              <a:ext cx="5107940" cy="340995"/>
            </a:xfrm>
            <a:prstGeom prst="rect">
              <a:avLst/>
            </a:prstGeom>
            <a:solidFill>
              <a:srgbClr val="0070C0"/>
            </a:solidFill>
            <a:ln w="12561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26695">
                <a:lnSpc>
                  <a:spcPts val="2670"/>
                </a:lnSpc>
              </a:pPr>
              <a:r>
                <a:rPr sz="2350" spc="10" dirty="0">
                  <a:latin typeface="Times New Roman"/>
                  <a:cs typeface="Times New Roman"/>
                </a:rPr>
                <a:t>n</a:t>
              </a:r>
              <a:r>
                <a:rPr sz="2325" spc="15" baseline="-21505" dirty="0">
                  <a:latin typeface="Times New Roman"/>
                  <a:cs typeface="Times New Roman"/>
                </a:rPr>
                <a:t>2</a:t>
              </a:r>
              <a:endParaRPr sz="2325" baseline="-21505">
                <a:latin typeface="Times New Roman"/>
                <a:cs typeface="Times New Roman"/>
              </a:endParaRPr>
            </a:p>
          </p:txBody>
        </p:sp>
        <p:sp>
          <p:nvSpPr>
            <p:cNvPr id="86" name="object 58">
              <a:extLst>
                <a:ext uri="{FF2B5EF4-FFF2-40B4-BE49-F238E27FC236}">
                  <a16:creationId xmlns:a16="http://schemas.microsoft.com/office/drawing/2014/main" id="{66B6EA8B-2177-4A54-808F-C6992F0B453A}"/>
                </a:ext>
              </a:extLst>
            </p:cNvPr>
            <p:cNvSpPr txBox="1"/>
            <p:nvPr/>
          </p:nvSpPr>
          <p:spPr>
            <a:xfrm>
              <a:off x="2966504" y="4028630"/>
              <a:ext cx="316230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Times New Roman"/>
                  <a:cs typeface="Times New Roman"/>
                </a:rPr>
                <a:t>n</a:t>
              </a:r>
              <a:r>
                <a:rPr sz="2325" spc="15" baseline="-21505" dirty="0">
                  <a:latin typeface="Times New Roman"/>
                  <a:cs typeface="Times New Roman"/>
                </a:rPr>
                <a:t>a</a:t>
              </a:r>
              <a:endParaRPr sz="2325" baseline="-21505">
                <a:latin typeface="Times New Roman"/>
                <a:cs typeface="Times New Roman"/>
              </a:endParaRPr>
            </a:p>
          </p:txBody>
        </p:sp>
        <p:grpSp>
          <p:nvGrpSpPr>
            <p:cNvPr id="87" name="object 59">
              <a:extLst>
                <a:ext uri="{FF2B5EF4-FFF2-40B4-BE49-F238E27FC236}">
                  <a16:creationId xmlns:a16="http://schemas.microsoft.com/office/drawing/2014/main" id="{783B6DE7-1EBC-4CBE-AFE1-D50B92057E99}"/>
                </a:ext>
              </a:extLst>
            </p:cNvPr>
            <p:cNvGrpSpPr/>
            <p:nvPr/>
          </p:nvGrpSpPr>
          <p:grpSpPr>
            <a:xfrm>
              <a:off x="2493181" y="3143496"/>
              <a:ext cx="3009265" cy="1508760"/>
              <a:chOff x="2493181" y="3143496"/>
              <a:chExt cx="3009265" cy="1508760"/>
            </a:xfrm>
          </p:grpSpPr>
          <p:sp>
            <p:nvSpPr>
              <p:cNvPr id="89" name="object 60">
                <a:extLst>
                  <a:ext uri="{FF2B5EF4-FFF2-40B4-BE49-F238E27FC236}">
                    <a16:creationId xmlns:a16="http://schemas.microsoft.com/office/drawing/2014/main" id="{1493363C-0540-45DE-9889-6E5A92D2668D}"/>
                  </a:ext>
                </a:extLst>
              </p:cNvPr>
              <p:cNvSpPr/>
              <p:nvPr/>
            </p:nvSpPr>
            <p:spPr>
              <a:xfrm>
                <a:off x="2505743" y="3707713"/>
                <a:ext cx="800735" cy="932180"/>
              </a:xfrm>
              <a:custGeom>
                <a:avLst/>
                <a:gdLst/>
                <a:ahLst/>
                <a:cxnLst/>
                <a:rect l="l" t="t" r="r" b="b"/>
                <a:pathLst>
                  <a:path w="800735" h="932179">
                    <a:moveTo>
                      <a:pt x="0" y="931852"/>
                    </a:moveTo>
                    <a:lnTo>
                      <a:pt x="800392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" name="object 61">
                <a:extLst>
                  <a:ext uri="{FF2B5EF4-FFF2-40B4-BE49-F238E27FC236}">
                    <a16:creationId xmlns:a16="http://schemas.microsoft.com/office/drawing/2014/main" id="{AA098A10-EC5D-4F26-849F-F80C08B7C2A3}"/>
                  </a:ext>
                </a:extLst>
              </p:cNvPr>
              <p:cNvSpPr/>
              <p:nvPr/>
            </p:nvSpPr>
            <p:spPr>
              <a:xfrm>
                <a:off x="3244811" y="3688664"/>
                <a:ext cx="78105" cy="81915"/>
              </a:xfrm>
              <a:custGeom>
                <a:avLst/>
                <a:gdLst/>
                <a:ahLst/>
                <a:cxnLst/>
                <a:rect l="l" t="t" r="r" b="b"/>
                <a:pathLst>
                  <a:path w="78104" h="81914">
                    <a:moveTo>
                      <a:pt x="77698" y="0"/>
                    </a:moveTo>
                    <a:lnTo>
                      <a:pt x="0" y="32613"/>
                    </a:lnTo>
                    <a:lnTo>
                      <a:pt x="57175" y="81724"/>
                    </a:lnTo>
                    <a:lnTo>
                      <a:pt x="77698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" name="object 62">
                <a:extLst>
                  <a:ext uri="{FF2B5EF4-FFF2-40B4-BE49-F238E27FC236}">
                    <a16:creationId xmlns:a16="http://schemas.microsoft.com/office/drawing/2014/main" id="{59837C38-EEFA-48F8-9342-539D153D3385}"/>
                  </a:ext>
                </a:extLst>
              </p:cNvPr>
              <p:cNvSpPr/>
              <p:nvPr/>
            </p:nvSpPr>
            <p:spPr>
              <a:xfrm>
                <a:off x="3322505" y="3353441"/>
                <a:ext cx="1338580" cy="335280"/>
              </a:xfrm>
              <a:custGeom>
                <a:avLst/>
                <a:gdLst/>
                <a:ahLst/>
                <a:cxnLst/>
                <a:rect l="l" t="t" r="r" b="b"/>
                <a:pathLst>
                  <a:path w="1338579" h="335279">
                    <a:moveTo>
                      <a:pt x="0" y="335212"/>
                    </a:moveTo>
                    <a:lnTo>
                      <a:pt x="1338507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" name="object 63">
                <a:extLst>
                  <a:ext uri="{FF2B5EF4-FFF2-40B4-BE49-F238E27FC236}">
                    <a16:creationId xmlns:a16="http://schemas.microsoft.com/office/drawing/2014/main" id="{68A96961-8816-4FE4-8696-0DCB43B7DFCF}"/>
                  </a:ext>
                </a:extLst>
              </p:cNvPr>
              <p:cNvSpPr/>
              <p:nvPr/>
            </p:nvSpPr>
            <p:spPr>
              <a:xfrm>
                <a:off x="4603114" y="3329101"/>
                <a:ext cx="82550" cy="7366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3660">
                    <a:moveTo>
                      <a:pt x="0" y="0"/>
                    </a:moveTo>
                    <a:lnTo>
                      <a:pt x="18300" y="73101"/>
                    </a:lnTo>
                    <a:lnTo>
                      <a:pt x="82257" y="182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" name="object 64">
                <a:extLst>
                  <a:ext uri="{FF2B5EF4-FFF2-40B4-BE49-F238E27FC236}">
                    <a16:creationId xmlns:a16="http://schemas.microsoft.com/office/drawing/2014/main" id="{2210CA28-DEB4-4F13-A3BA-ED8A6C4473E0}"/>
                  </a:ext>
                </a:extLst>
              </p:cNvPr>
              <p:cNvSpPr/>
              <p:nvPr/>
            </p:nvSpPr>
            <p:spPr>
              <a:xfrm>
                <a:off x="4685334" y="3143496"/>
                <a:ext cx="0" cy="408305"/>
              </a:xfrm>
              <a:custGeom>
                <a:avLst/>
                <a:gdLst/>
                <a:ahLst/>
                <a:cxnLst/>
                <a:rect l="l" t="t" r="r" b="b"/>
                <a:pathLst>
                  <a:path h="408304">
                    <a:moveTo>
                      <a:pt x="0" y="0"/>
                    </a:moveTo>
                    <a:lnTo>
                      <a:pt x="0" y="408247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" name="object 65">
                <a:extLst>
                  <a:ext uri="{FF2B5EF4-FFF2-40B4-BE49-F238E27FC236}">
                    <a16:creationId xmlns:a16="http://schemas.microsoft.com/office/drawing/2014/main" id="{9AC898A4-57F7-4524-A2FB-2DB54B495426}"/>
                  </a:ext>
                </a:extLst>
              </p:cNvPr>
              <p:cNvSpPr/>
              <p:nvPr/>
            </p:nvSpPr>
            <p:spPr>
              <a:xfrm>
                <a:off x="4685374" y="3214958"/>
                <a:ext cx="792480" cy="132715"/>
              </a:xfrm>
              <a:custGeom>
                <a:avLst/>
                <a:gdLst/>
                <a:ahLst/>
                <a:cxnLst/>
                <a:rect l="l" t="t" r="r" b="b"/>
                <a:pathLst>
                  <a:path w="792479" h="132714">
                    <a:moveTo>
                      <a:pt x="0" y="132379"/>
                    </a:moveTo>
                    <a:lnTo>
                      <a:pt x="791995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" name="object 66">
                <a:extLst>
                  <a:ext uri="{FF2B5EF4-FFF2-40B4-BE49-F238E27FC236}">
                    <a16:creationId xmlns:a16="http://schemas.microsoft.com/office/drawing/2014/main" id="{FDF86FE7-AEFB-4FEE-82E5-982778888C97}"/>
                  </a:ext>
                </a:extLst>
              </p:cNvPr>
              <p:cNvSpPr/>
              <p:nvPr/>
            </p:nvSpPr>
            <p:spPr>
              <a:xfrm>
                <a:off x="5421591" y="3186074"/>
                <a:ext cx="80645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645" h="74929">
                    <a:moveTo>
                      <a:pt x="0" y="0"/>
                    </a:moveTo>
                    <a:lnTo>
                      <a:pt x="12433" y="74345"/>
                    </a:lnTo>
                    <a:lnTo>
                      <a:pt x="80556" y="247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8" name="object 68">
              <a:extLst>
                <a:ext uri="{FF2B5EF4-FFF2-40B4-BE49-F238E27FC236}">
                  <a16:creationId xmlns:a16="http://schemas.microsoft.com/office/drawing/2014/main" id="{0C198CBD-7F83-4885-B999-AE801B7D51F6}"/>
                </a:ext>
              </a:extLst>
            </p:cNvPr>
            <p:cNvSpPr txBox="1"/>
            <p:nvPr/>
          </p:nvSpPr>
          <p:spPr>
            <a:xfrm>
              <a:off x="1486402" y="3541877"/>
              <a:ext cx="800735" cy="387350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20"/>
                </a:spcBef>
              </a:pPr>
              <a:r>
                <a:rPr sz="2350" spc="10" dirty="0">
                  <a:latin typeface="Symbol"/>
                  <a:cs typeface="Symbol"/>
                </a:rPr>
                <a:t></a:t>
              </a:r>
              <a:r>
                <a:rPr sz="2350" spc="10" dirty="0">
                  <a:latin typeface="Times New Roman"/>
                  <a:cs typeface="Times New Roman"/>
                </a:rPr>
                <a:t> &gt;</a:t>
              </a:r>
              <a:r>
                <a:rPr sz="2350" spc="-70" dirty="0">
                  <a:latin typeface="Times New Roman"/>
                  <a:cs typeface="Times New Roman"/>
                </a:rPr>
                <a:t> </a:t>
              </a:r>
              <a:r>
                <a:rPr sz="2350" spc="10" dirty="0">
                  <a:latin typeface="Symbol"/>
                  <a:cs typeface="Symbol"/>
                </a:rPr>
                <a:t></a:t>
              </a:r>
              <a:r>
                <a:rPr sz="2325" spc="15" baseline="-21505" dirty="0">
                  <a:latin typeface="Times New Roman"/>
                  <a:cs typeface="Times New Roman"/>
                </a:rPr>
                <a:t>a</a:t>
              </a:r>
              <a:endParaRPr sz="2325" baseline="-21505" dirty="0">
                <a:latin typeface="Times New Roman"/>
                <a:cs typeface="Times New Roman"/>
              </a:endParaRP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D6FCB3C4-C9EF-492D-92FD-5932DBE8AF11}"/>
              </a:ext>
            </a:extLst>
          </p:cNvPr>
          <p:cNvSpPr txBox="1"/>
          <p:nvPr/>
        </p:nvSpPr>
        <p:spPr>
          <a:xfrm>
            <a:off x="622300" y="6738192"/>
            <a:ext cx="9212093" cy="70083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50800" marR="43180">
              <a:lnSpc>
                <a:spcPct val="101699"/>
              </a:lnSpc>
              <a:spcBef>
                <a:spcPts val="75"/>
              </a:spcBef>
              <a:tabLst>
                <a:tab pos="306705" algn="l"/>
                <a:tab pos="307340" algn="l"/>
              </a:tabLst>
            </a:pPr>
            <a:r>
              <a:rPr lang="en-US" sz="2000" spc="5" dirty="0">
                <a:latin typeface="Times New Roman"/>
                <a:cs typeface="Times New Roman"/>
              </a:rPr>
              <a:t>Light rays will </a:t>
            </a:r>
            <a:r>
              <a:rPr lang="en-US" sz="2000" spc="10" dirty="0">
                <a:latin typeface="Times New Roman"/>
                <a:cs typeface="Times New Roman"/>
              </a:rPr>
              <a:t>be </a:t>
            </a:r>
            <a:r>
              <a:rPr lang="en-US" sz="2000" spc="5" dirty="0">
                <a:latin typeface="Times New Roman"/>
                <a:cs typeface="Times New Roman"/>
              </a:rPr>
              <a:t>confined inside the fiber core </a:t>
            </a:r>
            <a:r>
              <a:rPr lang="en-US" sz="2000" dirty="0">
                <a:latin typeface="Times New Roman"/>
                <a:cs typeface="Times New Roman"/>
              </a:rPr>
              <a:t>if it </a:t>
            </a:r>
            <a:r>
              <a:rPr lang="en-US" sz="2000" spc="5" dirty="0">
                <a:latin typeface="Times New Roman"/>
                <a:cs typeface="Times New Roman"/>
              </a:rPr>
              <a:t>is </a:t>
            </a:r>
            <a:r>
              <a:rPr lang="en-US" sz="2000" spc="5" dirty="0">
                <a:uFill>
                  <a:solidFill>
                    <a:srgbClr val="434DD6"/>
                  </a:solidFill>
                </a:uFill>
                <a:latin typeface="Times New Roman"/>
                <a:cs typeface="Times New Roman"/>
              </a:rPr>
              <a:t>input-coupled </a:t>
            </a:r>
            <a:r>
              <a:rPr lang="en-US" sz="2000" spc="5" dirty="0">
                <a:latin typeface="Times New Roman"/>
                <a:cs typeface="Times New Roman"/>
              </a:rPr>
              <a:t> at the fiber core end-face within the </a:t>
            </a:r>
            <a:r>
              <a:rPr lang="en-US" sz="2000" spc="5" dirty="0">
                <a:uFill>
                  <a:solidFill>
                    <a:srgbClr val="434DD6"/>
                  </a:solidFill>
                </a:uFill>
                <a:latin typeface="Times New Roman"/>
                <a:cs typeface="Times New Roman"/>
              </a:rPr>
              <a:t>acceptance angle</a:t>
            </a:r>
            <a:r>
              <a:rPr lang="en-US" sz="2000" spc="10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Symbol"/>
                <a:cs typeface="Symbol"/>
              </a:rPr>
              <a:t></a:t>
            </a:r>
            <a:r>
              <a:rPr lang="en-US" sz="2000" spc="15" baseline="-21505" dirty="0">
                <a:latin typeface="Times New Roman"/>
                <a:cs typeface="Times New Roman"/>
              </a:rPr>
              <a:t>a</a:t>
            </a:r>
            <a:r>
              <a:rPr lang="en-US" sz="2000" spc="10" dirty="0">
                <a:latin typeface="Times New Roman"/>
                <a:cs typeface="Times New Roman"/>
              </a:rPr>
              <a:t>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3888515" y="200025"/>
            <a:ext cx="3363185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Acceptance</a:t>
            </a:r>
            <a:r>
              <a:rPr sz="3200" spc="-34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angle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5282C7-E422-4B22-8D2E-316E2AD960C8}"/>
              </a:ext>
            </a:extLst>
          </p:cNvPr>
          <p:cNvGrpSpPr/>
          <p:nvPr/>
        </p:nvGrpSpPr>
        <p:grpSpPr>
          <a:xfrm>
            <a:off x="1556331" y="809625"/>
            <a:ext cx="6700749" cy="1632383"/>
            <a:chOff x="1732597" y="3408558"/>
            <a:chExt cx="6700749" cy="163238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B75BA4C-874F-4B79-9DA5-568211474A0D}"/>
                </a:ext>
              </a:extLst>
            </p:cNvPr>
            <p:cNvGrpSpPr/>
            <p:nvPr/>
          </p:nvGrpSpPr>
          <p:grpSpPr>
            <a:xfrm>
              <a:off x="1732597" y="3408558"/>
              <a:ext cx="6700749" cy="1632383"/>
              <a:chOff x="1732597" y="3408558"/>
              <a:chExt cx="6700749" cy="1632383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E38DB2E0-AF0E-4F23-A35A-9D374A0887E2}"/>
                  </a:ext>
                </a:extLst>
              </p:cNvPr>
              <p:cNvGrpSpPr/>
              <p:nvPr/>
            </p:nvGrpSpPr>
            <p:grpSpPr>
              <a:xfrm>
                <a:off x="1732597" y="3408558"/>
                <a:ext cx="6700749" cy="1632383"/>
                <a:chOff x="1732597" y="3408558"/>
                <a:chExt cx="6700749" cy="1632383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1E8F1C5E-19EB-4E0F-AE98-5A79FC5ED493}"/>
                    </a:ext>
                  </a:extLst>
                </p:cNvPr>
                <p:cNvGrpSpPr/>
                <p:nvPr/>
              </p:nvGrpSpPr>
              <p:grpSpPr>
                <a:xfrm>
                  <a:off x="1732597" y="3408558"/>
                  <a:ext cx="6700749" cy="1632383"/>
                  <a:chOff x="1732597" y="3408558"/>
                  <a:chExt cx="6700749" cy="1632383"/>
                </a:xfrm>
              </p:grpSpPr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3B8B0E85-09DD-445A-925D-4ECB37CFD2D8}"/>
                      </a:ext>
                    </a:extLst>
                  </p:cNvPr>
                  <p:cNvGrpSpPr/>
                  <p:nvPr/>
                </p:nvGrpSpPr>
                <p:grpSpPr>
                  <a:xfrm>
                    <a:off x="1732597" y="3408558"/>
                    <a:ext cx="6700749" cy="1632383"/>
                    <a:chOff x="1732597" y="3408558"/>
                    <a:chExt cx="6700749" cy="1632383"/>
                  </a:xfrm>
                </p:grpSpPr>
                <p:grpSp>
                  <p:nvGrpSpPr>
                    <p:cNvPr id="36" name="Group 35">
                      <a:extLst>
                        <a:ext uri="{FF2B5EF4-FFF2-40B4-BE49-F238E27FC236}">
                          <a16:creationId xmlns:a16="http://schemas.microsoft.com/office/drawing/2014/main" id="{B159D46E-EFDF-479A-8A1D-9E53EC8C727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32597" y="3408558"/>
                      <a:ext cx="6700749" cy="1632383"/>
                      <a:chOff x="1732597" y="3408558"/>
                      <a:chExt cx="6700749" cy="1632383"/>
                    </a:xfrm>
                  </p:grpSpPr>
                  <p:grpSp>
                    <p:nvGrpSpPr>
                      <p:cNvPr id="35" name="Group 34">
                        <a:extLst>
                          <a:ext uri="{FF2B5EF4-FFF2-40B4-BE49-F238E27FC236}">
                            <a16:creationId xmlns:a16="http://schemas.microsoft.com/office/drawing/2014/main" id="{6EAE3B92-0524-48EC-9475-A767621F4B5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32597" y="3408558"/>
                        <a:ext cx="6700749" cy="1632383"/>
                        <a:chOff x="1732597" y="3408558"/>
                        <a:chExt cx="6700749" cy="1632383"/>
                      </a:xfrm>
                    </p:grpSpPr>
                    <p:sp>
                      <p:nvSpPr>
                        <p:cNvPr id="23" name="object 23"/>
                        <p:cNvSpPr txBox="1"/>
                        <p:nvPr/>
                      </p:nvSpPr>
                      <p:spPr>
                        <a:xfrm>
                          <a:off x="2151266" y="4350866"/>
                          <a:ext cx="111836" cy="248273"/>
                        </a:xfrm>
                        <a:prstGeom prst="rect">
                          <a:avLst/>
                        </a:prstGeom>
                      </p:spPr>
                      <p:txBody>
                        <a:bodyPr vert="horz" wrap="square" lIns="0" tIns="16065" rIns="0" bIns="0" rtlCol="0">
                          <a:spAutoFit/>
                        </a:bodyPr>
                        <a:lstStyle/>
                        <a:p>
                          <a:pPr marL="12357">
                            <a:spcBef>
                              <a:spcPts val="126"/>
                            </a:spcBef>
                          </a:pPr>
                          <a:r>
                            <a:rPr sz="1508" spc="10" dirty="0">
                              <a:latin typeface="Times New Roman"/>
                              <a:cs typeface="Times New Roman"/>
                            </a:rPr>
                            <a:t>a</a:t>
                          </a:r>
                          <a:endParaRPr sz="1508" dirty="0">
                            <a:latin typeface="Times New Roman"/>
                            <a:cs typeface="Times New Roman"/>
                          </a:endParaRPr>
                        </a:p>
                      </p:txBody>
                    </p:sp>
                    <p:grpSp>
                      <p:nvGrpSpPr>
                        <p:cNvPr id="34" name="Group 33">
                          <a:extLst>
                            <a:ext uri="{FF2B5EF4-FFF2-40B4-BE49-F238E27FC236}">
                              <a16:creationId xmlns:a16="http://schemas.microsoft.com/office/drawing/2014/main" id="{B67D9A8B-0792-4CDD-9F99-3027930B9CF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32597" y="3408558"/>
                          <a:ext cx="6700749" cy="1632383"/>
                          <a:chOff x="1732597" y="3408558"/>
                          <a:chExt cx="6700749" cy="1632383"/>
                        </a:xfrm>
                      </p:grpSpPr>
                      <p:sp>
                        <p:nvSpPr>
                          <p:cNvPr id="27" name="object 27"/>
                          <p:cNvSpPr txBox="1"/>
                          <p:nvPr/>
                        </p:nvSpPr>
                        <p:spPr>
                          <a:xfrm>
                            <a:off x="2537496" y="4512822"/>
                            <a:ext cx="307704" cy="366930"/>
                          </a:xfrm>
                          <a:prstGeom prst="rect">
                            <a:avLst/>
                          </a:prstGeom>
                        </p:spPr>
                        <p:txBody>
                          <a:bodyPr vert="horz" wrap="square" lIns="0" tIns="14829" rIns="0" bIns="0" rtlCol="0">
                            <a:spAutoFit/>
                          </a:bodyPr>
                          <a:lstStyle/>
                          <a:p>
                            <a:pPr marL="37071">
                              <a:spcBef>
                                <a:spcPts val="117"/>
                              </a:spcBef>
                            </a:pPr>
                            <a:r>
                              <a:rPr sz="2287" spc="10" dirty="0">
                                <a:latin typeface="Times New Roman"/>
                                <a:cs typeface="Times New Roman"/>
                              </a:rPr>
                              <a:t>n</a:t>
                            </a:r>
                            <a:r>
                              <a:rPr sz="2262" spc="15" baseline="-21505" dirty="0">
                                <a:latin typeface="Times New Roman"/>
                                <a:cs typeface="Times New Roman"/>
                              </a:rPr>
                              <a:t>a</a:t>
                            </a:r>
                            <a:endParaRPr sz="2262" baseline="-21505" dirty="0">
                              <a:latin typeface="Times New Roman"/>
                              <a:cs typeface="Times New Roman"/>
                            </a:endParaRPr>
                          </a:p>
                        </p:txBody>
                      </p:sp>
                      <p:grpSp>
                        <p:nvGrpSpPr>
                          <p:cNvPr id="33" name="Group 32">
                            <a:extLst>
                              <a:ext uri="{FF2B5EF4-FFF2-40B4-BE49-F238E27FC236}">
                                <a16:creationId xmlns:a16="http://schemas.microsoft.com/office/drawing/2014/main" id="{444ADD0D-3482-490F-A0EA-6A32E5DDFB8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32597" y="3408558"/>
                            <a:ext cx="6700749" cy="1632383"/>
                            <a:chOff x="1732597" y="3408558"/>
                            <a:chExt cx="6700749" cy="1632383"/>
                          </a:xfrm>
                        </p:grpSpPr>
                        <p:sp>
                          <p:nvSpPr>
                            <p:cNvPr id="22" name="object 22"/>
                            <p:cNvSpPr txBox="1"/>
                            <p:nvPr/>
                          </p:nvSpPr>
                          <p:spPr>
                            <a:xfrm>
                              <a:off x="1998433" y="4179748"/>
                              <a:ext cx="177949" cy="366930"/>
                            </a:xfrm>
                            <a:prstGeom prst="rect">
                              <a:avLst/>
                            </a:prstGeom>
                          </p:spPr>
                          <p:txBody>
                            <a:bodyPr vert="horz" wrap="square" lIns="0" tIns="14829" rIns="0" bIns="0" rtlCol="0">
                              <a:spAutoFit/>
                            </a:bodyPr>
                            <a:lstStyle/>
                            <a:p>
                              <a:pPr marL="12357">
                                <a:spcBef>
                                  <a:spcPts val="117"/>
                                </a:spcBef>
                              </a:pPr>
                              <a:r>
                                <a:rPr sz="2287" spc="10" dirty="0">
                                  <a:latin typeface="Symbol"/>
                                  <a:cs typeface="Symbol"/>
                                </a:rPr>
                                <a:t></a:t>
                              </a:r>
                              <a:endParaRPr sz="2287" dirty="0">
                                <a:latin typeface="Symbol"/>
                                <a:cs typeface="Symbol"/>
                              </a:endParaRPr>
                            </a:p>
                          </p:txBody>
                        </p:sp>
                        <p:grpSp>
                          <p:nvGrpSpPr>
                            <p:cNvPr id="32" name="Group 31">
                              <a:extLst>
                                <a:ext uri="{FF2B5EF4-FFF2-40B4-BE49-F238E27FC236}">
                                  <a16:creationId xmlns:a16="http://schemas.microsoft.com/office/drawing/2014/main" id="{993C5132-1649-4585-ACE2-CA673ADBB5B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732597" y="3408558"/>
                              <a:ext cx="6700749" cy="1632383"/>
                              <a:chOff x="1732597" y="3408558"/>
                              <a:chExt cx="6700749" cy="1632383"/>
                            </a:xfrm>
                          </p:grpSpPr>
                          <p:grpSp>
                            <p:nvGrpSpPr>
                              <p:cNvPr id="31" name="Group 30">
                                <a:extLst>
                                  <a:ext uri="{FF2B5EF4-FFF2-40B4-BE49-F238E27FC236}">
                                    <a16:creationId xmlns:a16="http://schemas.microsoft.com/office/drawing/2014/main" id="{4BFB87A5-F1BA-4803-8C2C-F3F2E2570A9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813846" y="3408558"/>
                                <a:ext cx="6619500" cy="1632383"/>
                                <a:chOff x="1813846" y="3408558"/>
                                <a:chExt cx="6619500" cy="1632383"/>
                              </a:xfrm>
                            </p:grpSpPr>
                            <p:grpSp>
                              <p:nvGrpSpPr>
                                <p:cNvPr id="4" name="object 4"/>
                                <p:cNvGrpSpPr/>
                                <p:nvPr/>
                              </p:nvGrpSpPr>
                              <p:grpSpPr>
                                <a:xfrm>
                                  <a:off x="2914443" y="3408558"/>
                                  <a:ext cx="5518903" cy="1479204"/>
                                  <a:chOff x="2529550" y="3503001"/>
                                  <a:chExt cx="5671820" cy="1520190"/>
                                </a:xfrm>
                              </p:grpSpPr>
                              <p:sp>
                                <p:nvSpPr>
                                  <p:cNvPr id="5" name="object 5"/>
                                  <p:cNvSpPr/>
                                  <p:nvPr/>
                                </p:nvSpPr>
                                <p:spPr>
                                  <a:xfrm>
                                    <a:off x="2542032" y="3509352"/>
                                    <a:ext cx="5652770" cy="150749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1507489">
                                        <a:moveTo>
                                          <a:pt x="5652655" y="1130528"/>
                                        </a:moveTo>
                                        <a:lnTo>
                                          <a:pt x="0" y="1130528"/>
                                        </a:lnTo>
                                        <a:lnTo>
                                          <a:pt x="0" y="1507375"/>
                                        </a:lnTo>
                                        <a:lnTo>
                                          <a:pt x="5652655" y="1507375"/>
                                        </a:lnTo>
                                        <a:lnTo>
                                          <a:pt x="5652655" y="1130528"/>
                                        </a:lnTo>
                                        <a:close/>
                                      </a:path>
                                      <a:path w="5652770" h="1507489">
                                        <a:moveTo>
                                          <a:pt x="5652655" y="0"/>
                                        </a:moveTo>
                                        <a:lnTo>
                                          <a:pt x="0" y="0"/>
                                        </a:lnTo>
                                        <a:lnTo>
                                          <a:pt x="0" y="370560"/>
                                        </a:lnTo>
                                        <a:lnTo>
                                          <a:pt x="5652655" y="370560"/>
                                        </a:lnTo>
                                        <a:lnTo>
                                          <a:pt x="5652655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0070C0"/>
                                  </a:solidFill>
                                  <a:ln>
                                    <a:solidFill>
                                      <a:srgbClr val="0070C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 dirty="0"/>
                                  </a:p>
                                </p:txBody>
                              </p:sp>
                              <p:sp>
                                <p:nvSpPr>
                                  <p:cNvPr id="6" name="object 6"/>
                                  <p:cNvSpPr/>
                                  <p:nvPr/>
                                </p:nvSpPr>
                                <p:spPr>
                                  <a:xfrm>
                                    <a:off x="2542033" y="3509351"/>
                                    <a:ext cx="5652770" cy="150749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1507489">
                                        <a:moveTo>
                                          <a:pt x="0" y="0"/>
                                        </a:moveTo>
                                        <a:lnTo>
                                          <a:pt x="5652656" y="0"/>
                                        </a:lnTo>
                                        <a:lnTo>
                                          <a:pt x="5652656" y="1507375"/>
                                        </a:lnTo>
                                        <a:lnTo>
                                          <a:pt x="0" y="1507375"/>
                                        </a:lnTo>
                                        <a:lnTo>
                                          <a:pt x="0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7" name="object 7"/>
                                  <p:cNvSpPr/>
                                  <p:nvPr/>
                                </p:nvSpPr>
                                <p:spPr>
                                  <a:xfrm>
                                    <a:off x="2542031" y="3879913"/>
                                    <a:ext cx="5652770" cy="76009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760095">
                                        <a:moveTo>
                                          <a:pt x="5652655" y="0"/>
                                        </a:moveTo>
                                        <a:lnTo>
                                          <a:pt x="0" y="0"/>
                                        </a:lnTo>
                                        <a:lnTo>
                                          <a:pt x="0" y="759968"/>
                                        </a:lnTo>
                                        <a:lnTo>
                                          <a:pt x="5652655" y="759968"/>
                                        </a:lnTo>
                                        <a:lnTo>
                                          <a:pt x="5652655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00B0F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8" name="object 8"/>
                                  <p:cNvSpPr/>
                                  <p:nvPr/>
                                </p:nvSpPr>
                                <p:spPr>
                                  <a:xfrm>
                                    <a:off x="2542033" y="3879914"/>
                                    <a:ext cx="5652770" cy="76009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5652770" h="760095">
                                        <a:moveTo>
                                          <a:pt x="0" y="0"/>
                                        </a:moveTo>
                                        <a:lnTo>
                                          <a:pt x="5652656" y="0"/>
                                        </a:lnTo>
                                        <a:lnTo>
                                          <a:pt x="5652656" y="759968"/>
                                        </a:lnTo>
                                        <a:lnTo>
                                          <a:pt x="0" y="759968"/>
                                        </a:lnTo>
                                        <a:lnTo>
                                          <a:pt x="0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9" name="object 9"/>
                                  <p:cNvSpPr/>
                                  <p:nvPr/>
                                </p:nvSpPr>
                                <p:spPr>
                                  <a:xfrm>
                                    <a:off x="2542250" y="3889756"/>
                                    <a:ext cx="2688590" cy="37401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688590" h="374014">
                                        <a:moveTo>
                                          <a:pt x="0" y="373569"/>
                                        </a:moveTo>
                                        <a:lnTo>
                                          <a:pt x="2688162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FF26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0" name="object 10"/>
                                  <p:cNvSpPr/>
                                  <p:nvPr/>
                                </p:nvSpPr>
                                <p:spPr>
                                  <a:xfrm>
                                    <a:off x="5175453" y="3859352"/>
                                    <a:ext cx="80010" cy="7493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0010" h="74929">
                                        <a:moveTo>
                                          <a:pt x="0" y="0"/>
                                        </a:moveTo>
                                        <a:lnTo>
                                          <a:pt x="10375" y="74650"/>
                                        </a:lnTo>
                                        <a:lnTo>
                                          <a:pt x="79832" y="26949"/>
                                        </a:lnTo>
                                        <a:lnTo>
                                          <a:pt x="0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FF260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1" name="object 11"/>
                                  <p:cNvSpPr/>
                                  <p:nvPr/>
                                </p:nvSpPr>
                                <p:spPr>
                                  <a:xfrm>
                                    <a:off x="5179880" y="3886294"/>
                                    <a:ext cx="1558290" cy="22288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558290" h="222885">
                                        <a:moveTo>
                                          <a:pt x="1557868" y="222664"/>
                                        </a:moveTo>
                                        <a:lnTo>
                                          <a:pt x="0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FF26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2" name="object 12"/>
                                  <p:cNvSpPr/>
                                  <p:nvPr/>
                                </p:nvSpPr>
                                <p:spPr>
                                  <a:xfrm>
                                    <a:off x="6682676" y="4064546"/>
                                    <a:ext cx="80010" cy="7493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0009" h="74929">
                                        <a:moveTo>
                                          <a:pt x="10667" y="0"/>
                                        </a:moveTo>
                                        <a:lnTo>
                                          <a:pt x="0" y="74612"/>
                                        </a:lnTo>
                                        <a:lnTo>
                                          <a:pt x="79946" y="47967"/>
                                        </a:lnTo>
                                        <a:lnTo>
                                          <a:pt x="10667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FF260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3" name="object 13"/>
                                  <p:cNvSpPr/>
                                  <p:nvPr/>
                                </p:nvSpPr>
                                <p:spPr>
                                  <a:xfrm>
                                    <a:off x="5255308" y="3886195"/>
                                    <a:ext cx="0" cy="45275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h="452754">
                                        <a:moveTo>
                                          <a:pt x="0" y="0"/>
                                        </a:moveTo>
                                        <a:lnTo>
                                          <a:pt x="0" y="452212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4" name="object 14"/>
                                  <p:cNvSpPr/>
                                  <p:nvPr/>
                                </p:nvSpPr>
                                <p:spPr>
                                  <a:xfrm>
                                    <a:off x="4878464" y="3961564"/>
                                    <a:ext cx="377190" cy="22669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77189" h="226695">
                                        <a:moveTo>
                                          <a:pt x="0" y="0"/>
                                        </a:moveTo>
                                        <a:lnTo>
                                          <a:pt x="5593" y="42100"/>
                                        </a:lnTo>
                                        <a:lnTo>
                                          <a:pt x="16486" y="82434"/>
                                        </a:lnTo>
                                        <a:lnTo>
                                          <a:pt x="37978" y="119235"/>
                                        </a:lnTo>
                                        <a:lnTo>
                                          <a:pt x="75368" y="150737"/>
                                        </a:lnTo>
                                        <a:lnTo>
                                          <a:pt x="111221" y="168096"/>
                                        </a:lnTo>
                                        <a:lnTo>
                                          <a:pt x="154924" y="182839"/>
                                        </a:lnTo>
                                        <a:lnTo>
                                          <a:pt x="204908" y="195487"/>
                                        </a:lnTo>
                                        <a:lnTo>
                                          <a:pt x="259603" y="206566"/>
                                        </a:lnTo>
                                        <a:lnTo>
                                          <a:pt x="317438" y="216597"/>
                                        </a:lnTo>
                                        <a:lnTo>
                                          <a:pt x="376843" y="226106"/>
                                        </a:lnTo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16" name="object 16"/>
                                <p:cNvGrpSpPr/>
                                <p:nvPr/>
                              </p:nvGrpSpPr>
                              <p:grpSpPr>
                                <a:xfrm>
                                  <a:off x="1813846" y="4135747"/>
                                  <a:ext cx="2078548" cy="905194"/>
                                  <a:chOff x="1398458" y="4250339"/>
                                  <a:chExt cx="2136140" cy="930275"/>
                                </a:xfrm>
                              </p:grpSpPr>
                              <p:sp>
                                <p:nvSpPr>
                                  <p:cNvPr id="17" name="object 17"/>
                                  <p:cNvSpPr/>
                                  <p:nvPr/>
                                </p:nvSpPr>
                                <p:spPr>
                                  <a:xfrm>
                                    <a:off x="1788345" y="4263039"/>
                                    <a:ext cx="1733550" cy="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733550">
                                        <a:moveTo>
                                          <a:pt x="0" y="0"/>
                                        </a:moveTo>
                                        <a:lnTo>
                                          <a:pt x="1733481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 dirty="0"/>
                                  </a:p>
                                </p:txBody>
                              </p:sp>
                              <p:sp>
                                <p:nvSpPr>
                                  <p:cNvPr id="18" name="object 18"/>
                                  <p:cNvSpPr/>
                                  <p:nvPr/>
                                </p:nvSpPr>
                                <p:spPr>
                                  <a:xfrm>
                                    <a:off x="1411158" y="4279013"/>
                                    <a:ext cx="1111885" cy="88900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111885" h="889000">
                                        <a:moveTo>
                                          <a:pt x="0" y="888391"/>
                                        </a:moveTo>
                                        <a:lnTo>
                                          <a:pt x="1111468" y="0"/>
                                        </a:lnTo>
                                      </a:path>
                                    </a:pathLst>
                                  </a:custGeom>
                                  <a:ln w="25122">
                                    <a:solidFill>
                                      <a:srgbClr val="FF26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19" name="object 19"/>
                                  <p:cNvSpPr/>
                                  <p:nvPr/>
                                </p:nvSpPr>
                                <p:spPr>
                                  <a:xfrm>
                                    <a:off x="2459850" y="4263326"/>
                                    <a:ext cx="82550" cy="76835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2550" h="76835">
                                        <a:moveTo>
                                          <a:pt x="82397" y="0"/>
                                        </a:moveTo>
                                        <a:lnTo>
                                          <a:pt x="0" y="17627"/>
                                        </a:lnTo>
                                        <a:lnTo>
                                          <a:pt x="47053" y="76504"/>
                                        </a:lnTo>
                                        <a:lnTo>
                                          <a:pt x="82397" y="0"/>
                                        </a:lnTo>
                                        <a:close/>
                                      </a:path>
                                    </a:pathLst>
                                  </a:custGeom>
                                  <a:solidFill>
                                    <a:srgbClr val="FF2600"/>
                                  </a:solidFill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  <p:sp>
                                <p:nvSpPr>
                                  <p:cNvPr id="20" name="object 20"/>
                                  <p:cNvSpPr/>
                                  <p:nvPr/>
                                </p:nvSpPr>
                                <p:spPr>
                                  <a:xfrm>
                                    <a:off x="1932017" y="4263039"/>
                                    <a:ext cx="82550" cy="377190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82550" h="377189">
                                        <a:moveTo>
                                          <a:pt x="7065" y="0"/>
                                        </a:moveTo>
                                        <a:lnTo>
                                          <a:pt x="2649" y="60942"/>
                                        </a:lnTo>
                                        <a:lnTo>
                                          <a:pt x="0" y="120118"/>
                                        </a:lnTo>
                                        <a:lnTo>
                                          <a:pt x="883" y="175762"/>
                                        </a:lnTo>
                                        <a:lnTo>
                                          <a:pt x="7065" y="226106"/>
                                        </a:lnTo>
                                        <a:lnTo>
                                          <a:pt x="19725" y="269973"/>
                                        </a:lnTo>
                                        <a:lnTo>
                                          <a:pt x="37684" y="308540"/>
                                        </a:lnTo>
                                        <a:lnTo>
                                          <a:pt x="59176" y="343575"/>
                                        </a:lnTo>
                                        <a:lnTo>
                                          <a:pt x="82434" y="376843"/>
                                        </a:lnTo>
                                      </a:path>
                                    </a:pathLst>
                                  </a:custGeom>
                                  <a:ln w="12561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/>
                                  <a:lstStyle/>
                                  <a:p>
                                    <a:endParaRPr sz="1751"/>
                                  </a:p>
                                </p:txBody>
                              </p:sp>
                            </p:grpSp>
                          </p:grpSp>
                          <p:sp>
                            <p:nvSpPr>
                              <p:cNvPr id="28" name="object 28"/>
                              <p:cNvSpPr txBox="1"/>
                              <p:nvPr/>
                            </p:nvSpPr>
                            <p:spPr>
                              <a:xfrm>
                                <a:off x="1732597" y="4546435"/>
                                <a:ext cx="236647" cy="366930"/>
                              </a:xfrm>
                              <a:prstGeom prst="rect">
                                <a:avLst/>
                              </a:prstGeom>
                            </p:spPr>
                            <p:txBody>
                              <a:bodyPr vert="horz" wrap="square" lIns="0" tIns="14829" rIns="0" bIns="0" rtlCol="0">
                                <a:spAutoFit/>
                              </a:bodyPr>
                              <a:lstStyle/>
                              <a:p>
                                <a:pPr marL="12357">
                                  <a:spcBef>
                                    <a:spcPts val="117"/>
                                  </a:spcBef>
                                </a:pPr>
                                <a:r>
                                  <a:rPr sz="2287" spc="15" dirty="0">
                                    <a:latin typeface="Times New Roman"/>
                                    <a:cs typeface="Times New Roman"/>
                                  </a:rPr>
                                  <a:t>A</a:t>
                                </a:r>
                                <a:endParaRPr sz="2287" dirty="0">
                                  <a:latin typeface="Times New Roman"/>
                                  <a:cs typeface="Times New Roman"/>
                                </a:endParaRPr>
                              </a:p>
                            </p:txBody>
                          </p:sp>
                        </p:grpSp>
                      </p:grpSp>
                    </p:grpSp>
                  </p:grpSp>
                  <p:sp>
                    <p:nvSpPr>
                      <p:cNvPr id="15" name="object 15"/>
                      <p:cNvSpPr txBox="1"/>
                      <p:nvPr/>
                    </p:nvSpPr>
                    <p:spPr>
                      <a:xfrm>
                        <a:off x="5104281" y="3959745"/>
                        <a:ext cx="313883" cy="366930"/>
                      </a:xfrm>
                      <a:prstGeom prst="rect">
                        <a:avLst/>
                      </a:prstGeom>
                    </p:spPr>
                    <p:txBody>
                      <a:bodyPr vert="horz" wrap="square" lIns="0" tIns="14829" rIns="0" bIns="0" rtlCol="0">
                        <a:spAutoFit/>
                      </a:bodyPr>
                      <a:lstStyle/>
                      <a:p>
                        <a:pPr marL="37071">
                          <a:spcBef>
                            <a:spcPts val="117"/>
                          </a:spcBef>
                        </a:pPr>
                        <a:r>
                          <a:rPr sz="2287" spc="10" dirty="0">
                            <a:latin typeface="Symbol"/>
                            <a:cs typeface="Symbol"/>
                          </a:rPr>
                          <a:t></a:t>
                        </a:r>
                        <a:r>
                          <a:rPr sz="2262" spc="15" baseline="-21505" dirty="0">
                            <a:latin typeface="Times New Roman"/>
                            <a:cs typeface="Times New Roman"/>
                          </a:rPr>
                          <a:t>c</a:t>
                        </a:r>
                        <a:endParaRPr sz="2262" baseline="-21505" dirty="0">
                          <a:latin typeface="Times New Roman"/>
                          <a:cs typeface="Times New Roman"/>
                        </a:endParaRPr>
                      </a:p>
                    </p:txBody>
                  </p:sp>
                </p:grpSp>
                <p:sp>
                  <p:nvSpPr>
                    <p:cNvPr id="21" name="object 21"/>
                    <p:cNvSpPr txBox="1"/>
                    <p:nvPr/>
                  </p:nvSpPr>
                  <p:spPr>
                    <a:xfrm>
                      <a:off x="3921733" y="3886403"/>
                      <a:ext cx="346013" cy="366930"/>
                    </a:xfrm>
                    <a:prstGeom prst="rect">
                      <a:avLst/>
                    </a:prstGeom>
                  </p:spPr>
                  <p:txBody>
                    <a:bodyPr vert="horz" wrap="square" lIns="0" tIns="14829" rIns="0" bIns="0" rtlCol="0">
                      <a:spAutoFit/>
                    </a:bodyPr>
                    <a:lstStyle/>
                    <a:p>
                      <a:pPr marL="37071">
                        <a:spcBef>
                          <a:spcPts val="117"/>
                        </a:spcBef>
                      </a:pPr>
                      <a:r>
                        <a:rPr sz="2287" spc="10" dirty="0">
                          <a:latin typeface="Symbol"/>
                          <a:cs typeface="Symbol"/>
                        </a:rPr>
                        <a:t></a:t>
                      </a:r>
                      <a:r>
                        <a:rPr sz="2262" spc="15" baseline="-21505" dirty="0">
                          <a:latin typeface="Times New Roman"/>
                          <a:cs typeface="Times New Roman"/>
                        </a:rPr>
                        <a:t>c</a:t>
                      </a:r>
                      <a:endParaRPr sz="2262" baseline="-21505" dirty="0">
                        <a:latin typeface="Times New Roman"/>
                        <a:cs typeface="Times New Roman"/>
                      </a:endParaRPr>
                    </a:p>
                  </p:txBody>
                </p:sp>
              </p:grpSp>
              <p:sp>
                <p:nvSpPr>
                  <p:cNvPr id="24" name="object 24"/>
                  <p:cNvSpPr txBox="1"/>
                  <p:nvPr/>
                </p:nvSpPr>
                <p:spPr>
                  <a:xfrm>
                    <a:off x="3148900" y="4106418"/>
                    <a:ext cx="171771" cy="366930"/>
                  </a:xfrm>
                  <a:prstGeom prst="rect">
                    <a:avLst/>
                  </a:prstGeom>
                </p:spPr>
                <p:txBody>
                  <a:bodyPr vert="horz" wrap="square" lIns="0" tIns="14829" rIns="0" bIns="0" rtlCol="0">
                    <a:spAutoFit/>
                  </a:bodyPr>
                  <a:lstStyle/>
                  <a:p>
                    <a:pPr marL="12357">
                      <a:spcBef>
                        <a:spcPts val="117"/>
                      </a:spcBef>
                    </a:pPr>
                    <a:r>
                      <a:rPr sz="2287" spc="10" dirty="0">
                        <a:latin typeface="Times New Roman"/>
                        <a:cs typeface="Times New Roman"/>
                      </a:rPr>
                      <a:t>n</a:t>
                    </a:r>
                    <a:endParaRPr sz="2287">
                      <a:latin typeface="Times New Roman"/>
                      <a:cs typeface="Times New Roman"/>
                    </a:endParaRPr>
                  </a:p>
                </p:txBody>
              </p:sp>
            </p:grpSp>
            <p:sp>
              <p:nvSpPr>
                <p:cNvPr id="25" name="object 25"/>
                <p:cNvSpPr txBox="1"/>
                <p:nvPr/>
              </p:nvSpPr>
              <p:spPr>
                <a:xfrm>
                  <a:off x="3295574" y="4277536"/>
                  <a:ext cx="122957" cy="248273"/>
                </a:xfrm>
                <a:prstGeom prst="rect">
                  <a:avLst/>
                </a:prstGeom>
              </p:spPr>
              <p:txBody>
                <a:bodyPr vert="horz" wrap="square" lIns="0" tIns="16065" rIns="0" bIns="0" rtlCol="0">
                  <a:spAutoFit/>
                </a:bodyPr>
                <a:lstStyle/>
                <a:p>
                  <a:pPr marL="12357">
                    <a:spcBef>
                      <a:spcPts val="126"/>
                    </a:spcBef>
                  </a:pPr>
                  <a:r>
                    <a:rPr sz="1508" spc="15" dirty="0">
                      <a:latin typeface="Times New Roman"/>
                      <a:cs typeface="Times New Roman"/>
                    </a:rPr>
                    <a:t>1</a:t>
                  </a:r>
                  <a:endParaRPr sz="1508" dirty="0">
                    <a:latin typeface="Times New Roman"/>
                    <a:cs typeface="Times New Roman"/>
                  </a:endParaRPr>
                </a:p>
              </p:txBody>
            </p:sp>
          </p:grpSp>
          <p:sp>
            <p:nvSpPr>
              <p:cNvPr id="26" name="object 26"/>
              <p:cNvSpPr txBox="1"/>
              <p:nvPr/>
            </p:nvSpPr>
            <p:spPr>
              <a:xfrm>
                <a:off x="3136543" y="4473105"/>
                <a:ext cx="306468" cy="366930"/>
              </a:xfrm>
              <a:prstGeom prst="rect">
                <a:avLst/>
              </a:prstGeom>
            </p:spPr>
            <p:txBody>
              <a:bodyPr vert="horz" wrap="square" lIns="0" tIns="14829" rIns="0" bIns="0" rtlCol="0">
                <a:spAutoFit/>
              </a:bodyPr>
              <a:lstStyle/>
              <a:p>
                <a:pPr marL="24714">
                  <a:spcBef>
                    <a:spcPts val="117"/>
                  </a:spcBef>
                </a:pPr>
                <a:r>
                  <a:rPr sz="2287" spc="10" dirty="0">
                    <a:latin typeface="Times New Roman"/>
                    <a:cs typeface="Times New Roman"/>
                  </a:rPr>
                  <a:t>n</a:t>
                </a:r>
                <a:r>
                  <a:rPr sz="2262" spc="15" baseline="-21505" dirty="0">
                    <a:latin typeface="Times New Roman"/>
                    <a:cs typeface="Times New Roman"/>
                  </a:rPr>
                  <a:t>2</a:t>
                </a:r>
                <a:endParaRPr sz="2262" baseline="-21505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30" name="object 30"/>
            <p:cNvSpPr/>
            <p:nvPr/>
          </p:nvSpPr>
          <p:spPr>
            <a:xfrm>
              <a:off x="3806630" y="4001430"/>
              <a:ext cx="0" cy="147055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150737"/>
                  </a:moveTo>
                  <a:lnTo>
                    <a:pt x="0" y="105987"/>
                  </a:lnTo>
                  <a:lnTo>
                    <a:pt x="0" y="75368"/>
                  </a:lnTo>
                  <a:lnTo>
                    <a:pt x="0" y="44750"/>
                  </a:lnTo>
                  <a:lnTo>
                    <a:pt x="0" y="0"/>
                  </a:lnTo>
                </a:path>
              </a:pathLst>
            </a:custGeom>
            <a:ln w="125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51"/>
            </a:p>
          </p:txBody>
        </p:sp>
      </p:grpSp>
      <p:sp>
        <p:nvSpPr>
          <p:cNvPr id="109" name="object 4">
            <a:extLst>
              <a:ext uri="{FF2B5EF4-FFF2-40B4-BE49-F238E27FC236}">
                <a16:creationId xmlns:a16="http://schemas.microsoft.com/office/drawing/2014/main" id="{548A9714-7A84-4996-A853-71B679049D9B}"/>
              </a:ext>
            </a:extLst>
          </p:cNvPr>
          <p:cNvSpPr txBox="1"/>
          <p:nvPr/>
        </p:nvSpPr>
        <p:spPr>
          <a:xfrm>
            <a:off x="818446" y="2754035"/>
            <a:ext cx="9481254" cy="357136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48640" marR="894715">
              <a:lnSpc>
                <a:spcPct val="101699"/>
              </a:lnSpc>
              <a:tabLst>
                <a:tab pos="1169670" algn="l"/>
              </a:tabLst>
            </a:pPr>
            <a:r>
              <a:rPr sz="2800" b="1" spc="5" dirty="0">
                <a:latin typeface="Times New Roman"/>
                <a:cs typeface="Times New Roman"/>
              </a:rPr>
              <a:t>e.g</a:t>
            </a:r>
            <a:r>
              <a:rPr sz="2800" spc="5" dirty="0">
                <a:latin typeface="Times New Roman"/>
                <a:cs typeface="Times New Roman"/>
              </a:rPr>
              <a:t>.	</a:t>
            </a:r>
            <a:r>
              <a:rPr sz="2800" spc="10" dirty="0">
                <a:latin typeface="Times New Roman"/>
                <a:cs typeface="Times New Roman"/>
              </a:rPr>
              <a:t>What </a:t>
            </a:r>
            <a:r>
              <a:rPr sz="2800" spc="5" dirty="0">
                <a:latin typeface="Times New Roman"/>
                <a:cs typeface="Times New Roman"/>
              </a:rPr>
              <a:t>is the fiber </a:t>
            </a:r>
            <a:r>
              <a:rPr sz="2800" spc="5" dirty="0">
                <a:solidFill>
                  <a:srgbClr val="3333CC"/>
                </a:solidFill>
                <a:latin typeface="Times New Roman"/>
                <a:cs typeface="Times New Roman"/>
              </a:rPr>
              <a:t>acceptance angle </a:t>
            </a:r>
            <a:r>
              <a:rPr sz="2800" spc="10" dirty="0">
                <a:latin typeface="Times New Roman"/>
                <a:cs typeface="Times New Roman"/>
              </a:rPr>
              <a:t>when</a:t>
            </a:r>
            <a:r>
              <a:rPr lang="en-US" sz="2800" spc="1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lang="en-US" sz="2800" spc="10" baseline="-25000" dirty="0">
                <a:latin typeface="Times New Roman"/>
                <a:cs typeface="Times New Roman"/>
              </a:rPr>
              <a:t>1</a:t>
            </a:r>
            <a:r>
              <a:rPr lang="en-US" sz="2800" spc="10" dirty="0">
                <a:latin typeface="Times New Roman"/>
                <a:cs typeface="Times New Roman"/>
              </a:rPr>
              <a:t>=</a:t>
            </a:r>
            <a:r>
              <a:rPr sz="2800" spc="10" dirty="0">
                <a:latin typeface="Times New Roman"/>
                <a:cs typeface="Times New Roman"/>
              </a:rPr>
              <a:t>1.46 </a:t>
            </a:r>
            <a:r>
              <a:rPr sz="2800" spc="5" dirty="0">
                <a:latin typeface="Times New Roman"/>
                <a:cs typeface="Times New Roman"/>
              </a:rPr>
              <a:t>and  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15" baseline="-21505" dirty="0">
                <a:latin typeface="Times New Roman"/>
                <a:cs typeface="Times New Roman"/>
              </a:rPr>
              <a:t>2 </a:t>
            </a:r>
            <a:r>
              <a:rPr sz="2800" spc="10" dirty="0">
                <a:latin typeface="Times New Roman"/>
                <a:cs typeface="Times New Roman"/>
              </a:rPr>
              <a:t>=</a:t>
            </a:r>
            <a:r>
              <a:rPr sz="2800" spc="-204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1.44?</a:t>
            </a:r>
            <a:endParaRPr sz="2800" dirty="0">
              <a:latin typeface="Times New Roman"/>
              <a:cs typeface="Times New Roman"/>
            </a:endParaRPr>
          </a:p>
          <a:p>
            <a:pPr marL="548640" marR="1592580">
              <a:lnSpc>
                <a:spcPts val="5740"/>
              </a:lnSpc>
              <a:spcBef>
                <a:spcPts val="575"/>
              </a:spcBef>
              <a:tabLst>
                <a:tab pos="986155" algn="l"/>
                <a:tab pos="1306830" algn="l"/>
                <a:tab pos="1493520" algn="l"/>
                <a:tab pos="2317750" algn="l"/>
                <a:tab pos="2638425" algn="l"/>
                <a:tab pos="2839085" algn="l"/>
                <a:tab pos="3159760" algn="l"/>
                <a:tab pos="3938904" algn="l"/>
                <a:tab pos="4206875" algn="l"/>
                <a:tab pos="4429760" algn="l"/>
                <a:tab pos="4859655" algn="l"/>
                <a:tab pos="5180330" algn="l"/>
                <a:tab pos="6230620" algn="l"/>
                <a:tab pos="6551295" algn="l"/>
              </a:tabLst>
            </a:pPr>
            <a:r>
              <a:rPr sz="2800" spc="10" dirty="0">
                <a:latin typeface="Symbol"/>
                <a:cs typeface="Symbol"/>
              </a:rPr>
              <a:t></a:t>
            </a:r>
            <a:r>
              <a:rPr sz="2800" spc="15" baseline="-21505" dirty="0">
                <a:latin typeface="Times New Roman"/>
                <a:cs typeface="Times New Roman"/>
              </a:rPr>
              <a:t>c	</a:t>
            </a:r>
            <a:r>
              <a:rPr sz="2800" spc="10" dirty="0">
                <a:latin typeface="Times New Roman"/>
                <a:cs typeface="Times New Roman"/>
              </a:rPr>
              <a:t>=	</a:t>
            </a:r>
            <a:r>
              <a:rPr sz="2800" spc="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5" baseline="25089" dirty="0">
                <a:latin typeface="Times New Roman"/>
                <a:cs typeface="Times New Roman"/>
              </a:rPr>
              <a:t>-1</a:t>
            </a:r>
            <a:r>
              <a:rPr sz="2800" baseline="25089" dirty="0">
                <a:latin typeface="Times New Roman"/>
                <a:cs typeface="Times New Roman"/>
              </a:rPr>
              <a:t> </a:t>
            </a:r>
            <a:r>
              <a:rPr sz="2800" spc="-277" baseline="25089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(n</a:t>
            </a:r>
            <a:r>
              <a:rPr sz="2800" spc="22" baseline="-21505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/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22" baseline="-21505" dirty="0">
                <a:latin typeface="Times New Roman"/>
                <a:cs typeface="Times New Roman"/>
              </a:rPr>
              <a:t>1</a:t>
            </a:r>
            <a:r>
              <a:rPr sz="2800" spc="5" dirty="0">
                <a:latin typeface="Times New Roman"/>
                <a:cs typeface="Times New Roman"/>
              </a:rPr>
              <a:t>)</a:t>
            </a:r>
            <a:r>
              <a:rPr sz="2800" spc="10" dirty="0">
                <a:latin typeface="Times New Roman"/>
                <a:cs typeface="Times New Roman"/>
              </a:rPr>
              <a:t>=</a:t>
            </a:r>
            <a:r>
              <a:rPr sz="2800" spc="5" dirty="0">
                <a:latin typeface="Times New Roman"/>
                <a:cs typeface="Times New Roman"/>
              </a:rPr>
              <a:t>80.5</a:t>
            </a:r>
            <a:r>
              <a:rPr sz="2800" spc="22" baseline="25089" dirty="0">
                <a:latin typeface="Times New Roman"/>
                <a:cs typeface="Times New Roman"/>
              </a:rPr>
              <a:t>o</a:t>
            </a:r>
            <a:r>
              <a:rPr sz="2800" baseline="25089" dirty="0">
                <a:latin typeface="Times New Roman"/>
                <a:cs typeface="Times New Roman"/>
              </a:rPr>
              <a:t>	</a:t>
            </a:r>
            <a:r>
              <a:rPr sz="2800" spc="10" dirty="0">
                <a:latin typeface="Times New Roman"/>
                <a:cs typeface="Times New Roman"/>
              </a:rPr>
              <a:t>=&gt;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5" dirty="0">
                <a:latin typeface="Symbol"/>
                <a:cs typeface="Symbol"/>
              </a:rPr>
              <a:t></a:t>
            </a:r>
            <a:r>
              <a:rPr sz="2800" spc="15" baseline="-21505" dirty="0">
                <a:latin typeface="Times New Roman"/>
                <a:cs typeface="Times New Roman"/>
              </a:rPr>
              <a:t>c</a:t>
            </a:r>
            <a:r>
              <a:rPr sz="2800" baseline="-21505" dirty="0">
                <a:latin typeface="Times New Roman"/>
                <a:cs typeface="Times New Roman"/>
              </a:rPr>
              <a:t>	</a:t>
            </a:r>
            <a:r>
              <a:rPr sz="2800" spc="10" dirty="0">
                <a:latin typeface="Times New Roman"/>
                <a:cs typeface="Times New Roman"/>
              </a:rPr>
              <a:t>=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0" dirty="0">
                <a:latin typeface="Times New Roman"/>
                <a:cs typeface="Times New Roman"/>
              </a:rPr>
              <a:t>9</a:t>
            </a:r>
            <a:r>
              <a:rPr sz="2800" spc="5" dirty="0">
                <a:latin typeface="Times New Roman"/>
                <a:cs typeface="Times New Roman"/>
              </a:rPr>
              <a:t>0</a:t>
            </a:r>
            <a:r>
              <a:rPr sz="2800" spc="22" baseline="25089" dirty="0">
                <a:latin typeface="Times New Roman"/>
                <a:cs typeface="Times New Roman"/>
              </a:rPr>
              <a:t>o</a:t>
            </a:r>
            <a:r>
              <a:rPr sz="2800" baseline="25089" dirty="0">
                <a:latin typeface="Times New Roman"/>
                <a:cs typeface="Times New Roman"/>
              </a:rPr>
              <a:t> </a:t>
            </a:r>
            <a:r>
              <a:rPr sz="2800" spc="-277" baseline="25089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- </a:t>
            </a:r>
            <a:r>
              <a:rPr sz="2800" spc="10" dirty="0">
                <a:latin typeface="Symbol"/>
                <a:cs typeface="Symbol"/>
              </a:rPr>
              <a:t></a:t>
            </a:r>
            <a:r>
              <a:rPr sz="2800" spc="15" baseline="-21505" dirty="0">
                <a:latin typeface="Times New Roman"/>
                <a:cs typeface="Times New Roman"/>
              </a:rPr>
              <a:t>c</a:t>
            </a:r>
            <a:r>
              <a:rPr sz="2800" spc="10" dirty="0">
                <a:latin typeface="Times New Roman"/>
                <a:cs typeface="Times New Roman"/>
              </a:rPr>
              <a:t>=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" dirty="0">
                <a:latin typeface="Times New Roman"/>
                <a:cs typeface="Times New Roman"/>
              </a:rPr>
              <a:t>9.5</a:t>
            </a:r>
            <a:r>
              <a:rPr sz="2800" spc="15" baseline="25089" dirty="0">
                <a:latin typeface="Times New Roman"/>
                <a:cs typeface="Times New Roman"/>
              </a:rPr>
              <a:t>o  </a:t>
            </a:r>
            <a:r>
              <a:rPr sz="2800" spc="5" dirty="0">
                <a:latin typeface="Times New Roman"/>
                <a:cs typeface="Times New Roman"/>
              </a:rPr>
              <a:t>using</a:t>
            </a:r>
            <a:r>
              <a:rPr lang="en-US" sz="2800" spc="5" dirty="0">
                <a:latin typeface="Times New Roman"/>
                <a:cs typeface="Times New Roman"/>
              </a:rPr>
              <a:t>,</a:t>
            </a:r>
            <a:r>
              <a:rPr sz="2800" spc="5" dirty="0">
                <a:latin typeface="Times New Roman"/>
                <a:cs typeface="Times New Roman"/>
              </a:rPr>
              <a:t>	sin </a:t>
            </a:r>
            <a:r>
              <a:rPr sz="2800" spc="10" dirty="0">
                <a:latin typeface="Symbol"/>
                <a:cs typeface="Symbol"/>
              </a:rPr>
              <a:t></a:t>
            </a:r>
            <a:r>
              <a:rPr sz="2800" spc="15" baseline="-21505" dirty="0">
                <a:latin typeface="Times New Roman"/>
                <a:cs typeface="Times New Roman"/>
              </a:rPr>
              <a:t>a	</a:t>
            </a:r>
            <a:r>
              <a:rPr sz="2800" spc="10" dirty="0">
                <a:latin typeface="Times New Roman"/>
                <a:cs typeface="Times New Roman"/>
              </a:rPr>
              <a:t>=	n</a:t>
            </a:r>
            <a:r>
              <a:rPr sz="2800" spc="15" baseline="-21505" dirty="0">
                <a:latin typeface="Times New Roman"/>
                <a:cs typeface="Times New Roman"/>
              </a:rPr>
              <a:t>1</a:t>
            </a:r>
            <a:r>
              <a:rPr sz="2800" spc="322" baseline="-2150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Symbol"/>
                <a:cs typeface="Symbol"/>
              </a:rPr>
              <a:t></a:t>
            </a:r>
            <a:r>
              <a:rPr sz="2800" spc="15" baseline="-21505" dirty="0">
                <a:latin typeface="Times New Roman"/>
                <a:cs typeface="Times New Roman"/>
              </a:rPr>
              <a:t>c		</a:t>
            </a:r>
            <a:r>
              <a:rPr sz="2800" spc="5" dirty="0">
                <a:latin typeface="Times New Roman"/>
                <a:cs typeface="Times New Roman"/>
              </a:rPr>
              <a:t>(taking </a:t>
            </a:r>
            <a:r>
              <a:rPr sz="2800" spc="10" dirty="0">
                <a:latin typeface="Times New Roman"/>
                <a:cs typeface="Times New Roman"/>
              </a:rPr>
              <a:t>n</a:t>
            </a:r>
            <a:r>
              <a:rPr sz="2800" spc="15" baseline="-21505" dirty="0">
                <a:latin typeface="Times New Roman"/>
                <a:cs typeface="Times New Roman"/>
              </a:rPr>
              <a:t>a </a:t>
            </a:r>
            <a:r>
              <a:rPr sz="2800" spc="10" dirty="0">
                <a:latin typeface="Times New Roman"/>
                <a:cs typeface="Times New Roman"/>
              </a:rPr>
              <a:t>=</a:t>
            </a:r>
            <a:r>
              <a:rPr sz="2800" spc="-210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1)</a:t>
            </a:r>
            <a:endParaRPr sz="2800" dirty="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spcBef>
                <a:spcPts val="2235"/>
              </a:spcBef>
              <a:tabLst>
                <a:tab pos="986155" algn="l"/>
                <a:tab pos="1306830" algn="l"/>
                <a:tab pos="3286125" algn="l"/>
                <a:tab pos="3606800" algn="l"/>
                <a:tab pos="6060440" algn="l"/>
                <a:tab pos="6374130" algn="l"/>
              </a:tabLst>
            </a:pPr>
            <a:r>
              <a:rPr sz="2800" spc="10" dirty="0">
                <a:latin typeface="Symbol"/>
                <a:cs typeface="Symbol"/>
              </a:rPr>
              <a:t></a:t>
            </a:r>
            <a:r>
              <a:rPr sz="2800" spc="15" baseline="-21505" dirty="0">
                <a:latin typeface="Times New Roman"/>
                <a:cs typeface="Times New Roman"/>
              </a:rPr>
              <a:t>a	</a:t>
            </a:r>
            <a:r>
              <a:rPr sz="2800" spc="10" dirty="0">
                <a:latin typeface="Times New Roman"/>
                <a:cs typeface="Times New Roman"/>
              </a:rPr>
              <a:t>=	</a:t>
            </a:r>
            <a:r>
              <a:rPr sz="2800" spc="5" dirty="0">
                <a:latin typeface="Times New Roman"/>
                <a:cs typeface="Times New Roman"/>
              </a:rPr>
              <a:t>sin</a:t>
            </a:r>
            <a:r>
              <a:rPr sz="2800" spc="7" baseline="25089" dirty="0">
                <a:latin typeface="Times New Roman"/>
                <a:cs typeface="Times New Roman"/>
              </a:rPr>
              <a:t>-1  </a:t>
            </a:r>
            <a:r>
              <a:rPr sz="2800" spc="10" dirty="0">
                <a:latin typeface="Times New Roman"/>
                <a:cs typeface="Times New Roman"/>
              </a:rPr>
              <a:t>(n</a:t>
            </a:r>
            <a:r>
              <a:rPr sz="2800" spc="15" baseline="-21505" dirty="0">
                <a:latin typeface="Times New Roman"/>
                <a:cs typeface="Times New Roman"/>
              </a:rPr>
              <a:t>1</a:t>
            </a:r>
            <a:r>
              <a:rPr sz="2800" spc="30" baseline="-2150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Symbol"/>
                <a:cs typeface="Symbol"/>
              </a:rPr>
              <a:t></a:t>
            </a:r>
            <a:r>
              <a:rPr sz="2800" spc="15" baseline="-21505" dirty="0">
                <a:latin typeface="Times New Roman"/>
                <a:cs typeface="Times New Roman"/>
              </a:rPr>
              <a:t>c</a:t>
            </a:r>
            <a:r>
              <a:rPr sz="2800" spc="10" dirty="0">
                <a:latin typeface="Times New Roman"/>
                <a:cs typeface="Times New Roman"/>
              </a:rPr>
              <a:t>)	=</a:t>
            </a:r>
            <a:r>
              <a:rPr sz="2800" spc="5" dirty="0">
                <a:latin typeface="Times New Roman"/>
                <a:cs typeface="Times New Roman"/>
              </a:rPr>
              <a:t>sin</a:t>
            </a:r>
            <a:r>
              <a:rPr sz="2800" spc="7" baseline="25089" dirty="0">
                <a:latin typeface="Times New Roman"/>
                <a:cs typeface="Times New Roman"/>
              </a:rPr>
              <a:t>-1  </a:t>
            </a:r>
            <a:r>
              <a:rPr sz="2800" spc="5" dirty="0">
                <a:latin typeface="Times New Roman"/>
                <a:cs typeface="Times New Roman"/>
              </a:rPr>
              <a:t>(1.46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sin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9.5</a:t>
            </a:r>
            <a:r>
              <a:rPr sz="2800" spc="15" baseline="25089" dirty="0">
                <a:latin typeface="Times New Roman"/>
                <a:cs typeface="Times New Roman"/>
              </a:rPr>
              <a:t>o</a:t>
            </a:r>
            <a:r>
              <a:rPr sz="2800" spc="10" dirty="0">
                <a:latin typeface="Times New Roman"/>
                <a:cs typeface="Times New Roman"/>
              </a:rPr>
              <a:t>)~14</a:t>
            </a:r>
            <a:r>
              <a:rPr sz="2800" spc="15" baseline="25089" dirty="0">
                <a:latin typeface="Times New Roman"/>
                <a:cs typeface="Times New Roman"/>
              </a:rPr>
              <a:t>o</a:t>
            </a:r>
            <a:endParaRPr sz="2800" baseline="25089" dirty="0">
              <a:latin typeface="Times New Roman"/>
              <a:cs typeface="Times New Roman"/>
            </a:endParaRPr>
          </a:p>
          <a:p>
            <a:pPr marL="548640">
              <a:lnSpc>
                <a:spcPct val="100000"/>
              </a:lnSpc>
              <a:tabLst>
                <a:tab pos="1080135" algn="l"/>
                <a:tab pos="4046220" algn="l"/>
                <a:tab pos="4359910" algn="l"/>
              </a:tabLst>
            </a:pPr>
            <a:r>
              <a:rPr lang="en-US" sz="2800" spc="10" dirty="0">
                <a:latin typeface="Times New Roman"/>
                <a:cs typeface="Times New Roman"/>
              </a:rPr>
              <a:t>	</a:t>
            </a:r>
            <a:r>
              <a:rPr sz="2800" spc="10" dirty="0">
                <a:latin typeface="Times New Roman"/>
                <a:cs typeface="Times New Roman"/>
              </a:rPr>
              <a:t>=&gt;</a:t>
            </a:r>
            <a:r>
              <a:rPr sz="2800" spc="5" dirty="0">
                <a:latin typeface="Times New Roman"/>
                <a:cs typeface="Times New Roman"/>
              </a:rPr>
              <a:t>the acceptance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spc="5" dirty="0">
                <a:latin typeface="Times New Roman"/>
                <a:cs typeface="Times New Roman"/>
              </a:rPr>
              <a:t>angle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Symbol"/>
                <a:cs typeface="Symbol"/>
              </a:rPr>
              <a:t></a:t>
            </a:r>
            <a:r>
              <a:rPr sz="2800" spc="15" baseline="-21505" dirty="0">
                <a:latin typeface="Times New Roman"/>
                <a:cs typeface="Times New Roman"/>
              </a:rPr>
              <a:t>a</a:t>
            </a:r>
            <a:r>
              <a:rPr sz="2800" spc="10" dirty="0">
                <a:latin typeface="Times New Roman"/>
                <a:cs typeface="Times New Roman"/>
              </a:rPr>
              <a:t>~14</a:t>
            </a:r>
            <a:r>
              <a:rPr sz="2800" spc="15" baseline="25089" dirty="0">
                <a:latin typeface="Times New Roman"/>
                <a:cs typeface="Times New Roman"/>
              </a:rPr>
              <a:t>o</a:t>
            </a:r>
            <a:endParaRPr sz="2800" baseline="25089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7408626"/>
      </p:ext>
    </p:extLst>
  </p:cSld>
  <p:clrMapOvr>
    <a:masterClrMapping/>
  </p:clrMapOvr>
  <p:transition spd="slow"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8900" y="340447"/>
            <a:ext cx="4483800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Fiber numerical</a:t>
            </a:r>
            <a:r>
              <a:rPr sz="3200" spc="-10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aperture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8776" y="1109381"/>
            <a:ext cx="9038523" cy="1235373"/>
          </a:xfrm>
          <a:prstGeom prst="rect">
            <a:avLst/>
          </a:prstGeom>
        </p:spPr>
        <p:txBody>
          <a:bodyPr vert="horz" wrap="square" lIns="0" tIns="14829" rIns="0" bIns="0" rtlCol="0">
            <a:spAutoFit/>
          </a:bodyPr>
          <a:lstStyle/>
          <a:p>
            <a:pPr marL="12357">
              <a:spcBef>
                <a:spcPts val="117"/>
              </a:spcBef>
            </a:pPr>
            <a:r>
              <a:rPr sz="2287" spc="5" dirty="0">
                <a:latin typeface="Times New Roman"/>
                <a:cs typeface="Times New Roman"/>
              </a:rPr>
              <a:t>In fiber optics, </a:t>
            </a:r>
            <a:r>
              <a:rPr sz="2287" spc="10" dirty="0">
                <a:latin typeface="Times New Roman"/>
                <a:cs typeface="Times New Roman"/>
              </a:rPr>
              <a:t>we </a:t>
            </a:r>
            <a:r>
              <a:rPr sz="2287" spc="5" dirty="0">
                <a:latin typeface="Times New Roman"/>
                <a:cs typeface="Times New Roman"/>
              </a:rPr>
              <a:t>describe the fiber acceptance angle</a:t>
            </a:r>
            <a:r>
              <a:rPr sz="2287" spc="34" dirty="0">
                <a:latin typeface="Times New Roman"/>
                <a:cs typeface="Times New Roman"/>
              </a:rPr>
              <a:t> </a:t>
            </a:r>
            <a:r>
              <a:rPr sz="2287" spc="5" dirty="0">
                <a:latin typeface="Times New Roman"/>
                <a:cs typeface="Times New Roman"/>
              </a:rPr>
              <a:t>using</a:t>
            </a:r>
            <a:endParaRPr sz="2287" dirty="0">
              <a:latin typeface="Times New Roman"/>
              <a:cs typeface="Times New Roman"/>
            </a:endParaRPr>
          </a:p>
          <a:p>
            <a:pPr marL="12357">
              <a:spcBef>
                <a:spcPts val="49"/>
              </a:spcBef>
            </a:pPr>
            <a:r>
              <a:rPr sz="2287" b="1" spc="5" dirty="0">
                <a:solidFill>
                  <a:srgbClr val="FF0000"/>
                </a:solidFill>
                <a:latin typeface="Times New Roman"/>
                <a:cs typeface="Times New Roman"/>
              </a:rPr>
              <a:t>Numerical </a:t>
            </a:r>
            <a:r>
              <a:rPr sz="2287" b="1" dirty="0">
                <a:solidFill>
                  <a:srgbClr val="FF0000"/>
                </a:solidFill>
                <a:latin typeface="Times New Roman"/>
                <a:cs typeface="Times New Roman"/>
              </a:rPr>
              <a:t>Aperture</a:t>
            </a:r>
            <a:r>
              <a:rPr sz="2287" b="1" spc="-13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87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(NA):</a:t>
            </a:r>
            <a:endParaRPr sz="2287" dirty="0">
              <a:latin typeface="Times New Roman"/>
              <a:cs typeface="Times New Roman"/>
            </a:endParaRPr>
          </a:p>
          <a:p>
            <a:pPr marL="309545" algn="ctr">
              <a:lnSpc>
                <a:spcPts val="2048"/>
              </a:lnSpc>
              <a:spcBef>
                <a:spcPts val="1970"/>
              </a:spcBef>
              <a:tabLst>
                <a:tab pos="863761" algn="l"/>
                <a:tab pos="1175778" algn="l"/>
                <a:tab pos="2284210" algn="l"/>
              </a:tabLst>
            </a:pPr>
            <a:r>
              <a:rPr sz="2287" spc="15" dirty="0">
                <a:solidFill>
                  <a:srgbClr val="3333CC"/>
                </a:solidFill>
                <a:latin typeface="Times New Roman"/>
                <a:cs typeface="Times New Roman"/>
              </a:rPr>
              <a:t>NA	</a:t>
            </a:r>
            <a:r>
              <a:rPr sz="2287" spc="10" dirty="0">
                <a:solidFill>
                  <a:srgbClr val="3333CC"/>
                </a:solidFill>
                <a:latin typeface="Times New Roman"/>
                <a:cs typeface="Times New Roman"/>
              </a:rPr>
              <a:t>=	n</a:t>
            </a:r>
            <a:r>
              <a:rPr sz="2262" spc="15" baseline="-21505" dirty="0">
                <a:solidFill>
                  <a:srgbClr val="3333CC"/>
                </a:solidFill>
                <a:latin typeface="Times New Roman"/>
                <a:cs typeface="Times New Roman"/>
              </a:rPr>
              <a:t>a</a:t>
            </a:r>
            <a:r>
              <a:rPr sz="2262" spc="299" baseline="-2150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87" spc="5" dirty="0">
                <a:solidFill>
                  <a:srgbClr val="3333CC"/>
                </a:solidFill>
                <a:latin typeface="Times New Roman"/>
                <a:cs typeface="Times New Roman"/>
              </a:rPr>
              <a:t>sin</a:t>
            </a:r>
            <a:r>
              <a:rPr sz="2287" spc="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87" spc="1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2262" spc="15" baseline="-21505" dirty="0">
                <a:solidFill>
                  <a:srgbClr val="3333CC"/>
                </a:solidFill>
                <a:latin typeface="Times New Roman"/>
                <a:cs typeface="Times New Roman"/>
              </a:rPr>
              <a:t>a	</a:t>
            </a:r>
            <a:r>
              <a:rPr sz="2287" spc="10" dirty="0">
                <a:solidFill>
                  <a:srgbClr val="3333CC"/>
                </a:solidFill>
                <a:latin typeface="Times New Roman"/>
                <a:cs typeface="Times New Roman"/>
              </a:rPr>
              <a:t>= </a:t>
            </a:r>
            <a:r>
              <a:rPr sz="2287" spc="5" dirty="0">
                <a:solidFill>
                  <a:srgbClr val="3333CC"/>
                </a:solidFill>
                <a:latin typeface="Times New Roman"/>
                <a:cs typeface="Times New Roman"/>
              </a:rPr>
              <a:t>sin </a:t>
            </a:r>
            <a:r>
              <a:rPr sz="2287" spc="10" dirty="0">
                <a:solidFill>
                  <a:srgbClr val="3333CC"/>
                </a:solidFill>
                <a:latin typeface="Symbol"/>
                <a:cs typeface="Symbol"/>
              </a:rPr>
              <a:t></a:t>
            </a:r>
            <a:r>
              <a:rPr sz="2262" spc="15" baseline="-21505" dirty="0">
                <a:solidFill>
                  <a:srgbClr val="3333CC"/>
                </a:solidFill>
                <a:latin typeface="Times New Roman"/>
                <a:cs typeface="Times New Roman"/>
              </a:rPr>
              <a:t>a </a:t>
            </a:r>
            <a:r>
              <a:rPr sz="2287" spc="10" dirty="0">
                <a:latin typeface="Times New Roman"/>
                <a:cs typeface="Times New Roman"/>
              </a:rPr>
              <a:t>= </a:t>
            </a:r>
            <a:r>
              <a:rPr sz="2287" spc="5" dirty="0">
                <a:solidFill>
                  <a:srgbClr val="3333CC"/>
                </a:solidFill>
                <a:latin typeface="Times New Roman"/>
                <a:cs typeface="Times New Roman"/>
              </a:rPr>
              <a:t>(n</a:t>
            </a:r>
            <a:r>
              <a:rPr lang="en-US" sz="2287" spc="5" baseline="-25000" dirty="0">
                <a:solidFill>
                  <a:srgbClr val="3333CC"/>
                </a:solidFill>
                <a:latin typeface="Times New Roman"/>
                <a:cs typeface="Times New Roman"/>
              </a:rPr>
              <a:t>1</a:t>
            </a:r>
            <a:r>
              <a:rPr sz="2287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62" spc="21" baseline="25089" dirty="0">
                <a:solidFill>
                  <a:srgbClr val="3333CC"/>
                </a:solidFill>
                <a:latin typeface="Times New Roman"/>
                <a:cs typeface="Times New Roman"/>
              </a:rPr>
              <a:t>2 </a:t>
            </a:r>
            <a:r>
              <a:rPr lang="en-US" sz="2287" spc="5" dirty="0">
                <a:solidFill>
                  <a:srgbClr val="3333CC"/>
                </a:solidFill>
                <a:latin typeface="Times New Roman"/>
                <a:cs typeface="Times New Roman"/>
              </a:rPr>
              <a:t>–</a:t>
            </a:r>
            <a:r>
              <a:rPr sz="2287" spc="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87" spc="10" dirty="0">
                <a:solidFill>
                  <a:srgbClr val="3333CC"/>
                </a:solidFill>
                <a:latin typeface="Times New Roman"/>
                <a:cs typeface="Times New Roman"/>
              </a:rPr>
              <a:t>n</a:t>
            </a:r>
            <a:r>
              <a:rPr lang="en-US" sz="2287" spc="10" baseline="-25000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287" spc="-5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262" spc="15" baseline="25089" dirty="0">
                <a:solidFill>
                  <a:srgbClr val="3333CC"/>
                </a:solidFill>
                <a:latin typeface="Times New Roman"/>
                <a:cs typeface="Times New Roman"/>
              </a:rPr>
              <a:t>2</a:t>
            </a:r>
            <a:r>
              <a:rPr sz="2287" spc="10" dirty="0">
                <a:solidFill>
                  <a:srgbClr val="3333CC"/>
                </a:solidFill>
                <a:latin typeface="Times New Roman"/>
                <a:cs typeface="Times New Roman"/>
              </a:rPr>
              <a:t>)</a:t>
            </a:r>
            <a:r>
              <a:rPr sz="2262" spc="15" baseline="25089" dirty="0">
                <a:solidFill>
                  <a:srgbClr val="3333CC"/>
                </a:solidFill>
                <a:latin typeface="Times New Roman"/>
                <a:cs typeface="Times New Roman"/>
              </a:rPr>
              <a:t>1/2</a:t>
            </a:r>
            <a:endParaRPr sz="2262" baseline="25089" dirty="0">
              <a:latin typeface="Times New Roman"/>
              <a:cs typeface="Times New Roman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839243E-8E1A-403E-8BB0-9381BF5A02AB}"/>
              </a:ext>
            </a:extLst>
          </p:cNvPr>
          <p:cNvGrpSpPr/>
          <p:nvPr/>
        </p:nvGrpSpPr>
        <p:grpSpPr>
          <a:xfrm>
            <a:off x="1612900" y="2591889"/>
            <a:ext cx="6619500" cy="1632383"/>
            <a:chOff x="1813846" y="4068589"/>
            <a:chExt cx="6619500" cy="1632383"/>
          </a:xfrm>
        </p:grpSpPr>
        <p:grpSp>
          <p:nvGrpSpPr>
            <p:cNvPr id="6" name="object 6"/>
            <p:cNvGrpSpPr/>
            <p:nvPr/>
          </p:nvGrpSpPr>
          <p:grpSpPr>
            <a:xfrm>
              <a:off x="2914443" y="4068589"/>
              <a:ext cx="5518903" cy="1479204"/>
              <a:chOff x="2529550" y="4181320"/>
              <a:chExt cx="5671820" cy="1520190"/>
            </a:xfrm>
          </p:grpSpPr>
          <p:sp>
            <p:nvSpPr>
              <p:cNvPr id="7" name="object 7"/>
              <p:cNvSpPr/>
              <p:nvPr/>
            </p:nvSpPr>
            <p:spPr>
              <a:xfrm>
                <a:off x="2542032" y="4187672"/>
                <a:ext cx="5652770" cy="1507490"/>
              </a:xfrm>
              <a:custGeom>
                <a:avLst/>
                <a:gdLst/>
                <a:ahLst/>
                <a:cxnLst/>
                <a:rect l="l" t="t" r="r" b="b"/>
                <a:pathLst>
                  <a:path w="5652770" h="1507489">
                    <a:moveTo>
                      <a:pt x="5652655" y="1130528"/>
                    </a:moveTo>
                    <a:lnTo>
                      <a:pt x="0" y="1130528"/>
                    </a:lnTo>
                    <a:lnTo>
                      <a:pt x="0" y="1507375"/>
                    </a:lnTo>
                    <a:lnTo>
                      <a:pt x="5652655" y="1507375"/>
                    </a:lnTo>
                    <a:lnTo>
                      <a:pt x="5652655" y="1130528"/>
                    </a:lnTo>
                    <a:close/>
                  </a:path>
                  <a:path w="5652770" h="1507489">
                    <a:moveTo>
                      <a:pt x="5652655" y="0"/>
                    </a:moveTo>
                    <a:lnTo>
                      <a:pt x="0" y="0"/>
                    </a:lnTo>
                    <a:lnTo>
                      <a:pt x="0" y="370560"/>
                    </a:lnTo>
                    <a:lnTo>
                      <a:pt x="5652655" y="370560"/>
                    </a:lnTo>
                    <a:lnTo>
                      <a:pt x="5652655" y="0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2542033" y="4187670"/>
                <a:ext cx="5652770" cy="1507490"/>
              </a:xfrm>
              <a:custGeom>
                <a:avLst/>
                <a:gdLst/>
                <a:ahLst/>
                <a:cxnLst/>
                <a:rect l="l" t="t" r="r" b="b"/>
                <a:pathLst>
                  <a:path w="5652770" h="1507489">
                    <a:moveTo>
                      <a:pt x="0" y="0"/>
                    </a:moveTo>
                    <a:lnTo>
                      <a:pt x="5652656" y="0"/>
                    </a:lnTo>
                    <a:lnTo>
                      <a:pt x="5652656" y="1507375"/>
                    </a:lnTo>
                    <a:lnTo>
                      <a:pt x="0" y="1507375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542031" y="4558233"/>
                <a:ext cx="5652770" cy="760095"/>
              </a:xfrm>
              <a:custGeom>
                <a:avLst/>
                <a:gdLst/>
                <a:ahLst/>
                <a:cxnLst/>
                <a:rect l="l" t="t" r="r" b="b"/>
                <a:pathLst>
                  <a:path w="5652770" h="760095">
                    <a:moveTo>
                      <a:pt x="5652655" y="0"/>
                    </a:moveTo>
                    <a:lnTo>
                      <a:pt x="0" y="0"/>
                    </a:lnTo>
                    <a:lnTo>
                      <a:pt x="0" y="759968"/>
                    </a:lnTo>
                    <a:lnTo>
                      <a:pt x="5652655" y="759968"/>
                    </a:lnTo>
                    <a:lnTo>
                      <a:pt x="5652655" y="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2542033" y="4558233"/>
                <a:ext cx="5652770" cy="760095"/>
              </a:xfrm>
              <a:custGeom>
                <a:avLst/>
                <a:gdLst/>
                <a:ahLst/>
                <a:cxnLst/>
                <a:rect l="l" t="t" r="r" b="b"/>
                <a:pathLst>
                  <a:path w="5652770" h="760095">
                    <a:moveTo>
                      <a:pt x="0" y="0"/>
                    </a:moveTo>
                    <a:lnTo>
                      <a:pt x="5652656" y="0"/>
                    </a:lnTo>
                    <a:lnTo>
                      <a:pt x="5652656" y="759968"/>
                    </a:lnTo>
                    <a:lnTo>
                      <a:pt x="0" y="759968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2542250" y="4567619"/>
                <a:ext cx="2688590" cy="374015"/>
              </a:xfrm>
              <a:custGeom>
                <a:avLst/>
                <a:gdLst/>
                <a:ahLst/>
                <a:cxnLst/>
                <a:rect l="l" t="t" r="r" b="b"/>
                <a:pathLst>
                  <a:path w="2688590" h="374014">
                    <a:moveTo>
                      <a:pt x="0" y="373569"/>
                    </a:moveTo>
                    <a:lnTo>
                      <a:pt x="2688162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175453" y="4537214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10" h="74929">
                    <a:moveTo>
                      <a:pt x="0" y="0"/>
                    </a:moveTo>
                    <a:lnTo>
                      <a:pt x="10375" y="74650"/>
                    </a:lnTo>
                    <a:lnTo>
                      <a:pt x="79832" y="269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5179880" y="4564158"/>
                <a:ext cx="1558290" cy="222885"/>
              </a:xfrm>
              <a:custGeom>
                <a:avLst/>
                <a:gdLst/>
                <a:ahLst/>
                <a:cxnLst/>
                <a:rect l="l" t="t" r="r" b="b"/>
                <a:pathLst>
                  <a:path w="1558290" h="222885">
                    <a:moveTo>
                      <a:pt x="1557868" y="222664"/>
                    </a:moveTo>
                    <a:lnTo>
                      <a:pt x="0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6682676" y="4742408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09" h="74929">
                    <a:moveTo>
                      <a:pt x="10667" y="0"/>
                    </a:moveTo>
                    <a:lnTo>
                      <a:pt x="0" y="74612"/>
                    </a:lnTo>
                    <a:lnTo>
                      <a:pt x="79946" y="47967"/>
                    </a:lnTo>
                    <a:lnTo>
                      <a:pt x="10667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5255308" y="4564514"/>
                <a:ext cx="0" cy="452755"/>
              </a:xfrm>
              <a:custGeom>
                <a:avLst/>
                <a:gdLst/>
                <a:ahLst/>
                <a:cxnLst/>
                <a:rect l="l" t="t" r="r" b="b"/>
                <a:pathLst>
                  <a:path h="452754">
                    <a:moveTo>
                      <a:pt x="0" y="0"/>
                    </a:moveTo>
                    <a:lnTo>
                      <a:pt x="0" y="452212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4878464" y="4639882"/>
                <a:ext cx="377190" cy="226695"/>
              </a:xfrm>
              <a:custGeom>
                <a:avLst/>
                <a:gdLst/>
                <a:ahLst/>
                <a:cxnLst/>
                <a:rect l="l" t="t" r="r" b="b"/>
                <a:pathLst>
                  <a:path w="377189" h="226695">
                    <a:moveTo>
                      <a:pt x="0" y="0"/>
                    </a:moveTo>
                    <a:lnTo>
                      <a:pt x="5593" y="42100"/>
                    </a:lnTo>
                    <a:lnTo>
                      <a:pt x="16486" y="82434"/>
                    </a:lnTo>
                    <a:lnTo>
                      <a:pt x="37978" y="119235"/>
                    </a:lnTo>
                    <a:lnTo>
                      <a:pt x="75368" y="150737"/>
                    </a:lnTo>
                    <a:lnTo>
                      <a:pt x="111221" y="168096"/>
                    </a:lnTo>
                    <a:lnTo>
                      <a:pt x="154924" y="182839"/>
                    </a:lnTo>
                    <a:lnTo>
                      <a:pt x="204908" y="195487"/>
                    </a:lnTo>
                    <a:lnTo>
                      <a:pt x="259603" y="206566"/>
                    </a:lnTo>
                    <a:lnTo>
                      <a:pt x="317438" y="216597"/>
                    </a:lnTo>
                    <a:lnTo>
                      <a:pt x="376843" y="226106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17" name="object 17"/>
            <p:cNvSpPr txBox="1"/>
            <p:nvPr/>
          </p:nvSpPr>
          <p:spPr>
            <a:xfrm>
              <a:off x="5104281" y="4619777"/>
              <a:ext cx="313883" cy="366930"/>
            </a:xfrm>
            <a:prstGeom prst="rect">
              <a:avLst/>
            </a:prstGeom>
          </p:spPr>
          <p:txBody>
            <a:bodyPr vert="horz" wrap="square" lIns="0" tIns="14829" rIns="0" bIns="0" rtlCol="0">
              <a:spAutoFit/>
            </a:bodyPr>
            <a:lstStyle/>
            <a:p>
              <a:pPr marL="37071">
                <a:spcBef>
                  <a:spcPts val="117"/>
                </a:spcBef>
              </a:pPr>
              <a:r>
                <a:rPr sz="2287" spc="10" dirty="0">
                  <a:latin typeface="Symbol"/>
                  <a:cs typeface="Symbol"/>
                </a:rPr>
                <a:t></a:t>
              </a:r>
              <a:r>
                <a:rPr sz="2262" spc="15" baseline="-21505" dirty="0">
                  <a:latin typeface="Times New Roman"/>
                  <a:cs typeface="Times New Roman"/>
                </a:rPr>
                <a:t>c</a:t>
              </a:r>
              <a:endParaRPr sz="2262" baseline="-21505">
                <a:latin typeface="Times New Roman"/>
                <a:cs typeface="Times New Roman"/>
              </a:endParaRPr>
            </a:p>
          </p:txBody>
        </p:sp>
        <p:grpSp>
          <p:nvGrpSpPr>
            <p:cNvPr id="18" name="object 18"/>
            <p:cNvGrpSpPr/>
            <p:nvPr/>
          </p:nvGrpSpPr>
          <p:grpSpPr>
            <a:xfrm>
              <a:off x="1813846" y="4795778"/>
              <a:ext cx="2078548" cy="905194"/>
              <a:chOff x="1398458" y="4928658"/>
              <a:chExt cx="2136140" cy="930275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1788345" y="4941358"/>
                <a:ext cx="17335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733550">
                    <a:moveTo>
                      <a:pt x="0" y="0"/>
                    </a:moveTo>
                    <a:lnTo>
                      <a:pt x="1733481" y="0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1411158" y="4956886"/>
                <a:ext cx="1111885" cy="889635"/>
              </a:xfrm>
              <a:custGeom>
                <a:avLst/>
                <a:gdLst/>
                <a:ahLst/>
                <a:cxnLst/>
                <a:rect l="l" t="t" r="r" b="b"/>
                <a:pathLst>
                  <a:path w="1111885" h="889635">
                    <a:moveTo>
                      <a:pt x="0" y="889183"/>
                    </a:moveTo>
                    <a:lnTo>
                      <a:pt x="1111478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2459850" y="4941201"/>
                <a:ext cx="82550" cy="7683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6835">
                    <a:moveTo>
                      <a:pt x="82397" y="0"/>
                    </a:moveTo>
                    <a:lnTo>
                      <a:pt x="0" y="17652"/>
                    </a:lnTo>
                    <a:lnTo>
                      <a:pt x="47091" y="76504"/>
                    </a:lnTo>
                    <a:lnTo>
                      <a:pt x="82397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1932017" y="4941358"/>
                <a:ext cx="8255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377189">
                    <a:moveTo>
                      <a:pt x="7065" y="0"/>
                    </a:moveTo>
                    <a:lnTo>
                      <a:pt x="2649" y="60942"/>
                    </a:lnTo>
                    <a:lnTo>
                      <a:pt x="0" y="120118"/>
                    </a:lnTo>
                    <a:lnTo>
                      <a:pt x="883" y="175762"/>
                    </a:lnTo>
                    <a:lnTo>
                      <a:pt x="7065" y="226106"/>
                    </a:lnTo>
                    <a:lnTo>
                      <a:pt x="19725" y="269973"/>
                    </a:lnTo>
                    <a:lnTo>
                      <a:pt x="37684" y="308540"/>
                    </a:lnTo>
                    <a:lnTo>
                      <a:pt x="59176" y="343575"/>
                    </a:lnTo>
                    <a:lnTo>
                      <a:pt x="82434" y="376843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23" name="object 23"/>
            <p:cNvSpPr txBox="1"/>
            <p:nvPr/>
          </p:nvSpPr>
          <p:spPr>
            <a:xfrm>
              <a:off x="3921733" y="4546435"/>
              <a:ext cx="346013" cy="366930"/>
            </a:xfrm>
            <a:prstGeom prst="rect">
              <a:avLst/>
            </a:prstGeom>
          </p:spPr>
          <p:txBody>
            <a:bodyPr vert="horz" wrap="square" lIns="0" tIns="14829" rIns="0" bIns="0" rtlCol="0">
              <a:spAutoFit/>
            </a:bodyPr>
            <a:lstStyle/>
            <a:p>
              <a:pPr marL="37071">
                <a:spcBef>
                  <a:spcPts val="117"/>
                </a:spcBef>
              </a:pPr>
              <a:r>
                <a:rPr sz="2287" spc="10" dirty="0">
                  <a:latin typeface="Symbol"/>
                  <a:cs typeface="Symbol"/>
                </a:rPr>
                <a:t></a:t>
              </a:r>
              <a:r>
                <a:rPr sz="2262" spc="15" baseline="-21505" dirty="0">
                  <a:latin typeface="Times New Roman"/>
                  <a:cs typeface="Times New Roman"/>
                </a:rPr>
                <a:t>c</a:t>
              </a:r>
              <a:endParaRPr sz="2262" baseline="-21505">
                <a:latin typeface="Times New Roman"/>
                <a:cs typeface="Times New Roman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1998433" y="4839779"/>
              <a:ext cx="177949" cy="366930"/>
            </a:xfrm>
            <a:prstGeom prst="rect">
              <a:avLst/>
            </a:prstGeom>
          </p:spPr>
          <p:txBody>
            <a:bodyPr vert="horz" wrap="square" lIns="0" tIns="14829" rIns="0" bIns="0" rtlCol="0">
              <a:spAutoFit/>
            </a:bodyPr>
            <a:lstStyle/>
            <a:p>
              <a:pPr marL="12357">
                <a:spcBef>
                  <a:spcPts val="117"/>
                </a:spcBef>
              </a:pPr>
              <a:r>
                <a:rPr sz="2287" spc="10" dirty="0">
                  <a:latin typeface="Symbol"/>
                  <a:cs typeface="Symbol"/>
                </a:rPr>
                <a:t></a:t>
              </a:r>
              <a:endParaRPr sz="2287">
                <a:latin typeface="Symbol"/>
                <a:cs typeface="Symbol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2151266" y="5010898"/>
              <a:ext cx="111836" cy="248273"/>
            </a:xfrm>
            <a:prstGeom prst="rect">
              <a:avLst/>
            </a:prstGeom>
          </p:spPr>
          <p:txBody>
            <a:bodyPr vert="horz" wrap="square" lIns="0" tIns="16065" rIns="0" bIns="0" rtlCol="0">
              <a:spAutoFit/>
            </a:bodyPr>
            <a:lstStyle/>
            <a:p>
              <a:pPr marL="12357">
                <a:spcBef>
                  <a:spcPts val="126"/>
                </a:spcBef>
              </a:pPr>
              <a:r>
                <a:rPr sz="1508" spc="10" dirty="0">
                  <a:latin typeface="Times New Roman"/>
                  <a:cs typeface="Times New Roman"/>
                </a:rPr>
                <a:t>a</a:t>
              </a:r>
              <a:endParaRPr sz="1508">
                <a:latin typeface="Times New Roman"/>
                <a:cs typeface="Times New Roman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3148900" y="4766449"/>
              <a:ext cx="171771" cy="366930"/>
            </a:xfrm>
            <a:prstGeom prst="rect">
              <a:avLst/>
            </a:prstGeom>
          </p:spPr>
          <p:txBody>
            <a:bodyPr vert="horz" wrap="square" lIns="0" tIns="14829" rIns="0" bIns="0" rtlCol="0">
              <a:spAutoFit/>
            </a:bodyPr>
            <a:lstStyle/>
            <a:p>
              <a:pPr marL="12357">
                <a:spcBef>
                  <a:spcPts val="117"/>
                </a:spcBef>
              </a:pPr>
              <a:r>
                <a:rPr sz="2287" spc="10" dirty="0">
                  <a:latin typeface="Times New Roman"/>
                  <a:cs typeface="Times New Roman"/>
                </a:rPr>
                <a:t>n</a:t>
              </a:r>
              <a:endParaRPr sz="2287">
                <a:latin typeface="Times New Roman"/>
                <a:cs typeface="Times New Roman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3295574" y="4937568"/>
              <a:ext cx="122957" cy="248273"/>
            </a:xfrm>
            <a:prstGeom prst="rect">
              <a:avLst/>
            </a:prstGeom>
          </p:spPr>
          <p:txBody>
            <a:bodyPr vert="horz" wrap="square" lIns="0" tIns="16065" rIns="0" bIns="0" rtlCol="0">
              <a:spAutoFit/>
            </a:bodyPr>
            <a:lstStyle/>
            <a:p>
              <a:pPr marL="12357">
                <a:spcBef>
                  <a:spcPts val="126"/>
                </a:spcBef>
              </a:pPr>
              <a:r>
                <a:rPr sz="1508" spc="15" dirty="0">
                  <a:latin typeface="Times New Roman"/>
                  <a:cs typeface="Times New Roman"/>
                </a:rPr>
                <a:t>1</a:t>
              </a:r>
              <a:endParaRPr sz="1508">
                <a:latin typeface="Times New Roman"/>
                <a:cs typeface="Times New Roman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3136543" y="5133137"/>
              <a:ext cx="306468" cy="366930"/>
            </a:xfrm>
            <a:prstGeom prst="rect">
              <a:avLst/>
            </a:prstGeom>
          </p:spPr>
          <p:txBody>
            <a:bodyPr vert="horz" wrap="square" lIns="0" tIns="14829" rIns="0" bIns="0" rtlCol="0">
              <a:spAutoFit/>
            </a:bodyPr>
            <a:lstStyle/>
            <a:p>
              <a:pPr marL="24714">
                <a:spcBef>
                  <a:spcPts val="117"/>
                </a:spcBef>
              </a:pPr>
              <a:r>
                <a:rPr sz="2287" spc="10" dirty="0">
                  <a:latin typeface="Times New Roman"/>
                  <a:cs typeface="Times New Roman"/>
                </a:rPr>
                <a:t>n</a:t>
              </a:r>
              <a:r>
                <a:rPr sz="2262" spc="15" baseline="-21505" dirty="0">
                  <a:latin typeface="Times New Roman"/>
                  <a:cs typeface="Times New Roman"/>
                </a:rPr>
                <a:t>2</a:t>
              </a:r>
              <a:endParaRPr sz="2262" baseline="-21505">
                <a:latin typeface="Times New Roman"/>
                <a:cs typeface="Times New Roman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2537496" y="5172854"/>
              <a:ext cx="307704" cy="366930"/>
            </a:xfrm>
            <a:prstGeom prst="rect">
              <a:avLst/>
            </a:prstGeom>
          </p:spPr>
          <p:txBody>
            <a:bodyPr vert="horz" wrap="square" lIns="0" tIns="14829" rIns="0" bIns="0" rtlCol="0">
              <a:spAutoFit/>
            </a:bodyPr>
            <a:lstStyle/>
            <a:p>
              <a:pPr marL="37071">
                <a:spcBef>
                  <a:spcPts val="117"/>
                </a:spcBef>
              </a:pPr>
              <a:r>
                <a:rPr sz="2287" spc="10" dirty="0">
                  <a:latin typeface="Times New Roman"/>
                  <a:cs typeface="Times New Roman"/>
                </a:rPr>
                <a:t>n</a:t>
              </a:r>
              <a:r>
                <a:rPr sz="2262" spc="15" baseline="-21505" dirty="0">
                  <a:latin typeface="Times New Roman"/>
                  <a:cs typeface="Times New Roman"/>
                </a:rPr>
                <a:t>a</a:t>
              </a:r>
              <a:endParaRPr sz="2262" baseline="-21505">
                <a:latin typeface="Times New Roman"/>
                <a:cs typeface="Times New Roman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806630" y="4661461"/>
              <a:ext cx="0" cy="147055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150737"/>
                  </a:moveTo>
                  <a:lnTo>
                    <a:pt x="0" y="105987"/>
                  </a:lnTo>
                  <a:lnTo>
                    <a:pt x="0" y="75368"/>
                  </a:lnTo>
                  <a:lnTo>
                    <a:pt x="0" y="44750"/>
                  </a:lnTo>
                  <a:lnTo>
                    <a:pt x="0" y="0"/>
                  </a:lnTo>
                </a:path>
              </a:pathLst>
            </a:custGeom>
            <a:ln w="125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751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7704E00-ABD2-413B-9D3F-F3538BC6FA9F}"/>
              </a:ext>
            </a:extLst>
          </p:cNvPr>
          <p:cNvSpPr txBox="1"/>
          <p:nvPr/>
        </p:nvSpPr>
        <p:spPr>
          <a:xfrm>
            <a:off x="620163" y="4341359"/>
            <a:ext cx="4431035" cy="2870338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38100" marR="30480">
              <a:lnSpc>
                <a:spcPct val="101699"/>
              </a:lnSpc>
              <a:spcBef>
                <a:spcPts val="75"/>
              </a:spcBef>
              <a:buChar char="•"/>
              <a:tabLst>
                <a:tab pos="277495" algn="l"/>
                <a:tab pos="278130" algn="l"/>
              </a:tabLst>
            </a:pPr>
            <a:r>
              <a:rPr lang="en-US" sz="2000" spc="10" dirty="0">
                <a:solidFill>
                  <a:srgbClr val="3333CC"/>
                </a:solidFill>
                <a:latin typeface="Times New Roman"/>
                <a:cs typeface="Times New Roman"/>
              </a:rPr>
              <a:t>we </a:t>
            </a:r>
            <a:r>
              <a:rPr lang="en-US" sz="2000" spc="5" dirty="0">
                <a:solidFill>
                  <a:srgbClr val="3333CC"/>
                </a:solidFill>
                <a:latin typeface="Times New Roman"/>
                <a:cs typeface="Times New Roman"/>
              </a:rPr>
              <a:t>consider the  refraction at the </a:t>
            </a:r>
            <a:r>
              <a:rPr lang="en-US" sz="2000" dirty="0">
                <a:solidFill>
                  <a:srgbClr val="3333CC"/>
                </a:solidFill>
                <a:latin typeface="Times New Roman"/>
                <a:cs typeface="Times New Roman"/>
              </a:rPr>
              <a:t>air-core </a:t>
            </a:r>
            <a:r>
              <a:rPr lang="en-US" sz="2000" spc="5" dirty="0">
                <a:solidFill>
                  <a:srgbClr val="3333CC"/>
                </a:solidFill>
                <a:latin typeface="Times New Roman"/>
                <a:cs typeface="Times New Roman"/>
              </a:rPr>
              <a:t>interface using </a:t>
            </a:r>
            <a:r>
              <a:rPr lang="en-US" sz="2000" spc="-165" dirty="0">
                <a:solidFill>
                  <a:srgbClr val="3333CC"/>
                </a:solidFill>
                <a:latin typeface="Times New Roman"/>
                <a:cs typeface="Times New Roman"/>
              </a:rPr>
              <a:t>Snell</a:t>
            </a:r>
            <a:r>
              <a:rPr lang="en-US" sz="2000" spc="-165" dirty="0">
                <a:solidFill>
                  <a:srgbClr val="3333CC"/>
                </a:solidFill>
                <a:latin typeface="AoyagiKouzanFontT"/>
                <a:cs typeface="Times New Roman" panose="02020603050405020304" pitchFamily="18" charset="0"/>
              </a:rPr>
              <a:t>’</a:t>
            </a:r>
            <a:r>
              <a:rPr lang="en-US" sz="2000" spc="-165" dirty="0">
                <a:solidFill>
                  <a:srgbClr val="3333CC"/>
                </a:solidFill>
                <a:latin typeface="Times New Roman"/>
                <a:cs typeface="Times New Roman"/>
              </a:rPr>
              <a:t>s</a:t>
            </a:r>
            <a:r>
              <a:rPr lang="en-US" sz="2000" spc="5" dirty="0">
                <a:solidFill>
                  <a:srgbClr val="3333CC"/>
                </a:solidFill>
                <a:latin typeface="Times New Roman"/>
                <a:cs typeface="Times New Roman"/>
              </a:rPr>
              <a:t> law:</a:t>
            </a:r>
          </a:p>
          <a:p>
            <a:pPr marL="38100" marR="30480">
              <a:lnSpc>
                <a:spcPct val="101699"/>
              </a:lnSpc>
              <a:spcBef>
                <a:spcPts val="75"/>
              </a:spcBef>
              <a:tabLst>
                <a:tab pos="277495" algn="l"/>
                <a:tab pos="278130" algn="l"/>
              </a:tabLst>
            </a:pPr>
            <a:r>
              <a:rPr lang="en-US" sz="2000" spc="5" dirty="0">
                <a:latin typeface="Times New Roman"/>
                <a:cs typeface="Times New Roman"/>
              </a:rPr>
              <a:t>At </a:t>
            </a:r>
            <a:r>
              <a:rPr lang="en-US" sz="2000" spc="10" dirty="0">
                <a:latin typeface="Symbol"/>
                <a:cs typeface="Times New Roman" panose="02020603050405020304" pitchFamily="18" charset="0"/>
              </a:rPr>
              <a:t></a:t>
            </a:r>
            <a:r>
              <a:rPr lang="en-US" sz="2000" spc="15" baseline="-21505" dirty="0">
                <a:latin typeface="Times New Roman"/>
                <a:cs typeface="Times New Roman"/>
              </a:rPr>
              <a:t>a</a:t>
            </a:r>
            <a:r>
              <a:rPr lang="en-US" sz="2000" spc="10" dirty="0">
                <a:latin typeface="Times New Roman"/>
                <a:cs typeface="Times New Roman"/>
              </a:rPr>
              <a:t>: </a:t>
            </a:r>
            <a:r>
              <a:rPr lang="en-US" sz="2000" spc="10" dirty="0" err="1">
                <a:latin typeface="Times New Roman"/>
                <a:cs typeface="Times New Roman"/>
              </a:rPr>
              <a:t>n</a:t>
            </a:r>
            <a:r>
              <a:rPr lang="en-US" sz="2000" spc="15" baseline="-21505" dirty="0" err="1">
                <a:latin typeface="Times New Roman"/>
                <a:cs typeface="Times New Roman"/>
              </a:rPr>
              <a:t>a</a:t>
            </a:r>
            <a:r>
              <a:rPr lang="en-US" sz="2000" spc="315" baseline="-21505" dirty="0">
                <a:latin typeface="Times New Roman"/>
                <a:cs typeface="Times New Roman"/>
              </a:rPr>
              <a:t> </a:t>
            </a:r>
            <a:r>
              <a:rPr lang="en-US" sz="2000" spc="5" dirty="0">
                <a:latin typeface="Times New Roman"/>
                <a:cs typeface="Times New Roman"/>
              </a:rPr>
              <a:t>sin</a:t>
            </a:r>
            <a:r>
              <a:rPr lang="en-US" sz="2000" spc="10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Symbol"/>
                <a:cs typeface="Times New Roman" panose="02020603050405020304" pitchFamily="18" charset="0"/>
              </a:rPr>
              <a:t></a:t>
            </a:r>
            <a:r>
              <a:rPr lang="en-US" sz="2000" spc="15" baseline="-21505" dirty="0">
                <a:latin typeface="Times New Roman"/>
                <a:cs typeface="Times New Roman"/>
              </a:rPr>
              <a:t>a</a:t>
            </a:r>
            <a:r>
              <a:rPr lang="en-US" sz="2000" spc="10" dirty="0">
                <a:latin typeface="Times New Roman"/>
                <a:cs typeface="Times New Roman"/>
              </a:rPr>
              <a:t>=n</a:t>
            </a:r>
            <a:r>
              <a:rPr lang="en-US" sz="2000" spc="15" baseline="-21505" dirty="0">
                <a:latin typeface="Times New Roman"/>
                <a:cs typeface="Times New Roman"/>
              </a:rPr>
              <a:t>1 </a:t>
            </a:r>
            <a:r>
              <a:rPr lang="en-US" sz="2000" spc="5" dirty="0">
                <a:latin typeface="Times New Roman"/>
                <a:cs typeface="Times New Roman"/>
              </a:rPr>
              <a:t>sin</a:t>
            </a:r>
            <a:r>
              <a:rPr lang="en-US" sz="2000" spc="-204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Symbol"/>
                <a:cs typeface="Times New Roman" panose="02020603050405020304" pitchFamily="18" charset="0"/>
              </a:rPr>
              <a:t></a:t>
            </a:r>
            <a:r>
              <a:rPr lang="en-US" sz="2000" spc="15" baseline="-21505" dirty="0">
                <a:latin typeface="Times New Roman"/>
                <a:cs typeface="Times New Roman"/>
              </a:rPr>
              <a:t>c</a:t>
            </a:r>
          </a:p>
          <a:p>
            <a:pPr marL="50800">
              <a:spcBef>
                <a:spcPts val="120"/>
              </a:spcBef>
              <a:tabLst>
                <a:tab pos="3924935" algn="l"/>
              </a:tabLst>
            </a:pPr>
            <a:r>
              <a:rPr lang="en-US" sz="2000" i="1" spc="5" dirty="0">
                <a:latin typeface="Times New Roman"/>
                <a:cs typeface="Times New Roman"/>
              </a:rPr>
              <a:t>launching the light</a:t>
            </a:r>
            <a:r>
              <a:rPr lang="en-US" sz="2000" i="1" spc="35" dirty="0">
                <a:latin typeface="Times New Roman"/>
                <a:cs typeface="Times New Roman"/>
              </a:rPr>
              <a:t> </a:t>
            </a:r>
            <a:r>
              <a:rPr lang="en-US" sz="2000" i="1" spc="-15" dirty="0">
                <a:latin typeface="Times New Roman"/>
                <a:cs typeface="Times New Roman"/>
              </a:rPr>
              <a:t>from</a:t>
            </a:r>
            <a:r>
              <a:rPr lang="en-US" sz="2000" i="1" spc="15" dirty="0">
                <a:latin typeface="Times New Roman"/>
                <a:cs typeface="Times New Roman"/>
              </a:rPr>
              <a:t> </a:t>
            </a:r>
            <a:r>
              <a:rPr lang="en-US" sz="2000" i="1" spc="5" dirty="0">
                <a:latin typeface="Times New Roman"/>
                <a:cs typeface="Times New Roman"/>
              </a:rPr>
              <a:t>air </a:t>
            </a:r>
            <a:r>
              <a:rPr lang="en-US" sz="2000" spc="10" dirty="0">
                <a:latin typeface="Times New Roman"/>
                <a:cs typeface="Times New Roman"/>
              </a:rPr>
              <a:t>(</a:t>
            </a:r>
            <a:r>
              <a:rPr lang="en-US" sz="2000" spc="10" dirty="0" err="1">
                <a:latin typeface="Times New Roman"/>
                <a:cs typeface="Times New Roman"/>
              </a:rPr>
              <a:t>n</a:t>
            </a:r>
            <a:r>
              <a:rPr lang="en-US" sz="2000" spc="15" baseline="-21505" dirty="0" err="1">
                <a:latin typeface="Times New Roman"/>
                <a:cs typeface="Times New Roman"/>
              </a:rPr>
              <a:t>a</a:t>
            </a:r>
            <a:r>
              <a:rPr lang="en-US" sz="2000" spc="15" baseline="-21505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Times New Roman"/>
                <a:cs typeface="Times New Roman"/>
              </a:rPr>
              <a:t>~</a:t>
            </a:r>
            <a:r>
              <a:rPr lang="en-US" sz="2000" spc="-210" dirty="0">
                <a:latin typeface="Times New Roman"/>
                <a:cs typeface="Times New Roman"/>
              </a:rPr>
              <a:t> </a:t>
            </a:r>
            <a:r>
              <a:rPr lang="en-US" sz="2000" spc="5" dirty="0">
                <a:latin typeface="Times New Roman"/>
                <a:cs typeface="Times New Roman"/>
              </a:rPr>
              <a:t>1): </a:t>
            </a:r>
          </a:p>
          <a:p>
            <a:pPr marL="50800">
              <a:spcBef>
                <a:spcPts val="120"/>
              </a:spcBef>
              <a:tabLst>
                <a:tab pos="3924935" algn="l"/>
              </a:tabLst>
            </a:pPr>
            <a:r>
              <a:rPr lang="en-US"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                      sin</a:t>
            </a:r>
            <a:r>
              <a:rPr lang="en-US" sz="2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2000" spc="10" dirty="0">
                <a:solidFill>
                  <a:srgbClr val="FF0000"/>
                </a:solidFill>
                <a:latin typeface="Symbol"/>
                <a:cs typeface="Times New Roman" panose="02020603050405020304" pitchFamily="18" charset="0"/>
              </a:rPr>
              <a:t></a:t>
            </a:r>
            <a:r>
              <a:rPr lang="en-US" sz="2000" spc="15" baseline="-21505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lang="en-US" sz="2000" spc="10" dirty="0">
                <a:latin typeface="Times New Roman"/>
                <a:cs typeface="Times New Roman"/>
              </a:rPr>
              <a:t>=n</a:t>
            </a:r>
            <a:r>
              <a:rPr lang="en-US" sz="2000" spc="15" baseline="-21505" dirty="0">
                <a:latin typeface="Times New Roman"/>
                <a:cs typeface="Times New Roman"/>
              </a:rPr>
              <a:t>1  </a:t>
            </a:r>
            <a:r>
              <a:rPr lang="en-US" sz="2000" spc="5" dirty="0">
                <a:latin typeface="Times New Roman"/>
                <a:cs typeface="Times New Roman"/>
              </a:rPr>
              <a:t>sin</a:t>
            </a:r>
            <a:r>
              <a:rPr lang="en-US" sz="2000" spc="-285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Symbol"/>
                <a:cs typeface="Times New Roman" panose="02020603050405020304" pitchFamily="18" charset="0"/>
              </a:rPr>
              <a:t></a:t>
            </a:r>
            <a:r>
              <a:rPr lang="en-US" sz="2000" spc="15" baseline="-21505" dirty="0">
                <a:latin typeface="Times New Roman"/>
                <a:cs typeface="Times New Roman"/>
              </a:rPr>
              <a:t>c</a:t>
            </a:r>
          </a:p>
          <a:p>
            <a:pPr marL="50800">
              <a:spcBef>
                <a:spcPts val="120"/>
              </a:spcBef>
              <a:tabLst>
                <a:tab pos="3924935" algn="l"/>
              </a:tabLst>
            </a:pPr>
            <a:r>
              <a:rPr lang="en-US" sz="2000" spc="10" dirty="0">
                <a:latin typeface="Times New Roman"/>
                <a:cs typeface="Times New Roman"/>
              </a:rPr>
              <a:t>                               = n</a:t>
            </a:r>
            <a:r>
              <a:rPr lang="en-US" sz="2000" spc="15" baseline="-21505" dirty="0">
                <a:latin typeface="Times New Roman"/>
                <a:cs typeface="Times New Roman"/>
              </a:rPr>
              <a:t>1  </a:t>
            </a:r>
            <a:r>
              <a:rPr lang="en-US" sz="2000" spc="5" dirty="0">
                <a:latin typeface="Times New Roman"/>
                <a:cs typeface="Times New Roman"/>
              </a:rPr>
              <a:t>cos</a:t>
            </a:r>
            <a:r>
              <a:rPr lang="en-US" sz="2000" spc="-280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Symbol"/>
                <a:cs typeface="Times New Roman" panose="02020603050405020304" pitchFamily="18" charset="0"/>
              </a:rPr>
              <a:t></a:t>
            </a:r>
            <a:r>
              <a:rPr lang="en-US" sz="2000" spc="15" baseline="-21505" dirty="0">
                <a:latin typeface="Times New Roman"/>
                <a:cs typeface="Times New Roman"/>
              </a:rPr>
              <a:t>c</a:t>
            </a:r>
          </a:p>
          <a:p>
            <a:pPr marL="50800">
              <a:spcBef>
                <a:spcPts val="120"/>
              </a:spcBef>
              <a:tabLst>
                <a:tab pos="3924935" algn="l"/>
              </a:tabLst>
            </a:pPr>
            <a:r>
              <a:rPr lang="en-US" sz="2000" spc="10" dirty="0">
                <a:latin typeface="Times New Roman"/>
                <a:cs typeface="Times New Roman"/>
              </a:rPr>
              <a:t>                               = n</a:t>
            </a:r>
            <a:r>
              <a:rPr lang="en-US" sz="2000" spc="15" baseline="-21505" dirty="0">
                <a:latin typeface="Times New Roman"/>
                <a:cs typeface="Times New Roman"/>
              </a:rPr>
              <a:t>1 </a:t>
            </a:r>
            <a:r>
              <a:rPr lang="en-US" sz="2000" spc="5" dirty="0">
                <a:latin typeface="Times New Roman"/>
                <a:cs typeface="Times New Roman"/>
              </a:rPr>
              <a:t>(1 -</a:t>
            </a:r>
            <a:r>
              <a:rPr lang="en-US" sz="2000" spc="-254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Times New Roman"/>
                <a:cs typeface="Times New Roman"/>
              </a:rPr>
              <a:t>sin</a:t>
            </a:r>
            <a:r>
              <a:rPr lang="en-US" sz="2000" spc="15" baseline="25089" dirty="0">
                <a:latin typeface="Times New Roman"/>
                <a:cs typeface="Times New Roman"/>
              </a:rPr>
              <a:t>2</a:t>
            </a:r>
            <a:r>
              <a:rPr lang="en-US" sz="2000" spc="10" dirty="0">
                <a:latin typeface="Symbol"/>
                <a:cs typeface="Times New Roman" panose="02020603050405020304" pitchFamily="18" charset="0"/>
              </a:rPr>
              <a:t></a:t>
            </a:r>
            <a:r>
              <a:rPr lang="en-US" sz="2000" spc="15" baseline="-21505" dirty="0">
                <a:latin typeface="Times New Roman"/>
                <a:cs typeface="Times New Roman"/>
              </a:rPr>
              <a:t>c</a:t>
            </a:r>
            <a:r>
              <a:rPr lang="en-US" sz="2000" spc="10" dirty="0">
                <a:latin typeface="Times New Roman"/>
                <a:cs typeface="Times New Roman"/>
              </a:rPr>
              <a:t>)</a:t>
            </a:r>
            <a:r>
              <a:rPr lang="en-US" sz="2000" spc="15" baseline="25089" dirty="0">
                <a:latin typeface="Times New Roman"/>
                <a:cs typeface="Times New Roman"/>
              </a:rPr>
              <a:t>1/2</a:t>
            </a:r>
          </a:p>
          <a:p>
            <a:pPr marL="50165">
              <a:lnSpc>
                <a:spcPct val="100000"/>
              </a:lnSpc>
            </a:pPr>
            <a:r>
              <a:rPr lang="pt-BR" sz="2000" spc="10" dirty="0">
                <a:latin typeface="Times New Roman"/>
                <a:cs typeface="Times New Roman"/>
              </a:rPr>
              <a:t>                              = n</a:t>
            </a:r>
            <a:r>
              <a:rPr lang="pt-BR" sz="2000" spc="15" baseline="-21505" dirty="0">
                <a:latin typeface="Times New Roman"/>
                <a:cs typeface="Times New Roman"/>
              </a:rPr>
              <a:t>1 </a:t>
            </a:r>
            <a:r>
              <a:rPr lang="pt-BR" sz="2000" spc="5" dirty="0">
                <a:latin typeface="Times New Roman"/>
                <a:cs typeface="Times New Roman"/>
              </a:rPr>
              <a:t>(1 -</a:t>
            </a:r>
            <a:r>
              <a:rPr lang="pt-BR" sz="2000" spc="-254" dirty="0">
                <a:latin typeface="Times New Roman"/>
                <a:cs typeface="Times New Roman"/>
              </a:rPr>
              <a:t> </a:t>
            </a:r>
            <a:r>
              <a:rPr lang="pt-BR" sz="2000" spc="10" dirty="0">
                <a:latin typeface="Times New Roman"/>
                <a:cs typeface="Times New Roman"/>
              </a:rPr>
              <a:t>n</a:t>
            </a:r>
            <a:r>
              <a:rPr lang="pt-BR" sz="2000" spc="15" baseline="-21505" dirty="0">
                <a:latin typeface="Times New Roman"/>
                <a:cs typeface="Times New Roman"/>
              </a:rPr>
              <a:t>2</a:t>
            </a:r>
            <a:r>
              <a:rPr lang="pt-BR" sz="2000" spc="15" baseline="25089" dirty="0">
                <a:latin typeface="Times New Roman"/>
                <a:cs typeface="Times New Roman"/>
              </a:rPr>
              <a:t>2</a:t>
            </a:r>
            <a:r>
              <a:rPr lang="pt-BR" sz="2000" spc="10" dirty="0">
                <a:latin typeface="Symbol"/>
                <a:cs typeface="Times New Roman" panose="02020603050405020304" pitchFamily="18" charset="0"/>
              </a:rPr>
              <a:t></a:t>
            </a:r>
            <a:r>
              <a:rPr lang="pt-BR" sz="2000" spc="10" dirty="0">
                <a:latin typeface="Times New Roman"/>
                <a:cs typeface="Times New Roman"/>
              </a:rPr>
              <a:t>n</a:t>
            </a:r>
            <a:r>
              <a:rPr lang="pt-BR" sz="2000" spc="15" baseline="-21505" dirty="0">
                <a:latin typeface="Times New Roman"/>
                <a:cs typeface="Times New Roman"/>
              </a:rPr>
              <a:t>1</a:t>
            </a:r>
            <a:r>
              <a:rPr lang="pt-BR" sz="2000" spc="15" baseline="25089" dirty="0">
                <a:latin typeface="Times New Roman"/>
                <a:cs typeface="Times New Roman"/>
              </a:rPr>
              <a:t>2</a:t>
            </a:r>
            <a:r>
              <a:rPr lang="pt-BR" sz="2000" spc="10" dirty="0">
                <a:latin typeface="Times New Roman"/>
                <a:cs typeface="Times New Roman"/>
              </a:rPr>
              <a:t>)</a:t>
            </a:r>
            <a:r>
              <a:rPr lang="pt-BR" sz="2000" spc="15" baseline="25089" dirty="0">
                <a:latin typeface="Times New Roman"/>
                <a:cs typeface="Times New Roman"/>
              </a:rPr>
              <a:t>1/2</a:t>
            </a:r>
            <a:endParaRPr lang="pt-BR" sz="2000" baseline="25089" dirty="0">
              <a:latin typeface="Times New Roman"/>
              <a:cs typeface="Times New Roman"/>
            </a:endParaRPr>
          </a:p>
          <a:p>
            <a:pPr marL="38100">
              <a:lnSpc>
                <a:spcPts val="1845"/>
              </a:lnSpc>
              <a:tabLst>
                <a:tab pos="810895" algn="l"/>
              </a:tabLst>
            </a:pPr>
            <a:r>
              <a:rPr lang="pt-BR"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                             =</a:t>
            </a:r>
            <a:r>
              <a:rPr lang="pt-BR"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pt-BR"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(n</a:t>
            </a:r>
            <a:r>
              <a:rPr lang="pt-BR" sz="2000" spc="15" baseline="-21505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lang="pt-BR" sz="2000" spc="15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lang="pt-BR"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- </a:t>
            </a:r>
            <a:r>
              <a:rPr lang="pt-BR"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pt-BR" sz="2000" spc="15" baseline="-2150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lang="pt-BR" sz="2000" spc="15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lang="pt-BR" sz="2000" spc="577" baseline="-215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pt-BR"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lang="pt-BR" sz="2000" dirty="0">
              <a:latin typeface="Times New Roman"/>
              <a:cs typeface="Times New Roman"/>
            </a:endParaRP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C0EFCF67-834A-47FA-B37F-C164D5D391B3}"/>
              </a:ext>
            </a:extLst>
          </p:cNvPr>
          <p:cNvSpPr txBox="1"/>
          <p:nvPr/>
        </p:nvSpPr>
        <p:spPr>
          <a:xfrm>
            <a:off x="5217218" y="4362712"/>
            <a:ext cx="4548945" cy="1538883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684530">
              <a:tabLst>
                <a:tab pos="1275080" algn="l"/>
              </a:tabLst>
            </a:pPr>
            <a:r>
              <a:rPr sz="2000" b="1" spc="5" dirty="0">
                <a:latin typeface="Times New Roman"/>
                <a:cs typeface="Times New Roman"/>
              </a:rPr>
              <a:t>e.g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What </a:t>
            </a:r>
            <a:r>
              <a:rPr sz="2000" spc="5" dirty="0">
                <a:latin typeface="Times New Roman"/>
                <a:cs typeface="Times New Roman"/>
              </a:rPr>
              <a:t>is the fiber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numerical aperture </a:t>
            </a:r>
            <a:r>
              <a:rPr sz="2000" spc="10" dirty="0">
                <a:latin typeface="Times New Roman"/>
                <a:cs typeface="Times New Roman"/>
              </a:rPr>
              <a:t>when </a:t>
            </a:r>
            <a:r>
              <a:rPr sz="2000" spc="15" dirty="0">
                <a:latin typeface="Times New Roman"/>
                <a:cs typeface="Times New Roman"/>
              </a:rPr>
              <a:t>n</a:t>
            </a:r>
            <a:r>
              <a:rPr sz="2000" spc="22" baseline="-21505" dirty="0">
                <a:latin typeface="Times New Roman"/>
                <a:cs typeface="Times New Roman"/>
              </a:rPr>
              <a:t>1 </a:t>
            </a:r>
            <a:r>
              <a:rPr sz="2000" spc="10" dirty="0">
                <a:latin typeface="Times New Roman"/>
                <a:cs typeface="Times New Roman"/>
              </a:rPr>
              <a:t>= 1.46 </a:t>
            </a:r>
            <a:r>
              <a:rPr sz="2000" spc="5" dirty="0">
                <a:latin typeface="Times New Roman"/>
                <a:cs typeface="Times New Roman"/>
              </a:rPr>
              <a:t>and  </a:t>
            </a:r>
            <a:r>
              <a:rPr sz="2000" spc="10" dirty="0">
                <a:latin typeface="Times New Roman"/>
                <a:cs typeface="Times New Roman"/>
              </a:rPr>
              <a:t>n</a:t>
            </a:r>
            <a:r>
              <a:rPr sz="2000" spc="15" baseline="-21505" dirty="0">
                <a:latin typeface="Times New Roman"/>
                <a:cs typeface="Times New Roman"/>
              </a:rPr>
              <a:t>2</a:t>
            </a:r>
            <a:r>
              <a:rPr sz="2000" spc="10" dirty="0">
                <a:latin typeface="Times New Roman"/>
                <a:cs typeface="Times New Roman"/>
              </a:rPr>
              <a:t>=</a:t>
            </a:r>
            <a:r>
              <a:rPr sz="2000" spc="-204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1.44?</a:t>
            </a:r>
            <a:endParaRPr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29005" algn="l"/>
                <a:tab pos="1249680" algn="l"/>
                <a:tab pos="2073910" algn="l"/>
                <a:tab pos="2394585" algn="l"/>
                <a:tab pos="4510405" algn="l"/>
                <a:tab pos="4831080" algn="l"/>
              </a:tabLst>
            </a:pPr>
            <a:r>
              <a:rPr sz="2000" spc="15" dirty="0">
                <a:latin typeface="Times New Roman"/>
                <a:cs typeface="Times New Roman"/>
              </a:rPr>
              <a:t>NA	</a:t>
            </a:r>
            <a:r>
              <a:rPr sz="2000" spc="10" dirty="0">
                <a:latin typeface="Times New Roman"/>
                <a:cs typeface="Times New Roman"/>
              </a:rPr>
              <a:t>=	</a:t>
            </a:r>
            <a:r>
              <a:rPr sz="2000" spc="5" dirty="0">
                <a:latin typeface="Times New Roman"/>
                <a:cs typeface="Times New Roman"/>
              </a:rPr>
              <a:t>sin </a:t>
            </a:r>
            <a:r>
              <a:rPr sz="2000" spc="10" dirty="0">
                <a:latin typeface="Symbol"/>
                <a:cs typeface="Symbol"/>
              </a:rPr>
              <a:t></a:t>
            </a:r>
            <a:r>
              <a:rPr sz="2000" spc="15" baseline="-21505" dirty="0">
                <a:latin typeface="Times New Roman"/>
                <a:cs typeface="Times New Roman"/>
              </a:rPr>
              <a:t>a	</a:t>
            </a:r>
            <a:r>
              <a:rPr sz="2000" spc="10" dirty="0">
                <a:latin typeface="Times New Roman"/>
                <a:cs typeface="Times New Roman"/>
              </a:rPr>
              <a:t>=	(1.46</a:t>
            </a:r>
            <a:r>
              <a:rPr sz="2000" spc="15" baseline="25089" dirty="0">
                <a:latin typeface="Times New Roman"/>
                <a:cs typeface="Times New Roman"/>
              </a:rPr>
              <a:t>2</a:t>
            </a:r>
            <a:r>
              <a:rPr sz="2000" spc="315" baseline="25089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-</a:t>
            </a:r>
            <a:r>
              <a:rPr sz="2000" spc="10" dirty="0">
                <a:latin typeface="Times New Roman"/>
                <a:cs typeface="Times New Roman"/>
              </a:rPr>
              <a:t> 1.44</a:t>
            </a:r>
            <a:r>
              <a:rPr sz="2000" spc="15" baseline="25089" dirty="0">
                <a:latin typeface="Times New Roman"/>
                <a:cs typeface="Times New Roman"/>
              </a:rPr>
              <a:t>2</a:t>
            </a:r>
            <a:r>
              <a:rPr sz="2000" spc="10" dirty="0">
                <a:latin typeface="Times New Roman"/>
                <a:cs typeface="Times New Roman"/>
              </a:rPr>
              <a:t>)</a:t>
            </a:r>
            <a:r>
              <a:rPr sz="2000" spc="15" baseline="25089" dirty="0">
                <a:latin typeface="Times New Roman"/>
                <a:cs typeface="Times New Roman"/>
              </a:rPr>
              <a:t>1/2	</a:t>
            </a:r>
            <a:r>
              <a:rPr sz="2000" spc="10" dirty="0">
                <a:latin typeface="Times New Roman"/>
                <a:cs typeface="Times New Roman"/>
              </a:rPr>
              <a:t>=	0.24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8" name="object 5">
            <a:extLst>
              <a:ext uri="{FF2B5EF4-FFF2-40B4-BE49-F238E27FC236}">
                <a16:creationId xmlns:a16="http://schemas.microsoft.com/office/drawing/2014/main" id="{2C1DCC10-E3A3-4FB5-ADA1-4319F4EBEAED}"/>
              </a:ext>
            </a:extLst>
          </p:cNvPr>
          <p:cNvSpPr txBox="1"/>
          <p:nvPr/>
        </p:nvSpPr>
        <p:spPr>
          <a:xfrm>
            <a:off x="5217355" y="6037897"/>
            <a:ext cx="4548945" cy="1246495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0"/>
              </a:spcBef>
              <a:tabLst>
                <a:tab pos="281305" algn="l"/>
                <a:tab pos="281940" algn="l"/>
              </a:tabLst>
            </a:pPr>
            <a:r>
              <a:rPr lang="en-US" sz="2000" spc="5" dirty="0">
                <a:latin typeface="Times New Roman"/>
                <a:cs typeface="Times New Roman"/>
              </a:rPr>
              <a:t>It is </a:t>
            </a:r>
            <a:r>
              <a:rPr lang="en-US" sz="2000" spc="10" dirty="0">
                <a:latin typeface="Times New Roman"/>
                <a:cs typeface="Times New Roman"/>
              </a:rPr>
              <a:t>a common </a:t>
            </a:r>
            <a:r>
              <a:rPr lang="en-US" sz="2000" spc="5" dirty="0">
                <a:latin typeface="Times New Roman"/>
                <a:cs typeface="Times New Roman"/>
              </a:rPr>
              <a:t>practice to define </a:t>
            </a:r>
            <a:r>
              <a:rPr lang="en-US" sz="2000" spc="10" dirty="0">
                <a:latin typeface="Times New Roman"/>
                <a:cs typeface="Times New Roman"/>
              </a:rPr>
              <a:t>a </a:t>
            </a:r>
            <a:r>
              <a:rPr lang="en-US" sz="2000" spc="5" dirty="0">
                <a:uFill>
                  <a:solidFill>
                    <a:srgbClr val="0080FF"/>
                  </a:solidFill>
                </a:uFill>
                <a:latin typeface="Times New Roman"/>
                <a:cs typeface="Times New Roman"/>
              </a:rPr>
              <a:t>relative refractive index </a:t>
            </a:r>
            <a:r>
              <a:rPr lang="en-US" sz="2000" spc="70" dirty="0">
                <a:latin typeface="Symbol"/>
                <a:cs typeface="Times New Roman"/>
                <a:sym typeface="Symbol" panose="05050102010706020507" pitchFamily="18" charset="2"/>
              </a:rPr>
              <a:t>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spc="-225" dirty="0">
                <a:latin typeface="Times New Roman"/>
                <a:cs typeface="Times New Roman"/>
              </a:rPr>
              <a:t>as:</a:t>
            </a:r>
            <a:endParaRPr lang="en-US" sz="2000" dirty="0">
              <a:latin typeface="Times New Roman"/>
              <a:cs typeface="Times New Roman"/>
            </a:endParaRPr>
          </a:p>
          <a:p>
            <a:pPr marR="751840" algn="ctr">
              <a:lnSpc>
                <a:spcPct val="100000"/>
              </a:lnSpc>
              <a:spcBef>
                <a:spcPts val="5"/>
              </a:spcBef>
            </a:pPr>
            <a:r>
              <a:rPr lang="en-US" sz="2000" spc="70" dirty="0">
                <a:latin typeface="Symbol"/>
                <a:cs typeface="Times New Roman"/>
                <a:sym typeface="Symbol" panose="05050102010706020507" pitchFamily="18" charset="2"/>
              </a:rPr>
              <a:t></a:t>
            </a:r>
            <a:r>
              <a:rPr lang="en-US" sz="2000" spc="10" dirty="0">
                <a:latin typeface="Times New Roman"/>
                <a:cs typeface="Times New Roman"/>
              </a:rPr>
              <a:t>= (n</a:t>
            </a:r>
            <a:r>
              <a:rPr lang="en-US" sz="2000" spc="15" baseline="-21505" dirty="0">
                <a:latin typeface="Times New Roman"/>
                <a:cs typeface="Times New Roman"/>
              </a:rPr>
              <a:t>1  </a:t>
            </a:r>
            <a:r>
              <a:rPr lang="en-US" sz="2000" spc="5" dirty="0">
                <a:latin typeface="Times New Roman"/>
                <a:cs typeface="Times New Roman"/>
              </a:rPr>
              <a:t>- </a:t>
            </a:r>
            <a:r>
              <a:rPr lang="en-US" sz="2000" spc="10" dirty="0">
                <a:latin typeface="Times New Roman"/>
                <a:cs typeface="Times New Roman"/>
              </a:rPr>
              <a:t>n</a:t>
            </a:r>
            <a:r>
              <a:rPr lang="en-US" sz="2000" spc="15" baseline="-21505" dirty="0">
                <a:latin typeface="Times New Roman"/>
                <a:cs typeface="Times New Roman"/>
              </a:rPr>
              <a:t>2</a:t>
            </a:r>
            <a:r>
              <a:rPr lang="en-US" sz="2000" spc="10" dirty="0">
                <a:latin typeface="Times New Roman"/>
                <a:cs typeface="Times New Roman"/>
              </a:rPr>
              <a:t>) </a:t>
            </a:r>
            <a:r>
              <a:rPr lang="en-US" sz="2000" spc="5" dirty="0">
                <a:latin typeface="Times New Roman"/>
                <a:cs typeface="Times New Roman"/>
              </a:rPr>
              <a:t>/</a:t>
            </a:r>
            <a:r>
              <a:rPr lang="en-US" sz="2000" spc="-290" dirty="0">
                <a:latin typeface="Times New Roman"/>
                <a:cs typeface="Times New Roman"/>
              </a:rPr>
              <a:t> </a:t>
            </a:r>
            <a:r>
              <a:rPr lang="en-US" sz="2000" spc="10" dirty="0">
                <a:latin typeface="Times New Roman"/>
                <a:cs typeface="Times New Roman"/>
              </a:rPr>
              <a:t>n</a:t>
            </a:r>
            <a:r>
              <a:rPr lang="en-US" sz="2000" spc="15" baseline="-21505" dirty="0">
                <a:latin typeface="Times New Roman"/>
                <a:cs typeface="Times New Roman"/>
              </a:rPr>
              <a:t>1</a:t>
            </a:r>
            <a:endParaRPr lang="en-US" sz="2000" spc="15" dirty="0">
              <a:latin typeface="Times New Roman"/>
              <a:cs typeface="Times New Roman"/>
            </a:endParaRPr>
          </a:p>
          <a:p>
            <a:pPr marR="751840" algn="ctr">
              <a:lnSpc>
                <a:spcPct val="100000"/>
              </a:lnSpc>
              <a:spcBef>
                <a:spcPts val="5"/>
              </a:spcBef>
            </a:pPr>
            <a:r>
              <a:rPr lang="en-US" sz="2000" dirty="0">
                <a:latin typeface="Times New Roman"/>
                <a:cs typeface="Times New Roman"/>
              </a:rPr>
              <a:t>         NA=n</a:t>
            </a:r>
            <a:r>
              <a:rPr lang="en-US" sz="2000" baseline="-25000" dirty="0">
                <a:latin typeface="Times New Roman"/>
                <a:cs typeface="Times New Roman"/>
              </a:rPr>
              <a:t>1</a:t>
            </a:r>
            <a:r>
              <a:rPr lang="en-US" sz="2000" dirty="0">
                <a:latin typeface="Times New Roman"/>
                <a:cs typeface="Times New Roman"/>
              </a:rPr>
              <a:t>(2</a:t>
            </a:r>
            <a:r>
              <a:rPr lang="en-US" sz="2000" dirty="0">
                <a:latin typeface="Times New Roman"/>
                <a:cs typeface="Times New Roman"/>
                <a:sym typeface="Symbol" panose="05050102010706020507" pitchFamily="18" charset="2"/>
              </a:rPr>
              <a:t>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lang="en-US" sz="2000" baseline="30000" dirty="0">
                <a:latin typeface="Times New Roman"/>
                <a:cs typeface="Times New Roman"/>
              </a:rPr>
              <a:t>1/2</a:t>
            </a:r>
            <a:r>
              <a:rPr lang="en-US" sz="2000" dirty="0">
                <a:latin typeface="Times New Roman"/>
                <a:cs typeface="Times New Roman"/>
              </a:rPr>
              <a:t> if n</a:t>
            </a:r>
            <a:r>
              <a:rPr lang="en-US" sz="2000" baseline="-25000" dirty="0">
                <a:latin typeface="Times New Roman"/>
                <a:cs typeface="Times New Roman"/>
              </a:rPr>
              <a:t>1</a:t>
            </a:r>
            <a:r>
              <a:rPr lang="en-US" sz="2000" dirty="0">
                <a:latin typeface="Times New Roman"/>
                <a:cs typeface="Times New Roman"/>
                <a:sym typeface="Symbol" panose="05050102010706020507" pitchFamily="18" charset="2"/>
              </a:rPr>
              <a:t>n</a:t>
            </a:r>
            <a:r>
              <a:rPr lang="en-US" sz="2000" baseline="-25000" dirty="0">
                <a:latin typeface="Times New Roman"/>
                <a:cs typeface="Times New Roman"/>
                <a:sym typeface="Symbol" panose="05050102010706020507" pitchFamily="18" charset="2"/>
              </a:rPr>
              <a:t>2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F1947ABC-2124-49D2-97A3-6DAFD0BF16E6}"/>
              </a:ext>
            </a:extLst>
          </p:cNvPr>
          <p:cNvGrpSpPr/>
          <p:nvPr/>
        </p:nvGrpSpPr>
        <p:grpSpPr>
          <a:xfrm>
            <a:off x="2936537" y="1343025"/>
            <a:ext cx="4915365" cy="2308819"/>
            <a:chOff x="2931440" y="1502969"/>
            <a:chExt cx="4915365" cy="2308819"/>
          </a:xfrm>
        </p:grpSpPr>
        <p:grpSp>
          <p:nvGrpSpPr>
            <p:cNvPr id="3" name="object 3"/>
            <p:cNvGrpSpPr/>
            <p:nvPr/>
          </p:nvGrpSpPr>
          <p:grpSpPr>
            <a:xfrm>
              <a:off x="4101835" y="1936029"/>
              <a:ext cx="3744970" cy="1349450"/>
              <a:chOff x="3749842" y="1989672"/>
              <a:chExt cx="3848735" cy="138684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5339842" y="2160777"/>
                <a:ext cx="2252345" cy="989965"/>
              </a:xfrm>
              <a:custGeom>
                <a:avLst/>
                <a:gdLst/>
                <a:ahLst/>
                <a:cxnLst/>
                <a:rect l="l" t="t" r="r" b="b"/>
                <a:pathLst>
                  <a:path w="2252345" h="989964">
                    <a:moveTo>
                      <a:pt x="2251900" y="604075"/>
                    </a:moveTo>
                    <a:lnTo>
                      <a:pt x="0" y="604075"/>
                    </a:lnTo>
                    <a:lnTo>
                      <a:pt x="0" y="989634"/>
                    </a:lnTo>
                    <a:lnTo>
                      <a:pt x="2251900" y="989634"/>
                    </a:lnTo>
                    <a:lnTo>
                      <a:pt x="2251900" y="604075"/>
                    </a:lnTo>
                    <a:close/>
                  </a:path>
                  <a:path w="2252345" h="989964">
                    <a:moveTo>
                      <a:pt x="2251900" y="0"/>
                    </a:moveTo>
                    <a:lnTo>
                      <a:pt x="0" y="0"/>
                    </a:lnTo>
                    <a:lnTo>
                      <a:pt x="0" y="384416"/>
                    </a:lnTo>
                    <a:lnTo>
                      <a:pt x="2251900" y="384416"/>
                    </a:lnTo>
                    <a:lnTo>
                      <a:pt x="2251900" y="0"/>
                    </a:lnTo>
                    <a:close/>
                  </a:path>
                </a:pathLst>
              </a:custGeom>
              <a:solidFill>
                <a:srgbClr val="00D2A9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5339845" y="2160775"/>
                <a:ext cx="2252345" cy="989965"/>
              </a:xfrm>
              <a:custGeom>
                <a:avLst/>
                <a:gdLst/>
                <a:ahLst/>
                <a:cxnLst/>
                <a:rect l="l" t="t" r="r" b="b"/>
                <a:pathLst>
                  <a:path w="2252345" h="989964">
                    <a:moveTo>
                      <a:pt x="0" y="0"/>
                    </a:moveTo>
                    <a:lnTo>
                      <a:pt x="2251893" y="0"/>
                    </a:lnTo>
                    <a:lnTo>
                      <a:pt x="2251893" y="989635"/>
                    </a:lnTo>
                    <a:lnTo>
                      <a:pt x="0" y="989635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3756190" y="1996033"/>
                <a:ext cx="320675" cy="1374140"/>
              </a:xfrm>
              <a:custGeom>
                <a:avLst/>
                <a:gdLst/>
                <a:ahLst/>
                <a:cxnLst/>
                <a:rect l="l" t="t" r="r" b="b"/>
                <a:pathLst>
                  <a:path w="320675" h="1374139">
                    <a:moveTo>
                      <a:pt x="160197" y="0"/>
                    </a:moveTo>
                    <a:lnTo>
                      <a:pt x="109560" y="35025"/>
                    </a:lnTo>
                    <a:lnTo>
                      <a:pt x="79340" y="93799"/>
                    </a:lnTo>
                    <a:lnTo>
                      <a:pt x="65584" y="132556"/>
                    </a:lnTo>
                    <a:lnTo>
                      <a:pt x="52861" y="177000"/>
                    </a:lnTo>
                    <a:lnTo>
                      <a:pt x="41270" y="226714"/>
                    </a:lnTo>
                    <a:lnTo>
                      <a:pt x="30907" y="281276"/>
                    </a:lnTo>
                    <a:lnTo>
                      <a:pt x="21870" y="340269"/>
                    </a:lnTo>
                    <a:lnTo>
                      <a:pt x="14257" y="403273"/>
                    </a:lnTo>
                    <a:lnTo>
                      <a:pt x="8166" y="469869"/>
                    </a:lnTo>
                    <a:lnTo>
                      <a:pt x="3694" y="539638"/>
                    </a:lnTo>
                    <a:lnTo>
                      <a:pt x="939" y="612161"/>
                    </a:lnTo>
                    <a:lnTo>
                      <a:pt x="0" y="687019"/>
                    </a:lnTo>
                    <a:lnTo>
                      <a:pt x="939" y="761878"/>
                    </a:lnTo>
                    <a:lnTo>
                      <a:pt x="3694" y="834403"/>
                    </a:lnTo>
                    <a:lnTo>
                      <a:pt x="8166" y="904173"/>
                    </a:lnTo>
                    <a:lnTo>
                      <a:pt x="14257" y="970770"/>
                    </a:lnTo>
                    <a:lnTo>
                      <a:pt x="21870" y="1033774"/>
                    </a:lnTo>
                    <a:lnTo>
                      <a:pt x="30907" y="1092767"/>
                    </a:lnTo>
                    <a:lnTo>
                      <a:pt x="41270" y="1147329"/>
                    </a:lnTo>
                    <a:lnTo>
                      <a:pt x="52861" y="1197041"/>
                    </a:lnTo>
                    <a:lnTo>
                      <a:pt x="65584" y="1241485"/>
                    </a:lnTo>
                    <a:lnTo>
                      <a:pt x="79340" y="1280241"/>
                    </a:lnTo>
                    <a:lnTo>
                      <a:pt x="109560" y="1339014"/>
                    </a:lnTo>
                    <a:lnTo>
                      <a:pt x="142741" y="1370007"/>
                    </a:lnTo>
                    <a:lnTo>
                      <a:pt x="160197" y="1374038"/>
                    </a:lnTo>
                    <a:lnTo>
                      <a:pt x="177651" y="1370007"/>
                    </a:lnTo>
                    <a:lnTo>
                      <a:pt x="210830" y="1339014"/>
                    </a:lnTo>
                    <a:lnTo>
                      <a:pt x="241049" y="1280241"/>
                    </a:lnTo>
                    <a:lnTo>
                      <a:pt x="254805" y="1241485"/>
                    </a:lnTo>
                    <a:lnTo>
                      <a:pt x="267528" y="1197041"/>
                    </a:lnTo>
                    <a:lnTo>
                      <a:pt x="279120" y="1147329"/>
                    </a:lnTo>
                    <a:lnTo>
                      <a:pt x="289484" y="1092767"/>
                    </a:lnTo>
                    <a:lnTo>
                      <a:pt x="298522" y="1033774"/>
                    </a:lnTo>
                    <a:lnTo>
                      <a:pt x="306136" y="970770"/>
                    </a:lnTo>
                    <a:lnTo>
                      <a:pt x="312227" y="904173"/>
                    </a:lnTo>
                    <a:lnTo>
                      <a:pt x="316700" y="834403"/>
                    </a:lnTo>
                    <a:lnTo>
                      <a:pt x="319455" y="761878"/>
                    </a:lnTo>
                    <a:lnTo>
                      <a:pt x="320395" y="687019"/>
                    </a:lnTo>
                    <a:lnTo>
                      <a:pt x="319455" y="612161"/>
                    </a:lnTo>
                    <a:lnTo>
                      <a:pt x="316700" y="539638"/>
                    </a:lnTo>
                    <a:lnTo>
                      <a:pt x="312227" y="469869"/>
                    </a:lnTo>
                    <a:lnTo>
                      <a:pt x="306136" y="403273"/>
                    </a:lnTo>
                    <a:lnTo>
                      <a:pt x="298522" y="340269"/>
                    </a:lnTo>
                    <a:lnTo>
                      <a:pt x="289484" y="281276"/>
                    </a:lnTo>
                    <a:lnTo>
                      <a:pt x="279120" y="226714"/>
                    </a:lnTo>
                    <a:lnTo>
                      <a:pt x="267528" y="177000"/>
                    </a:lnTo>
                    <a:lnTo>
                      <a:pt x="254805" y="132556"/>
                    </a:lnTo>
                    <a:lnTo>
                      <a:pt x="241049" y="93799"/>
                    </a:lnTo>
                    <a:lnTo>
                      <a:pt x="210830" y="35025"/>
                    </a:lnTo>
                    <a:lnTo>
                      <a:pt x="177651" y="4031"/>
                    </a:lnTo>
                    <a:lnTo>
                      <a:pt x="160197" y="0"/>
                    </a:lnTo>
                    <a:close/>
                  </a:path>
                </a:pathLst>
              </a:custGeom>
              <a:solidFill>
                <a:srgbClr val="00FDFF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3756192" y="1996022"/>
                <a:ext cx="320675" cy="1374140"/>
              </a:xfrm>
              <a:custGeom>
                <a:avLst/>
                <a:gdLst/>
                <a:ahLst/>
                <a:cxnLst/>
                <a:rect l="l" t="t" r="r" b="b"/>
                <a:pathLst>
                  <a:path w="320675" h="1374139">
                    <a:moveTo>
                      <a:pt x="0" y="687022"/>
                    </a:moveTo>
                    <a:lnTo>
                      <a:pt x="939" y="612165"/>
                    </a:lnTo>
                    <a:lnTo>
                      <a:pt x="3694" y="539642"/>
                    </a:lnTo>
                    <a:lnTo>
                      <a:pt x="8166" y="469873"/>
                    </a:lnTo>
                    <a:lnTo>
                      <a:pt x="14257" y="403276"/>
                    </a:lnTo>
                    <a:lnTo>
                      <a:pt x="21870" y="340272"/>
                    </a:lnTo>
                    <a:lnTo>
                      <a:pt x="30907" y="281279"/>
                    </a:lnTo>
                    <a:lnTo>
                      <a:pt x="41270" y="226716"/>
                    </a:lnTo>
                    <a:lnTo>
                      <a:pt x="52862" y="177002"/>
                    </a:lnTo>
                    <a:lnTo>
                      <a:pt x="65584" y="132557"/>
                    </a:lnTo>
                    <a:lnTo>
                      <a:pt x="79339" y="93800"/>
                    </a:lnTo>
                    <a:lnTo>
                      <a:pt x="109559" y="35025"/>
                    </a:lnTo>
                    <a:lnTo>
                      <a:pt x="142738" y="4031"/>
                    </a:lnTo>
                    <a:lnTo>
                      <a:pt x="160193" y="0"/>
                    </a:lnTo>
                    <a:lnTo>
                      <a:pt x="210827" y="35025"/>
                    </a:lnTo>
                    <a:lnTo>
                      <a:pt x="241046" y="93800"/>
                    </a:lnTo>
                    <a:lnTo>
                      <a:pt x="254802" y="132557"/>
                    </a:lnTo>
                    <a:lnTo>
                      <a:pt x="267524" y="177002"/>
                    </a:lnTo>
                    <a:lnTo>
                      <a:pt x="279115" y="226716"/>
                    </a:lnTo>
                    <a:lnTo>
                      <a:pt x="289479" y="281279"/>
                    </a:lnTo>
                    <a:lnTo>
                      <a:pt x="298515" y="340272"/>
                    </a:lnTo>
                    <a:lnTo>
                      <a:pt x="306128" y="403276"/>
                    </a:lnTo>
                    <a:lnTo>
                      <a:pt x="312219" y="469873"/>
                    </a:lnTo>
                    <a:lnTo>
                      <a:pt x="316691" y="539642"/>
                    </a:lnTo>
                    <a:lnTo>
                      <a:pt x="319446" y="612165"/>
                    </a:lnTo>
                    <a:lnTo>
                      <a:pt x="320386" y="687022"/>
                    </a:lnTo>
                    <a:lnTo>
                      <a:pt x="319446" y="761882"/>
                    </a:lnTo>
                    <a:lnTo>
                      <a:pt x="316691" y="834406"/>
                    </a:lnTo>
                    <a:lnTo>
                      <a:pt x="312219" y="904176"/>
                    </a:lnTo>
                    <a:lnTo>
                      <a:pt x="306128" y="970773"/>
                    </a:lnTo>
                    <a:lnTo>
                      <a:pt x="298515" y="1033777"/>
                    </a:lnTo>
                    <a:lnTo>
                      <a:pt x="289479" y="1092770"/>
                    </a:lnTo>
                    <a:lnTo>
                      <a:pt x="279115" y="1147333"/>
                    </a:lnTo>
                    <a:lnTo>
                      <a:pt x="267524" y="1197046"/>
                    </a:lnTo>
                    <a:lnTo>
                      <a:pt x="254802" y="1241490"/>
                    </a:lnTo>
                    <a:lnTo>
                      <a:pt x="241046" y="1280247"/>
                    </a:lnTo>
                    <a:lnTo>
                      <a:pt x="210827" y="1339021"/>
                    </a:lnTo>
                    <a:lnTo>
                      <a:pt x="177648" y="1370014"/>
                    </a:lnTo>
                    <a:lnTo>
                      <a:pt x="160193" y="1374045"/>
                    </a:lnTo>
                    <a:lnTo>
                      <a:pt x="142738" y="1370014"/>
                    </a:lnTo>
                    <a:lnTo>
                      <a:pt x="125827" y="1358199"/>
                    </a:lnTo>
                    <a:lnTo>
                      <a:pt x="94030" y="1312897"/>
                    </a:lnTo>
                    <a:lnTo>
                      <a:pt x="65584" y="1241490"/>
                    </a:lnTo>
                    <a:lnTo>
                      <a:pt x="52862" y="1197046"/>
                    </a:lnTo>
                    <a:lnTo>
                      <a:pt x="41270" y="1147333"/>
                    </a:lnTo>
                    <a:lnTo>
                      <a:pt x="30907" y="1092770"/>
                    </a:lnTo>
                    <a:lnTo>
                      <a:pt x="21870" y="1033777"/>
                    </a:lnTo>
                    <a:lnTo>
                      <a:pt x="14257" y="970773"/>
                    </a:lnTo>
                    <a:lnTo>
                      <a:pt x="8166" y="904176"/>
                    </a:lnTo>
                    <a:lnTo>
                      <a:pt x="3694" y="834406"/>
                    </a:lnTo>
                    <a:lnTo>
                      <a:pt x="939" y="761882"/>
                    </a:lnTo>
                    <a:lnTo>
                      <a:pt x="0" y="687022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4021802" y="2270218"/>
                <a:ext cx="1295400" cy="37846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378460">
                    <a:moveTo>
                      <a:pt x="0" y="0"/>
                    </a:moveTo>
                    <a:lnTo>
                      <a:pt x="1295096" y="377931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5258104" y="2597912"/>
                <a:ext cx="83185" cy="72390"/>
              </a:xfrm>
              <a:custGeom>
                <a:avLst/>
                <a:gdLst/>
                <a:ahLst/>
                <a:cxnLst/>
                <a:rect l="l" t="t" r="r" b="b"/>
                <a:pathLst>
                  <a:path w="83185" h="72389">
                    <a:moveTo>
                      <a:pt x="21120" y="0"/>
                    </a:moveTo>
                    <a:lnTo>
                      <a:pt x="0" y="72339"/>
                    </a:lnTo>
                    <a:lnTo>
                      <a:pt x="82905" y="57276"/>
                    </a:lnTo>
                    <a:lnTo>
                      <a:pt x="2112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4021802" y="2662214"/>
                <a:ext cx="129540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377189">
                    <a:moveTo>
                      <a:pt x="0" y="377150"/>
                    </a:moveTo>
                    <a:lnTo>
                      <a:pt x="1295096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5258117" y="2640088"/>
                <a:ext cx="83185" cy="72390"/>
              </a:xfrm>
              <a:custGeom>
                <a:avLst/>
                <a:gdLst/>
                <a:ahLst/>
                <a:cxnLst/>
                <a:rect l="l" t="t" r="r" b="b"/>
                <a:pathLst>
                  <a:path w="83185" h="72389">
                    <a:moveTo>
                      <a:pt x="0" y="0"/>
                    </a:moveTo>
                    <a:lnTo>
                      <a:pt x="21069" y="72364"/>
                    </a:lnTo>
                    <a:lnTo>
                      <a:pt x="82892" y="15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339841" y="2545194"/>
                <a:ext cx="2252345" cy="219710"/>
              </a:xfrm>
              <a:custGeom>
                <a:avLst/>
                <a:gdLst/>
                <a:ahLst/>
                <a:cxnLst/>
                <a:rect l="l" t="t" r="r" b="b"/>
                <a:pathLst>
                  <a:path w="2252345" h="219710">
                    <a:moveTo>
                      <a:pt x="2251900" y="0"/>
                    </a:moveTo>
                    <a:lnTo>
                      <a:pt x="0" y="0"/>
                    </a:lnTo>
                    <a:lnTo>
                      <a:pt x="0" y="219659"/>
                    </a:lnTo>
                    <a:lnTo>
                      <a:pt x="2251900" y="219659"/>
                    </a:lnTo>
                    <a:lnTo>
                      <a:pt x="2251900" y="0"/>
                    </a:lnTo>
                    <a:close/>
                  </a:path>
                </a:pathLst>
              </a:custGeom>
              <a:solidFill>
                <a:srgbClr val="D6D7FF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5339845" y="2545185"/>
                <a:ext cx="2252345" cy="219710"/>
              </a:xfrm>
              <a:custGeom>
                <a:avLst/>
                <a:gdLst/>
                <a:ahLst/>
                <a:cxnLst/>
                <a:rect l="l" t="t" r="r" b="b"/>
                <a:pathLst>
                  <a:path w="2252345" h="219710">
                    <a:moveTo>
                      <a:pt x="0" y="0"/>
                    </a:moveTo>
                    <a:lnTo>
                      <a:pt x="2251893" y="0"/>
                    </a:lnTo>
                    <a:lnTo>
                      <a:pt x="2251893" y="219667"/>
                    </a:lnTo>
                    <a:lnTo>
                      <a:pt x="0" y="219667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076578" y="2655024"/>
                <a:ext cx="131953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19529">
                    <a:moveTo>
                      <a:pt x="0" y="0"/>
                    </a:moveTo>
                    <a:lnTo>
                      <a:pt x="1319329" y="0"/>
                    </a:lnTo>
                  </a:path>
                </a:pathLst>
              </a:custGeom>
              <a:ln w="1884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5340221" y="2547984"/>
                <a:ext cx="854075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854075" h="107314">
                    <a:moveTo>
                      <a:pt x="0" y="107207"/>
                    </a:moveTo>
                    <a:lnTo>
                      <a:pt x="853753" y="0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6139421" y="2516860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10" h="74930">
                    <a:moveTo>
                      <a:pt x="0" y="0"/>
                    </a:moveTo>
                    <a:lnTo>
                      <a:pt x="9398" y="74790"/>
                    </a:lnTo>
                    <a:lnTo>
                      <a:pt x="79476" y="280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6219701" y="2544859"/>
                <a:ext cx="853440" cy="107314"/>
              </a:xfrm>
              <a:custGeom>
                <a:avLst/>
                <a:gdLst/>
                <a:ahLst/>
                <a:cxnLst/>
                <a:rect l="l" t="t" r="r" b="b"/>
                <a:pathLst>
                  <a:path w="853440" h="107314">
                    <a:moveTo>
                      <a:pt x="0" y="0"/>
                    </a:moveTo>
                    <a:lnTo>
                      <a:pt x="852952" y="107197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7018108" y="2608402"/>
                <a:ext cx="8001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80009" h="74930">
                    <a:moveTo>
                      <a:pt x="9398" y="0"/>
                    </a:moveTo>
                    <a:lnTo>
                      <a:pt x="0" y="74790"/>
                    </a:lnTo>
                    <a:lnTo>
                      <a:pt x="79476" y="46786"/>
                    </a:lnTo>
                    <a:lnTo>
                      <a:pt x="9398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6219781" y="2380442"/>
                <a:ext cx="0" cy="329565"/>
              </a:xfrm>
              <a:custGeom>
                <a:avLst/>
                <a:gdLst/>
                <a:ahLst/>
                <a:cxnLst/>
                <a:rect l="l" t="t" r="r" b="b"/>
                <a:pathLst>
                  <a:path h="329564">
                    <a:moveTo>
                      <a:pt x="0" y="0"/>
                    </a:moveTo>
                    <a:lnTo>
                      <a:pt x="0" y="329495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20" name="object 20"/>
            <p:cNvSpPr txBox="1"/>
            <p:nvPr/>
          </p:nvSpPr>
          <p:spPr>
            <a:xfrm>
              <a:off x="4631022" y="2512544"/>
              <a:ext cx="253949" cy="278281"/>
            </a:xfrm>
            <a:prstGeom prst="rect">
              <a:avLst/>
            </a:prstGeom>
          </p:spPr>
          <p:txBody>
            <a:bodyPr vert="horz" wrap="square" lIns="0" tIns="16065" rIns="0" bIns="0" rtlCol="0">
              <a:spAutoFit/>
            </a:bodyPr>
            <a:lstStyle/>
            <a:p>
              <a:pPr marL="37071">
                <a:spcBef>
                  <a:spcPts val="126"/>
                </a:spcBef>
              </a:pPr>
              <a:r>
                <a:rPr sz="1703" spc="15" dirty="0">
                  <a:latin typeface="Symbol"/>
                  <a:cs typeface="Symbol"/>
                </a:rPr>
                <a:t></a:t>
              </a:r>
              <a:r>
                <a:rPr sz="1678" spc="21" baseline="-21739" dirty="0">
                  <a:latin typeface="Times New Roman"/>
                  <a:cs typeface="Times New Roman"/>
                </a:rPr>
                <a:t>a</a:t>
              </a:r>
              <a:endParaRPr sz="1678" baseline="-21739" dirty="0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2953342" y="1502969"/>
              <a:ext cx="1240703" cy="535021"/>
            </a:xfrm>
            <a:prstGeom prst="rect">
              <a:avLst/>
            </a:prstGeom>
          </p:spPr>
          <p:txBody>
            <a:bodyPr vert="horz" wrap="square" lIns="0" tIns="6797" rIns="0" bIns="0" rtlCol="0">
              <a:spAutoFit/>
            </a:bodyPr>
            <a:lstStyle/>
            <a:p>
              <a:pPr marL="12357" marR="4943">
                <a:lnSpc>
                  <a:spcPct val="103600"/>
                </a:lnSpc>
                <a:spcBef>
                  <a:spcPts val="54"/>
                </a:spcBef>
              </a:pPr>
              <a:r>
                <a:rPr sz="1703" spc="10" dirty="0">
                  <a:latin typeface="Times New Roman"/>
                  <a:cs typeface="Times New Roman"/>
                </a:rPr>
                <a:t>Microscope  </a:t>
              </a:r>
              <a:r>
                <a:rPr sz="1703" spc="5" dirty="0">
                  <a:latin typeface="Times New Roman"/>
                  <a:cs typeface="Times New Roman"/>
                </a:rPr>
                <a:t>objective</a:t>
              </a:r>
              <a:r>
                <a:rPr sz="1703" spc="-34" dirty="0">
                  <a:latin typeface="Times New Roman"/>
                  <a:cs typeface="Times New Roman"/>
                </a:rPr>
                <a:t> </a:t>
              </a:r>
              <a:r>
                <a:rPr sz="1703" spc="5" dirty="0">
                  <a:latin typeface="Times New Roman"/>
                  <a:cs typeface="Times New Roman"/>
                </a:rPr>
                <a:t>lens</a:t>
              </a:r>
              <a:endParaRPr sz="1703">
                <a:latin typeface="Times New Roman"/>
                <a:cs typeface="Times New Roman"/>
              </a:endParaRPr>
            </a:p>
          </p:txBody>
        </p:sp>
        <p:grpSp>
          <p:nvGrpSpPr>
            <p:cNvPr id="22" name="object 22"/>
            <p:cNvGrpSpPr/>
            <p:nvPr/>
          </p:nvGrpSpPr>
          <p:grpSpPr>
            <a:xfrm>
              <a:off x="2931440" y="1989539"/>
              <a:ext cx="2029117" cy="1004673"/>
              <a:chOff x="2547018" y="2044665"/>
              <a:chExt cx="2085339" cy="1032510"/>
            </a:xfrm>
          </p:grpSpPr>
          <p:sp>
            <p:nvSpPr>
              <p:cNvPr id="23" name="object 23"/>
              <p:cNvSpPr/>
              <p:nvPr/>
            </p:nvSpPr>
            <p:spPr>
              <a:xfrm>
                <a:off x="3646343" y="2050946"/>
                <a:ext cx="273685" cy="109855"/>
              </a:xfrm>
              <a:custGeom>
                <a:avLst/>
                <a:gdLst/>
                <a:ahLst/>
                <a:cxnLst/>
                <a:rect l="l" t="t" r="r" b="b"/>
                <a:pathLst>
                  <a:path w="273685" h="109855">
                    <a:moveTo>
                      <a:pt x="0" y="0"/>
                    </a:moveTo>
                    <a:lnTo>
                      <a:pt x="273473" y="109828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4559471" y="2648743"/>
                <a:ext cx="72630" cy="232218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2547018" y="2270218"/>
                <a:ext cx="12395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39520">
                    <a:moveTo>
                      <a:pt x="0" y="0"/>
                    </a:moveTo>
                    <a:lnTo>
                      <a:pt x="1239321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3736086" y="2232545"/>
                <a:ext cx="75565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75564">
                    <a:moveTo>
                      <a:pt x="0" y="0"/>
                    </a:moveTo>
                    <a:lnTo>
                      <a:pt x="0" y="75361"/>
                    </a:lnTo>
                    <a:lnTo>
                      <a:pt x="75374" y="376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2547018" y="3039365"/>
                <a:ext cx="12395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39520">
                    <a:moveTo>
                      <a:pt x="0" y="0"/>
                    </a:moveTo>
                    <a:lnTo>
                      <a:pt x="1239321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3736086" y="3001683"/>
                <a:ext cx="75565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75564">
                    <a:moveTo>
                      <a:pt x="0" y="0"/>
                    </a:moveTo>
                    <a:lnTo>
                      <a:pt x="0" y="75374"/>
                    </a:lnTo>
                    <a:lnTo>
                      <a:pt x="75374" y="376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grpSp>
          <p:nvGrpSpPr>
            <p:cNvPr id="29" name="object 29"/>
            <p:cNvGrpSpPr/>
            <p:nvPr/>
          </p:nvGrpSpPr>
          <p:grpSpPr>
            <a:xfrm>
              <a:off x="4266052" y="3349415"/>
              <a:ext cx="1391466" cy="73528"/>
              <a:chOff x="3918610" y="3442220"/>
              <a:chExt cx="1430020" cy="75565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3943733" y="3479896"/>
                <a:ext cx="137985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79854">
                    <a:moveTo>
                      <a:pt x="0" y="0"/>
                    </a:moveTo>
                    <a:lnTo>
                      <a:pt x="1379307" y="0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3918610" y="3442220"/>
                <a:ext cx="1430020" cy="75565"/>
              </a:xfrm>
              <a:custGeom>
                <a:avLst/>
                <a:gdLst/>
                <a:ahLst/>
                <a:cxnLst/>
                <a:rect l="l" t="t" r="r" b="b"/>
                <a:pathLst>
                  <a:path w="1430020" h="75564">
                    <a:moveTo>
                      <a:pt x="75374" y="0"/>
                    </a:moveTo>
                    <a:lnTo>
                      <a:pt x="0" y="37680"/>
                    </a:lnTo>
                    <a:lnTo>
                      <a:pt x="75374" y="75361"/>
                    </a:lnTo>
                    <a:lnTo>
                      <a:pt x="75374" y="0"/>
                    </a:lnTo>
                    <a:close/>
                  </a:path>
                  <a:path w="1430020" h="75564">
                    <a:moveTo>
                      <a:pt x="1429550" y="37680"/>
                    </a:moveTo>
                    <a:lnTo>
                      <a:pt x="1354175" y="0"/>
                    </a:lnTo>
                    <a:lnTo>
                      <a:pt x="1354175" y="75361"/>
                    </a:lnTo>
                    <a:lnTo>
                      <a:pt x="1429550" y="3768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32" name="object 32"/>
            <p:cNvSpPr txBox="1"/>
            <p:nvPr/>
          </p:nvSpPr>
          <p:spPr>
            <a:xfrm>
              <a:off x="4044481" y="3533507"/>
              <a:ext cx="1851786" cy="278281"/>
            </a:xfrm>
            <a:prstGeom prst="rect">
              <a:avLst/>
            </a:prstGeom>
          </p:spPr>
          <p:txBody>
            <a:bodyPr vert="horz" wrap="square" lIns="0" tIns="16065" rIns="0" bIns="0" rtlCol="0">
              <a:spAutoFit/>
            </a:bodyPr>
            <a:lstStyle/>
            <a:p>
              <a:pPr marL="12357">
                <a:spcBef>
                  <a:spcPts val="126"/>
                </a:spcBef>
              </a:pPr>
              <a:r>
                <a:rPr sz="1703" spc="10" dirty="0">
                  <a:latin typeface="Times New Roman"/>
                  <a:cs typeface="Times New Roman"/>
                </a:rPr>
                <a:t>few </a:t>
              </a:r>
              <a:r>
                <a:rPr sz="1703" spc="19" dirty="0">
                  <a:latin typeface="Times New Roman"/>
                  <a:cs typeface="Times New Roman"/>
                </a:rPr>
                <a:t>mm </a:t>
              </a:r>
              <a:r>
                <a:rPr sz="1703" spc="10" dirty="0">
                  <a:latin typeface="Times New Roman"/>
                  <a:cs typeface="Times New Roman"/>
                </a:rPr>
                <a:t>focal</a:t>
              </a:r>
              <a:r>
                <a:rPr sz="1703" spc="-92" dirty="0">
                  <a:latin typeface="Times New Roman"/>
                  <a:cs typeface="Times New Roman"/>
                </a:rPr>
                <a:t> </a:t>
              </a:r>
              <a:r>
                <a:rPr sz="1703" spc="10" dirty="0">
                  <a:latin typeface="Times New Roman"/>
                  <a:cs typeface="Times New Roman"/>
                </a:rPr>
                <a:t>length</a:t>
              </a:r>
              <a:endParaRPr sz="1703">
                <a:latin typeface="Times New Roman"/>
                <a:cs typeface="Times New Roman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3006788" y="2371287"/>
              <a:ext cx="971925" cy="535021"/>
            </a:xfrm>
            <a:prstGeom prst="rect">
              <a:avLst/>
            </a:prstGeom>
          </p:spPr>
          <p:txBody>
            <a:bodyPr vert="horz" wrap="square" lIns="0" tIns="6797" rIns="0" bIns="0" rtlCol="0">
              <a:spAutoFit/>
            </a:bodyPr>
            <a:lstStyle/>
            <a:p>
              <a:pPr marL="12357" marR="4943">
                <a:lnSpc>
                  <a:spcPct val="103600"/>
                </a:lnSpc>
                <a:spcBef>
                  <a:spcPts val="54"/>
                </a:spcBef>
              </a:pPr>
              <a:r>
                <a:rPr sz="1703" spc="5" dirty="0">
                  <a:latin typeface="Times New Roman"/>
                  <a:cs typeface="Times New Roman"/>
                </a:rPr>
                <a:t>collimated  laser</a:t>
              </a:r>
              <a:r>
                <a:rPr sz="1703" spc="-58" dirty="0">
                  <a:latin typeface="Times New Roman"/>
                  <a:cs typeface="Times New Roman"/>
                </a:rPr>
                <a:t> </a:t>
              </a:r>
              <a:r>
                <a:rPr sz="1703" spc="10" dirty="0">
                  <a:latin typeface="Times New Roman"/>
                  <a:cs typeface="Times New Roman"/>
                </a:rPr>
                <a:t>beam</a:t>
              </a:r>
              <a:endParaRPr sz="1703">
                <a:latin typeface="Times New Roman"/>
                <a:cs typeface="Times New Roman"/>
              </a:endParaRPr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776371" y="601886"/>
            <a:ext cx="5573522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Lens coupling to fiber </a:t>
            </a:r>
            <a:r>
              <a:rPr sz="3200" spc="5" dirty="0">
                <a:solidFill>
                  <a:srgbClr val="FFC000"/>
                </a:solidFill>
                <a:latin typeface="Times New Roman"/>
                <a:cs typeface="Times New Roman"/>
              </a:rPr>
              <a:t>end</a:t>
            </a: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 faces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5F7963F-5EE2-4F30-887F-ADEA9B8ABA12}"/>
              </a:ext>
            </a:extLst>
          </p:cNvPr>
          <p:cNvGrpSpPr/>
          <p:nvPr/>
        </p:nvGrpSpPr>
        <p:grpSpPr>
          <a:xfrm>
            <a:off x="2379210" y="4162425"/>
            <a:ext cx="5970683" cy="1683388"/>
            <a:chOff x="2379210" y="4215263"/>
            <a:chExt cx="5970683" cy="1683388"/>
          </a:xfrm>
        </p:grpSpPr>
        <p:grpSp>
          <p:nvGrpSpPr>
            <p:cNvPr id="35" name="object 35"/>
            <p:cNvGrpSpPr/>
            <p:nvPr/>
          </p:nvGrpSpPr>
          <p:grpSpPr>
            <a:xfrm>
              <a:off x="2957617" y="4215263"/>
              <a:ext cx="3429233" cy="1026916"/>
              <a:chOff x="2573921" y="4332058"/>
              <a:chExt cx="3524250" cy="1055370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2807871" y="4863081"/>
                <a:ext cx="11791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79195">
                    <a:moveTo>
                      <a:pt x="0" y="0"/>
                    </a:moveTo>
                    <a:lnTo>
                      <a:pt x="1179154" y="0"/>
                    </a:lnTo>
                  </a:path>
                </a:pathLst>
              </a:custGeom>
              <a:ln w="1884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3987025" y="4429861"/>
                <a:ext cx="2105025" cy="869315"/>
              </a:xfrm>
              <a:custGeom>
                <a:avLst/>
                <a:gdLst/>
                <a:ahLst/>
                <a:cxnLst/>
                <a:rect l="l" t="t" r="r" b="b"/>
                <a:pathLst>
                  <a:path w="2105025" h="869314">
                    <a:moveTo>
                      <a:pt x="2104402" y="530377"/>
                    </a:moveTo>
                    <a:lnTo>
                      <a:pt x="0" y="530377"/>
                    </a:lnTo>
                    <a:lnTo>
                      <a:pt x="0" y="868730"/>
                    </a:lnTo>
                    <a:lnTo>
                      <a:pt x="2104402" y="868730"/>
                    </a:lnTo>
                    <a:lnTo>
                      <a:pt x="2104402" y="530377"/>
                    </a:lnTo>
                    <a:close/>
                  </a:path>
                  <a:path w="2105025" h="869314">
                    <a:moveTo>
                      <a:pt x="2104402" y="0"/>
                    </a:moveTo>
                    <a:lnTo>
                      <a:pt x="0" y="0"/>
                    </a:lnTo>
                    <a:lnTo>
                      <a:pt x="0" y="337197"/>
                    </a:lnTo>
                    <a:lnTo>
                      <a:pt x="2104402" y="337197"/>
                    </a:lnTo>
                    <a:lnTo>
                      <a:pt x="2104402" y="0"/>
                    </a:lnTo>
                    <a:close/>
                  </a:path>
                </a:pathLst>
              </a:custGeom>
              <a:solidFill>
                <a:srgbClr val="00D2A9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3987026" y="4429849"/>
                <a:ext cx="2105025" cy="869315"/>
              </a:xfrm>
              <a:custGeom>
                <a:avLst/>
                <a:gdLst/>
                <a:ahLst/>
                <a:cxnLst/>
                <a:rect l="l" t="t" r="r" b="b"/>
                <a:pathLst>
                  <a:path w="2105025" h="869314">
                    <a:moveTo>
                      <a:pt x="0" y="0"/>
                    </a:moveTo>
                    <a:lnTo>
                      <a:pt x="2104400" y="0"/>
                    </a:lnTo>
                    <a:lnTo>
                      <a:pt x="2104400" y="868738"/>
                    </a:lnTo>
                    <a:lnTo>
                      <a:pt x="0" y="868738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3987025" y="4767059"/>
                <a:ext cx="2105025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105025" h="193675">
                    <a:moveTo>
                      <a:pt x="2104402" y="0"/>
                    </a:moveTo>
                    <a:lnTo>
                      <a:pt x="0" y="0"/>
                    </a:lnTo>
                    <a:lnTo>
                      <a:pt x="0" y="193179"/>
                    </a:lnTo>
                    <a:lnTo>
                      <a:pt x="2104402" y="193179"/>
                    </a:lnTo>
                    <a:lnTo>
                      <a:pt x="2104402" y="0"/>
                    </a:lnTo>
                    <a:close/>
                  </a:path>
                </a:pathLst>
              </a:custGeom>
              <a:solidFill>
                <a:srgbClr val="D6D7FF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3987026" y="4767060"/>
                <a:ext cx="2105025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105025" h="193675">
                    <a:moveTo>
                      <a:pt x="0" y="0"/>
                    </a:moveTo>
                    <a:lnTo>
                      <a:pt x="2104400" y="0"/>
                    </a:lnTo>
                    <a:lnTo>
                      <a:pt x="2104400" y="193179"/>
                    </a:lnTo>
                    <a:lnTo>
                      <a:pt x="0" y="193179"/>
                    </a:lnTo>
                    <a:lnTo>
                      <a:pt x="0" y="0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3986877" y="4770304"/>
                <a:ext cx="795020" cy="93980"/>
              </a:xfrm>
              <a:custGeom>
                <a:avLst/>
                <a:gdLst/>
                <a:ahLst/>
                <a:cxnLst/>
                <a:rect l="l" t="t" r="r" b="b"/>
                <a:pathLst>
                  <a:path w="795020" h="93979">
                    <a:moveTo>
                      <a:pt x="0" y="93894"/>
                    </a:moveTo>
                    <a:lnTo>
                      <a:pt x="794992" y="0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4727549" y="4738776"/>
                <a:ext cx="79375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4929">
                    <a:moveTo>
                      <a:pt x="0" y="0"/>
                    </a:moveTo>
                    <a:lnTo>
                      <a:pt x="8839" y="74853"/>
                    </a:lnTo>
                    <a:lnTo>
                      <a:pt x="79273" y="285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4806033" y="4767357"/>
                <a:ext cx="797560" cy="93980"/>
              </a:xfrm>
              <a:custGeom>
                <a:avLst/>
                <a:gdLst/>
                <a:ahLst/>
                <a:cxnLst/>
                <a:rect l="l" t="t" r="r" b="b"/>
                <a:pathLst>
                  <a:path w="797560" h="93979">
                    <a:moveTo>
                      <a:pt x="0" y="0"/>
                    </a:moveTo>
                    <a:lnTo>
                      <a:pt x="797375" y="93904"/>
                    </a:lnTo>
                  </a:path>
                </a:pathLst>
              </a:custGeom>
              <a:ln w="12561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5549087" y="4817960"/>
                <a:ext cx="79375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4929">
                    <a:moveTo>
                      <a:pt x="8813" y="0"/>
                    </a:moveTo>
                    <a:lnTo>
                      <a:pt x="0" y="74853"/>
                    </a:lnTo>
                    <a:lnTo>
                      <a:pt x="79260" y="46240"/>
                    </a:lnTo>
                    <a:lnTo>
                      <a:pt x="8813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4805914" y="4623028"/>
                <a:ext cx="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h="289560">
                    <a:moveTo>
                      <a:pt x="0" y="0"/>
                    </a:moveTo>
                    <a:lnTo>
                      <a:pt x="0" y="289200"/>
                    </a:lnTo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2580271" y="4338408"/>
                <a:ext cx="278130" cy="1042669"/>
              </a:xfrm>
              <a:custGeom>
                <a:avLst/>
                <a:gdLst/>
                <a:ahLst/>
                <a:cxnLst/>
                <a:rect l="l" t="t" r="r" b="b"/>
                <a:pathLst>
                  <a:path w="278130" h="1042670">
                    <a:moveTo>
                      <a:pt x="138963" y="0"/>
                    </a:moveTo>
                    <a:lnTo>
                      <a:pt x="102021" y="18619"/>
                    </a:lnTo>
                    <a:lnTo>
                      <a:pt x="68826" y="71166"/>
                    </a:lnTo>
                    <a:lnTo>
                      <a:pt x="54047" y="108609"/>
                    </a:lnTo>
                    <a:lnTo>
                      <a:pt x="40701" y="152671"/>
                    </a:lnTo>
                    <a:lnTo>
                      <a:pt x="28955" y="202730"/>
                    </a:lnTo>
                    <a:lnTo>
                      <a:pt x="18972" y="258165"/>
                    </a:lnTo>
                    <a:lnTo>
                      <a:pt x="10920" y="318355"/>
                    </a:lnTo>
                    <a:lnTo>
                      <a:pt x="4963" y="382680"/>
                    </a:lnTo>
                    <a:lnTo>
                      <a:pt x="1268" y="450517"/>
                    </a:lnTo>
                    <a:lnTo>
                      <a:pt x="0" y="521246"/>
                    </a:lnTo>
                    <a:lnTo>
                      <a:pt x="1268" y="591974"/>
                    </a:lnTo>
                    <a:lnTo>
                      <a:pt x="4963" y="659811"/>
                    </a:lnTo>
                    <a:lnTo>
                      <a:pt x="10920" y="724134"/>
                    </a:lnTo>
                    <a:lnTo>
                      <a:pt x="18972" y="784323"/>
                    </a:lnTo>
                    <a:lnTo>
                      <a:pt x="28955" y="839756"/>
                    </a:lnTo>
                    <a:lnTo>
                      <a:pt x="40701" y="889814"/>
                    </a:lnTo>
                    <a:lnTo>
                      <a:pt x="54047" y="933874"/>
                    </a:lnTo>
                    <a:lnTo>
                      <a:pt x="68826" y="971316"/>
                    </a:lnTo>
                    <a:lnTo>
                      <a:pt x="102021" y="1023860"/>
                    </a:lnTo>
                    <a:lnTo>
                      <a:pt x="138963" y="1042479"/>
                    </a:lnTo>
                    <a:lnTo>
                      <a:pt x="157816" y="1037721"/>
                    </a:lnTo>
                    <a:lnTo>
                      <a:pt x="193046" y="1001518"/>
                    </a:lnTo>
                    <a:lnTo>
                      <a:pt x="223869" y="933874"/>
                    </a:lnTo>
                    <a:lnTo>
                      <a:pt x="237213" y="889814"/>
                    </a:lnTo>
                    <a:lnTo>
                      <a:pt x="248959" y="839756"/>
                    </a:lnTo>
                    <a:lnTo>
                      <a:pt x="258941" y="784323"/>
                    </a:lnTo>
                    <a:lnTo>
                      <a:pt x="266993" y="724134"/>
                    </a:lnTo>
                    <a:lnTo>
                      <a:pt x="272950" y="659811"/>
                    </a:lnTo>
                    <a:lnTo>
                      <a:pt x="276645" y="591974"/>
                    </a:lnTo>
                    <a:lnTo>
                      <a:pt x="277914" y="521246"/>
                    </a:lnTo>
                    <a:lnTo>
                      <a:pt x="276645" y="450517"/>
                    </a:lnTo>
                    <a:lnTo>
                      <a:pt x="272950" y="382680"/>
                    </a:lnTo>
                    <a:lnTo>
                      <a:pt x="266993" y="318355"/>
                    </a:lnTo>
                    <a:lnTo>
                      <a:pt x="258941" y="258165"/>
                    </a:lnTo>
                    <a:lnTo>
                      <a:pt x="248959" y="202730"/>
                    </a:lnTo>
                    <a:lnTo>
                      <a:pt x="237213" y="152671"/>
                    </a:lnTo>
                    <a:lnTo>
                      <a:pt x="223869" y="108609"/>
                    </a:lnTo>
                    <a:lnTo>
                      <a:pt x="209091" y="71166"/>
                    </a:lnTo>
                    <a:lnTo>
                      <a:pt x="175899" y="18619"/>
                    </a:lnTo>
                    <a:lnTo>
                      <a:pt x="138963" y="0"/>
                    </a:lnTo>
                    <a:close/>
                  </a:path>
                </a:pathLst>
              </a:custGeom>
              <a:solidFill>
                <a:srgbClr val="00FDFF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2580271" y="4338408"/>
                <a:ext cx="278130" cy="1042669"/>
              </a:xfrm>
              <a:custGeom>
                <a:avLst/>
                <a:gdLst/>
                <a:ahLst/>
                <a:cxnLst/>
                <a:rect l="l" t="t" r="r" b="b"/>
                <a:pathLst>
                  <a:path w="278130" h="1042670">
                    <a:moveTo>
                      <a:pt x="0" y="521241"/>
                    </a:moveTo>
                    <a:lnTo>
                      <a:pt x="1268" y="450511"/>
                    </a:lnTo>
                    <a:lnTo>
                      <a:pt x="4963" y="382674"/>
                    </a:lnTo>
                    <a:lnTo>
                      <a:pt x="10920" y="318349"/>
                    </a:lnTo>
                    <a:lnTo>
                      <a:pt x="18971" y="258160"/>
                    </a:lnTo>
                    <a:lnTo>
                      <a:pt x="28953" y="202725"/>
                    </a:lnTo>
                    <a:lnTo>
                      <a:pt x="40699" y="152667"/>
                    </a:lnTo>
                    <a:lnTo>
                      <a:pt x="54044" y="108606"/>
                    </a:lnTo>
                    <a:lnTo>
                      <a:pt x="68823" y="71164"/>
                    </a:lnTo>
                    <a:lnTo>
                      <a:pt x="102017" y="18619"/>
                    </a:lnTo>
                    <a:lnTo>
                      <a:pt x="138957" y="0"/>
                    </a:lnTo>
                    <a:lnTo>
                      <a:pt x="175897" y="18619"/>
                    </a:lnTo>
                    <a:lnTo>
                      <a:pt x="209091" y="71164"/>
                    </a:lnTo>
                    <a:lnTo>
                      <a:pt x="223869" y="108606"/>
                    </a:lnTo>
                    <a:lnTo>
                      <a:pt x="237214" y="152667"/>
                    </a:lnTo>
                    <a:lnTo>
                      <a:pt x="248961" y="202725"/>
                    </a:lnTo>
                    <a:lnTo>
                      <a:pt x="258942" y="258160"/>
                    </a:lnTo>
                    <a:lnTo>
                      <a:pt x="266994" y="318349"/>
                    </a:lnTo>
                    <a:lnTo>
                      <a:pt x="272951" y="382674"/>
                    </a:lnTo>
                    <a:lnTo>
                      <a:pt x="276646" y="450511"/>
                    </a:lnTo>
                    <a:lnTo>
                      <a:pt x="277914" y="521241"/>
                    </a:lnTo>
                    <a:lnTo>
                      <a:pt x="276646" y="591970"/>
                    </a:lnTo>
                    <a:lnTo>
                      <a:pt x="272951" y="659808"/>
                    </a:lnTo>
                    <a:lnTo>
                      <a:pt x="266994" y="724132"/>
                    </a:lnTo>
                    <a:lnTo>
                      <a:pt x="258942" y="784322"/>
                    </a:lnTo>
                    <a:lnTo>
                      <a:pt x="248961" y="839756"/>
                    </a:lnTo>
                    <a:lnTo>
                      <a:pt x="237214" y="889814"/>
                    </a:lnTo>
                    <a:lnTo>
                      <a:pt x="223869" y="933875"/>
                    </a:lnTo>
                    <a:lnTo>
                      <a:pt x="209091" y="971318"/>
                    </a:lnTo>
                    <a:lnTo>
                      <a:pt x="175897" y="1023863"/>
                    </a:lnTo>
                    <a:lnTo>
                      <a:pt x="138957" y="1042482"/>
                    </a:lnTo>
                    <a:lnTo>
                      <a:pt x="120101" y="1037724"/>
                    </a:lnTo>
                    <a:lnTo>
                      <a:pt x="102017" y="1023863"/>
                    </a:lnTo>
                    <a:lnTo>
                      <a:pt x="68823" y="971318"/>
                    </a:lnTo>
                    <a:lnTo>
                      <a:pt x="54044" y="933875"/>
                    </a:lnTo>
                    <a:lnTo>
                      <a:pt x="40699" y="889814"/>
                    </a:lnTo>
                    <a:lnTo>
                      <a:pt x="28953" y="839756"/>
                    </a:lnTo>
                    <a:lnTo>
                      <a:pt x="18971" y="784322"/>
                    </a:lnTo>
                    <a:lnTo>
                      <a:pt x="10920" y="724132"/>
                    </a:lnTo>
                    <a:lnTo>
                      <a:pt x="4963" y="659808"/>
                    </a:lnTo>
                    <a:lnTo>
                      <a:pt x="1268" y="591970"/>
                    </a:lnTo>
                    <a:lnTo>
                      <a:pt x="0" y="521241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2808949" y="4545108"/>
                <a:ext cx="1116330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1116329" h="287654">
                    <a:moveTo>
                      <a:pt x="0" y="0"/>
                    </a:moveTo>
                    <a:lnTo>
                      <a:pt x="1116298" y="28742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3867188" y="4783518"/>
                <a:ext cx="82550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3025">
                    <a:moveTo>
                      <a:pt x="18796" y="0"/>
                    </a:moveTo>
                    <a:lnTo>
                      <a:pt x="0" y="72986"/>
                    </a:lnTo>
                    <a:lnTo>
                      <a:pt x="82384" y="55283"/>
                    </a:lnTo>
                    <a:lnTo>
                      <a:pt x="18796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2808949" y="4845000"/>
                <a:ext cx="1116330" cy="284480"/>
              </a:xfrm>
              <a:custGeom>
                <a:avLst/>
                <a:gdLst/>
                <a:ahLst/>
                <a:cxnLst/>
                <a:rect l="l" t="t" r="r" b="b"/>
                <a:pathLst>
                  <a:path w="1116329" h="284479">
                    <a:moveTo>
                      <a:pt x="0" y="284314"/>
                    </a:moveTo>
                    <a:lnTo>
                      <a:pt x="1116278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3867226" y="4820881"/>
                <a:ext cx="82550" cy="7366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3660">
                    <a:moveTo>
                      <a:pt x="0" y="0"/>
                    </a:moveTo>
                    <a:lnTo>
                      <a:pt x="18605" y="73037"/>
                    </a:lnTo>
                    <a:lnTo>
                      <a:pt x="82346" y="179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52" name="object 52"/>
            <p:cNvSpPr txBox="1"/>
            <p:nvPr/>
          </p:nvSpPr>
          <p:spPr>
            <a:xfrm>
              <a:off x="2379210" y="4702436"/>
              <a:ext cx="1508245" cy="1196215"/>
            </a:xfrm>
            <a:prstGeom prst="rect">
              <a:avLst/>
            </a:prstGeom>
          </p:spPr>
          <p:txBody>
            <a:bodyPr vert="horz" wrap="square" lIns="0" tIns="16065" rIns="0" bIns="0" rtlCol="0">
              <a:spAutoFit/>
            </a:bodyPr>
            <a:lstStyle/>
            <a:p>
              <a:pPr marL="49428">
                <a:spcBef>
                  <a:spcPts val="126"/>
                </a:spcBef>
                <a:tabLst>
                  <a:tab pos="556687" algn="l"/>
                  <a:tab pos="983624" algn="l"/>
                </a:tabLst>
              </a:pPr>
              <a:r>
                <a:rPr sz="1703" u="heavy" spc="5" dirty="0">
                  <a:uFill>
                    <a:solidFill>
                      <a:srgbClr val="FF2600"/>
                    </a:solidFill>
                  </a:uFill>
                  <a:latin typeface="Times New Roman"/>
                  <a:cs typeface="Times New Roman"/>
                </a:rPr>
                <a:t> 	</a:t>
              </a:r>
              <a:r>
                <a:rPr sz="1703" spc="5" dirty="0">
                  <a:latin typeface="Times New Roman"/>
                  <a:cs typeface="Times New Roman"/>
                </a:rPr>
                <a:t>	</a:t>
              </a:r>
              <a:r>
                <a:rPr sz="1703" spc="15" dirty="0">
                  <a:latin typeface="Symbol"/>
                  <a:cs typeface="Symbol"/>
                </a:rPr>
                <a:t></a:t>
              </a:r>
              <a:r>
                <a:rPr sz="1678" spc="21" baseline="-21739" dirty="0">
                  <a:latin typeface="Times New Roman"/>
                  <a:cs typeface="Times New Roman"/>
                </a:rPr>
                <a:t>a</a:t>
              </a:r>
              <a:endParaRPr sz="1678" baseline="-21739" dirty="0">
                <a:latin typeface="Times New Roman"/>
                <a:cs typeface="Times New Roman"/>
              </a:endParaRPr>
            </a:p>
            <a:p>
              <a:pPr>
                <a:lnSpc>
                  <a:spcPct val="100000"/>
                </a:lnSpc>
              </a:pPr>
              <a:endParaRPr sz="2530" dirty="0">
                <a:latin typeface="Times New Roman"/>
                <a:cs typeface="Times New Roman"/>
              </a:endParaRPr>
            </a:p>
            <a:p>
              <a:pPr marL="255174" marR="29657">
                <a:lnSpc>
                  <a:spcPct val="103600"/>
                </a:lnSpc>
              </a:pPr>
              <a:r>
                <a:rPr sz="1703" spc="10" dirty="0">
                  <a:latin typeface="Times New Roman"/>
                  <a:cs typeface="Times New Roman"/>
                </a:rPr>
                <a:t>focusing  </a:t>
              </a:r>
              <a:r>
                <a:rPr sz="1703" spc="5" dirty="0">
                  <a:latin typeface="Times New Roman"/>
                  <a:cs typeface="Times New Roman"/>
                </a:rPr>
                <a:t>objective</a:t>
              </a:r>
              <a:r>
                <a:rPr sz="1703" spc="-34" dirty="0">
                  <a:latin typeface="Times New Roman"/>
                  <a:cs typeface="Times New Roman"/>
                </a:rPr>
                <a:t> </a:t>
              </a:r>
              <a:r>
                <a:rPr sz="1703" spc="5" dirty="0">
                  <a:latin typeface="Times New Roman"/>
                  <a:cs typeface="Times New Roman"/>
                </a:rPr>
                <a:t>lens</a:t>
              </a:r>
              <a:endParaRPr sz="1703" dirty="0">
                <a:latin typeface="Times New Roman"/>
                <a:cs typeface="Times New Roman"/>
              </a:endParaRPr>
            </a:p>
          </p:txBody>
        </p:sp>
        <p:grpSp>
          <p:nvGrpSpPr>
            <p:cNvPr id="53" name="object 53"/>
            <p:cNvGrpSpPr/>
            <p:nvPr/>
          </p:nvGrpSpPr>
          <p:grpSpPr>
            <a:xfrm>
              <a:off x="2416282" y="4215263"/>
              <a:ext cx="5305117" cy="1026916"/>
              <a:chOff x="2017587" y="4332058"/>
              <a:chExt cx="5452110" cy="1055370"/>
            </a:xfrm>
          </p:grpSpPr>
          <p:sp>
            <p:nvSpPr>
              <p:cNvPr id="54" name="object 54"/>
              <p:cNvSpPr/>
              <p:nvPr/>
            </p:nvSpPr>
            <p:spPr>
              <a:xfrm>
                <a:off x="3273935" y="4832795"/>
                <a:ext cx="64028" cy="179440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2030287" y="4545108"/>
                <a:ext cx="5219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21969">
                    <a:moveTo>
                      <a:pt x="0" y="0"/>
                    </a:moveTo>
                    <a:lnTo>
                      <a:pt x="521765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2501811" y="4507433"/>
                <a:ext cx="75565" cy="659765"/>
              </a:xfrm>
              <a:custGeom>
                <a:avLst/>
                <a:gdLst/>
                <a:ahLst/>
                <a:cxnLst/>
                <a:rect l="l" t="t" r="r" b="b"/>
                <a:pathLst>
                  <a:path w="75564" h="659764">
                    <a:moveTo>
                      <a:pt x="75361" y="621880"/>
                    </a:moveTo>
                    <a:lnTo>
                      <a:pt x="0" y="584200"/>
                    </a:lnTo>
                    <a:lnTo>
                      <a:pt x="0" y="659561"/>
                    </a:lnTo>
                    <a:lnTo>
                      <a:pt x="75361" y="621880"/>
                    </a:lnTo>
                    <a:close/>
                  </a:path>
                  <a:path w="75564" h="659764">
                    <a:moveTo>
                      <a:pt x="75361" y="37680"/>
                    </a:moveTo>
                    <a:lnTo>
                      <a:pt x="0" y="0"/>
                    </a:lnTo>
                    <a:lnTo>
                      <a:pt x="0" y="75361"/>
                    </a:lnTo>
                    <a:lnTo>
                      <a:pt x="75361" y="3768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7184796" y="4338408"/>
                <a:ext cx="278130" cy="1042669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042670">
                    <a:moveTo>
                      <a:pt x="138963" y="0"/>
                    </a:moveTo>
                    <a:lnTo>
                      <a:pt x="102021" y="18619"/>
                    </a:lnTo>
                    <a:lnTo>
                      <a:pt x="68826" y="71166"/>
                    </a:lnTo>
                    <a:lnTo>
                      <a:pt x="54047" y="108609"/>
                    </a:lnTo>
                    <a:lnTo>
                      <a:pt x="40701" y="152671"/>
                    </a:lnTo>
                    <a:lnTo>
                      <a:pt x="28955" y="202730"/>
                    </a:lnTo>
                    <a:lnTo>
                      <a:pt x="18972" y="258165"/>
                    </a:lnTo>
                    <a:lnTo>
                      <a:pt x="10920" y="318355"/>
                    </a:lnTo>
                    <a:lnTo>
                      <a:pt x="4963" y="382680"/>
                    </a:lnTo>
                    <a:lnTo>
                      <a:pt x="1268" y="450517"/>
                    </a:lnTo>
                    <a:lnTo>
                      <a:pt x="0" y="521246"/>
                    </a:lnTo>
                    <a:lnTo>
                      <a:pt x="1268" y="591974"/>
                    </a:lnTo>
                    <a:lnTo>
                      <a:pt x="4963" y="659811"/>
                    </a:lnTo>
                    <a:lnTo>
                      <a:pt x="10920" y="724134"/>
                    </a:lnTo>
                    <a:lnTo>
                      <a:pt x="18972" y="784323"/>
                    </a:lnTo>
                    <a:lnTo>
                      <a:pt x="28955" y="839756"/>
                    </a:lnTo>
                    <a:lnTo>
                      <a:pt x="40701" y="889814"/>
                    </a:lnTo>
                    <a:lnTo>
                      <a:pt x="54047" y="933874"/>
                    </a:lnTo>
                    <a:lnTo>
                      <a:pt x="68826" y="971316"/>
                    </a:lnTo>
                    <a:lnTo>
                      <a:pt x="102021" y="1023860"/>
                    </a:lnTo>
                    <a:lnTo>
                      <a:pt x="138963" y="1042479"/>
                    </a:lnTo>
                    <a:lnTo>
                      <a:pt x="157819" y="1037721"/>
                    </a:lnTo>
                    <a:lnTo>
                      <a:pt x="193053" y="1001518"/>
                    </a:lnTo>
                    <a:lnTo>
                      <a:pt x="223879" y="933874"/>
                    </a:lnTo>
                    <a:lnTo>
                      <a:pt x="237224" y="889814"/>
                    </a:lnTo>
                    <a:lnTo>
                      <a:pt x="248971" y="839756"/>
                    </a:lnTo>
                    <a:lnTo>
                      <a:pt x="258953" y="784323"/>
                    </a:lnTo>
                    <a:lnTo>
                      <a:pt x="267006" y="724134"/>
                    </a:lnTo>
                    <a:lnTo>
                      <a:pt x="272962" y="659811"/>
                    </a:lnTo>
                    <a:lnTo>
                      <a:pt x="276658" y="591974"/>
                    </a:lnTo>
                    <a:lnTo>
                      <a:pt x="277926" y="521246"/>
                    </a:lnTo>
                    <a:lnTo>
                      <a:pt x="276658" y="450517"/>
                    </a:lnTo>
                    <a:lnTo>
                      <a:pt x="272962" y="382680"/>
                    </a:lnTo>
                    <a:lnTo>
                      <a:pt x="267006" y="318355"/>
                    </a:lnTo>
                    <a:lnTo>
                      <a:pt x="258953" y="258165"/>
                    </a:lnTo>
                    <a:lnTo>
                      <a:pt x="248971" y="202730"/>
                    </a:lnTo>
                    <a:lnTo>
                      <a:pt x="237224" y="152671"/>
                    </a:lnTo>
                    <a:lnTo>
                      <a:pt x="223879" y="108609"/>
                    </a:lnTo>
                    <a:lnTo>
                      <a:pt x="209100" y="71166"/>
                    </a:lnTo>
                    <a:lnTo>
                      <a:pt x="175904" y="18619"/>
                    </a:lnTo>
                    <a:lnTo>
                      <a:pt x="138963" y="0"/>
                    </a:lnTo>
                    <a:close/>
                  </a:path>
                </a:pathLst>
              </a:custGeom>
              <a:solidFill>
                <a:srgbClr val="00FDFF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7184807" y="4338408"/>
                <a:ext cx="278130" cy="1042669"/>
              </a:xfrm>
              <a:custGeom>
                <a:avLst/>
                <a:gdLst/>
                <a:ahLst/>
                <a:cxnLst/>
                <a:rect l="l" t="t" r="r" b="b"/>
                <a:pathLst>
                  <a:path w="278129" h="1042670">
                    <a:moveTo>
                      <a:pt x="277914" y="521241"/>
                    </a:moveTo>
                    <a:lnTo>
                      <a:pt x="276646" y="450511"/>
                    </a:lnTo>
                    <a:lnTo>
                      <a:pt x="272951" y="382674"/>
                    </a:lnTo>
                    <a:lnTo>
                      <a:pt x="266994" y="318349"/>
                    </a:lnTo>
                    <a:lnTo>
                      <a:pt x="258942" y="258160"/>
                    </a:lnTo>
                    <a:lnTo>
                      <a:pt x="248961" y="202725"/>
                    </a:lnTo>
                    <a:lnTo>
                      <a:pt x="237214" y="152667"/>
                    </a:lnTo>
                    <a:lnTo>
                      <a:pt x="223869" y="108606"/>
                    </a:lnTo>
                    <a:lnTo>
                      <a:pt x="209091" y="71164"/>
                    </a:lnTo>
                    <a:lnTo>
                      <a:pt x="175897" y="18619"/>
                    </a:lnTo>
                    <a:lnTo>
                      <a:pt x="138957" y="0"/>
                    </a:lnTo>
                    <a:lnTo>
                      <a:pt x="102017" y="18619"/>
                    </a:lnTo>
                    <a:lnTo>
                      <a:pt x="68823" y="71164"/>
                    </a:lnTo>
                    <a:lnTo>
                      <a:pt x="54044" y="108606"/>
                    </a:lnTo>
                    <a:lnTo>
                      <a:pt x="40699" y="152667"/>
                    </a:lnTo>
                    <a:lnTo>
                      <a:pt x="28953" y="202725"/>
                    </a:lnTo>
                    <a:lnTo>
                      <a:pt x="18971" y="258160"/>
                    </a:lnTo>
                    <a:lnTo>
                      <a:pt x="10920" y="318349"/>
                    </a:lnTo>
                    <a:lnTo>
                      <a:pt x="4963" y="382674"/>
                    </a:lnTo>
                    <a:lnTo>
                      <a:pt x="1268" y="450511"/>
                    </a:lnTo>
                    <a:lnTo>
                      <a:pt x="0" y="521241"/>
                    </a:lnTo>
                    <a:lnTo>
                      <a:pt x="1268" y="591970"/>
                    </a:lnTo>
                    <a:lnTo>
                      <a:pt x="4963" y="659808"/>
                    </a:lnTo>
                    <a:lnTo>
                      <a:pt x="10920" y="724132"/>
                    </a:lnTo>
                    <a:lnTo>
                      <a:pt x="18971" y="784322"/>
                    </a:lnTo>
                    <a:lnTo>
                      <a:pt x="28953" y="839756"/>
                    </a:lnTo>
                    <a:lnTo>
                      <a:pt x="40699" y="889814"/>
                    </a:lnTo>
                    <a:lnTo>
                      <a:pt x="54044" y="933875"/>
                    </a:lnTo>
                    <a:lnTo>
                      <a:pt x="68823" y="971318"/>
                    </a:lnTo>
                    <a:lnTo>
                      <a:pt x="102017" y="1023863"/>
                    </a:lnTo>
                    <a:lnTo>
                      <a:pt x="138957" y="1042482"/>
                    </a:lnTo>
                    <a:lnTo>
                      <a:pt x="157813" y="1037724"/>
                    </a:lnTo>
                    <a:lnTo>
                      <a:pt x="175897" y="1023863"/>
                    </a:lnTo>
                    <a:lnTo>
                      <a:pt x="209091" y="971318"/>
                    </a:lnTo>
                    <a:lnTo>
                      <a:pt x="223869" y="933875"/>
                    </a:lnTo>
                    <a:lnTo>
                      <a:pt x="237214" y="889814"/>
                    </a:lnTo>
                    <a:lnTo>
                      <a:pt x="248961" y="839756"/>
                    </a:lnTo>
                    <a:lnTo>
                      <a:pt x="258942" y="784322"/>
                    </a:lnTo>
                    <a:lnTo>
                      <a:pt x="266994" y="724132"/>
                    </a:lnTo>
                    <a:lnTo>
                      <a:pt x="272951" y="659808"/>
                    </a:lnTo>
                    <a:lnTo>
                      <a:pt x="276646" y="591970"/>
                    </a:lnTo>
                    <a:lnTo>
                      <a:pt x="277914" y="521241"/>
                    </a:lnTo>
                    <a:close/>
                  </a:path>
                </a:pathLst>
              </a:custGeom>
              <a:ln w="1256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6092702" y="4551379"/>
                <a:ext cx="1115695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1115695" h="287654">
                    <a:moveTo>
                      <a:pt x="1115497" y="0"/>
                    </a:moveTo>
                    <a:lnTo>
                      <a:pt x="0" y="28742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7150138" y="4527423"/>
                <a:ext cx="82550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3025">
                    <a:moveTo>
                      <a:pt x="0" y="0"/>
                    </a:moveTo>
                    <a:lnTo>
                      <a:pt x="18795" y="72986"/>
                    </a:lnTo>
                    <a:lnTo>
                      <a:pt x="82384" y="176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6092702" y="4838799"/>
                <a:ext cx="1115695" cy="284480"/>
              </a:xfrm>
              <a:custGeom>
                <a:avLst/>
                <a:gdLst/>
                <a:ahLst/>
                <a:cxnLst/>
                <a:rect l="l" t="t" r="r" b="b"/>
                <a:pathLst>
                  <a:path w="1115695" h="284479">
                    <a:moveTo>
                      <a:pt x="1115477" y="284304"/>
                    </a:moveTo>
                    <a:lnTo>
                      <a:pt x="0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7150176" y="5074183"/>
                <a:ext cx="82550" cy="7366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3660">
                    <a:moveTo>
                      <a:pt x="18618" y="0"/>
                    </a:moveTo>
                    <a:lnTo>
                      <a:pt x="0" y="73037"/>
                    </a:lnTo>
                    <a:lnTo>
                      <a:pt x="82346" y="55130"/>
                    </a:lnTo>
                    <a:lnTo>
                      <a:pt x="18618" y="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63" name="object 63"/>
            <p:cNvSpPr txBox="1"/>
            <p:nvPr/>
          </p:nvSpPr>
          <p:spPr>
            <a:xfrm>
              <a:off x="7068891" y="4691316"/>
              <a:ext cx="253949" cy="278281"/>
            </a:xfrm>
            <a:prstGeom prst="rect">
              <a:avLst/>
            </a:prstGeom>
          </p:spPr>
          <p:txBody>
            <a:bodyPr vert="horz" wrap="square" lIns="0" tIns="16065" rIns="0" bIns="0" rtlCol="0">
              <a:spAutoFit/>
            </a:bodyPr>
            <a:lstStyle/>
            <a:p>
              <a:pPr marL="37071">
                <a:spcBef>
                  <a:spcPts val="126"/>
                </a:spcBef>
              </a:pPr>
              <a:r>
                <a:rPr sz="1703" spc="15" dirty="0">
                  <a:latin typeface="Symbol"/>
                  <a:cs typeface="Symbol"/>
                </a:rPr>
                <a:t></a:t>
              </a:r>
              <a:r>
                <a:rPr sz="1678" spc="21" baseline="-21739" dirty="0">
                  <a:latin typeface="Times New Roman"/>
                  <a:cs typeface="Times New Roman"/>
                </a:rPr>
                <a:t>a</a:t>
              </a:r>
              <a:endParaRPr sz="1678" baseline="-21739">
                <a:latin typeface="Times New Roman"/>
                <a:cs typeface="Times New Roman"/>
              </a:endParaRPr>
            </a:p>
          </p:txBody>
        </p:sp>
        <p:grpSp>
          <p:nvGrpSpPr>
            <p:cNvPr id="64" name="object 64"/>
            <p:cNvGrpSpPr/>
            <p:nvPr/>
          </p:nvGrpSpPr>
          <p:grpSpPr>
            <a:xfrm>
              <a:off x="6381405" y="4385910"/>
              <a:ext cx="1820274" cy="641977"/>
              <a:chOff x="6092574" y="4507433"/>
              <a:chExt cx="1870710" cy="659765"/>
            </a:xfrm>
          </p:grpSpPr>
          <p:sp>
            <p:nvSpPr>
              <p:cNvPr id="65" name="object 65"/>
              <p:cNvSpPr/>
              <p:nvPr/>
            </p:nvSpPr>
            <p:spPr>
              <a:xfrm>
                <a:off x="6690163" y="4824793"/>
                <a:ext cx="64026" cy="186305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7415879" y="4545108"/>
                <a:ext cx="5219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521970">
                    <a:moveTo>
                      <a:pt x="521775" y="0"/>
                    </a:moveTo>
                    <a:lnTo>
                      <a:pt x="0" y="0"/>
                    </a:lnTo>
                  </a:path>
                </a:pathLst>
              </a:custGeom>
              <a:ln w="25122">
                <a:solidFill>
                  <a:srgbClr val="FF26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7887398" y="4507432"/>
                <a:ext cx="75565" cy="659765"/>
              </a:xfrm>
              <a:custGeom>
                <a:avLst/>
                <a:gdLst/>
                <a:ahLst/>
                <a:cxnLst/>
                <a:rect l="l" t="t" r="r" b="b"/>
                <a:pathLst>
                  <a:path w="75565" h="659764">
                    <a:moveTo>
                      <a:pt x="75374" y="621880"/>
                    </a:moveTo>
                    <a:lnTo>
                      <a:pt x="0" y="584200"/>
                    </a:lnTo>
                    <a:lnTo>
                      <a:pt x="0" y="659561"/>
                    </a:lnTo>
                    <a:lnTo>
                      <a:pt x="75374" y="621880"/>
                    </a:lnTo>
                    <a:close/>
                  </a:path>
                  <a:path w="75565" h="659764">
                    <a:moveTo>
                      <a:pt x="75374" y="37680"/>
                    </a:moveTo>
                    <a:lnTo>
                      <a:pt x="0" y="0"/>
                    </a:lnTo>
                    <a:lnTo>
                      <a:pt x="0" y="75361"/>
                    </a:lnTo>
                    <a:lnTo>
                      <a:pt x="75374" y="37680"/>
                    </a:lnTo>
                    <a:close/>
                  </a:path>
                </a:pathLst>
              </a:custGeom>
              <a:solidFill>
                <a:srgbClr val="FF2600"/>
              </a:solidFill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6092574" y="4831074"/>
                <a:ext cx="770255" cy="0"/>
              </a:xfrm>
              <a:custGeom>
                <a:avLst/>
                <a:gdLst/>
                <a:ahLst/>
                <a:cxnLst/>
                <a:rect l="l" t="t" r="r" b="b"/>
                <a:pathLst>
                  <a:path w="770254">
                    <a:moveTo>
                      <a:pt x="0" y="0"/>
                    </a:moveTo>
                    <a:lnTo>
                      <a:pt x="769710" y="0"/>
                    </a:lnTo>
                  </a:path>
                </a:pathLst>
              </a:custGeom>
              <a:ln w="2512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751"/>
              </a:p>
            </p:txBody>
          </p:sp>
        </p:grpSp>
        <p:sp>
          <p:nvSpPr>
            <p:cNvPr id="69" name="object 69"/>
            <p:cNvSpPr txBox="1"/>
            <p:nvPr/>
          </p:nvSpPr>
          <p:spPr>
            <a:xfrm>
              <a:off x="7656675" y="4819654"/>
              <a:ext cx="532612" cy="189073"/>
            </a:xfrm>
            <a:prstGeom prst="rect">
              <a:avLst/>
            </a:prstGeom>
          </p:spPr>
          <p:txBody>
            <a:bodyPr vert="horz" wrap="square" lIns="0" tIns="16683" rIns="0" bIns="0" rtlCol="0">
              <a:spAutoFit/>
            </a:bodyPr>
            <a:lstStyle/>
            <a:p>
              <a:pPr marL="12357">
                <a:spcBef>
                  <a:spcPts val="131"/>
                </a:spcBef>
                <a:tabLst>
                  <a:tab pos="519616" algn="l"/>
                </a:tabLst>
              </a:pPr>
              <a:r>
                <a:rPr sz="1119" u="heavy" spc="5" dirty="0">
                  <a:uFill>
                    <a:solidFill>
                      <a:srgbClr val="FF2600"/>
                    </a:solidFill>
                  </a:uFill>
                  <a:latin typeface="Times New Roman"/>
                  <a:cs typeface="Times New Roman"/>
                </a:rPr>
                <a:t> 	</a:t>
              </a:r>
              <a:endParaRPr sz="1119">
                <a:latin typeface="Times New Roman"/>
                <a:cs typeface="Times New Roman"/>
              </a:endParaRPr>
            </a:p>
          </p:txBody>
        </p:sp>
        <p:sp>
          <p:nvSpPr>
            <p:cNvPr id="70" name="object 70"/>
            <p:cNvSpPr txBox="1"/>
            <p:nvPr/>
          </p:nvSpPr>
          <p:spPr>
            <a:xfrm>
              <a:off x="7109190" y="5340868"/>
              <a:ext cx="1240703" cy="535021"/>
            </a:xfrm>
            <a:prstGeom prst="rect">
              <a:avLst/>
            </a:prstGeom>
          </p:spPr>
          <p:txBody>
            <a:bodyPr vert="horz" wrap="square" lIns="0" tIns="6797" rIns="0" bIns="0" rtlCol="0">
              <a:spAutoFit/>
            </a:bodyPr>
            <a:lstStyle/>
            <a:p>
              <a:pPr marL="12357" marR="4943">
                <a:lnSpc>
                  <a:spcPct val="103600"/>
                </a:lnSpc>
                <a:spcBef>
                  <a:spcPts val="54"/>
                </a:spcBef>
              </a:pPr>
              <a:r>
                <a:rPr sz="1703" spc="5" dirty="0">
                  <a:latin typeface="Times New Roman"/>
                  <a:cs typeface="Times New Roman"/>
                </a:rPr>
                <a:t>collecting  objective</a:t>
              </a:r>
              <a:r>
                <a:rPr sz="1703" spc="-34" dirty="0">
                  <a:latin typeface="Times New Roman"/>
                  <a:cs typeface="Times New Roman"/>
                </a:rPr>
                <a:t> </a:t>
              </a:r>
              <a:r>
                <a:rPr sz="1703" spc="5" dirty="0">
                  <a:latin typeface="Times New Roman"/>
                  <a:cs typeface="Times New Roman"/>
                </a:rPr>
                <a:t>lens</a:t>
              </a:r>
              <a:endParaRPr sz="1703">
                <a:latin typeface="Times New Roman"/>
                <a:cs typeface="Times New Roman"/>
              </a:endParaRPr>
            </a:p>
          </p:txBody>
        </p:sp>
        <p:sp>
          <p:nvSpPr>
            <p:cNvPr id="71" name="object 71"/>
            <p:cNvSpPr txBox="1"/>
            <p:nvPr/>
          </p:nvSpPr>
          <p:spPr>
            <a:xfrm>
              <a:off x="4774394" y="5429854"/>
              <a:ext cx="1576830" cy="278281"/>
            </a:xfrm>
            <a:prstGeom prst="rect">
              <a:avLst/>
            </a:prstGeom>
          </p:spPr>
          <p:txBody>
            <a:bodyPr vert="horz" wrap="square" lIns="0" tIns="16065" rIns="0" bIns="0" rtlCol="0">
              <a:spAutoFit/>
            </a:bodyPr>
            <a:lstStyle/>
            <a:p>
              <a:pPr marL="12357">
                <a:spcBef>
                  <a:spcPts val="126"/>
                </a:spcBef>
              </a:pPr>
              <a:r>
                <a:rPr sz="1703" spc="-136" dirty="0">
                  <a:latin typeface="AoyagiKouzanFontT"/>
                  <a:cs typeface="AoyagiKouzanFontT"/>
                </a:rPr>
                <a:t>“</a:t>
              </a:r>
              <a:r>
                <a:rPr sz="1703" spc="-136" dirty="0">
                  <a:latin typeface="Times New Roman"/>
                  <a:cs typeface="Times New Roman"/>
                </a:rPr>
                <a:t>fiber </a:t>
              </a:r>
              <a:r>
                <a:rPr sz="1703" spc="10" dirty="0">
                  <a:latin typeface="Times New Roman"/>
                  <a:cs typeface="Times New Roman"/>
                </a:rPr>
                <a:t>under</a:t>
              </a:r>
              <a:r>
                <a:rPr sz="1703" spc="-180" dirty="0">
                  <a:latin typeface="Times New Roman"/>
                  <a:cs typeface="Times New Roman"/>
                </a:rPr>
                <a:t> </a:t>
              </a:r>
              <a:r>
                <a:rPr sz="1703" spc="-165" dirty="0">
                  <a:latin typeface="Times New Roman"/>
                  <a:cs typeface="Times New Roman"/>
                </a:rPr>
                <a:t>test</a:t>
              </a:r>
              <a:r>
                <a:rPr sz="1703" spc="-165" dirty="0">
                  <a:latin typeface="AoyagiKouzanFontT"/>
                  <a:cs typeface="AoyagiKouzanFontT"/>
                </a:rPr>
                <a:t>”</a:t>
              </a:r>
              <a:endParaRPr sz="1703">
                <a:latin typeface="AoyagiKouzanFontT"/>
                <a:cs typeface="AoyagiKouzanFontT"/>
              </a:endParaRPr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643128" y="6303208"/>
            <a:ext cx="7818372" cy="585025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0" tIns="11740" rIns="0" bIns="0" rtlCol="0">
            <a:spAutoFit/>
          </a:bodyPr>
          <a:lstStyle/>
          <a:p>
            <a:pPr marL="12357" marR="4943">
              <a:lnSpc>
                <a:spcPct val="101400"/>
              </a:lnSpc>
              <a:spcBef>
                <a:spcPts val="92"/>
              </a:spcBef>
              <a:buChar char="•"/>
              <a:tabLst>
                <a:tab pos="220574" algn="l"/>
                <a:tab pos="1979606" algn="l"/>
              </a:tabLst>
            </a:pPr>
            <a:r>
              <a:rPr sz="1897" spc="15" dirty="0">
                <a:solidFill>
                  <a:srgbClr val="0066FF"/>
                </a:solidFill>
                <a:latin typeface="Times New Roman"/>
                <a:cs typeface="Times New Roman"/>
              </a:rPr>
              <a:t>By </a:t>
            </a:r>
            <a:r>
              <a:rPr sz="1897" spc="10" dirty="0">
                <a:solidFill>
                  <a:srgbClr val="0066FF"/>
                </a:solidFill>
                <a:latin typeface="Times New Roman"/>
                <a:cs typeface="Times New Roman"/>
              </a:rPr>
              <a:t>measuring </a:t>
            </a:r>
            <a:r>
              <a:rPr sz="1897" spc="5" dirty="0">
                <a:solidFill>
                  <a:srgbClr val="0066FF"/>
                </a:solidFill>
                <a:latin typeface="Times New Roman"/>
                <a:cs typeface="Times New Roman"/>
              </a:rPr>
              <a:t>the </a:t>
            </a:r>
            <a:r>
              <a:rPr sz="1897" spc="10" dirty="0">
                <a:solidFill>
                  <a:srgbClr val="0066FF"/>
                </a:solidFill>
                <a:latin typeface="Times New Roman"/>
                <a:cs typeface="Times New Roman"/>
              </a:rPr>
              <a:t>output couple ray cone </a:t>
            </a:r>
            <a:r>
              <a:rPr sz="1897" spc="5" dirty="0">
                <a:solidFill>
                  <a:srgbClr val="0066FF"/>
                </a:solidFill>
                <a:latin typeface="Times New Roman"/>
                <a:cs typeface="Times New Roman"/>
              </a:rPr>
              <a:t>angle, </a:t>
            </a:r>
            <a:r>
              <a:rPr sz="1897" spc="15" dirty="0">
                <a:solidFill>
                  <a:srgbClr val="0066FF"/>
                </a:solidFill>
                <a:latin typeface="Times New Roman"/>
                <a:cs typeface="Times New Roman"/>
              </a:rPr>
              <a:t>we </a:t>
            </a:r>
            <a:r>
              <a:rPr sz="1897" spc="5" dirty="0">
                <a:solidFill>
                  <a:srgbClr val="0066FF"/>
                </a:solidFill>
                <a:latin typeface="Times New Roman"/>
                <a:cs typeface="Times New Roman"/>
              </a:rPr>
              <a:t>can </a:t>
            </a:r>
            <a:r>
              <a:rPr sz="1897" spc="10" dirty="0">
                <a:solidFill>
                  <a:srgbClr val="0066FF"/>
                </a:solidFill>
                <a:latin typeface="Times New Roman"/>
                <a:cs typeface="Times New Roman"/>
              </a:rPr>
              <a:t>measure </a:t>
            </a:r>
            <a:r>
              <a:rPr sz="1897" spc="5" dirty="0">
                <a:solidFill>
                  <a:srgbClr val="0066FF"/>
                </a:solidFill>
                <a:latin typeface="Times New Roman"/>
                <a:cs typeface="Times New Roman"/>
              </a:rPr>
              <a:t>the fiber  acceptance</a:t>
            </a:r>
            <a:r>
              <a:rPr sz="1897" spc="4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97" spc="5" dirty="0">
                <a:solidFill>
                  <a:srgbClr val="0066FF"/>
                </a:solidFill>
                <a:latin typeface="Times New Roman"/>
                <a:cs typeface="Times New Roman"/>
              </a:rPr>
              <a:t>angle.	</a:t>
            </a:r>
            <a:endParaRPr sz="1897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slow"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31900" y="1445096"/>
            <a:ext cx="8382000" cy="4755148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just">
              <a:defRPr sz="3200" b="1"/>
            </a:lvl1pPr>
          </a:lstStyle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sz="2400" b="0" dirty="0"/>
              <a:t>Developing ways for fiber to collect light efficiently was an</a:t>
            </a:r>
            <a:r>
              <a:rPr lang="en-US" sz="2400" b="0" dirty="0"/>
              <a:t> </a:t>
            </a:r>
            <a:r>
              <a:rPr sz="2400" b="0" dirty="0"/>
              <a:t>important early step in developing practical fiber optic  communications (particularly in the 1970s)</a:t>
            </a:r>
            <a:r>
              <a:rPr lang="en-US" sz="2400" b="0" dirty="0"/>
              <a:t>. 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sz="2400" b="0" dirty="0"/>
              <a:t>It seems logical to have optical fibers with NA as large as possible …  with as large </a:t>
            </a:r>
            <a:r>
              <a:rPr lang="en-US" sz="2400" b="0" dirty="0">
                <a:sym typeface="Symbol" panose="05050102010706020507" pitchFamily="18" charset="2"/>
              </a:rPr>
              <a:t></a:t>
            </a:r>
            <a:r>
              <a:rPr sz="2400" b="0" dirty="0"/>
              <a:t> as possible … in order to couple maximum amount of  light into the fiber.</a:t>
            </a:r>
            <a:endParaRPr lang="en-US" sz="2400" b="0" dirty="0"/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sz="2400" b="0" dirty="0"/>
              <a:t>Soon, we will find out that such large-NA fibers tend to be  “multimode” and are unsuitable for high-speed communications  because of a limitation known as modal dispersion.</a:t>
            </a:r>
            <a:endParaRPr lang="en-US" sz="2400" b="0" dirty="0"/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sz="2400" b="0" dirty="0"/>
              <a:t>Relatively small-NA fibers are therefore used for high-speed optical  communication systems.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84600" y="581025"/>
            <a:ext cx="3276600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spc="5" dirty="0">
                <a:solidFill>
                  <a:srgbClr val="FFC000"/>
                </a:solidFill>
                <a:latin typeface="Times New Roman"/>
                <a:cs typeface="Times New Roman"/>
              </a:rPr>
              <a:t>Large-NA</a:t>
            </a:r>
            <a:r>
              <a:rPr sz="3200" spc="-54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fibers?</a:t>
            </a:r>
          </a:p>
        </p:txBody>
      </p:sp>
    </p:spTree>
  </p:cSld>
  <p:clrMapOvr>
    <a:masterClrMapping/>
  </p:clrMapOvr>
  <p:transition spd="slow"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70300" y="581025"/>
            <a:ext cx="2959227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200" dirty="0">
                <a:solidFill>
                  <a:srgbClr val="FFC000"/>
                </a:solidFill>
                <a:latin typeface="Times New Roman"/>
                <a:cs typeface="Times New Roman"/>
              </a:rPr>
              <a:t>Typical fiber</a:t>
            </a:r>
            <a:r>
              <a:rPr sz="3200" spc="-49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200" spc="10" dirty="0">
                <a:solidFill>
                  <a:srgbClr val="FFC000"/>
                </a:solidFill>
                <a:latin typeface="Times New Roman"/>
                <a:cs typeface="Times New Roman"/>
              </a:rPr>
              <a:t>NA</a:t>
            </a:r>
            <a:endParaRPr sz="320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90E21-6568-4770-B70A-B28EC12228FE}"/>
              </a:ext>
            </a:extLst>
          </p:cNvPr>
          <p:cNvSpPr txBox="1"/>
          <p:nvPr/>
        </p:nvSpPr>
        <p:spPr>
          <a:xfrm>
            <a:off x="774698" y="1419224"/>
            <a:ext cx="9448801" cy="5124480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txBody>
          <a:bodyPr wrap="square" lIns="0" tIns="0" rIns="91440" bIns="0">
            <a:spAutoFit/>
          </a:bodyPr>
          <a:lstStyle>
            <a:defPPr>
              <a:defRPr lang="en-US"/>
            </a:defPPr>
            <a:lvl1pPr marL="342900" indent="-34290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400" b="0"/>
            </a:lvl1pPr>
          </a:lstStyle>
          <a:p>
            <a:r>
              <a:rPr lang="en-US" dirty="0"/>
              <a:t>Silica fibers for long-haul transmission are designed to have numerical apertures from about 0.1 to 0.3.</a:t>
            </a:r>
          </a:p>
          <a:p>
            <a:r>
              <a:rPr lang="en-US" dirty="0"/>
              <a:t>The low NA makes coupling efficiency tend to be poor, but  turns out to improve the fiber’s bandwidth!	(details later)</a:t>
            </a:r>
          </a:p>
          <a:p>
            <a:r>
              <a:rPr lang="en-US" dirty="0"/>
              <a:t>Plastic, rather than glass, fibers are available for short-haul  communications (e.g. within an automobile).	These fibers are restricted  to short lengths because of the relatively high attenuation in plastic  materials.</a:t>
            </a:r>
          </a:p>
          <a:p>
            <a:r>
              <a:rPr lang="en-US" dirty="0"/>
              <a:t>Plastic optical fibers (POFs) are designed to have high numerical  apertures (typically, 0.4 – 0.5) to improve coupling efficiency, and so  partially offset the high propagation losses and also enable alignment tolerance.</a:t>
            </a:r>
          </a:p>
        </p:txBody>
      </p:sp>
    </p:spTree>
  </p:cSld>
  <p:clrMapOvr>
    <a:masterClrMapping/>
  </p:clrMapOvr>
  <p:transition spd="slow"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27500" y="412492"/>
            <a:ext cx="2438400" cy="506791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lang="en-US" sz="3200" dirty="0">
                <a:solidFill>
                  <a:srgbClr val="FFC000"/>
                </a:solidFill>
                <a:latin typeface="Times New Roman"/>
                <a:cs typeface="Times New Roman"/>
              </a:rPr>
              <a:t>Types of Ray</a:t>
            </a:r>
            <a:endParaRPr sz="32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C29E7-C37A-40CE-BA76-8A32DE9EA8F3}"/>
              </a:ext>
            </a:extLst>
          </p:cNvPr>
          <p:cNvSpPr txBox="1"/>
          <p:nvPr/>
        </p:nvSpPr>
        <p:spPr>
          <a:xfrm>
            <a:off x="1003300" y="1147153"/>
            <a:ext cx="8839200" cy="830997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b="1" i="0" dirty="0">
                <a:solidFill>
                  <a:srgbClr val="000000"/>
                </a:solidFill>
                <a:effectLst/>
                <a:latin typeface="ff14"/>
              </a:rPr>
              <a:t>Ray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ff5"/>
              </a:rPr>
              <a:t>is an ideal narrow beam of light that is used to model the propagation of light through an optical system</a:t>
            </a:r>
            <a:r>
              <a:rPr lang="en-US" sz="2400" dirty="0">
                <a:solidFill>
                  <a:srgbClr val="000000"/>
                </a:solidFill>
                <a:latin typeface="Roboto" panose="02000000000000000000" pitchFamily="2" charset="0"/>
              </a:rPr>
              <a:t>.</a:t>
            </a:r>
            <a:endParaRPr lang="en-US" sz="24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41318" name="Picture 6" descr="Optical Fiber Waveguides ~ your electrical home">
            <a:extLst>
              <a:ext uri="{FF2B5EF4-FFF2-40B4-BE49-F238E27FC236}">
                <a16:creationId xmlns:a16="http://schemas.microsoft.com/office/drawing/2014/main" id="{6D76D847-6D77-4A7F-9B48-ABA8EC8FF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844"/>
          <a:stretch/>
        </p:blipFill>
        <p:spPr bwMode="auto">
          <a:xfrm>
            <a:off x="1993900" y="2057488"/>
            <a:ext cx="6705600" cy="509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563945"/>
      </p:ext>
    </p:extLst>
  </p:cSld>
  <p:clrMapOvr>
    <a:masterClrMapping/>
  </p:clrMapOvr>
  <p:transition spd="slow"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2247" y="378941"/>
            <a:ext cx="3728905" cy="486016"/>
          </a:xfrm>
          <a:prstGeom prst="rect">
            <a:avLst/>
          </a:prstGeom>
        </p:spPr>
        <p:txBody>
          <a:bodyPr vert="horz" wrap="square" lIns="0" tIns="14210" rIns="0" bIns="0" rtlCol="0">
            <a:spAutoFit/>
          </a:bodyPr>
          <a:lstStyle/>
          <a:p>
            <a:pPr marL="12357">
              <a:spcBef>
                <a:spcPts val="111"/>
              </a:spcBef>
            </a:pPr>
            <a:r>
              <a:rPr sz="3065" dirty="0">
                <a:solidFill>
                  <a:srgbClr val="FFC000"/>
                </a:solidFill>
                <a:latin typeface="Times New Roman"/>
                <a:cs typeface="Times New Roman"/>
              </a:rPr>
              <a:t>Limitation </a:t>
            </a:r>
            <a:r>
              <a:rPr sz="3065" spc="5" dirty="0">
                <a:solidFill>
                  <a:srgbClr val="FFC000"/>
                </a:solidFill>
                <a:latin typeface="Times New Roman"/>
                <a:cs typeface="Times New Roman"/>
              </a:rPr>
              <a:t>of </a:t>
            </a:r>
            <a:r>
              <a:rPr sz="3065" dirty="0">
                <a:solidFill>
                  <a:srgbClr val="FFC000"/>
                </a:solidFill>
                <a:latin typeface="Times New Roman"/>
                <a:cs typeface="Times New Roman"/>
              </a:rPr>
              <a:t>ray</a:t>
            </a:r>
            <a:r>
              <a:rPr sz="3065" spc="-44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3065" dirty="0">
                <a:solidFill>
                  <a:srgbClr val="FFC000"/>
                </a:solidFill>
                <a:latin typeface="Times New Roman"/>
                <a:cs typeface="Times New Roman"/>
              </a:rPr>
              <a:t>optics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20982" y="1059359"/>
            <a:ext cx="9051433" cy="5324535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txBody>
          <a:bodyPr wrap="square" lIns="0" tIns="0" rIns="91440" bIns="0">
            <a:spAutoFit/>
          </a:bodyPr>
          <a:lstStyle/>
          <a:p>
            <a:pPr marL="342900" indent="-342900" algn="just" defTabSz="913833" rtl="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sz="2400" kern="1200" dirty="0">
                <a:solidFill>
                  <a:schemeClr val="tx1"/>
                </a:solidFill>
                <a:latin typeface="+mn-lt"/>
                <a:cs typeface="+mn-cs"/>
              </a:rPr>
              <a:t>For smaller fiber diameters that are only few times of the wavelength,  geometrical optics approach becomes inadequate.	This is because ray  optics only describes the direction a plane wave component takes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cs typeface="+mn-cs"/>
              </a:rPr>
              <a:t> </a:t>
            </a:r>
            <a:r>
              <a:rPr sz="2400" kern="1200" dirty="0">
                <a:solidFill>
                  <a:schemeClr val="tx1"/>
                </a:solidFill>
                <a:latin typeface="+mn-lt"/>
                <a:cs typeface="+mn-cs"/>
              </a:rPr>
              <a:t>in the fiber, but does not take into account interference among such  components.</a:t>
            </a:r>
          </a:p>
          <a:p>
            <a:pPr marL="342900" indent="-342900" algn="just" defTabSz="913833" rtl="0">
              <a:buFont typeface="Wingdings" panose="05000000000000000000" pitchFamily="2" charset="2"/>
              <a:buChar char="§"/>
            </a:pPr>
            <a:endParaRPr sz="2400" kern="1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42900" indent="-342900" algn="just" defTabSz="913833" rtl="0">
              <a:buFont typeface="Wingdings" panose="05000000000000000000" pitchFamily="2" charset="2"/>
              <a:buChar char="§"/>
            </a:pPr>
            <a:r>
              <a:rPr sz="2400" kern="1200" dirty="0">
                <a:solidFill>
                  <a:schemeClr val="tx1"/>
                </a:solidFill>
                <a:latin typeface="+mn-lt"/>
                <a:cs typeface="+mn-cs"/>
              </a:rPr>
              <a:t>When interference phenomena are considered it is found that only rays  with certain discrete characteristics propagate in the fiber core.</a:t>
            </a:r>
          </a:p>
          <a:p>
            <a:pPr marL="342900" indent="-342900" algn="just" defTabSz="913833" rtl="0">
              <a:buFont typeface="Wingdings" panose="05000000000000000000" pitchFamily="2" charset="2"/>
              <a:buChar char="§"/>
            </a:pPr>
            <a:endParaRPr sz="2400" kern="1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42900" indent="-342900" algn="just" defTabSz="913833" rtl="0">
              <a:buFont typeface="Wingdings" panose="05000000000000000000" pitchFamily="2" charset="2"/>
              <a:buChar char="§"/>
            </a:pPr>
            <a:r>
              <a:rPr sz="2400" kern="1200" dirty="0">
                <a:solidFill>
                  <a:schemeClr val="tx1"/>
                </a:solidFill>
                <a:latin typeface="+mn-lt"/>
                <a:cs typeface="+mn-cs"/>
              </a:rPr>
              <a:t>Thus the fiber will only support a discrete number of guided modes.</a:t>
            </a:r>
          </a:p>
          <a:p>
            <a:pPr marL="342900" indent="-342900" algn="just" defTabSz="913833" rtl="0">
              <a:buFont typeface="Wingdings" panose="05000000000000000000" pitchFamily="2" charset="2"/>
              <a:buChar char="§"/>
            </a:pPr>
            <a:endParaRPr sz="2400" kern="1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42900" indent="-342900" algn="just" defTabSz="913833" rtl="0">
              <a:buFont typeface="Wingdings" panose="05000000000000000000" pitchFamily="2" charset="2"/>
              <a:buChar char="§"/>
            </a:pPr>
            <a:r>
              <a:rPr sz="2400" kern="1200" dirty="0">
                <a:solidFill>
                  <a:schemeClr val="tx1"/>
                </a:solidFill>
                <a:latin typeface="+mn-lt"/>
                <a:cs typeface="+mn-cs"/>
              </a:rPr>
              <a:t>This becomes critical in small core diameter fibers which only support  one (singlemode) or a few modes (multimode).	Electromagnetic theory</a:t>
            </a:r>
            <a:r>
              <a:rPr lang="en-US" sz="2400" kern="1200" dirty="0">
                <a:solidFill>
                  <a:schemeClr val="tx1"/>
                </a:solidFill>
                <a:latin typeface="+mn-lt"/>
                <a:cs typeface="+mn-cs"/>
              </a:rPr>
              <a:t> must be applied in this case.</a:t>
            </a:r>
            <a:endParaRPr sz="2400" kern="1200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 spd="slow"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23344</TotalTime>
  <Words>4089</Words>
  <Application>Microsoft Office PowerPoint</Application>
  <PresentationFormat>Custom</PresentationFormat>
  <Paragraphs>456</Paragraphs>
  <Slides>47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AoyagiKouzanFontT</vt:lpstr>
      <vt:lpstr>Arial</vt:lpstr>
      <vt:lpstr>Calibri</vt:lpstr>
      <vt:lpstr>Cambria Math</vt:lpstr>
      <vt:lpstr>ff14</vt:lpstr>
      <vt:lpstr>ff5</vt:lpstr>
      <vt:lpstr>Roboto</vt:lpstr>
      <vt:lpstr>Symbol</vt:lpstr>
      <vt:lpstr>Times New Roman</vt:lpstr>
      <vt:lpstr>Wingdings</vt:lpstr>
      <vt:lpstr>Office Theme</vt:lpstr>
      <vt:lpstr>Default Design</vt:lpstr>
      <vt:lpstr>Equation</vt:lpstr>
      <vt:lpstr>Wave Natures and Ray Transmission</vt:lpstr>
      <vt:lpstr>The Nature of Light</vt:lpstr>
      <vt:lpstr>The dual nature of light</vt:lpstr>
      <vt:lpstr>Wave Nature of Light</vt:lpstr>
      <vt:lpstr>Wave Nature of Light - contd.</vt:lpstr>
      <vt:lpstr>Wave Nature of Light - contd.</vt:lpstr>
      <vt:lpstr>Wave Nature of Light - contd.</vt:lpstr>
      <vt:lpstr>Wave Nature of Light - contd.</vt:lpstr>
      <vt:lpstr>Wave Theory of Light</vt:lpstr>
      <vt:lpstr>Particle Nature of Light</vt:lpstr>
      <vt:lpstr>Particle Theory Vs. Wave Theory</vt:lpstr>
      <vt:lpstr>Light: Particle or a Wave?</vt:lpstr>
      <vt:lpstr>Light: Particle or a Wave?(continue)</vt:lpstr>
      <vt:lpstr>Electromagnetic Radiation</vt:lpstr>
      <vt:lpstr>Plane Electromagnetic Wave</vt:lpstr>
      <vt:lpstr>Phase Velocity</vt:lpstr>
      <vt:lpstr>Plane Waves</vt:lpstr>
      <vt:lpstr>Diverging Waves</vt:lpstr>
      <vt:lpstr>PowerPoint Presentation</vt:lpstr>
      <vt:lpstr>Gaussian Beams</vt:lpstr>
      <vt:lpstr>Gaussian Beams</vt:lpstr>
      <vt:lpstr>Refractive Index</vt:lpstr>
      <vt:lpstr>Group Velocity</vt:lpstr>
      <vt:lpstr>Group Velocity</vt:lpstr>
      <vt:lpstr>Ex  2E0 cost  k zcost  kz</vt:lpstr>
      <vt:lpstr>PowerPoint Presentation</vt:lpstr>
      <vt:lpstr>Group Index of the Medium</vt:lpstr>
      <vt:lpstr>PowerPoint Presentation</vt:lpstr>
      <vt:lpstr>Ray optics: basic laws </vt:lpstr>
      <vt:lpstr>Snell’s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Numerical aperture</vt:lpstr>
      <vt:lpstr>Numerical aperture</vt:lpstr>
      <vt:lpstr>Acceptance angle</vt:lpstr>
      <vt:lpstr>Acceptance angle</vt:lpstr>
      <vt:lpstr>Fiber numerical aperture</vt:lpstr>
      <vt:lpstr>Lens coupling to fiber end faces</vt:lpstr>
      <vt:lpstr>Large-NA fibers?</vt:lpstr>
      <vt:lpstr>Typical fiber NA</vt:lpstr>
      <vt:lpstr>Types of Ray</vt:lpstr>
      <vt:lpstr>Limitation of ray optics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 2 wave nature light.pptx</dc:title>
  <dc:creator>Jianfang Wang</dc:creator>
  <cp:lastModifiedBy>Monir Morshed</cp:lastModifiedBy>
  <cp:revision>96</cp:revision>
  <dcterms:created xsi:type="dcterms:W3CDTF">2015-12-09T07:40:21Z</dcterms:created>
  <dcterms:modified xsi:type="dcterms:W3CDTF">2023-09-26T04:07:05Z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2014-01-14T00:00:00Z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2015-12-09T00:00:00Z</vt:filetime>
  </property>
</Properties>
</file>