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3"/>
  </p:notesMasterIdLst>
  <p:sldIdLst>
    <p:sldId id="258" r:id="rId2"/>
    <p:sldId id="259" r:id="rId3"/>
    <p:sldId id="306" r:id="rId4"/>
    <p:sldId id="260" r:id="rId5"/>
    <p:sldId id="262" r:id="rId6"/>
    <p:sldId id="263" r:id="rId7"/>
    <p:sldId id="264" r:id="rId8"/>
    <p:sldId id="265" r:id="rId9"/>
    <p:sldId id="298" r:id="rId10"/>
    <p:sldId id="267" r:id="rId11"/>
    <p:sldId id="268" r:id="rId12"/>
    <p:sldId id="361" r:id="rId13"/>
    <p:sldId id="362" r:id="rId14"/>
    <p:sldId id="360" r:id="rId15"/>
    <p:sldId id="269" r:id="rId16"/>
    <p:sldId id="270" r:id="rId17"/>
    <p:sldId id="272" r:id="rId18"/>
    <p:sldId id="273" r:id="rId19"/>
    <p:sldId id="363" r:id="rId20"/>
    <p:sldId id="364" r:id="rId21"/>
    <p:sldId id="366" r:id="rId22"/>
    <p:sldId id="365" r:id="rId23"/>
    <p:sldId id="367" r:id="rId24"/>
    <p:sldId id="368" r:id="rId25"/>
    <p:sldId id="369" r:id="rId26"/>
    <p:sldId id="371" r:id="rId27"/>
    <p:sldId id="372" r:id="rId28"/>
    <p:sldId id="373" r:id="rId29"/>
    <p:sldId id="374" r:id="rId30"/>
    <p:sldId id="375" r:id="rId31"/>
    <p:sldId id="376" r:id="rId32"/>
    <p:sldId id="377" r:id="rId33"/>
    <p:sldId id="378" r:id="rId34"/>
    <p:sldId id="379" r:id="rId35"/>
    <p:sldId id="380" r:id="rId36"/>
    <p:sldId id="381" r:id="rId37"/>
    <p:sldId id="382" r:id="rId38"/>
    <p:sldId id="383" r:id="rId39"/>
    <p:sldId id="384" r:id="rId40"/>
    <p:sldId id="385" r:id="rId41"/>
    <p:sldId id="386" r:id="rId42"/>
    <p:sldId id="387" r:id="rId43"/>
    <p:sldId id="389" r:id="rId44"/>
    <p:sldId id="390" r:id="rId45"/>
    <p:sldId id="391" r:id="rId46"/>
    <p:sldId id="392" r:id="rId47"/>
    <p:sldId id="393" r:id="rId48"/>
    <p:sldId id="338" r:id="rId49"/>
    <p:sldId id="395" r:id="rId50"/>
    <p:sldId id="397" r:id="rId51"/>
    <p:sldId id="398" r:id="rId52"/>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FFCC00"/>
    <a:srgbClr val="99CC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65" autoAdjust="0"/>
    <p:restoredTop sz="94660"/>
  </p:normalViewPr>
  <p:slideViewPr>
    <p:cSldViewPr>
      <p:cViewPr varScale="1">
        <p:scale>
          <a:sx n="61" d="100"/>
          <a:sy n="61" d="100"/>
        </p:scale>
        <p:origin x="172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1638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542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1639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defRPr>
            </a:lvl1pPr>
          </a:lstStyle>
          <a:p>
            <a:fld id="{E3CFDD53-B082-4968-AF44-7B381F22F2D9}" type="slidenum">
              <a:rPr lang="en-US"/>
              <a:pPr/>
              <a:t>‹#›</a:t>
            </a:fld>
            <a:endParaRPr lang="en-US"/>
          </a:p>
        </p:txBody>
      </p:sp>
    </p:spTree>
    <p:extLst>
      <p:ext uri="{BB962C8B-B14F-4D97-AF65-F5344CB8AC3E}">
        <p14:creationId xmlns:p14="http://schemas.microsoft.com/office/powerpoint/2010/main" val="23815474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7694800-D7C8-4C05-A7CF-8CDA16787F85}" type="slidenum">
              <a:rPr lang="en-US" altLang="en-US"/>
              <a:pPr eaLnBrk="1" hangingPunct="1">
                <a:spcBef>
                  <a:spcPct val="0"/>
                </a:spcBef>
              </a:pPr>
              <a:t>11</a:t>
            </a:fld>
            <a:endParaRPr lang="en-US" alt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772602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7694800-D7C8-4C05-A7CF-8CDA16787F85}" type="slidenum">
              <a:rPr lang="en-US" altLang="en-US"/>
              <a:pPr eaLnBrk="1" hangingPunct="1">
                <a:spcBef>
                  <a:spcPct val="0"/>
                </a:spcBef>
              </a:pPr>
              <a:t>12</a:t>
            </a:fld>
            <a:endParaRPr lang="en-US" alt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772602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7694800-D7C8-4C05-A7CF-8CDA16787F85}" type="slidenum">
              <a:rPr lang="en-US" altLang="en-US"/>
              <a:pPr eaLnBrk="1" hangingPunct="1">
                <a:spcBef>
                  <a:spcPct val="0"/>
                </a:spcBef>
              </a:pPr>
              <a:t>13</a:t>
            </a:fld>
            <a:endParaRPr lang="en-US" alt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772602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7694800-D7C8-4C05-A7CF-8CDA16787F85}" type="slidenum">
              <a:rPr lang="en-US" altLang="en-US"/>
              <a:pPr eaLnBrk="1" hangingPunct="1">
                <a:spcBef>
                  <a:spcPct val="0"/>
                </a:spcBef>
              </a:pPr>
              <a:t>14</a:t>
            </a:fld>
            <a:endParaRPr lang="en-US" alt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772602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9672EE76-75FA-48E8-B1F3-FB3684B7FC7D}" type="slidenum">
              <a:rPr lang="en-US" altLang="en-US"/>
              <a:pPr eaLnBrk="1" hangingPunct="1">
                <a:spcBef>
                  <a:spcPct val="0"/>
                </a:spcBef>
              </a:pPr>
              <a:t>16</a:t>
            </a:fld>
            <a:endParaRPr lang="en-US" alt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894204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046F4571-080B-4E4B-B76C-7954871A8A1B}" type="slidenum">
              <a:rPr lang="en-US" altLang="en-US"/>
              <a:pPr eaLnBrk="1" hangingPunct="1">
                <a:spcBef>
                  <a:spcPct val="0"/>
                </a:spcBef>
              </a:pPr>
              <a:t>17</a:t>
            </a:fld>
            <a:endParaRPr lang="en-US" alt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02471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18</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19</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20</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21</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22</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23</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24</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25</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26</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27</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28</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29</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30</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31</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32</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33</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34</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35</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36</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37</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38</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39</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40</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41</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42</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43</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44</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45</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46</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490649-9AF4-4C3C-8344-4F16DAA20B03}" type="slidenum">
              <a:rPr lang="en-US" altLang="en-US"/>
              <a:pPr eaLnBrk="1" hangingPunct="1">
                <a:spcBef>
                  <a:spcPct val="0"/>
                </a:spcBef>
              </a:pPr>
              <a:t>47</a:t>
            </a:fld>
            <a:endParaRPr lang="en-US" alt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9913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0C274674-DE07-4E9F-8BF4-0423B59D2EA7}" type="slidenum">
              <a:rPr lang="en-US" altLang="en-US"/>
              <a:pPr eaLnBrk="1" hangingPunct="1">
                <a:spcBef>
                  <a:spcPct val="0"/>
                </a:spcBef>
              </a:pPr>
              <a:t>48</a:t>
            </a:fld>
            <a:endParaRPr lang="en-US" alt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4572536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32F06D3D-C36C-41D0-892B-A2BBE622D8A2}" type="slidenum">
              <a:rPr lang="en-US" altLang="en-US"/>
              <a:pPr eaLnBrk="1" hangingPunct="1">
                <a:spcBef>
                  <a:spcPct val="0"/>
                </a:spcBef>
              </a:pPr>
              <a:t>49</a:t>
            </a:fld>
            <a:endParaRPr lang="en-US" alt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996162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32F06D3D-C36C-41D0-892B-A2BBE622D8A2}" type="slidenum">
              <a:rPr lang="en-US" altLang="en-US"/>
              <a:pPr eaLnBrk="1" hangingPunct="1">
                <a:spcBef>
                  <a:spcPct val="0"/>
                </a:spcBef>
              </a:pPr>
              <a:t>50</a:t>
            </a:fld>
            <a:endParaRPr lang="en-US" alt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996162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32F06D3D-C36C-41D0-892B-A2BBE622D8A2}" type="slidenum">
              <a:rPr lang="en-US" altLang="en-US"/>
              <a:pPr eaLnBrk="1" hangingPunct="1">
                <a:spcBef>
                  <a:spcPct val="0"/>
                </a:spcBef>
              </a:pPr>
              <a:t>51</a:t>
            </a:fld>
            <a:endParaRPr lang="en-US" alt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99616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1035050" y="1552575"/>
            <a:ext cx="10179050" cy="5305425"/>
            <a:chOff x="-652" y="978"/>
            <a:chExt cx="6412" cy="3342"/>
          </a:xfrm>
        </p:grpSpPr>
        <p:sp>
          <p:nvSpPr>
            <p:cNvPr id="5" name="Freeform 3"/>
            <p:cNvSpPr>
              <a:spLocks/>
            </p:cNvSpPr>
            <p:nvPr/>
          </p:nvSpPr>
          <p:spPr bwMode="auto">
            <a:xfrm>
              <a:off x="2061" y="1707"/>
              <a:ext cx="3699" cy="2613"/>
            </a:xfrm>
            <a:custGeom>
              <a:avLst/>
              <a:gdLst>
                <a:gd name="T0" fmla="*/ 1523 w 3699"/>
                <a:gd name="T1" fmla="*/ 2611 h 2613"/>
                <a:gd name="T2" fmla="*/ 3698 w 3699"/>
                <a:gd name="T3" fmla="*/ 2612 h 2613"/>
                <a:gd name="T4" fmla="*/ 3698 w 3699"/>
                <a:gd name="T5" fmla="*/ 2228 h 2613"/>
                <a:gd name="T6" fmla="*/ 0 w 3699"/>
                <a:gd name="T7" fmla="*/ 0 h 2613"/>
                <a:gd name="T8" fmla="*/ 160 w 3699"/>
                <a:gd name="T9" fmla="*/ 118 h 2613"/>
                <a:gd name="T10" fmla="*/ 292 w 3699"/>
                <a:gd name="T11" fmla="*/ 219 h 2613"/>
                <a:gd name="T12" fmla="*/ 441 w 3699"/>
                <a:gd name="T13" fmla="*/ 347 h 2613"/>
                <a:gd name="T14" fmla="*/ 585 w 3699"/>
                <a:gd name="T15" fmla="*/ 482 h 2613"/>
                <a:gd name="T16" fmla="*/ 796 w 3699"/>
                <a:gd name="T17" fmla="*/ 711 h 2613"/>
                <a:gd name="T18" fmla="*/ 983 w 3699"/>
                <a:gd name="T19" fmla="*/ 955 h 2613"/>
                <a:gd name="T20" fmla="*/ 1119 w 3699"/>
                <a:gd name="T21" fmla="*/ 1168 h 2613"/>
                <a:gd name="T22" fmla="*/ 1238 w 3699"/>
                <a:gd name="T23" fmla="*/ 1388 h 2613"/>
                <a:gd name="T24" fmla="*/ 1331 w 3699"/>
                <a:gd name="T25" fmla="*/ 1608 h 2613"/>
                <a:gd name="T26" fmla="*/ 1400 w 3699"/>
                <a:gd name="T27" fmla="*/ 1809 h 2613"/>
                <a:gd name="T28" fmla="*/ 1447 w 3699"/>
                <a:gd name="T29" fmla="*/ 1979 h 2613"/>
                <a:gd name="T30" fmla="*/ 1490 w 3699"/>
                <a:gd name="T31" fmla="*/ 2190 h 2613"/>
                <a:gd name="T32" fmla="*/ 1511 w 3699"/>
                <a:gd name="T33" fmla="*/ 2374 h 2613"/>
                <a:gd name="T34" fmla="*/ 1523 w 3699"/>
                <a:gd name="T35" fmla="*/ 2611 h 2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p>
          </p:txBody>
        </p:sp>
        <p:sp>
          <p:nvSpPr>
            <p:cNvPr id="6" name="Arc 4"/>
            <p:cNvSpPr>
              <a:spLocks/>
            </p:cNvSpPr>
            <p:nvPr/>
          </p:nvSpPr>
          <p:spPr bwMode="auto">
            <a:xfrm>
              <a:off x="-652" y="978"/>
              <a:ext cx="4237" cy="3342"/>
            </a:xfrm>
            <a:custGeom>
              <a:avLst/>
              <a:gdLst>
                <a:gd name="T0" fmla="*/ 0 w 21600"/>
                <a:gd name="T1" fmla="*/ 0 h 21231"/>
                <a:gd name="T2" fmla="*/ 0 w 21600"/>
                <a:gd name="T3" fmla="*/ 0 h 21231"/>
                <a:gd name="T4" fmla="*/ 0 w 21600"/>
                <a:gd name="T5" fmla="*/ 0 h 21231"/>
                <a:gd name="T6" fmla="*/ 0 60000 65536"/>
                <a:gd name="T7" fmla="*/ 0 60000 65536"/>
                <a:gd name="T8" fmla="*/ 0 60000 65536"/>
              </a:gdLst>
              <a:ahLst/>
              <a:cxnLst>
                <a:cxn ang="T6">
                  <a:pos x="T0" y="T1"/>
                </a:cxn>
                <a:cxn ang="T7">
                  <a:pos x="T2" y="T3"/>
                </a:cxn>
                <a:cxn ang="T8">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lnTo>
                    <a:pt x="3976"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7893" name="Rectangle 5"/>
          <p:cNvSpPr>
            <a:spLocks noGrp="1" noChangeArrowheads="1"/>
          </p:cNvSpPr>
          <p:nvPr>
            <p:ph type="ctrTitle" sz="quarter"/>
          </p:nvPr>
        </p:nvSpPr>
        <p:spPr>
          <a:xfrm>
            <a:off x="1293813" y="762000"/>
            <a:ext cx="7772400" cy="1143000"/>
          </a:xfrm>
        </p:spPr>
        <p:txBody>
          <a:bodyPr anchor="b"/>
          <a:lstStyle>
            <a:lvl1pPr>
              <a:defRPr/>
            </a:lvl1pPr>
          </a:lstStyle>
          <a:p>
            <a:pPr lvl="0"/>
            <a:r>
              <a:rPr lang="en-US" noProof="0"/>
              <a:t>Click to edit Master title style</a:t>
            </a:r>
          </a:p>
        </p:txBody>
      </p:sp>
      <p:sp>
        <p:nvSpPr>
          <p:cNvPr id="37894"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itchFamily="2" charset="2"/>
              <a:buNone/>
              <a:defRPr/>
            </a:lvl1pPr>
          </a:lstStyle>
          <a:p>
            <a:pPr lvl="0"/>
            <a:r>
              <a:rPr lang="en-US" noProof="0"/>
              <a:t>Click to edit Master subtitle style</a:t>
            </a:r>
          </a:p>
        </p:txBody>
      </p:sp>
      <p:sp>
        <p:nvSpPr>
          <p:cNvPr id="7" name="Rectangle 7"/>
          <p:cNvSpPr>
            <a:spLocks noGrp="1" noChangeArrowheads="1"/>
          </p:cNvSpPr>
          <p:nvPr>
            <p:ph type="dt" sz="quarter" idx="10"/>
          </p:nvPr>
        </p:nvSpPr>
        <p:spPr/>
        <p:txBody>
          <a:bodyPr/>
          <a:lstStyle>
            <a:lvl1pPr>
              <a:defRPr/>
            </a:lvl1pPr>
          </a:lstStyle>
          <a:p>
            <a:pPr>
              <a:defRPr/>
            </a:pPr>
            <a:endParaRPr lang="en-US"/>
          </a:p>
        </p:txBody>
      </p:sp>
      <p:sp>
        <p:nvSpPr>
          <p:cNvPr id="8" name="Rectangle 8"/>
          <p:cNvSpPr>
            <a:spLocks noGrp="1" noChangeArrowheads="1"/>
          </p:cNvSpPr>
          <p:nvPr>
            <p:ph type="ftr" sz="quarter" idx="11"/>
          </p:nvPr>
        </p:nvSpPr>
        <p:spPr/>
        <p:txBody>
          <a:bodyPr/>
          <a:lstStyle>
            <a:lvl1pPr>
              <a:defRPr/>
            </a:lvl1pPr>
          </a:lstStyle>
          <a:p>
            <a:pPr>
              <a:defRPr/>
            </a:pPr>
            <a:endParaRPr lang="en-US"/>
          </a:p>
        </p:txBody>
      </p:sp>
      <p:sp>
        <p:nvSpPr>
          <p:cNvPr id="9" name="Rectangle 9"/>
          <p:cNvSpPr>
            <a:spLocks noGrp="1" noChangeArrowheads="1"/>
          </p:cNvSpPr>
          <p:nvPr>
            <p:ph type="sldNum" sz="quarter" idx="12"/>
          </p:nvPr>
        </p:nvSpPr>
        <p:spPr/>
        <p:txBody>
          <a:bodyPr/>
          <a:lstStyle>
            <a:lvl1pPr>
              <a:defRPr/>
            </a:lvl1pPr>
          </a:lstStyle>
          <a:p>
            <a:fld id="{BE6210DE-2A81-4E49-B530-624AA9B1968A}" type="slidenum">
              <a:rPr lang="en-US"/>
              <a:pPr/>
              <a:t>‹#›</a:t>
            </a:fld>
            <a:endParaRPr lang="en-US"/>
          </a:p>
        </p:txBody>
      </p:sp>
    </p:spTree>
    <p:extLst>
      <p:ext uri="{BB962C8B-B14F-4D97-AF65-F5344CB8AC3E}">
        <p14:creationId xmlns:p14="http://schemas.microsoft.com/office/powerpoint/2010/main" val="33404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endParaRPr lang="en-US"/>
          </a:p>
        </p:txBody>
      </p:sp>
      <p:sp>
        <p:nvSpPr>
          <p:cNvPr id="5" name="Rectangle 7"/>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fld id="{A217E985-AC86-42CD-8822-36544C5A3E84}" type="slidenum">
              <a:rPr lang="en-US"/>
              <a:pPr/>
              <a:t>‹#›</a:t>
            </a:fld>
            <a:endParaRPr lang="en-US"/>
          </a:p>
        </p:txBody>
      </p:sp>
    </p:spTree>
    <p:extLst>
      <p:ext uri="{BB962C8B-B14F-4D97-AF65-F5344CB8AC3E}">
        <p14:creationId xmlns:p14="http://schemas.microsoft.com/office/powerpoint/2010/main" val="1570202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pPr>
              <a:defRPr/>
            </a:pPr>
            <a:endParaRPr lang="en-US"/>
          </a:p>
        </p:txBody>
      </p:sp>
      <p:sp>
        <p:nvSpPr>
          <p:cNvPr id="5" name="Rectangle 7"/>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fld id="{70601F07-D877-4235-98C4-186DF4CD1FE5}" type="slidenum">
              <a:rPr lang="en-US"/>
              <a:pPr/>
              <a:t>‹#›</a:t>
            </a:fld>
            <a:endParaRPr lang="en-US"/>
          </a:p>
        </p:txBody>
      </p:sp>
    </p:spTree>
    <p:extLst>
      <p:ext uri="{BB962C8B-B14F-4D97-AF65-F5344CB8AC3E}">
        <p14:creationId xmlns:p14="http://schemas.microsoft.com/office/powerpoint/2010/main" val="3275151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pPr>
              <a:defRPr/>
            </a:pPr>
            <a:endParaRPr lang="en-US"/>
          </a:p>
        </p:txBody>
      </p:sp>
      <p:sp>
        <p:nvSpPr>
          <p:cNvPr id="6" name="Rectangle 7"/>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fld id="{51C1D645-E252-4A43-BAD9-A0CC871E4120}" type="slidenum">
              <a:rPr lang="en-US"/>
              <a:pPr/>
              <a:t>‹#›</a:t>
            </a:fld>
            <a:endParaRPr lang="en-US"/>
          </a:p>
        </p:txBody>
      </p:sp>
    </p:spTree>
    <p:extLst>
      <p:ext uri="{BB962C8B-B14F-4D97-AF65-F5344CB8AC3E}">
        <p14:creationId xmlns:p14="http://schemas.microsoft.com/office/powerpoint/2010/main" val="86287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pPr>
              <a:defRPr/>
            </a:pPr>
            <a:endParaRPr lang="en-US"/>
          </a:p>
        </p:txBody>
      </p:sp>
      <p:sp>
        <p:nvSpPr>
          <p:cNvPr id="8" name="Rectangle 7"/>
          <p:cNvSpPr>
            <a:spLocks noGrp="1" noChangeArrowheads="1"/>
          </p:cNvSpPr>
          <p:nvPr>
            <p:ph type="ftr" sz="quarter" idx="11"/>
          </p:nvPr>
        </p:nvSpPr>
        <p:spPr>
          <a:ln/>
        </p:spPr>
        <p:txBody>
          <a:bodyPr/>
          <a:lstStyle>
            <a:lvl1pPr>
              <a:defRPr/>
            </a:lvl1pPr>
          </a:lstStyle>
          <a:p>
            <a:pPr>
              <a:defRPr/>
            </a:pPr>
            <a:endParaRPr lang="en-US"/>
          </a:p>
        </p:txBody>
      </p:sp>
      <p:sp>
        <p:nvSpPr>
          <p:cNvPr id="9" name="Rectangle 8"/>
          <p:cNvSpPr>
            <a:spLocks noGrp="1" noChangeArrowheads="1"/>
          </p:cNvSpPr>
          <p:nvPr>
            <p:ph type="sldNum" sz="quarter" idx="12"/>
          </p:nvPr>
        </p:nvSpPr>
        <p:spPr>
          <a:ln/>
        </p:spPr>
        <p:txBody>
          <a:bodyPr/>
          <a:lstStyle>
            <a:lvl1pPr>
              <a:defRPr/>
            </a:lvl1pPr>
          </a:lstStyle>
          <a:p>
            <a:fld id="{9806D040-785E-4EE5-BF64-4E6174D6B062}" type="slidenum">
              <a:rPr lang="en-US"/>
              <a:pPr/>
              <a:t>‹#›</a:t>
            </a:fld>
            <a:endParaRPr lang="en-US"/>
          </a:p>
        </p:txBody>
      </p:sp>
    </p:spTree>
    <p:extLst>
      <p:ext uri="{BB962C8B-B14F-4D97-AF65-F5344CB8AC3E}">
        <p14:creationId xmlns:p14="http://schemas.microsoft.com/office/powerpoint/2010/main" val="1735897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pPr>
              <a:defRPr/>
            </a:pPr>
            <a:endParaRPr lang="en-US"/>
          </a:p>
        </p:txBody>
      </p:sp>
      <p:sp>
        <p:nvSpPr>
          <p:cNvPr id="4" name="Rectangle 7"/>
          <p:cNvSpPr>
            <a:spLocks noGrp="1" noChangeArrowheads="1"/>
          </p:cNvSpPr>
          <p:nvPr>
            <p:ph type="ftr" sz="quarter" idx="11"/>
          </p:nvPr>
        </p:nvSpPr>
        <p:spPr>
          <a:ln/>
        </p:spPr>
        <p:txBody>
          <a:bodyPr/>
          <a:lstStyle>
            <a:lvl1pPr>
              <a:defRPr/>
            </a:lvl1pPr>
          </a:lstStyle>
          <a:p>
            <a:pPr>
              <a:defRPr/>
            </a:pPr>
            <a:endParaRPr lang="en-US"/>
          </a:p>
        </p:txBody>
      </p:sp>
      <p:sp>
        <p:nvSpPr>
          <p:cNvPr id="5" name="Rectangle 8"/>
          <p:cNvSpPr>
            <a:spLocks noGrp="1" noChangeArrowheads="1"/>
          </p:cNvSpPr>
          <p:nvPr>
            <p:ph type="sldNum" sz="quarter" idx="12"/>
          </p:nvPr>
        </p:nvSpPr>
        <p:spPr>
          <a:ln/>
        </p:spPr>
        <p:txBody>
          <a:bodyPr/>
          <a:lstStyle>
            <a:lvl1pPr>
              <a:defRPr/>
            </a:lvl1pPr>
          </a:lstStyle>
          <a:p>
            <a:fld id="{EF9BFDFC-1A62-4646-8A11-3F9599A32EC2}" type="slidenum">
              <a:rPr lang="en-US"/>
              <a:pPr/>
              <a:t>‹#›</a:t>
            </a:fld>
            <a:endParaRPr lang="en-US"/>
          </a:p>
        </p:txBody>
      </p:sp>
    </p:spTree>
    <p:extLst>
      <p:ext uri="{BB962C8B-B14F-4D97-AF65-F5344CB8AC3E}">
        <p14:creationId xmlns:p14="http://schemas.microsoft.com/office/powerpoint/2010/main" val="3573673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endParaRPr lang="en-US"/>
          </a:p>
        </p:txBody>
      </p:sp>
      <p:sp>
        <p:nvSpPr>
          <p:cNvPr id="3" name="Rectangle 7"/>
          <p:cNvSpPr>
            <a:spLocks noGrp="1" noChangeArrowheads="1"/>
          </p:cNvSpPr>
          <p:nvPr>
            <p:ph type="ftr" sz="quarter" idx="11"/>
          </p:nvPr>
        </p:nvSpPr>
        <p:spPr>
          <a:ln/>
        </p:spPr>
        <p:txBody>
          <a:bodyPr/>
          <a:lstStyle>
            <a:lvl1pPr>
              <a:defRPr/>
            </a:lvl1pPr>
          </a:lstStyle>
          <a:p>
            <a:pPr>
              <a:defRPr/>
            </a:pPr>
            <a:endParaRPr lang="en-US"/>
          </a:p>
        </p:txBody>
      </p:sp>
      <p:sp>
        <p:nvSpPr>
          <p:cNvPr id="4" name="Rectangle 8"/>
          <p:cNvSpPr>
            <a:spLocks noGrp="1" noChangeArrowheads="1"/>
          </p:cNvSpPr>
          <p:nvPr>
            <p:ph type="sldNum" sz="quarter" idx="12"/>
          </p:nvPr>
        </p:nvSpPr>
        <p:spPr>
          <a:ln/>
        </p:spPr>
        <p:txBody>
          <a:bodyPr/>
          <a:lstStyle>
            <a:lvl1pPr>
              <a:defRPr/>
            </a:lvl1pPr>
          </a:lstStyle>
          <a:p>
            <a:fld id="{1DD5D5A9-9BAB-41CD-9525-0DF655D3D477}" type="slidenum">
              <a:rPr lang="en-US"/>
              <a:pPr/>
              <a:t>‹#›</a:t>
            </a:fld>
            <a:endParaRPr lang="en-US"/>
          </a:p>
        </p:txBody>
      </p:sp>
    </p:spTree>
    <p:extLst>
      <p:ext uri="{BB962C8B-B14F-4D97-AF65-F5344CB8AC3E}">
        <p14:creationId xmlns:p14="http://schemas.microsoft.com/office/powerpoint/2010/main" val="724087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endParaRPr lang="en-US"/>
          </a:p>
        </p:txBody>
      </p:sp>
      <p:sp>
        <p:nvSpPr>
          <p:cNvPr id="6" name="Rectangle 7"/>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fld id="{E90BBE09-559A-4FCC-B705-74CD17285B09}" type="slidenum">
              <a:rPr lang="en-US"/>
              <a:pPr/>
              <a:t>‹#›</a:t>
            </a:fld>
            <a:endParaRPr lang="en-US"/>
          </a:p>
        </p:txBody>
      </p:sp>
    </p:spTree>
    <p:extLst>
      <p:ext uri="{BB962C8B-B14F-4D97-AF65-F5344CB8AC3E}">
        <p14:creationId xmlns:p14="http://schemas.microsoft.com/office/powerpoint/2010/main" val="453749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endParaRPr lang="en-US"/>
          </a:p>
        </p:txBody>
      </p:sp>
      <p:sp>
        <p:nvSpPr>
          <p:cNvPr id="6" name="Rectangle 7"/>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fld id="{1E309522-8F98-4564-8E61-429ED51F8400}" type="slidenum">
              <a:rPr lang="en-US"/>
              <a:pPr/>
              <a:t>‹#›</a:t>
            </a:fld>
            <a:endParaRPr lang="en-US"/>
          </a:p>
        </p:txBody>
      </p:sp>
    </p:spTree>
    <p:extLst>
      <p:ext uri="{BB962C8B-B14F-4D97-AF65-F5344CB8AC3E}">
        <p14:creationId xmlns:p14="http://schemas.microsoft.com/office/powerpoint/2010/main" val="501601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endParaRPr lang="en-US"/>
          </a:p>
        </p:txBody>
      </p:sp>
      <p:sp>
        <p:nvSpPr>
          <p:cNvPr id="5" name="Rectangle 7"/>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fld id="{2617F402-10E6-4881-A2B0-A41264DCBCCF}" type="slidenum">
              <a:rPr lang="en-US"/>
              <a:pPr/>
              <a:t>‹#›</a:t>
            </a:fld>
            <a:endParaRPr lang="en-US"/>
          </a:p>
        </p:txBody>
      </p:sp>
    </p:spTree>
    <p:extLst>
      <p:ext uri="{BB962C8B-B14F-4D97-AF65-F5344CB8AC3E}">
        <p14:creationId xmlns:p14="http://schemas.microsoft.com/office/powerpoint/2010/main" val="3479779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endParaRPr lang="en-US"/>
          </a:p>
        </p:txBody>
      </p:sp>
      <p:sp>
        <p:nvSpPr>
          <p:cNvPr id="5" name="Rectangle 7"/>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fld id="{D7A303B5-A91B-474D-AA7B-BB1C0F2815B2}" type="slidenum">
              <a:rPr lang="en-US"/>
              <a:pPr/>
              <a:t>‹#›</a:t>
            </a:fld>
            <a:endParaRPr lang="en-US"/>
          </a:p>
        </p:txBody>
      </p:sp>
    </p:spTree>
    <p:extLst>
      <p:ext uri="{BB962C8B-B14F-4D97-AF65-F5344CB8AC3E}">
        <p14:creationId xmlns:p14="http://schemas.microsoft.com/office/powerpoint/2010/main" val="330508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1588"/>
            <a:ext cx="9132888" cy="6845300"/>
            <a:chOff x="0" y="1"/>
            <a:chExt cx="5753" cy="4312"/>
          </a:xfrm>
        </p:grpSpPr>
        <p:sp>
          <p:nvSpPr>
            <p:cNvPr id="36867" name="Freeform 3"/>
            <p:cNvSpPr>
              <a:spLocks/>
            </p:cNvSpPr>
            <p:nvPr/>
          </p:nvSpPr>
          <p:spPr bwMode="auto">
            <a:xfrm>
              <a:off x="3394" y="999"/>
              <a:ext cx="2359" cy="3314"/>
            </a:xfrm>
            <a:custGeom>
              <a:avLst/>
              <a:gdLst>
                <a:gd name="T0" fmla="*/ 1905 w 2359"/>
                <a:gd name="T1" fmla="*/ 3312 h 3314"/>
                <a:gd name="T2" fmla="*/ 2358 w 2359"/>
                <a:gd name="T3" fmla="*/ 3313 h 3314"/>
                <a:gd name="T4" fmla="*/ 2358 w 2359"/>
                <a:gd name="T5" fmla="*/ 1437 h 3314"/>
                <a:gd name="T6" fmla="*/ 0 w 2359"/>
                <a:gd name="T7" fmla="*/ 0 h 3314"/>
                <a:gd name="T8" fmla="*/ 201 w 2359"/>
                <a:gd name="T9" fmla="*/ 150 h 3314"/>
                <a:gd name="T10" fmla="*/ 366 w 2359"/>
                <a:gd name="T11" fmla="*/ 279 h 3314"/>
                <a:gd name="T12" fmla="*/ 552 w 2359"/>
                <a:gd name="T13" fmla="*/ 441 h 3314"/>
                <a:gd name="T14" fmla="*/ 732 w 2359"/>
                <a:gd name="T15" fmla="*/ 612 h 3314"/>
                <a:gd name="T16" fmla="*/ 996 w 2359"/>
                <a:gd name="T17" fmla="*/ 903 h 3314"/>
                <a:gd name="T18" fmla="*/ 1230 w 2359"/>
                <a:gd name="T19" fmla="*/ 1212 h 3314"/>
                <a:gd name="T20" fmla="*/ 1400 w 2359"/>
                <a:gd name="T21" fmla="*/ 1482 h 3314"/>
                <a:gd name="T22" fmla="*/ 1548 w 2359"/>
                <a:gd name="T23" fmla="*/ 1761 h 3314"/>
                <a:gd name="T24" fmla="*/ 1665 w 2359"/>
                <a:gd name="T25" fmla="*/ 2040 h 3314"/>
                <a:gd name="T26" fmla="*/ 1751 w 2359"/>
                <a:gd name="T27" fmla="*/ 2295 h 3314"/>
                <a:gd name="T28" fmla="*/ 1809 w 2359"/>
                <a:gd name="T29" fmla="*/ 2511 h 3314"/>
                <a:gd name="T30" fmla="*/ 1863 w 2359"/>
                <a:gd name="T31" fmla="*/ 2778 h 3314"/>
                <a:gd name="T32" fmla="*/ 1890 w 2359"/>
                <a:gd name="T33" fmla="*/ 3012 h 3314"/>
                <a:gd name="T34" fmla="*/ 1905 w 2359"/>
                <a:gd name="T35" fmla="*/ 3312 h 3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a:p>
          </p:txBody>
        </p:sp>
        <p:sp>
          <p:nvSpPr>
            <p:cNvPr id="1033" name="Arc 4"/>
            <p:cNvSpPr>
              <a:spLocks/>
            </p:cNvSpPr>
            <p:nvPr/>
          </p:nvSpPr>
          <p:spPr bwMode="auto">
            <a:xfrm>
              <a:off x="0" y="1"/>
              <a:ext cx="5298" cy="431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6869" name="Rectangle 5"/>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36870" name="Rectangle 6"/>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defRPr sz="1400"/>
            </a:lvl1pPr>
          </a:lstStyle>
          <a:p>
            <a:pPr>
              <a:defRPr/>
            </a:pPr>
            <a:endParaRPr lang="en-US"/>
          </a:p>
        </p:txBody>
      </p:sp>
      <p:sp>
        <p:nvSpPr>
          <p:cNvPr id="36871" name="Rectangle 7"/>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ctr">
              <a:defRPr sz="1400"/>
            </a:lvl1pPr>
          </a:lstStyle>
          <a:p>
            <a:pPr>
              <a:defRPr/>
            </a:pPr>
            <a:endParaRPr lang="en-US"/>
          </a:p>
        </p:txBody>
      </p:sp>
      <p:sp>
        <p:nvSpPr>
          <p:cNvPr id="36872" name="Rectangle 8"/>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r">
              <a:defRPr sz="1400"/>
            </a:lvl1pPr>
          </a:lstStyle>
          <a:p>
            <a:fld id="{E3B5E607-4E71-4BD5-BE3F-2E2B8F0641E9}" type="slidenum">
              <a:rPr lang="en-US"/>
              <a:pPr/>
              <a:t>‹#›</a:t>
            </a:fld>
            <a:endParaRPr lang="en-US"/>
          </a:p>
        </p:txBody>
      </p:sp>
      <p:sp>
        <p:nvSpPr>
          <p:cNvPr id="1031" name="Rectangle 9"/>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dk2" tx1="lt1" bg2="dk1" tx2="lt2" accent1="accent1" accent2="accent2" accent3="accent3" accent4="accent4" accent5="accent5" accent6="accent6" hlink="hlink" folHlink="folHlink"/>
  <p:sldLayoutIdLst>
    <p:sldLayoutId id="2147483792"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a:solidFill>
            <a:schemeClr val="tx1"/>
          </a:solidFill>
          <a:latin typeface="+mn-lt"/>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1"/>
        </a:buClr>
        <a:buChar char="•"/>
        <a:defRPr sz="2000">
          <a:solidFill>
            <a:schemeClr val="tx1"/>
          </a:solidFill>
          <a:latin typeface="+mn-lt"/>
        </a:defRPr>
      </a:lvl5pPr>
      <a:lvl6pPr marL="2514600" indent="-228600" algn="l" rtl="0" fontAlgn="base">
        <a:spcBef>
          <a:spcPct val="20000"/>
        </a:spcBef>
        <a:spcAft>
          <a:spcPct val="0"/>
        </a:spcAft>
        <a:buClr>
          <a:schemeClr val="accent1"/>
        </a:buClr>
        <a:buChar char="•"/>
        <a:defRPr sz="2000">
          <a:solidFill>
            <a:schemeClr val="tx1"/>
          </a:solidFill>
          <a:latin typeface="+mn-lt"/>
        </a:defRPr>
      </a:lvl6pPr>
      <a:lvl7pPr marL="2971800" indent="-228600" algn="l" rtl="0" fontAlgn="base">
        <a:spcBef>
          <a:spcPct val="20000"/>
        </a:spcBef>
        <a:spcAft>
          <a:spcPct val="0"/>
        </a:spcAft>
        <a:buClr>
          <a:schemeClr val="accent1"/>
        </a:buClr>
        <a:buChar char="•"/>
        <a:defRPr sz="2000">
          <a:solidFill>
            <a:schemeClr val="tx1"/>
          </a:solidFill>
          <a:latin typeface="+mn-lt"/>
        </a:defRPr>
      </a:lvl7pPr>
      <a:lvl8pPr marL="3429000" indent="-228600" algn="l" rtl="0" fontAlgn="base">
        <a:spcBef>
          <a:spcPct val="20000"/>
        </a:spcBef>
        <a:spcAft>
          <a:spcPct val="0"/>
        </a:spcAft>
        <a:buClr>
          <a:schemeClr val="accent1"/>
        </a:buClr>
        <a:buChar char="•"/>
        <a:defRPr sz="2000">
          <a:solidFill>
            <a:schemeClr val="tx1"/>
          </a:solidFill>
          <a:latin typeface="+mn-lt"/>
        </a:defRPr>
      </a:lvl8pPr>
      <a:lvl9pPr marL="3886200" indent="-228600" algn="l" rtl="0" fontAlgn="base">
        <a:spcBef>
          <a:spcPct val="20000"/>
        </a:spcBef>
        <a:spcAft>
          <a:spcPct val="0"/>
        </a:spcAft>
        <a:buClr>
          <a:schemeClr val="accent1"/>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searchdatacenter.techtarget.com/definition/ANSI"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2.pn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31.wmf"/><Relationship Id="rId5" Type="http://schemas.openxmlformats.org/officeDocument/2006/relationships/oleObject" Target="../embeddings/oleObject2.bin"/><Relationship Id="rId4" Type="http://schemas.openxmlformats.org/officeDocument/2006/relationships/image" Target="../media/image30.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34.wmf"/><Relationship Id="rId5" Type="http://schemas.openxmlformats.org/officeDocument/2006/relationships/oleObject" Target="../embeddings/oleObject5.bin"/><Relationship Id="rId4" Type="http://schemas.openxmlformats.org/officeDocument/2006/relationships/image" Target="../media/image33.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3.w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ctrTitle"/>
          </p:nvPr>
        </p:nvSpPr>
        <p:spPr/>
        <p:txBody>
          <a:bodyPr/>
          <a:lstStyle/>
          <a:p>
            <a:pPr eaLnBrk="1" hangingPunct="1">
              <a:defRPr/>
            </a:pPr>
            <a:r>
              <a:rPr lang="en-US" dirty="0"/>
              <a:t>Fiber Optic Communication Systems</a:t>
            </a:r>
          </a:p>
        </p:txBody>
      </p:sp>
      <p:sp>
        <p:nvSpPr>
          <p:cNvPr id="3075" name="Rectangle 3"/>
          <p:cNvSpPr>
            <a:spLocks noGrp="1" noChangeArrowheads="1"/>
          </p:cNvSpPr>
          <p:nvPr>
            <p:ph type="subTitle" idx="1"/>
          </p:nvPr>
        </p:nvSpPr>
        <p:spPr>
          <a:xfrm>
            <a:off x="1828800" y="5075238"/>
            <a:ext cx="6400800" cy="1752600"/>
          </a:xfrm>
        </p:spPr>
        <p:txBody>
          <a:bodyPr/>
          <a:lstStyle/>
          <a:p>
            <a:pPr eaLnBrk="1" hangingPunct="1"/>
            <a:r>
              <a:rPr lang="en-US" altLang="en-US"/>
              <a:t>Lec # 01</a:t>
            </a:r>
          </a:p>
        </p:txBody>
      </p:sp>
      <p:pic>
        <p:nvPicPr>
          <p:cNvPr id="3076"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3813" y="2085975"/>
            <a:ext cx="6048375" cy="2686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defRPr/>
            </a:pPr>
            <a:r>
              <a:rPr lang="en-US" dirty="0">
                <a:solidFill>
                  <a:schemeClr val="bg2"/>
                </a:solidFill>
              </a:rPr>
              <a:t>Introduction</a:t>
            </a:r>
          </a:p>
        </p:txBody>
      </p:sp>
      <p:sp>
        <p:nvSpPr>
          <p:cNvPr id="4099" name="Rectangle 3"/>
          <p:cNvSpPr>
            <a:spLocks noGrp="1" noChangeArrowheads="1"/>
          </p:cNvSpPr>
          <p:nvPr>
            <p:ph type="body" idx="1"/>
          </p:nvPr>
        </p:nvSpPr>
        <p:spPr>
          <a:xfrm>
            <a:off x="685800" y="1784927"/>
            <a:ext cx="8229600" cy="4114800"/>
          </a:xfrm>
        </p:spPr>
        <p:txBody>
          <a:bodyPr/>
          <a:lstStyle/>
          <a:p>
            <a:pPr eaLnBrk="1" hangingPunct="1">
              <a:buFont typeface="Wingdings" panose="05000000000000000000" pitchFamily="2" charset="2"/>
              <a:buChar char="q"/>
            </a:pPr>
            <a:r>
              <a:rPr lang="en-US" altLang="ko-KR" sz="2800" dirty="0">
                <a:solidFill>
                  <a:schemeClr val="bg2"/>
                </a:solidFill>
                <a:ea typeface="Batang" panose="02030600000101010101" pitchFamily="18" charset="-127"/>
              </a:rPr>
              <a:t>Title:  Fiber Optic Communication Systems</a:t>
            </a:r>
          </a:p>
          <a:p>
            <a:pPr eaLnBrk="1" hangingPunct="1">
              <a:buFont typeface="Wingdings" panose="05000000000000000000" pitchFamily="2" charset="2"/>
              <a:buChar char="q"/>
            </a:pPr>
            <a:r>
              <a:rPr lang="en-US" altLang="ko-KR" sz="2800" dirty="0">
                <a:solidFill>
                  <a:schemeClr val="bg2"/>
                </a:solidFill>
                <a:ea typeface="Batang" panose="02030600000101010101" pitchFamily="18" charset="-127"/>
              </a:rPr>
              <a:t>Credit Hours: 3+1</a:t>
            </a:r>
          </a:p>
          <a:p>
            <a:pPr eaLnBrk="1" hangingPunct="1">
              <a:buFont typeface="Wingdings" panose="05000000000000000000" pitchFamily="2" charset="2"/>
              <a:buChar char="q"/>
            </a:pPr>
            <a:r>
              <a:rPr lang="en-US" altLang="ko-KR" sz="2800" dirty="0">
                <a:solidFill>
                  <a:schemeClr val="bg2"/>
                </a:solidFill>
                <a:ea typeface="Batang" panose="02030600000101010101" pitchFamily="18" charset="-127"/>
              </a:rPr>
              <a:t>Semester: 7</a:t>
            </a:r>
            <a:r>
              <a:rPr lang="en-US" altLang="ko-KR" sz="2800" baseline="30000" dirty="0">
                <a:solidFill>
                  <a:schemeClr val="bg2"/>
                </a:solidFill>
                <a:ea typeface="Batang" panose="02030600000101010101" pitchFamily="18" charset="-127"/>
              </a:rPr>
              <a:t>th</a:t>
            </a:r>
            <a:r>
              <a:rPr lang="en-US" altLang="ko-KR" sz="2800" dirty="0">
                <a:solidFill>
                  <a:schemeClr val="bg2"/>
                </a:solidFill>
                <a:ea typeface="Batang" panose="02030600000101010101" pitchFamily="18" charset="-127"/>
              </a:rPr>
              <a:t> </a:t>
            </a:r>
          </a:p>
          <a:p>
            <a:pPr eaLnBrk="1" hangingPunct="1">
              <a:buFont typeface="Wingdings" panose="05000000000000000000" pitchFamily="2" charset="2"/>
              <a:buChar char="q"/>
            </a:pPr>
            <a:r>
              <a:rPr lang="en-US" altLang="ko-KR" sz="2800" dirty="0">
                <a:solidFill>
                  <a:schemeClr val="bg2"/>
                </a:solidFill>
                <a:ea typeface="Batang" panose="02030600000101010101" pitchFamily="18" charset="-127"/>
              </a:rPr>
              <a:t>Course Teacher</a:t>
            </a:r>
            <a:r>
              <a:rPr lang="en-US" altLang="ko-KR" sz="2400" dirty="0">
                <a:solidFill>
                  <a:schemeClr val="bg2"/>
                </a:solidFill>
                <a:ea typeface="Batang" panose="02030600000101010101" pitchFamily="18" charset="-127"/>
              </a:rPr>
              <a:t>: Professor Dr. Monir Morshed</a:t>
            </a:r>
          </a:p>
          <a:p>
            <a:pPr lvl="2" eaLnBrk="1" hangingPunct="1">
              <a:buFont typeface="Wingdings" panose="05000000000000000000" pitchFamily="2" charset="2"/>
              <a:buNone/>
            </a:pPr>
            <a:r>
              <a:rPr lang="en-US" altLang="ko-KR" sz="2000" dirty="0">
                <a:ea typeface="Batang" panose="02030600000101010101" pitchFamily="18" charset="-127"/>
              </a:rPr>
              <a:t>			</a:t>
            </a:r>
            <a:endParaRPr lang="en-US" alt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Content Placeholder 2"/>
          <p:cNvSpPr>
            <a:spLocks noGrp="1"/>
          </p:cNvSpPr>
          <p:nvPr>
            <p:ph idx="1"/>
          </p:nvPr>
        </p:nvSpPr>
        <p:spPr>
          <a:xfrm>
            <a:off x="609600" y="685800"/>
            <a:ext cx="7772400" cy="4114800"/>
          </a:xfrm>
        </p:spPr>
        <p:txBody>
          <a:bodyPr/>
          <a:lstStyle/>
          <a:p>
            <a:pPr algn="just"/>
            <a:r>
              <a:rPr lang="en-US" altLang="en-US" b="1" dirty="0">
                <a:solidFill>
                  <a:schemeClr val="bg2"/>
                </a:solidFill>
              </a:rPr>
              <a:t>Recommended Book:</a:t>
            </a:r>
            <a:endParaRPr lang="en-US" altLang="en-US" dirty="0">
              <a:solidFill>
                <a:schemeClr val="bg2"/>
              </a:solidFill>
            </a:endParaRPr>
          </a:p>
          <a:p>
            <a:pPr lvl="1" algn="just"/>
            <a:r>
              <a:rPr lang="en-US" altLang="en-US" i="1" dirty="0">
                <a:solidFill>
                  <a:schemeClr val="bg2"/>
                </a:solidFill>
              </a:rPr>
              <a:t>Fiber  Optic Communications by Joseph C. </a:t>
            </a:r>
            <a:r>
              <a:rPr lang="en-US" altLang="en-US" i="1" dirty="0" err="1">
                <a:solidFill>
                  <a:schemeClr val="bg2"/>
                </a:solidFill>
              </a:rPr>
              <a:t>Palais</a:t>
            </a:r>
            <a:r>
              <a:rPr lang="en-US" altLang="en-US" i="1" dirty="0">
                <a:solidFill>
                  <a:schemeClr val="bg2"/>
                </a:solidFill>
              </a:rPr>
              <a:t>, Latest Edition.</a:t>
            </a:r>
          </a:p>
          <a:p>
            <a:pPr lvl="1" algn="just"/>
            <a:endParaRPr lang="en-US" altLang="en-US" dirty="0">
              <a:solidFill>
                <a:schemeClr val="bg2"/>
              </a:solidFill>
            </a:endParaRPr>
          </a:p>
          <a:p>
            <a:pPr algn="just"/>
            <a:r>
              <a:rPr lang="en-US" altLang="en-US" b="1" dirty="0">
                <a:solidFill>
                  <a:schemeClr val="bg2"/>
                </a:solidFill>
              </a:rPr>
              <a:t>Reference Books:</a:t>
            </a:r>
            <a:endParaRPr lang="en-US" altLang="en-US" dirty="0">
              <a:solidFill>
                <a:schemeClr val="bg2"/>
              </a:solidFill>
            </a:endParaRPr>
          </a:p>
          <a:p>
            <a:pPr lvl="1" algn="just"/>
            <a:r>
              <a:rPr lang="en-US" altLang="en-US" i="1" dirty="0">
                <a:solidFill>
                  <a:schemeClr val="bg2"/>
                </a:solidFill>
              </a:rPr>
              <a:t>Optical Fiber Communications: Principles and Practice by John M. Senior, Latest Edition, Prentice Hall.</a:t>
            </a:r>
            <a:endParaRPr lang="en-US" altLang="en-US" dirty="0">
              <a:solidFill>
                <a:schemeClr val="bg2"/>
              </a:solidFill>
            </a:endParaRPr>
          </a:p>
          <a:p>
            <a:pPr lvl="1" algn="just"/>
            <a:r>
              <a:rPr lang="en-US" altLang="en-US" i="1" dirty="0">
                <a:solidFill>
                  <a:schemeClr val="bg2"/>
                </a:solidFill>
              </a:rPr>
              <a:t> Optical Fiber Communications by </a:t>
            </a:r>
            <a:r>
              <a:rPr lang="en-US" altLang="en-US" i="1" dirty="0" err="1">
                <a:solidFill>
                  <a:schemeClr val="bg2"/>
                </a:solidFill>
              </a:rPr>
              <a:t>Gerd</a:t>
            </a:r>
            <a:r>
              <a:rPr lang="en-US" altLang="en-US" i="1" dirty="0">
                <a:solidFill>
                  <a:schemeClr val="bg2"/>
                </a:solidFill>
              </a:rPr>
              <a:t> Keiser, Latest Edition, McGraw Hill.</a:t>
            </a:r>
            <a:endParaRPr lang="en-US" altLang="en-US" dirty="0">
              <a:solidFill>
                <a:schemeClr val="bg2"/>
              </a:solidFill>
            </a:endParaRPr>
          </a:p>
          <a:p>
            <a:pPr lvl="1" algn="just"/>
            <a:r>
              <a:rPr lang="en-US" altLang="en-US" i="1" dirty="0">
                <a:solidFill>
                  <a:schemeClr val="bg2"/>
                </a:solidFill>
              </a:rPr>
              <a:t>Fiber-Optic Communication Systems by </a:t>
            </a:r>
            <a:r>
              <a:rPr lang="en-US" altLang="en-US" i="1" dirty="0" err="1">
                <a:solidFill>
                  <a:schemeClr val="bg2"/>
                </a:solidFill>
              </a:rPr>
              <a:t>Govind</a:t>
            </a:r>
            <a:r>
              <a:rPr lang="en-US" altLang="en-US" i="1" dirty="0">
                <a:solidFill>
                  <a:schemeClr val="bg2"/>
                </a:solidFill>
              </a:rPr>
              <a:t> P. Agrawal</a:t>
            </a:r>
            <a:endParaRPr lang="en-US" altLang="en-US" dirty="0">
              <a:solidFill>
                <a:schemeClr val="bg2"/>
              </a:solidFill>
            </a:endParaRPr>
          </a:p>
          <a:p>
            <a:pPr algn="just"/>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533400" y="152400"/>
            <a:ext cx="7772400" cy="1143000"/>
          </a:xfrm>
        </p:spPr>
        <p:txBody>
          <a:bodyPr/>
          <a:lstStyle/>
          <a:p>
            <a:pPr eaLnBrk="1" hangingPunct="1">
              <a:defRPr/>
            </a:pPr>
            <a:r>
              <a:rPr lang="en-US" dirty="0">
                <a:solidFill>
                  <a:schemeClr val="tx2">
                    <a:lumMod val="75000"/>
                  </a:schemeClr>
                </a:solidFill>
              </a:rPr>
              <a:t>Objective</a:t>
            </a:r>
          </a:p>
        </p:txBody>
      </p:sp>
      <p:sp>
        <p:nvSpPr>
          <p:cNvPr id="6" name="TextBox 5">
            <a:extLst>
              <a:ext uri="{FF2B5EF4-FFF2-40B4-BE49-F238E27FC236}">
                <a16:creationId xmlns:a16="http://schemas.microsoft.com/office/drawing/2014/main" id="{4E530961-C63F-40B7-82D7-A627139F8809}"/>
              </a:ext>
            </a:extLst>
          </p:cNvPr>
          <p:cNvSpPr txBox="1"/>
          <p:nvPr/>
        </p:nvSpPr>
        <p:spPr>
          <a:xfrm>
            <a:off x="762000" y="1447800"/>
            <a:ext cx="7620000" cy="3354765"/>
          </a:xfrm>
          <a:prstGeom prst="rect">
            <a:avLst/>
          </a:prstGeom>
          <a:noFill/>
        </p:spPr>
        <p:txBody>
          <a:bodyPr wrap="square" lIns="0" rIns="0">
            <a:spAutoFit/>
          </a:bodyPr>
          <a:lstStyle/>
          <a:p>
            <a:pPr marL="342900" indent="-342900">
              <a:spcAft>
                <a:spcPts val="600"/>
              </a:spcAft>
              <a:buFont typeface="Wingdings" panose="05000000000000000000" pitchFamily="2" charset="2"/>
              <a:buChar char="q"/>
            </a:pPr>
            <a:r>
              <a:rPr lang="en-US" dirty="0">
                <a:solidFill>
                  <a:schemeClr val="bg2"/>
                </a:solidFill>
              </a:rPr>
              <a:t>To realize the significance of optical fiber communications.</a:t>
            </a:r>
          </a:p>
          <a:p>
            <a:pPr marL="342900" indent="-342900" algn="just">
              <a:spcAft>
                <a:spcPts val="600"/>
              </a:spcAft>
              <a:buFont typeface="Wingdings" panose="05000000000000000000" pitchFamily="2" charset="2"/>
              <a:buChar char="q"/>
            </a:pPr>
            <a:r>
              <a:rPr lang="en-US" dirty="0">
                <a:solidFill>
                  <a:schemeClr val="bg2"/>
                </a:solidFill>
              </a:rPr>
              <a:t>To understand the construction and characteristics of optical fiber cable.</a:t>
            </a:r>
          </a:p>
          <a:p>
            <a:pPr marL="342900" indent="-342900" algn="just">
              <a:spcAft>
                <a:spcPts val="600"/>
              </a:spcAft>
              <a:buFont typeface="Wingdings" panose="05000000000000000000" pitchFamily="2" charset="2"/>
              <a:buChar char="q"/>
            </a:pPr>
            <a:r>
              <a:rPr lang="en-US" dirty="0">
                <a:solidFill>
                  <a:schemeClr val="bg2"/>
                </a:solidFill>
              </a:rPr>
              <a:t>To develop the knowledge of optical signal sources and power launching.</a:t>
            </a:r>
          </a:p>
          <a:p>
            <a:pPr marL="342900" indent="-342900" algn="just">
              <a:spcAft>
                <a:spcPts val="600"/>
              </a:spcAft>
              <a:buFont typeface="Wingdings" panose="05000000000000000000" pitchFamily="2" charset="2"/>
              <a:buChar char="q"/>
            </a:pPr>
            <a:r>
              <a:rPr lang="en-US" dirty="0">
                <a:solidFill>
                  <a:schemeClr val="bg2"/>
                </a:solidFill>
              </a:rPr>
              <a:t>To identify and understand the operation of various optical detectors. </a:t>
            </a:r>
          </a:p>
          <a:p>
            <a:pPr marL="342900" indent="-342900" algn="just">
              <a:spcAft>
                <a:spcPts val="600"/>
              </a:spcAft>
              <a:buFont typeface="Wingdings" panose="05000000000000000000" pitchFamily="2" charset="2"/>
              <a:buChar char="q"/>
            </a:pPr>
            <a:r>
              <a:rPr lang="en-US" dirty="0">
                <a:solidFill>
                  <a:schemeClr val="bg2"/>
                </a:solidFill>
              </a:rPr>
              <a:t>To under the design of optical systems and WDM.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85800" y="304800"/>
            <a:ext cx="7772400" cy="1143000"/>
          </a:xfrm>
        </p:spPr>
        <p:txBody>
          <a:bodyPr/>
          <a:lstStyle/>
          <a:p>
            <a:pPr eaLnBrk="1" hangingPunct="1">
              <a:defRPr/>
            </a:pPr>
            <a:r>
              <a:rPr lang="en-US" dirty="0">
                <a:solidFill>
                  <a:schemeClr val="bg2"/>
                </a:solidFill>
              </a:rPr>
              <a:t>Course Contents</a:t>
            </a:r>
          </a:p>
        </p:txBody>
      </p:sp>
      <p:sp>
        <p:nvSpPr>
          <p:cNvPr id="7171" name="Rectangle 3"/>
          <p:cNvSpPr>
            <a:spLocks noGrp="1" noChangeArrowheads="1"/>
          </p:cNvSpPr>
          <p:nvPr>
            <p:ph type="body" idx="1"/>
          </p:nvPr>
        </p:nvSpPr>
        <p:spPr>
          <a:xfrm>
            <a:off x="685800" y="1447800"/>
            <a:ext cx="7848600" cy="5257800"/>
          </a:xfrm>
        </p:spPr>
        <p:txBody>
          <a:bodyPr/>
          <a:lstStyle/>
          <a:p>
            <a:pPr eaLnBrk="1" hangingPunct="1">
              <a:lnSpc>
                <a:spcPct val="90000"/>
              </a:lnSpc>
            </a:pPr>
            <a:r>
              <a:rPr lang="en-US" altLang="ko-KR" sz="2800" dirty="0">
                <a:solidFill>
                  <a:schemeClr val="bg2"/>
                </a:solidFill>
                <a:ea typeface="Batang" panose="02030600000101010101" pitchFamily="18" charset="-127"/>
              </a:rPr>
              <a:t>Overview</a:t>
            </a:r>
          </a:p>
          <a:p>
            <a:pPr lvl="1" eaLnBrk="1" hangingPunct="1">
              <a:lnSpc>
                <a:spcPct val="90000"/>
              </a:lnSpc>
            </a:pPr>
            <a:r>
              <a:rPr lang="en-US" altLang="ko-KR" sz="2400" dirty="0">
                <a:solidFill>
                  <a:schemeClr val="bg2"/>
                </a:solidFill>
                <a:ea typeface="Batang" panose="02030600000101010101" pitchFamily="18" charset="-127"/>
              </a:rPr>
              <a:t>Historical perspectives</a:t>
            </a:r>
          </a:p>
          <a:p>
            <a:pPr lvl="1" eaLnBrk="1" hangingPunct="1">
              <a:lnSpc>
                <a:spcPct val="90000"/>
              </a:lnSpc>
            </a:pPr>
            <a:r>
              <a:rPr lang="en-US" altLang="ko-KR" sz="2400" dirty="0">
                <a:solidFill>
                  <a:schemeClr val="bg2"/>
                </a:solidFill>
                <a:ea typeface="Batang" panose="02030600000101010101" pitchFamily="18" charset="-127"/>
              </a:rPr>
              <a:t>The basic communication systems</a:t>
            </a:r>
          </a:p>
          <a:p>
            <a:pPr lvl="1" eaLnBrk="1" hangingPunct="1">
              <a:lnSpc>
                <a:spcPct val="90000"/>
              </a:lnSpc>
            </a:pPr>
            <a:r>
              <a:rPr lang="en-US" altLang="ko-KR" sz="2400" dirty="0">
                <a:solidFill>
                  <a:schemeClr val="bg2"/>
                </a:solidFill>
                <a:ea typeface="Batang" panose="02030600000101010101" pitchFamily="18" charset="-127"/>
              </a:rPr>
              <a:t>Nature of light</a:t>
            </a:r>
          </a:p>
          <a:p>
            <a:pPr lvl="1" eaLnBrk="1" hangingPunct="1">
              <a:lnSpc>
                <a:spcPct val="90000"/>
              </a:lnSpc>
            </a:pPr>
            <a:r>
              <a:rPr lang="en-US" altLang="ko-KR" sz="2400" dirty="0">
                <a:solidFill>
                  <a:schemeClr val="bg2"/>
                </a:solidFill>
                <a:ea typeface="Batang" panose="02030600000101010101" pitchFamily="18" charset="-127"/>
              </a:rPr>
              <a:t>Advantages of light</a:t>
            </a:r>
          </a:p>
          <a:p>
            <a:pPr lvl="1" eaLnBrk="1" hangingPunct="1">
              <a:lnSpc>
                <a:spcPct val="90000"/>
              </a:lnSpc>
            </a:pPr>
            <a:r>
              <a:rPr lang="en-US" altLang="ko-KR" sz="2400" dirty="0">
                <a:solidFill>
                  <a:schemeClr val="bg2"/>
                </a:solidFill>
                <a:ea typeface="Batang" panose="02030600000101010101" pitchFamily="18" charset="-127"/>
              </a:rPr>
              <a:t>Application of fiber optic communications</a:t>
            </a:r>
          </a:p>
          <a:p>
            <a:pPr eaLnBrk="1" hangingPunct="1">
              <a:lnSpc>
                <a:spcPct val="90000"/>
              </a:lnSpc>
            </a:pPr>
            <a:r>
              <a:rPr lang="en-US" altLang="ko-KR" sz="2800" dirty="0">
                <a:solidFill>
                  <a:schemeClr val="bg2"/>
                </a:solidFill>
                <a:ea typeface="Batang" panose="02030600000101010101" pitchFamily="18" charset="-127"/>
              </a:rPr>
              <a:t> Optics Review</a:t>
            </a:r>
          </a:p>
          <a:p>
            <a:pPr lvl="1" eaLnBrk="1" hangingPunct="1">
              <a:lnSpc>
                <a:spcPct val="90000"/>
              </a:lnSpc>
            </a:pPr>
            <a:r>
              <a:rPr lang="en-US" altLang="ko-KR" sz="2400" dirty="0">
                <a:solidFill>
                  <a:schemeClr val="bg2"/>
                </a:solidFill>
                <a:ea typeface="Batang" panose="02030600000101010101" pitchFamily="18" charset="-127"/>
              </a:rPr>
              <a:t>Ray theory and applications</a:t>
            </a:r>
          </a:p>
          <a:p>
            <a:pPr lvl="1" eaLnBrk="1" hangingPunct="1">
              <a:lnSpc>
                <a:spcPct val="90000"/>
              </a:lnSpc>
            </a:pPr>
            <a:r>
              <a:rPr lang="en-US" altLang="ko-KR" sz="2400" dirty="0">
                <a:solidFill>
                  <a:schemeClr val="bg2"/>
                </a:solidFill>
                <a:ea typeface="Batang" panose="02030600000101010101" pitchFamily="18" charset="-127"/>
              </a:rPr>
              <a:t>Lenses</a:t>
            </a:r>
          </a:p>
          <a:p>
            <a:pPr lvl="1" eaLnBrk="1" hangingPunct="1">
              <a:lnSpc>
                <a:spcPct val="90000"/>
              </a:lnSpc>
            </a:pPr>
            <a:r>
              <a:rPr lang="en-US" altLang="ko-KR" sz="2400" dirty="0">
                <a:solidFill>
                  <a:schemeClr val="bg2"/>
                </a:solidFill>
                <a:ea typeface="Batang" panose="02030600000101010101" pitchFamily="18" charset="-127"/>
              </a:rPr>
              <a:t>Imaging</a:t>
            </a:r>
          </a:p>
          <a:p>
            <a:pPr lvl="1" eaLnBrk="1" hangingPunct="1">
              <a:lnSpc>
                <a:spcPct val="90000"/>
              </a:lnSpc>
            </a:pPr>
            <a:r>
              <a:rPr lang="en-US" altLang="ko-KR" sz="2400" dirty="0">
                <a:solidFill>
                  <a:schemeClr val="bg2"/>
                </a:solidFill>
                <a:ea typeface="Batang" panose="02030600000101010101" pitchFamily="18" charset="-127"/>
              </a:rPr>
              <a:t>Numerical aperture</a:t>
            </a:r>
          </a:p>
          <a:p>
            <a:pPr lvl="1" eaLnBrk="1" hangingPunct="1">
              <a:lnSpc>
                <a:spcPct val="90000"/>
              </a:lnSpc>
            </a:pPr>
            <a:r>
              <a:rPr lang="en-US" altLang="ko-KR" sz="2400" dirty="0">
                <a:solidFill>
                  <a:schemeClr val="bg2"/>
                </a:solidFill>
                <a:ea typeface="Batang" panose="02030600000101010101" pitchFamily="18" charset="-127"/>
              </a:rPr>
              <a:t>Diffraction</a:t>
            </a:r>
            <a:endParaRPr lang="en-US" altLang="en-US" sz="2400" dirty="0">
              <a:solidFill>
                <a:schemeClr val="bg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xfrm>
            <a:off x="609600" y="381000"/>
            <a:ext cx="7772400" cy="6477000"/>
          </a:xfrm>
        </p:spPr>
        <p:txBody>
          <a:bodyPr/>
          <a:lstStyle/>
          <a:p>
            <a:pPr eaLnBrk="1" hangingPunct="1">
              <a:lnSpc>
                <a:spcPct val="90000"/>
              </a:lnSpc>
            </a:pPr>
            <a:r>
              <a:rPr lang="en-US" altLang="ko-KR" sz="2800" dirty="0" err="1">
                <a:solidFill>
                  <a:schemeClr val="bg2"/>
                </a:solidFill>
                <a:ea typeface="Batang" panose="02030600000101010101" pitchFamily="18" charset="-127"/>
              </a:rPr>
              <a:t>Lightwave</a:t>
            </a:r>
            <a:r>
              <a:rPr lang="en-US" altLang="ko-KR" sz="2800" dirty="0">
                <a:solidFill>
                  <a:schemeClr val="bg2"/>
                </a:solidFill>
                <a:ea typeface="Batang" panose="02030600000101010101" pitchFamily="18" charset="-127"/>
              </a:rPr>
              <a:t> Fundamentals</a:t>
            </a:r>
          </a:p>
          <a:p>
            <a:pPr lvl="1" eaLnBrk="1" hangingPunct="1"/>
            <a:r>
              <a:rPr lang="en-US" altLang="ko-KR" sz="2400" dirty="0">
                <a:solidFill>
                  <a:schemeClr val="bg2"/>
                </a:solidFill>
                <a:ea typeface="Batang" panose="02030600000101010101" pitchFamily="18" charset="-127"/>
              </a:rPr>
              <a:t>Electromagnetic waves</a:t>
            </a:r>
          </a:p>
          <a:p>
            <a:pPr lvl="1" eaLnBrk="1" hangingPunct="1"/>
            <a:r>
              <a:rPr lang="en-US" altLang="ko-KR" sz="2400" dirty="0">
                <a:solidFill>
                  <a:schemeClr val="bg2"/>
                </a:solidFill>
                <a:ea typeface="Batang" panose="02030600000101010101" pitchFamily="18" charset="-127"/>
              </a:rPr>
              <a:t>Dispersion, pulse dispersion and information</a:t>
            </a:r>
          </a:p>
          <a:p>
            <a:pPr lvl="1" eaLnBrk="1" hangingPunct="1"/>
            <a:r>
              <a:rPr lang="en-US" altLang="ko-KR" sz="2400" dirty="0">
                <a:solidFill>
                  <a:schemeClr val="bg2"/>
                </a:solidFill>
                <a:ea typeface="Batang" panose="02030600000101010101" pitchFamily="18" charset="-127"/>
              </a:rPr>
              <a:t>Polarization</a:t>
            </a:r>
          </a:p>
          <a:p>
            <a:pPr lvl="1" eaLnBrk="1" hangingPunct="1"/>
            <a:r>
              <a:rPr lang="en-US" altLang="ko-KR" sz="2400" dirty="0">
                <a:solidFill>
                  <a:schemeClr val="bg2"/>
                </a:solidFill>
                <a:ea typeface="Batang" panose="02030600000101010101" pitchFamily="18" charset="-127"/>
              </a:rPr>
              <a:t>Critical angle Reflections </a:t>
            </a:r>
          </a:p>
          <a:p>
            <a:pPr eaLnBrk="1" hangingPunct="1">
              <a:lnSpc>
                <a:spcPct val="90000"/>
              </a:lnSpc>
            </a:pPr>
            <a:r>
              <a:rPr lang="en-US" altLang="ko-KR" sz="2800" dirty="0">
                <a:solidFill>
                  <a:schemeClr val="bg2"/>
                </a:solidFill>
                <a:ea typeface="Batang" panose="02030600000101010101" pitchFamily="18" charset="-127"/>
              </a:rPr>
              <a:t>Optic Fiber Waveguide</a:t>
            </a:r>
          </a:p>
          <a:p>
            <a:pPr lvl="1" eaLnBrk="1" hangingPunct="1"/>
            <a:r>
              <a:rPr lang="en-US" altLang="ko-KR" sz="2400" dirty="0">
                <a:solidFill>
                  <a:schemeClr val="bg2"/>
                </a:solidFill>
                <a:ea typeface="Batang" panose="02030600000101010101" pitchFamily="18" charset="-127"/>
              </a:rPr>
              <a:t>Step-index Fiber</a:t>
            </a:r>
          </a:p>
          <a:p>
            <a:pPr lvl="1" eaLnBrk="1" hangingPunct="1"/>
            <a:r>
              <a:rPr lang="en-US" altLang="ko-KR" sz="2400" dirty="0">
                <a:solidFill>
                  <a:schemeClr val="bg2"/>
                </a:solidFill>
                <a:ea typeface="Batang" panose="02030600000101010101" pitchFamily="18" charset="-127"/>
              </a:rPr>
              <a:t>Graded-index fiber</a:t>
            </a:r>
          </a:p>
          <a:p>
            <a:pPr lvl="1" eaLnBrk="1" hangingPunct="1"/>
            <a:r>
              <a:rPr lang="en-US" altLang="ko-KR" sz="2400" dirty="0">
                <a:solidFill>
                  <a:schemeClr val="bg2"/>
                </a:solidFill>
                <a:ea typeface="Batang" panose="02030600000101010101" pitchFamily="18" charset="-127"/>
              </a:rPr>
              <a:t>Attenuation</a:t>
            </a:r>
          </a:p>
          <a:p>
            <a:pPr lvl="1" eaLnBrk="1" hangingPunct="1"/>
            <a:r>
              <a:rPr lang="en-US" altLang="ko-KR" sz="2400" dirty="0">
                <a:solidFill>
                  <a:schemeClr val="bg2"/>
                </a:solidFill>
                <a:ea typeface="Batang" panose="02030600000101010101" pitchFamily="18" charset="-127"/>
              </a:rPr>
              <a:t>Pulse distortion and information rate in optic fiber</a:t>
            </a:r>
          </a:p>
          <a:p>
            <a:pPr lvl="1" eaLnBrk="1" hangingPunct="1"/>
            <a:r>
              <a:rPr lang="en-US" altLang="ko-KR" sz="2400" dirty="0">
                <a:solidFill>
                  <a:schemeClr val="bg2"/>
                </a:solidFill>
                <a:ea typeface="Batang" panose="02030600000101010101" pitchFamily="18" charset="-127"/>
              </a:rPr>
              <a:t>Construction of optic fiber</a:t>
            </a:r>
          </a:p>
          <a:p>
            <a:pPr lvl="1" eaLnBrk="1" hangingPunct="1"/>
            <a:r>
              <a:rPr lang="en-US" altLang="ko-KR" sz="2400" dirty="0">
                <a:solidFill>
                  <a:schemeClr val="bg2"/>
                </a:solidFill>
                <a:ea typeface="Batang" panose="02030600000101010101" pitchFamily="18" charset="-127"/>
              </a:rPr>
              <a:t>Optic fiber cables</a:t>
            </a:r>
            <a:endParaRPr lang="en-US" altLang="en-US" sz="2400" dirty="0">
              <a:solidFill>
                <a:schemeClr val="bg2"/>
              </a:solidFill>
            </a:endParaRPr>
          </a:p>
        </p:txBody>
      </p:sp>
      <p:sp>
        <p:nvSpPr>
          <p:cNvPr id="45060" name="Rectangle 4"/>
          <p:cNvSpPr>
            <a:spLocks noGrp="1" noChangeArrowheads="1"/>
          </p:cNvSpPr>
          <p:nvPr>
            <p:ph type="title"/>
          </p:nvPr>
        </p:nvSpPr>
        <p:spPr>
          <a:xfrm>
            <a:off x="5638800" y="304800"/>
            <a:ext cx="3200400" cy="533400"/>
          </a:xfrm>
        </p:spPr>
        <p:txBody>
          <a:bodyPr/>
          <a:lstStyle/>
          <a:p>
            <a:pPr eaLnBrk="1" hangingPunct="1">
              <a:defRPr/>
            </a:pPr>
            <a:r>
              <a:rPr lang="en-US" sz="2400" dirty="0">
                <a:solidFill>
                  <a:schemeClr val="bg2"/>
                </a:solidFill>
              </a:rPr>
              <a:t>Course Contents</a:t>
            </a:r>
            <a:br>
              <a:rPr lang="en-US" sz="2400" dirty="0">
                <a:solidFill>
                  <a:schemeClr val="bg2"/>
                </a:solidFill>
              </a:rPr>
            </a:br>
            <a:r>
              <a:rPr lang="en-US" sz="2400" dirty="0">
                <a:solidFill>
                  <a:schemeClr val="bg2"/>
                </a:solidFill>
              </a:rPr>
              <a:t>		cont…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3"/>
          <p:cNvSpPr>
            <a:spLocks noGrp="1" noChangeArrowheads="1"/>
          </p:cNvSpPr>
          <p:nvPr>
            <p:ph type="body" idx="1"/>
          </p:nvPr>
        </p:nvSpPr>
        <p:spPr>
          <a:xfrm>
            <a:off x="762000" y="304800"/>
            <a:ext cx="7772400" cy="6553200"/>
          </a:xfrm>
        </p:spPr>
        <p:txBody>
          <a:bodyPr/>
          <a:lstStyle/>
          <a:p>
            <a:pPr eaLnBrk="1" hangingPunct="1">
              <a:lnSpc>
                <a:spcPct val="90000"/>
              </a:lnSpc>
            </a:pPr>
            <a:r>
              <a:rPr lang="en-US" altLang="ko-KR" sz="2800" dirty="0">
                <a:solidFill>
                  <a:schemeClr val="bg2"/>
                </a:solidFill>
                <a:ea typeface="Batang" panose="02030600000101010101" pitchFamily="18" charset="-127"/>
              </a:rPr>
              <a:t>Light Sources</a:t>
            </a:r>
          </a:p>
          <a:p>
            <a:pPr lvl="1" eaLnBrk="1" hangingPunct="1">
              <a:lnSpc>
                <a:spcPct val="90000"/>
              </a:lnSpc>
            </a:pPr>
            <a:r>
              <a:rPr lang="en-US" altLang="ko-KR" sz="2400" dirty="0">
                <a:solidFill>
                  <a:schemeClr val="bg2"/>
                </a:solidFill>
                <a:ea typeface="Batang" panose="02030600000101010101" pitchFamily="18" charset="-127"/>
              </a:rPr>
              <a:t>Light emitting diodes</a:t>
            </a:r>
          </a:p>
          <a:p>
            <a:pPr lvl="1" eaLnBrk="1" hangingPunct="1">
              <a:lnSpc>
                <a:spcPct val="90000"/>
              </a:lnSpc>
            </a:pPr>
            <a:r>
              <a:rPr lang="en-US" altLang="ko-KR" sz="2400" dirty="0">
                <a:solidFill>
                  <a:schemeClr val="bg2"/>
                </a:solidFill>
                <a:ea typeface="Batang" panose="02030600000101010101" pitchFamily="18" charset="-127"/>
              </a:rPr>
              <a:t>Light emitting diodes operating characteristics</a:t>
            </a:r>
          </a:p>
          <a:p>
            <a:pPr lvl="1" eaLnBrk="1" hangingPunct="1">
              <a:lnSpc>
                <a:spcPct val="90000"/>
              </a:lnSpc>
            </a:pPr>
            <a:r>
              <a:rPr lang="en-US" altLang="ko-KR" sz="2400" dirty="0">
                <a:solidFill>
                  <a:schemeClr val="bg2"/>
                </a:solidFill>
                <a:ea typeface="Batang" panose="02030600000101010101" pitchFamily="18" charset="-127"/>
              </a:rPr>
              <a:t>Laser principles</a:t>
            </a:r>
          </a:p>
          <a:p>
            <a:pPr lvl="1" eaLnBrk="1" hangingPunct="1">
              <a:lnSpc>
                <a:spcPct val="90000"/>
              </a:lnSpc>
            </a:pPr>
            <a:r>
              <a:rPr lang="en-US" altLang="ko-KR" sz="2400" dirty="0">
                <a:solidFill>
                  <a:schemeClr val="bg2"/>
                </a:solidFill>
                <a:ea typeface="Batang" panose="02030600000101010101" pitchFamily="18" charset="-127"/>
              </a:rPr>
              <a:t>Laser diodes</a:t>
            </a:r>
          </a:p>
          <a:p>
            <a:pPr lvl="1" eaLnBrk="1" hangingPunct="1">
              <a:lnSpc>
                <a:spcPct val="90000"/>
              </a:lnSpc>
            </a:pPr>
            <a:r>
              <a:rPr lang="en-US" altLang="ko-KR" sz="2400" dirty="0">
                <a:solidFill>
                  <a:schemeClr val="bg2"/>
                </a:solidFill>
                <a:ea typeface="Batang" panose="02030600000101010101" pitchFamily="18" charset="-127"/>
              </a:rPr>
              <a:t>Laser diodes operating characteristics</a:t>
            </a:r>
          </a:p>
          <a:p>
            <a:pPr lvl="1" eaLnBrk="1" hangingPunct="1">
              <a:lnSpc>
                <a:spcPct val="90000"/>
              </a:lnSpc>
            </a:pPr>
            <a:r>
              <a:rPr lang="en-US" altLang="ko-KR" sz="2400" dirty="0">
                <a:solidFill>
                  <a:schemeClr val="bg2"/>
                </a:solidFill>
                <a:ea typeface="Batang" panose="02030600000101010101" pitchFamily="18" charset="-127"/>
              </a:rPr>
              <a:t>Distributed Feed-back Laser diodes</a:t>
            </a:r>
          </a:p>
          <a:p>
            <a:pPr lvl="1" eaLnBrk="1" hangingPunct="1">
              <a:lnSpc>
                <a:spcPct val="90000"/>
              </a:lnSpc>
            </a:pPr>
            <a:r>
              <a:rPr lang="en-US" altLang="ko-KR" sz="2400" dirty="0">
                <a:solidFill>
                  <a:schemeClr val="bg2"/>
                </a:solidFill>
                <a:ea typeface="Batang" panose="02030600000101010101" pitchFamily="18" charset="-127"/>
              </a:rPr>
              <a:t>Optical Amplifiers</a:t>
            </a:r>
          </a:p>
          <a:p>
            <a:pPr lvl="1" eaLnBrk="1" hangingPunct="1">
              <a:lnSpc>
                <a:spcPct val="90000"/>
              </a:lnSpc>
            </a:pPr>
            <a:r>
              <a:rPr lang="en-US" altLang="ko-KR" sz="2400" dirty="0">
                <a:solidFill>
                  <a:schemeClr val="bg2"/>
                </a:solidFill>
                <a:ea typeface="Batang" panose="02030600000101010101" pitchFamily="18" charset="-127"/>
              </a:rPr>
              <a:t>Vertical-Cavity Surface-Emitting Laser (VCSEL) Diodes </a:t>
            </a:r>
          </a:p>
          <a:p>
            <a:pPr eaLnBrk="1" hangingPunct="1">
              <a:lnSpc>
                <a:spcPct val="90000"/>
              </a:lnSpc>
            </a:pPr>
            <a:r>
              <a:rPr lang="en-US" altLang="ko-KR" sz="2800" dirty="0">
                <a:solidFill>
                  <a:schemeClr val="bg2"/>
                </a:solidFill>
                <a:ea typeface="Batang" panose="02030600000101010101" pitchFamily="18" charset="-127"/>
              </a:rPr>
              <a:t>Light Detectors</a:t>
            </a:r>
          </a:p>
          <a:p>
            <a:pPr lvl="1" eaLnBrk="1" hangingPunct="1">
              <a:lnSpc>
                <a:spcPct val="90000"/>
              </a:lnSpc>
            </a:pPr>
            <a:r>
              <a:rPr lang="en-US" altLang="ko-KR" sz="2400" dirty="0">
                <a:solidFill>
                  <a:schemeClr val="bg2"/>
                </a:solidFill>
                <a:ea typeface="Batang" panose="02030600000101010101" pitchFamily="18" charset="-127"/>
              </a:rPr>
              <a:t>Principles of photo-detection</a:t>
            </a:r>
          </a:p>
          <a:p>
            <a:pPr lvl="1" eaLnBrk="1" hangingPunct="1">
              <a:lnSpc>
                <a:spcPct val="90000"/>
              </a:lnSpc>
            </a:pPr>
            <a:r>
              <a:rPr lang="en-US" altLang="ko-KR" sz="2400" dirty="0">
                <a:solidFill>
                  <a:schemeClr val="bg2"/>
                </a:solidFill>
                <a:ea typeface="Batang" panose="02030600000101010101" pitchFamily="18" charset="-127"/>
              </a:rPr>
              <a:t>Semiconductor photo diodes</a:t>
            </a:r>
          </a:p>
          <a:p>
            <a:pPr lvl="1" eaLnBrk="1" hangingPunct="1">
              <a:lnSpc>
                <a:spcPct val="90000"/>
              </a:lnSpc>
            </a:pPr>
            <a:r>
              <a:rPr lang="en-US" altLang="ko-KR" sz="2400" dirty="0">
                <a:solidFill>
                  <a:schemeClr val="bg2"/>
                </a:solidFill>
                <a:ea typeface="Batang" panose="02030600000101010101" pitchFamily="18" charset="-127"/>
              </a:rPr>
              <a:t>PIN photodiodes</a:t>
            </a:r>
          </a:p>
          <a:p>
            <a:pPr lvl="1" eaLnBrk="1" hangingPunct="1">
              <a:lnSpc>
                <a:spcPct val="90000"/>
              </a:lnSpc>
            </a:pPr>
            <a:r>
              <a:rPr lang="en-US" altLang="ko-KR" sz="2400" dirty="0">
                <a:solidFill>
                  <a:schemeClr val="bg2"/>
                </a:solidFill>
                <a:ea typeface="Batang" panose="02030600000101010101" pitchFamily="18" charset="-127"/>
              </a:rPr>
              <a:t>Avalanche Photodiodes</a:t>
            </a:r>
          </a:p>
          <a:p>
            <a:pPr eaLnBrk="1" hangingPunct="1">
              <a:lnSpc>
                <a:spcPct val="90000"/>
              </a:lnSpc>
            </a:pPr>
            <a:endParaRPr lang="en-US" altLang="en-US" sz="2800" dirty="0"/>
          </a:p>
        </p:txBody>
      </p:sp>
      <p:sp>
        <p:nvSpPr>
          <p:cNvPr id="46084" name="Rectangle 4"/>
          <p:cNvSpPr>
            <a:spLocks noGrp="1" noChangeArrowheads="1"/>
          </p:cNvSpPr>
          <p:nvPr>
            <p:ph type="title"/>
          </p:nvPr>
        </p:nvSpPr>
        <p:spPr>
          <a:xfrm>
            <a:off x="5638800" y="304800"/>
            <a:ext cx="3200400" cy="533400"/>
          </a:xfrm>
        </p:spPr>
        <p:txBody>
          <a:bodyPr/>
          <a:lstStyle/>
          <a:p>
            <a:pPr eaLnBrk="1" hangingPunct="1">
              <a:defRPr/>
            </a:pPr>
            <a:r>
              <a:rPr lang="en-US" sz="2400" dirty="0">
                <a:solidFill>
                  <a:schemeClr val="bg2"/>
                </a:solidFill>
              </a:rPr>
              <a:t>Course Contents</a:t>
            </a:r>
            <a:br>
              <a:rPr lang="en-US" sz="2400" dirty="0">
                <a:solidFill>
                  <a:schemeClr val="bg2"/>
                </a:solidFill>
              </a:rPr>
            </a:br>
            <a:r>
              <a:rPr lang="en-US" sz="2400" dirty="0">
                <a:solidFill>
                  <a:schemeClr val="bg2"/>
                </a:solidFill>
              </a:rPr>
              <a:t>		cont</a:t>
            </a:r>
            <a:r>
              <a:rPr lang="en-US" sz="240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623888" y="182563"/>
            <a:ext cx="7772400" cy="6324600"/>
          </a:xfrm>
        </p:spPr>
        <p:txBody>
          <a:bodyPr/>
          <a:lstStyle/>
          <a:p>
            <a:pPr eaLnBrk="1" hangingPunct="1">
              <a:lnSpc>
                <a:spcPct val="90000"/>
              </a:lnSpc>
              <a:defRPr/>
            </a:pPr>
            <a:r>
              <a:rPr lang="en-US" altLang="ko-KR" sz="2400" dirty="0">
                <a:solidFill>
                  <a:schemeClr val="bg2"/>
                </a:solidFill>
                <a:ea typeface="Batang" pitchFamily="18" charset="-127"/>
              </a:rPr>
              <a:t>Couplers and Connectors</a:t>
            </a:r>
          </a:p>
          <a:p>
            <a:pPr lvl="1" eaLnBrk="1" hangingPunct="1">
              <a:lnSpc>
                <a:spcPct val="90000"/>
              </a:lnSpc>
              <a:defRPr/>
            </a:pPr>
            <a:r>
              <a:rPr lang="en-US" altLang="ko-KR" sz="2000" dirty="0">
                <a:solidFill>
                  <a:schemeClr val="bg2"/>
                </a:solidFill>
                <a:ea typeface="Batang" pitchFamily="18" charset="-127"/>
              </a:rPr>
              <a:t>Connector Principles</a:t>
            </a:r>
          </a:p>
          <a:p>
            <a:pPr lvl="1" eaLnBrk="1" hangingPunct="1">
              <a:lnSpc>
                <a:spcPct val="90000"/>
              </a:lnSpc>
              <a:defRPr/>
            </a:pPr>
            <a:r>
              <a:rPr lang="en-US" altLang="ko-KR" sz="2000" dirty="0">
                <a:solidFill>
                  <a:schemeClr val="bg2"/>
                </a:solidFill>
                <a:ea typeface="Batang" pitchFamily="18" charset="-127"/>
              </a:rPr>
              <a:t>Splices</a:t>
            </a:r>
          </a:p>
          <a:p>
            <a:pPr lvl="1" eaLnBrk="1" hangingPunct="1">
              <a:lnSpc>
                <a:spcPct val="90000"/>
              </a:lnSpc>
              <a:defRPr/>
            </a:pPr>
            <a:r>
              <a:rPr lang="en-US" altLang="ko-KR" sz="2000" dirty="0">
                <a:solidFill>
                  <a:schemeClr val="bg2"/>
                </a:solidFill>
                <a:ea typeface="Batang" pitchFamily="18" charset="-127"/>
              </a:rPr>
              <a:t>Connectors</a:t>
            </a:r>
          </a:p>
          <a:p>
            <a:pPr lvl="1" eaLnBrk="1" hangingPunct="1">
              <a:lnSpc>
                <a:spcPct val="90000"/>
              </a:lnSpc>
              <a:defRPr/>
            </a:pPr>
            <a:r>
              <a:rPr lang="en-US" altLang="ko-KR" sz="2000" dirty="0">
                <a:solidFill>
                  <a:schemeClr val="bg2"/>
                </a:solidFill>
                <a:ea typeface="Batang" pitchFamily="18" charset="-127"/>
              </a:rPr>
              <a:t>Source Coupling </a:t>
            </a:r>
          </a:p>
          <a:p>
            <a:pPr eaLnBrk="1" hangingPunct="1">
              <a:lnSpc>
                <a:spcPct val="90000"/>
              </a:lnSpc>
              <a:defRPr/>
            </a:pPr>
            <a:r>
              <a:rPr lang="en-US" altLang="ko-KR" sz="2400" dirty="0">
                <a:solidFill>
                  <a:schemeClr val="bg2"/>
                </a:solidFill>
                <a:ea typeface="Batang" pitchFamily="18" charset="-127"/>
              </a:rPr>
              <a:t>Distributed Networks and fiber components</a:t>
            </a:r>
          </a:p>
          <a:p>
            <a:pPr eaLnBrk="1" hangingPunct="1">
              <a:defRPr/>
            </a:pPr>
            <a:r>
              <a:rPr lang="en-US" sz="2400" dirty="0">
                <a:solidFill>
                  <a:schemeClr val="bg2"/>
                </a:solidFill>
              </a:rPr>
              <a:t>FDDI, SONET, ATM,SDH,WDM</a:t>
            </a:r>
          </a:p>
          <a:p>
            <a:pPr lvl="1" eaLnBrk="1" hangingPunct="1">
              <a:defRPr/>
            </a:pPr>
            <a:r>
              <a:rPr lang="en-US" sz="2000" dirty="0">
                <a:solidFill>
                  <a:schemeClr val="bg2"/>
                </a:solidFill>
                <a:ea typeface="+mn-ea"/>
                <a:cs typeface="+mn-cs"/>
              </a:rPr>
              <a:t>Fiber Bragg Gratings</a:t>
            </a:r>
          </a:p>
          <a:p>
            <a:pPr lvl="1" eaLnBrk="1" hangingPunct="1">
              <a:defRPr/>
            </a:pPr>
            <a:r>
              <a:rPr lang="en-US" sz="2000" dirty="0">
                <a:solidFill>
                  <a:schemeClr val="bg2"/>
                </a:solidFill>
                <a:ea typeface="+mn-ea"/>
                <a:cs typeface="+mn-cs"/>
              </a:rPr>
              <a:t>Other components</a:t>
            </a:r>
          </a:p>
          <a:p>
            <a:pPr eaLnBrk="1" hangingPunct="1">
              <a:defRPr/>
            </a:pPr>
            <a:r>
              <a:rPr lang="en-US" sz="2400" dirty="0">
                <a:solidFill>
                  <a:schemeClr val="bg2"/>
                </a:solidFill>
              </a:rPr>
              <a:t>PON</a:t>
            </a:r>
          </a:p>
          <a:p>
            <a:pPr eaLnBrk="1" hangingPunct="1">
              <a:lnSpc>
                <a:spcPct val="90000"/>
              </a:lnSpc>
              <a:defRPr/>
            </a:pPr>
            <a:r>
              <a:rPr lang="en-US" altLang="ko-KR" sz="2400" dirty="0">
                <a:solidFill>
                  <a:schemeClr val="bg2"/>
                </a:solidFill>
                <a:ea typeface="Batang" pitchFamily="18" charset="-127"/>
              </a:rPr>
              <a:t>Noise and Detection </a:t>
            </a:r>
          </a:p>
          <a:p>
            <a:pPr lvl="1" eaLnBrk="1" hangingPunct="1">
              <a:lnSpc>
                <a:spcPct val="90000"/>
              </a:lnSpc>
              <a:defRPr/>
            </a:pPr>
            <a:r>
              <a:rPr lang="en-US" altLang="ko-KR" sz="2000" dirty="0">
                <a:solidFill>
                  <a:schemeClr val="bg2"/>
                </a:solidFill>
                <a:ea typeface="Batang" pitchFamily="18" charset="-127"/>
              </a:rPr>
              <a:t>Thermal and shot noise</a:t>
            </a:r>
          </a:p>
          <a:p>
            <a:pPr lvl="1" eaLnBrk="1" hangingPunct="1">
              <a:lnSpc>
                <a:spcPct val="90000"/>
              </a:lnSpc>
              <a:defRPr/>
            </a:pPr>
            <a:r>
              <a:rPr lang="en-US" altLang="ko-KR" sz="2000" dirty="0">
                <a:solidFill>
                  <a:schemeClr val="bg2"/>
                </a:solidFill>
                <a:ea typeface="Batang" pitchFamily="18" charset="-127"/>
              </a:rPr>
              <a:t>Signal to noise ratio</a:t>
            </a:r>
          </a:p>
          <a:p>
            <a:pPr lvl="1" eaLnBrk="1" hangingPunct="1">
              <a:lnSpc>
                <a:spcPct val="90000"/>
              </a:lnSpc>
              <a:defRPr/>
            </a:pPr>
            <a:r>
              <a:rPr lang="en-US" altLang="ko-KR" sz="2000" dirty="0">
                <a:solidFill>
                  <a:schemeClr val="bg2"/>
                </a:solidFill>
                <a:ea typeface="Batang" pitchFamily="18" charset="-127"/>
              </a:rPr>
              <a:t>Error rates</a:t>
            </a:r>
          </a:p>
          <a:p>
            <a:pPr lvl="1" eaLnBrk="1" hangingPunct="1">
              <a:lnSpc>
                <a:spcPct val="90000"/>
              </a:lnSpc>
              <a:defRPr/>
            </a:pPr>
            <a:r>
              <a:rPr lang="en-US" altLang="ko-KR" sz="2000" dirty="0">
                <a:solidFill>
                  <a:schemeClr val="bg2"/>
                </a:solidFill>
                <a:ea typeface="Batang" pitchFamily="18" charset="-127"/>
              </a:rPr>
              <a:t>Mode-noise, Mode partition noise, Amplifier noise, Laser noise and jitter</a:t>
            </a:r>
          </a:p>
          <a:p>
            <a:pPr lvl="1" eaLnBrk="1" hangingPunct="1">
              <a:lnSpc>
                <a:spcPct val="90000"/>
              </a:lnSpc>
              <a:defRPr/>
            </a:pPr>
            <a:r>
              <a:rPr lang="en-US" altLang="ko-KR" sz="2000" dirty="0">
                <a:solidFill>
                  <a:schemeClr val="bg2"/>
                </a:solidFill>
                <a:ea typeface="Batang" pitchFamily="18" charset="-127"/>
              </a:rPr>
              <a:t>Additional noise contributor</a:t>
            </a:r>
          </a:p>
          <a:p>
            <a:pPr lvl="1" eaLnBrk="1" hangingPunct="1">
              <a:lnSpc>
                <a:spcPct val="90000"/>
              </a:lnSpc>
              <a:defRPr/>
            </a:pPr>
            <a:r>
              <a:rPr lang="en-US" altLang="ko-KR" sz="2000" dirty="0">
                <a:solidFill>
                  <a:schemeClr val="bg2"/>
                </a:solidFill>
                <a:ea typeface="Batang" pitchFamily="18" charset="-127"/>
              </a:rPr>
              <a:t>Receiver circuit design </a:t>
            </a:r>
          </a:p>
          <a:p>
            <a:pPr lvl="1" eaLnBrk="1" hangingPunct="1">
              <a:lnSpc>
                <a:spcPct val="90000"/>
              </a:lnSpc>
              <a:defRPr/>
            </a:pPr>
            <a:endParaRPr lang="en-US" altLang="ko-KR" sz="2000" dirty="0">
              <a:ea typeface="Batang" pitchFamily="18" charset="-127"/>
            </a:endParaRPr>
          </a:p>
          <a:p>
            <a:pPr eaLnBrk="1" hangingPunct="1">
              <a:defRPr/>
            </a:pPr>
            <a:endParaRPr lang="en-US" altLang="ko-KR" sz="2400" dirty="0">
              <a:solidFill>
                <a:schemeClr val="folHlink"/>
              </a:solidFill>
              <a:ea typeface="Batang" pitchFamily="18" charset="-127"/>
            </a:endParaRPr>
          </a:p>
        </p:txBody>
      </p:sp>
      <p:sp>
        <p:nvSpPr>
          <p:cNvPr id="47108" name="Rectangle 4"/>
          <p:cNvSpPr>
            <a:spLocks noGrp="1" noChangeArrowheads="1"/>
          </p:cNvSpPr>
          <p:nvPr>
            <p:ph type="title"/>
          </p:nvPr>
        </p:nvSpPr>
        <p:spPr>
          <a:xfrm>
            <a:off x="5638800" y="304800"/>
            <a:ext cx="3200400" cy="533400"/>
          </a:xfrm>
        </p:spPr>
        <p:txBody>
          <a:bodyPr/>
          <a:lstStyle/>
          <a:p>
            <a:pPr eaLnBrk="1" hangingPunct="1">
              <a:defRPr/>
            </a:pPr>
            <a:r>
              <a:rPr lang="en-US" sz="2400" dirty="0">
                <a:solidFill>
                  <a:schemeClr val="bg2"/>
                </a:solidFill>
              </a:rPr>
              <a:t>Course Contents</a:t>
            </a:r>
            <a:br>
              <a:rPr lang="en-US" sz="2400" dirty="0">
                <a:solidFill>
                  <a:schemeClr val="bg2"/>
                </a:solidFill>
              </a:rPr>
            </a:br>
            <a:r>
              <a:rPr lang="en-US" sz="2400" dirty="0">
                <a:solidFill>
                  <a:schemeClr val="bg2"/>
                </a:solidFill>
              </a:rPr>
              <a:t>		</a:t>
            </a:r>
            <a:r>
              <a:rPr lang="en-US" sz="2400" dirty="0" err="1">
                <a:solidFill>
                  <a:schemeClr val="bg2"/>
                </a:solidFill>
              </a:rPr>
              <a:t>cont</a:t>
            </a:r>
            <a:r>
              <a:rPr lang="en-US" sz="2400" dirty="0">
                <a:solidFill>
                  <a:schemeClr val="bg2"/>
                </a:solidFil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eaLnBrk="1" hangingPunct="1">
              <a:lnSpc>
                <a:spcPct val="90000"/>
              </a:lnSpc>
              <a:defRPr/>
            </a:pPr>
            <a:r>
              <a:rPr lang="en-US" altLang="ko-KR" sz="2400" dirty="0">
                <a:solidFill>
                  <a:schemeClr val="bg2"/>
                </a:solidFill>
                <a:ea typeface="Batang" pitchFamily="18" charset="-127"/>
              </a:rPr>
              <a:t>Systems Design</a:t>
            </a:r>
          </a:p>
          <a:p>
            <a:pPr lvl="1" eaLnBrk="1" hangingPunct="1">
              <a:lnSpc>
                <a:spcPct val="90000"/>
              </a:lnSpc>
              <a:defRPr/>
            </a:pPr>
            <a:r>
              <a:rPr lang="en-US" altLang="ko-KR" sz="2000" dirty="0">
                <a:solidFill>
                  <a:schemeClr val="bg2"/>
                </a:solidFill>
                <a:ea typeface="Batang" pitchFamily="18" charset="-127"/>
              </a:rPr>
              <a:t>Analog Systems design</a:t>
            </a:r>
          </a:p>
          <a:p>
            <a:pPr lvl="1" eaLnBrk="1" hangingPunct="1">
              <a:lnSpc>
                <a:spcPct val="90000"/>
              </a:lnSpc>
              <a:defRPr/>
            </a:pPr>
            <a:r>
              <a:rPr lang="en-US" altLang="ko-KR" sz="2000" dirty="0">
                <a:solidFill>
                  <a:schemeClr val="bg2"/>
                </a:solidFill>
                <a:ea typeface="Batang" pitchFamily="18" charset="-127"/>
              </a:rPr>
              <a:t>Digital systems design</a:t>
            </a:r>
            <a:r>
              <a:rPr lang="en-US" altLang="ko-KR" sz="2000" dirty="0">
                <a:solidFill>
                  <a:schemeClr val="bg2"/>
                </a:solidFill>
                <a:ea typeface="굴림" charset="-127"/>
              </a:rPr>
              <a:t> </a:t>
            </a:r>
          </a:p>
          <a:p>
            <a:pPr eaLnBrk="1" hangingPunct="1">
              <a:defRPr/>
            </a:pPr>
            <a:r>
              <a:rPr lang="en-US" sz="2400" dirty="0">
                <a:solidFill>
                  <a:schemeClr val="bg2"/>
                </a:solidFill>
              </a:rPr>
              <a:t>DWDM Filters</a:t>
            </a:r>
          </a:p>
          <a:p>
            <a:pPr lvl="1" eaLnBrk="1" hangingPunct="1">
              <a:defRPr/>
            </a:pPr>
            <a:r>
              <a:rPr lang="en-US" sz="2000" dirty="0">
                <a:solidFill>
                  <a:schemeClr val="bg2"/>
                </a:solidFill>
                <a:ea typeface="+mn-ea"/>
                <a:cs typeface="+mn-cs"/>
              </a:rPr>
              <a:t>Fiber Grating Filters</a:t>
            </a:r>
          </a:p>
          <a:p>
            <a:pPr lvl="1" eaLnBrk="1" hangingPunct="1">
              <a:defRPr/>
            </a:pPr>
            <a:r>
              <a:rPr lang="en-US" sz="2000" dirty="0" err="1">
                <a:solidFill>
                  <a:schemeClr val="bg2"/>
                </a:solidFill>
                <a:ea typeface="+mn-ea"/>
                <a:cs typeface="+mn-cs"/>
              </a:rPr>
              <a:t>Fabry</a:t>
            </a:r>
            <a:r>
              <a:rPr lang="en-US" sz="2000" dirty="0">
                <a:solidFill>
                  <a:schemeClr val="bg2"/>
                </a:solidFill>
                <a:ea typeface="+mn-ea"/>
                <a:cs typeface="+mn-cs"/>
              </a:rPr>
              <a:t> Perot Filters</a:t>
            </a:r>
          </a:p>
          <a:p>
            <a:pPr lvl="1" eaLnBrk="1" hangingPunct="1">
              <a:defRPr/>
            </a:pPr>
            <a:r>
              <a:rPr lang="en-US" sz="2000" dirty="0">
                <a:solidFill>
                  <a:schemeClr val="bg2"/>
                </a:solidFill>
                <a:ea typeface="+mn-ea"/>
                <a:cs typeface="+mn-cs"/>
              </a:rPr>
              <a:t>Multilayer Dielectric Thin-Film Filters</a:t>
            </a:r>
          </a:p>
          <a:p>
            <a:pPr lvl="1" eaLnBrk="1" hangingPunct="1">
              <a:defRPr/>
            </a:pPr>
            <a:r>
              <a:rPr lang="en-US" sz="2000" dirty="0">
                <a:solidFill>
                  <a:schemeClr val="bg2"/>
                </a:solidFill>
                <a:ea typeface="+mn-ea"/>
                <a:cs typeface="+mn-cs"/>
              </a:rPr>
              <a:t>Mach-</a:t>
            </a:r>
            <a:r>
              <a:rPr lang="en-US" sz="2000" dirty="0" err="1">
                <a:solidFill>
                  <a:schemeClr val="bg2"/>
                </a:solidFill>
                <a:ea typeface="+mn-ea"/>
                <a:cs typeface="+mn-cs"/>
              </a:rPr>
              <a:t>Zehnder</a:t>
            </a:r>
            <a:r>
              <a:rPr lang="en-US" sz="2000" dirty="0">
                <a:solidFill>
                  <a:schemeClr val="bg2"/>
                </a:solidFill>
                <a:ea typeface="+mn-ea"/>
                <a:cs typeface="+mn-cs"/>
              </a:rPr>
              <a:t> Interferometers</a:t>
            </a:r>
          </a:p>
          <a:p>
            <a:pPr marL="457200" lvl="1" indent="0" eaLnBrk="1" hangingPunct="1">
              <a:buFontTx/>
              <a:buNone/>
              <a:defRPr/>
            </a:pPr>
            <a:r>
              <a:rPr lang="en-US" sz="2400" b="1" dirty="0">
                <a:solidFill>
                  <a:schemeClr val="bg2"/>
                </a:solidFill>
              </a:rPr>
              <a:t>Photonic Networks</a:t>
            </a:r>
            <a:endParaRPr lang="en-US" sz="2400" dirty="0">
              <a:solidFill>
                <a:schemeClr val="bg2"/>
              </a:solidFill>
            </a:endParaRPr>
          </a:p>
        </p:txBody>
      </p:sp>
      <p:sp>
        <p:nvSpPr>
          <p:cNvPr id="4" name="Rectangle 4"/>
          <p:cNvSpPr txBox="1">
            <a:spLocks noChangeArrowheads="1"/>
          </p:cNvSpPr>
          <p:nvPr/>
        </p:nvSpPr>
        <p:spPr bwMode="auto">
          <a:xfrm>
            <a:off x="5638800" y="304800"/>
            <a:ext cx="3200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a:defRPr/>
            </a:pPr>
            <a:r>
              <a:rPr lang="en-US" sz="2400" dirty="0">
                <a:solidFill>
                  <a:schemeClr val="bg2"/>
                </a:solidFill>
              </a:rPr>
              <a:t>Course Contents</a:t>
            </a:r>
            <a:br>
              <a:rPr lang="en-US" sz="2400" dirty="0">
                <a:solidFill>
                  <a:schemeClr val="bg2"/>
                </a:solidFill>
              </a:rPr>
            </a:br>
            <a:r>
              <a:rPr lang="en-US" sz="2400" dirty="0">
                <a:solidFill>
                  <a:schemeClr val="bg2"/>
                </a:solidFill>
              </a:rPr>
              <a:t>		cont…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defRPr/>
            </a:pPr>
            <a:r>
              <a:rPr lang="en-US" altLang="ko-KR" dirty="0">
                <a:solidFill>
                  <a:schemeClr val="bg2"/>
                </a:solidFill>
                <a:ea typeface="굴림" charset="-127"/>
              </a:rPr>
              <a:t>Tentative Grading Policy</a:t>
            </a:r>
            <a:br>
              <a:rPr lang="en-US" altLang="ko-KR" dirty="0">
                <a:ea typeface="Batang" pitchFamily="18" charset="-127"/>
              </a:rPr>
            </a:br>
            <a:endParaRPr lang="en-US" dirty="0">
              <a:ea typeface="Batang" pitchFamily="18" charset="-127"/>
            </a:endParaRPr>
          </a:p>
        </p:txBody>
      </p:sp>
      <p:sp>
        <p:nvSpPr>
          <p:cNvPr id="12291" name="Rectangle 3"/>
          <p:cNvSpPr>
            <a:spLocks noGrp="1" noChangeArrowheads="1"/>
          </p:cNvSpPr>
          <p:nvPr>
            <p:ph type="body" idx="1"/>
          </p:nvPr>
        </p:nvSpPr>
        <p:spPr/>
        <p:txBody>
          <a:bodyPr/>
          <a:lstStyle/>
          <a:p>
            <a:pPr eaLnBrk="1" hangingPunct="1"/>
            <a:r>
              <a:rPr lang="en-US" altLang="ko-KR" dirty="0">
                <a:ea typeface="Batang" panose="02030600000101010101" pitchFamily="18" charset="-127"/>
              </a:rPr>
              <a:t>	</a:t>
            </a:r>
            <a:r>
              <a:rPr lang="en-US" altLang="ko-KR" dirty="0">
                <a:solidFill>
                  <a:schemeClr val="bg2"/>
                </a:solidFill>
                <a:ea typeface="Batang" panose="02030600000101010101" pitchFamily="18" charset="-127"/>
              </a:rPr>
              <a:t>Attendance		10%</a:t>
            </a:r>
          </a:p>
          <a:p>
            <a:pPr eaLnBrk="1" hangingPunct="1"/>
            <a:r>
              <a:rPr lang="en-US" altLang="ko-KR" dirty="0">
                <a:solidFill>
                  <a:schemeClr val="bg2"/>
                </a:solidFill>
                <a:ea typeface="Batang" panose="02030600000101010101" pitchFamily="18" charset="-127"/>
              </a:rPr>
              <a:t>	CT    			20%</a:t>
            </a:r>
          </a:p>
          <a:p>
            <a:pPr eaLnBrk="1" hangingPunct="1"/>
            <a:r>
              <a:rPr lang="en-US" altLang="ko-KR" dirty="0">
                <a:solidFill>
                  <a:schemeClr val="bg2"/>
                </a:solidFill>
                <a:ea typeface="Batang" panose="02030600000101010101" pitchFamily="18" charset="-127"/>
              </a:rPr>
              <a:t>	Final Paper		70%	</a:t>
            </a:r>
            <a:r>
              <a:rPr lang="en-US" altLang="ko-KR" dirty="0">
                <a:solidFill>
                  <a:schemeClr val="bg2"/>
                </a:solidFill>
                <a:ea typeface="굴림" panose="020B0600000101010101" pitchFamily="34" charset="-127"/>
              </a:rPr>
              <a:t> </a:t>
            </a:r>
          </a:p>
          <a:p>
            <a:pPr eaLnBrk="1" hangingPunct="1"/>
            <a:r>
              <a:rPr lang="en-US" altLang="en-US" dirty="0">
                <a:solidFill>
                  <a:schemeClr val="bg2"/>
                </a:solidFill>
                <a:ea typeface="굴림" panose="020B0600000101010101" pitchFamily="34" charset="-127"/>
              </a:rPr>
              <a:t>      Lab Report		20%</a:t>
            </a:r>
          </a:p>
          <a:p>
            <a:pPr eaLnBrk="1" hangingPunct="1"/>
            <a:r>
              <a:rPr lang="en-US" altLang="en-US" dirty="0">
                <a:solidFill>
                  <a:schemeClr val="bg2"/>
                </a:solidFill>
                <a:ea typeface="굴림" panose="020B0600000101010101" pitchFamily="34" charset="-127"/>
              </a:rPr>
              <a:t>      Lab Attendance		10%</a:t>
            </a:r>
          </a:p>
          <a:p>
            <a:pPr eaLnBrk="1" hangingPunct="1"/>
            <a:r>
              <a:rPr lang="en-US" altLang="ko-KR" dirty="0">
                <a:solidFill>
                  <a:schemeClr val="bg2"/>
                </a:solidFill>
                <a:ea typeface="Batang" panose="02030600000101010101" pitchFamily="18" charset="-127"/>
              </a:rPr>
              <a:t>      Quiz				20%</a:t>
            </a:r>
          </a:p>
          <a:p>
            <a:pPr eaLnBrk="1" hangingPunct="1"/>
            <a:r>
              <a:rPr lang="en-US" altLang="ko-KR" dirty="0">
                <a:solidFill>
                  <a:schemeClr val="bg2"/>
                </a:solidFill>
                <a:ea typeface="Batang" panose="02030600000101010101" pitchFamily="18" charset="-127"/>
              </a:rPr>
              <a:t>      Lab Final                    	50%</a:t>
            </a:r>
            <a:endParaRPr lang="en-US" altLang="en-US" dirty="0">
              <a:solidFill>
                <a:schemeClr val="bg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381000" y="4800600"/>
            <a:ext cx="83820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 typeface="Wingdings" pitchFamily="2" charset="2"/>
              <a:buChar char="ü"/>
            </a:pPr>
            <a:r>
              <a:rPr lang="en-US" sz="2400" dirty="0">
                <a:solidFill>
                  <a:schemeClr val="bg2"/>
                </a:solidFill>
              </a:rPr>
              <a:t>Perhaps the most obvious answer is to consider the social impact   of optical communications. </a:t>
            </a:r>
          </a:p>
          <a:p>
            <a:pPr algn="just" eaLnBrk="1" hangingPunct="1">
              <a:spcBef>
                <a:spcPct val="0"/>
              </a:spcBef>
              <a:buClrTx/>
              <a:buSzTx/>
              <a:buFont typeface="Wingdings" pitchFamily="2" charset="2"/>
              <a:buChar char="ü"/>
            </a:pPr>
            <a:r>
              <a:rPr lang="en-US" sz="2400" dirty="0">
                <a:solidFill>
                  <a:schemeClr val="bg2"/>
                </a:solidFill>
              </a:rPr>
              <a:t> In 1966, two engineers at Standard Telecommunication Laboratories in England wrote a paper which in essence started the race to develop optical fiber for communications: </a:t>
            </a:r>
            <a:br>
              <a:rPr lang="en-US" sz="2400" dirty="0"/>
            </a:br>
            <a:r>
              <a:rPr lang="en-US" sz="2400" dirty="0"/>
              <a:t> </a:t>
            </a:r>
            <a:br>
              <a:rPr lang="en-US" sz="2400" dirty="0"/>
            </a:br>
            <a:endParaRPr lang="en-US" altLang="en-US" sz="2400" dirty="0">
              <a:latin typeface="Arial" panose="020B0604020202020204" pitchFamily="34" charset="0"/>
            </a:endParaRPr>
          </a:p>
        </p:txBody>
      </p:sp>
      <p:sp>
        <p:nvSpPr>
          <p:cNvPr id="50179" name="Text Box 3"/>
          <p:cNvSpPr txBox="1">
            <a:spLocks noChangeArrowheads="1"/>
          </p:cNvSpPr>
          <p:nvPr/>
        </p:nvSpPr>
        <p:spPr bwMode="auto">
          <a:xfrm>
            <a:off x="381000" y="212725"/>
            <a:ext cx="838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400" dirty="0">
                <a:solidFill>
                  <a:schemeClr val="bg2"/>
                </a:solidFill>
                <a:effectLst>
                  <a:outerShdw blurRad="38100" dist="38100" dir="2700000" algn="tl">
                    <a:srgbClr val="000000"/>
                  </a:outerShdw>
                </a:effectLst>
                <a:latin typeface="Arial" charset="0"/>
              </a:rPr>
              <a:t>Why is this course useful to you?</a:t>
            </a:r>
          </a:p>
        </p:txBody>
      </p:sp>
      <p:pic>
        <p:nvPicPr>
          <p:cNvPr id="13319" name="Picture 7" descr="Bangladesh submarine"/>
          <p:cNvPicPr>
            <a:picLocks noChangeAspect="1" noChangeArrowheads="1"/>
          </p:cNvPicPr>
          <p:nvPr/>
        </p:nvPicPr>
        <p:blipFill>
          <a:blip r:embed="rId3" cstate="print"/>
          <a:srcRect/>
          <a:stretch>
            <a:fillRect/>
          </a:stretch>
        </p:blipFill>
        <p:spPr bwMode="auto">
          <a:xfrm>
            <a:off x="1219200" y="1219200"/>
            <a:ext cx="6629400" cy="35052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381000" y="4114800"/>
            <a:ext cx="83820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 typeface="Wingdings" pitchFamily="2" charset="2"/>
              <a:buChar char="ü"/>
            </a:pPr>
            <a:r>
              <a:rPr lang="en-US" sz="2400" dirty="0">
                <a:solidFill>
                  <a:schemeClr val="bg2"/>
                </a:solidFill>
              </a:rPr>
              <a:t>One year later, the </a:t>
            </a:r>
            <a:r>
              <a:rPr lang="en-US" sz="2400" dirty="0" err="1">
                <a:solidFill>
                  <a:schemeClr val="bg2"/>
                </a:solidFill>
              </a:rPr>
              <a:t>Philco</a:t>
            </a:r>
            <a:r>
              <a:rPr lang="en-US" sz="2400" dirty="0">
                <a:solidFill>
                  <a:schemeClr val="bg2"/>
                </a:solidFill>
              </a:rPr>
              <a:t>-Ford company tried to predict the future; they were in many ways very close to what we have. (https://www.youtube.com/watch?v=rpq5ZmANp0k</a:t>
            </a:r>
            <a:r>
              <a:rPr lang="en-US" sz="2400" dirty="0"/>
              <a:t>)</a:t>
            </a:r>
            <a:br>
              <a:rPr lang="en-US" sz="2400" dirty="0"/>
            </a:br>
            <a:r>
              <a:rPr lang="en-US" sz="2400" dirty="0"/>
              <a:t> </a:t>
            </a:r>
            <a:br>
              <a:rPr lang="en-US" sz="2400" dirty="0"/>
            </a:br>
            <a:endParaRPr lang="en-US" altLang="en-US" sz="2400" dirty="0">
              <a:latin typeface="Arial" panose="020B0604020202020204" pitchFamily="34" charset="0"/>
            </a:endParaRPr>
          </a:p>
        </p:txBody>
      </p:sp>
      <p:sp>
        <p:nvSpPr>
          <p:cNvPr id="50179" name="Text Box 3"/>
          <p:cNvSpPr txBox="1">
            <a:spLocks noChangeArrowheads="1"/>
          </p:cNvSpPr>
          <p:nvPr/>
        </p:nvSpPr>
        <p:spPr bwMode="auto">
          <a:xfrm>
            <a:off x="381000" y="212725"/>
            <a:ext cx="838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400" dirty="0">
                <a:solidFill>
                  <a:schemeClr val="tx2"/>
                </a:solidFill>
                <a:effectLst>
                  <a:outerShdw blurRad="38100" dist="38100" dir="2700000" algn="tl">
                    <a:srgbClr val="000000"/>
                  </a:outerShdw>
                </a:effectLst>
                <a:latin typeface="Arial" charset="0"/>
              </a:rPr>
              <a:t>Why is this course useful to you?</a:t>
            </a:r>
          </a:p>
        </p:txBody>
      </p:sp>
      <p:pic>
        <p:nvPicPr>
          <p:cNvPr id="94210" name="Picture 2"/>
          <p:cNvPicPr>
            <a:picLocks noChangeAspect="1" noChangeArrowheads="1"/>
          </p:cNvPicPr>
          <p:nvPr/>
        </p:nvPicPr>
        <p:blipFill>
          <a:blip r:embed="rId3" cstate="print"/>
          <a:srcRect/>
          <a:stretch>
            <a:fillRect/>
          </a:stretch>
        </p:blipFill>
        <p:spPr bwMode="auto">
          <a:xfrm>
            <a:off x="5562600" y="1295400"/>
            <a:ext cx="3200400" cy="1853076"/>
          </a:xfrm>
          <a:prstGeom prst="rect">
            <a:avLst/>
          </a:prstGeom>
          <a:noFill/>
          <a:ln w="9525">
            <a:noFill/>
            <a:miter lim="800000"/>
            <a:headEnd/>
            <a:tailEnd/>
          </a:ln>
        </p:spPr>
      </p:pic>
      <p:pic>
        <p:nvPicPr>
          <p:cNvPr id="94211" name="Picture 3"/>
          <p:cNvPicPr>
            <a:picLocks noChangeAspect="1" noChangeArrowheads="1"/>
          </p:cNvPicPr>
          <p:nvPr/>
        </p:nvPicPr>
        <p:blipFill>
          <a:blip r:embed="rId4" cstate="print"/>
          <a:srcRect/>
          <a:stretch>
            <a:fillRect/>
          </a:stretch>
        </p:blipFill>
        <p:spPr bwMode="auto">
          <a:xfrm>
            <a:off x="914400" y="1676400"/>
            <a:ext cx="4386263" cy="9906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381000" y="4724400"/>
            <a:ext cx="8382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 typeface="Wingdings" pitchFamily="2" charset="2"/>
              <a:buChar char="ü"/>
            </a:pPr>
            <a:r>
              <a:rPr lang="en-US" sz="2400" dirty="0">
                <a:solidFill>
                  <a:schemeClr val="bg2"/>
                </a:solidFill>
              </a:rPr>
              <a:t>All of this is made possible by a global infrastructure of optical cables</a:t>
            </a:r>
            <a:br>
              <a:rPr lang="en-US" sz="2400" dirty="0"/>
            </a:br>
            <a:r>
              <a:rPr lang="en-US" sz="2400" dirty="0"/>
              <a:t> </a:t>
            </a:r>
            <a:br>
              <a:rPr lang="en-US" sz="2400" dirty="0"/>
            </a:br>
            <a:endParaRPr lang="en-US" altLang="en-US" sz="2400" dirty="0">
              <a:latin typeface="Arial" panose="020B0604020202020204" pitchFamily="34" charset="0"/>
            </a:endParaRPr>
          </a:p>
        </p:txBody>
      </p:sp>
      <p:sp>
        <p:nvSpPr>
          <p:cNvPr id="50179" name="Text Box 3"/>
          <p:cNvSpPr txBox="1">
            <a:spLocks noChangeArrowheads="1"/>
          </p:cNvSpPr>
          <p:nvPr/>
        </p:nvSpPr>
        <p:spPr bwMode="auto">
          <a:xfrm>
            <a:off x="381000" y="212725"/>
            <a:ext cx="838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2800" dirty="0">
                <a:solidFill>
                  <a:schemeClr val="tx2"/>
                </a:solidFill>
                <a:effectLst>
                  <a:outerShdw blurRad="38100" dist="38100" dir="2700000" algn="tl">
                    <a:srgbClr val="000000"/>
                  </a:outerShdw>
                </a:effectLst>
                <a:latin typeface="Arial" charset="0"/>
              </a:rPr>
              <a:t>What happens in an 2021 INTERNET MINITUE?</a:t>
            </a:r>
          </a:p>
        </p:txBody>
      </p:sp>
      <p:pic>
        <p:nvPicPr>
          <p:cNvPr id="96260" name="Picture 4" descr="https://mloapwwtsct7.i.optimole.com/A6Igeow.l1xK~43710/w:auto/h:auto/q:75/https:/www.bondhighplus.com/wp-content/uploads/2020/05/Internet-Minute-2021.jpg"/>
          <p:cNvPicPr>
            <a:picLocks noChangeAspect="1" noChangeArrowheads="1"/>
          </p:cNvPicPr>
          <p:nvPr/>
        </p:nvPicPr>
        <p:blipFill>
          <a:blip r:embed="rId3" cstate="print"/>
          <a:srcRect/>
          <a:stretch>
            <a:fillRect/>
          </a:stretch>
        </p:blipFill>
        <p:spPr bwMode="auto">
          <a:xfrm>
            <a:off x="2590800" y="838200"/>
            <a:ext cx="3810000" cy="3810000"/>
          </a:xfrm>
          <a:prstGeom prst="rect">
            <a:avLst/>
          </a:prstGeom>
          <a:noFill/>
        </p:spPr>
      </p:pic>
      <p:pic>
        <p:nvPicPr>
          <p:cNvPr id="96262" name="Picture 6" descr="SEA-ME-WE History - SEA-ME-WE 5"/>
          <p:cNvPicPr>
            <a:picLocks noChangeAspect="1" noChangeArrowheads="1"/>
          </p:cNvPicPr>
          <p:nvPr/>
        </p:nvPicPr>
        <p:blipFill>
          <a:blip r:embed="rId4" cstate="print"/>
          <a:srcRect/>
          <a:stretch>
            <a:fillRect/>
          </a:stretch>
        </p:blipFill>
        <p:spPr bwMode="auto">
          <a:xfrm>
            <a:off x="2438400" y="5181600"/>
            <a:ext cx="4724400" cy="15240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457200" y="1143000"/>
            <a:ext cx="8382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2400" dirty="0">
                <a:solidFill>
                  <a:schemeClr val="bg2"/>
                </a:solidFill>
                <a:latin typeface="Arial" panose="020B0604020202020204" pitchFamily="34" charset="0"/>
              </a:rPr>
              <a:t>Some basic Units that may appear frequently in this course are listed in following table for convenient reference</a:t>
            </a:r>
          </a:p>
        </p:txBody>
      </p:sp>
      <p:sp>
        <p:nvSpPr>
          <p:cNvPr id="50179" name="Text Box 3"/>
          <p:cNvSpPr txBox="1">
            <a:spLocks noChangeArrowheads="1"/>
          </p:cNvSpPr>
          <p:nvPr/>
        </p:nvSpPr>
        <p:spPr bwMode="auto">
          <a:xfrm>
            <a:off x="914400" y="212725"/>
            <a:ext cx="7010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sz="4400">
                <a:solidFill>
                  <a:schemeClr val="tx2"/>
                </a:solidFill>
                <a:effectLst>
                  <a:outerShdw blurRad="38100" dist="38100" dir="2700000" algn="tl">
                    <a:srgbClr val="000000"/>
                  </a:outerShdw>
                </a:effectLst>
                <a:latin typeface="Arial" charset="0"/>
              </a:rPr>
              <a:t>Numbers</a:t>
            </a:r>
          </a:p>
        </p:txBody>
      </p:sp>
      <p:pic>
        <p:nvPicPr>
          <p:cNvPr id="70659" name="Picture 3"/>
          <p:cNvPicPr>
            <a:picLocks noChangeAspect="1" noChangeArrowheads="1"/>
          </p:cNvPicPr>
          <p:nvPr/>
        </p:nvPicPr>
        <p:blipFill>
          <a:blip r:embed="rId3" cstate="print"/>
          <a:srcRect t="7149"/>
          <a:stretch>
            <a:fillRect/>
          </a:stretch>
        </p:blipFill>
        <p:spPr bwMode="auto">
          <a:xfrm>
            <a:off x="2971800" y="2209800"/>
            <a:ext cx="4329716" cy="4111314"/>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85800" y="228600"/>
            <a:ext cx="7772400" cy="914400"/>
          </a:xfrm>
        </p:spPr>
        <p:txBody>
          <a:bodyPr/>
          <a:lstStyle/>
          <a:p>
            <a:pPr eaLnBrk="1" hangingPunct="1">
              <a:defRPr/>
            </a:pPr>
            <a:r>
              <a:rPr lang="en-US" dirty="0"/>
              <a:t>Constants &amp; Prefixes</a:t>
            </a:r>
          </a:p>
        </p:txBody>
      </p:sp>
      <p:pic>
        <p:nvPicPr>
          <p:cNvPr id="14341" name="Picture 5"/>
          <p:cNvPicPr>
            <a:picLocks noChangeAspect="1" noChangeArrowheads="1"/>
          </p:cNvPicPr>
          <p:nvPr/>
        </p:nvPicPr>
        <p:blipFill>
          <a:blip r:embed="rId2" cstate="print"/>
          <a:srcRect t="19753"/>
          <a:stretch>
            <a:fillRect/>
          </a:stretch>
        </p:blipFill>
        <p:spPr bwMode="auto">
          <a:xfrm>
            <a:off x="1143000" y="2590800"/>
            <a:ext cx="3286125" cy="1238250"/>
          </a:xfrm>
          <a:prstGeom prst="rect">
            <a:avLst/>
          </a:prstGeom>
          <a:noFill/>
          <a:ln w="9525">
            <a:noFill/>
            <a:miter lim="800000"/>
            <a:headEnd/>
            <a:tailEnd/>
          </a:ln>
        </p:spPr>
      </p:pic>
      <p:pic>
        <p:nvPicPr>
          <p:cNvPr id="14342" name="Picture 6"/>
          <p:cNvPicPr>
            <a:picLocks noChangeAspect="1" noChangeArrowheads="1"/>
          </p:cNvPicPr>
          <p:nvPr/>
        </p:nvPicPr>
        <p:blipFill>
          <a:blip r:embed="rId3" cstate="print"/>
          <a:srcRect t="9677"/>
          <a:stretch>
            <a:fillRect/>
          </a:stretch>
        </p:blipFill>
        <p:spPr bwMode="auto">
          <a:xfrm>
            <a:off x="5105400" y="2362200"/>
            <a:ext cx="3162300" cy="2133600"/>
          </a:xfrm>
          <a:prstGeom prst="rect">
            <a:avLst/>
          </a:prstGeom>
          <a:noFill/>
          <a:ln w="9525">
            <a:noFill/>
            <a:miter lim="800000"/>
            <a:headEnd/>
            <a:tailEnd/>
          </a:ln>
        </p:spPr>
      </p:pic>
      <p:sp>
        <p:nvSpPr>
          <p:cNvPr id="6" name="Text Box 2"/>
          <p:cNvSpPr txBox="1">
            <a:spLocks noChangeArrowheads="1"/>
          </p:cNvSpPr>
          <p:nvPr/>
        </p:nvSpPr>
        <p:spPr bwMode="auto">
          <a:xfrm>
            <a:off x="457200" y="1143000"/>
            <a:ext cx="8382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Tx/>
              <a:buNone/>
            </a:pPr>
            <a:r>
              <a:rPr lang="en-US" altLang="en-US" sz="2400" dirty="0">
                <a:solidFill>
                  <a:schemeClr val="bg2"/>
                </a:solidFill>
                <a:latin typeface="Arial" panose="020B0604020202020204" pitchFamily="34" charset="0"/>
              </a:rPr>
              <a:t>A few important constants and prefixes that will need to study our course.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762000" y="152400"/>
            <a:ext cx="7848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400" dirty="0">
                <a:solidFill>
                  <a:schemeClr val="tx2"/>
                </a:solidFill>
                <a:effectLst>
                  <a:outerShdw blurRad="38100" dist="38100" dir="2700000" algn="tl">
                    <a:srgbClr val="000000"/>
                  </a:outerShdw>
                </a:effectLst>
                <a:latin typeface="Arial" charset="0"/>
              </a:rPr>
              <a:t>Frequency &amp; Period</a:t>
            </a:r>
          </a:p>
        </p:txBody>
      </p:sp>
      <p:sp>
        <p:nvSpPr>
          <p:cNvPr id="15364" name="Text Box 4"/>
          <p:cNvSpPr txBox="1">
            <a:spLocks noChangeArrowheads="1"/>
          </p:cNvSpPr>
          <p:nvPr/>
        </p:nvSpPr>
        <p:spPr bwMode="auto">
          <a:xfrm>
            <a:off x="304800" y="1066800"/>
            <a:ext cx="854075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120000"/>
              </a:lnSpc>
              <a:spcBef>
                <a:spcPct val="0"/>
              </a:spcBef>
              <a:buClrTx/>
              <a:buSzTx/>
              <a:buFontTx/>
              <a:buChar char="•"/>
            </a:pPr>
            <a:r>
              <a:rPr lang="en-US" altLang="en-US" sz="2400" dirty="0">
                <a:solidFill>
                  <a:schemeClr val="bg2"/>
                </a:solidFill>
                <a:latin typeface="Arial" panose="020B0604020202020204" pitchFamily="34" charset="0"/>
              </a:rPr>
              <a:t>The frequency unit, the hertz, is equivalent to one cycle of oscillation per second . </a:t>
            </a:r>
          </a:p>
          <a:p>
            <a:pPr eaLnBrk="1" hangingPunct="1">
              <a:lnSpc>
                <a:spcPct val="120000"/>
              </a:lnSpc>
              <a:spcBef>
                <a:spcPct val="0"/>
              </a:spcBef>
              <a:buClrTx/>
              <a:buSzTx/>
              <a:buFontTx/>
              <a:buChar char="•"/>
            </a:pPr>
            <a:r>
              <a:rPr lang="en-US" altLang="en-US" sz="2400" dirty="0">
                <a:solidFill>
                  <a:schemeClr val="bg2"/>
                </a:solidFill>
                <a:latin typeface="Arial" panose="020B0604020202020204" pitchFamily="34" charset="0"/>
              </a:rPr>
              <a:t>The time between successive peaks of an oscillation is called the period. </a:t>
            </a:r>
          </a:p>
          <a:p>
            <a:pPr eaLnBrk="1" hangingPunct="1">
              <a:lnSpc>
                <a:spcPct val="120000"/>
              </a:lnSpc>
              <a:spcBef>
                <a:spcPct val="0"/>
              </a:spcBef>
              <a:buClrTx/>
              <a:buSzTx/>
              <a:buFontTx/>
              <a:buChar char="•"/>
            </a:pPr>
            <a:r>
              <a:rPr lang="en-US" altLang="en-US" sz="2400" dirty="0">
                <a:solidFill>
                  <a:schemeClr val="bg2"/>
                </a:solidFill>
                <a:latin typeface="Arial" panose="020B0604020202020204" pitchFamily="34" charset="0"/>
              </a:rPr>
              <a:t>If </a:t>
            </a:r>
            <a:r>
              <a:rPr lang="en-US" altLang="en-US" sz="2400" i="1" dirty="0">
                <a:solidFill>
                  <a:schemeClr val="bg2"/>
                </a:solidFill>
                <a:latin typeface="Arial" panose="020B0604020202020204" pitchFamily="34" charset="0"/>
              </a:rPr>
              <a:t>f </a:t>
            </a:r>
            <a:r>
              <a:rPr lang="en-US" altLang="en-US" sz="2400" dirty="0">
                <a:solidFill>
                  <a:schemeClr val="bg2"/>
                </a:solidFill>
                <a:latin typeface="Arial" panose="020B0604020202020204" pitchFamily="34" charset="0"/>
              </a:rPr>
              <a:t>is the wave frequency and </a:t>
            </a:r>
            <a:r>
              <a:rPr lang="en-US" altLang="en-US" sz="2400" i="1" dirty="0">
                <a:solidFill>
                  <a:schemeClr val="bg2"/>
                </a:solidFill>
                <a:latin typeface="Arial" panose="020B0604020202020204" pitchFamily="34" charset="0"/>
              </a:rPr>
              <a:t>T </a:t>
            </a:r>
            <a:r>
              <a:rPr lang="en-US" altLang="en-US" sz="2400" dirty="0">
                <a:solidFill>
                  <a:schemeClr val="bg2"/>
                </a:solidFill>
                <a:latin typeface="Arial" panose="020B0604020202020204" pitchFamily="34" charset="0"/>
              </a:rPr>
              <a:t>is its period then T=1/</a:t>
            </a:r>
            <a:r>
              <a:rPr lang="en-US" altLang="en-US" sz="2400" i="1" dirty="0">
                <a:solidFill>
                  <a:schemeClr val="bg2"/>
                </a:solidFill>
                <a:latin typeface="Arial" panose="020B0604020202020204" pitchFamily="34" charset="0"/>
              </a:rPr>
              <a:t>f</a:t>
            </a:r>
            <a:r>
              <a:rPr lang="en-US" altLang="en-US" sz="2400" dirty="0">
                <a:solidFill>
                  <a:schemeClr val="bg2"/>
                </a:solidFill>
                <a:latin typeface="Arial" panose="020B0604020202020204" pitchFamily="34" charset="0"/>
              </a:rPr>
              <a:t>.</a:t>
            </a:r>
          </a:p>
        </p:txBody>
      </p:sp>
      <p:pic>
        <p:nvPicPr>
          <p:cNvPr id="40962" name="Picture 2" descr="http://www.sengpielaudio.com/calculator-period.htm"/>
          <p:cNvPicPr>
            <a:picLocks noChangeAspect="1" noChangeArrowheads="1"/>
          </p:cNvPicPr>
          <p:nvPr/>
        </p:nvPicPr>
        <p:blipFill>
          <a:blip r:embed="rId3" cstate="print"/>
          <a:srcRect/>
          <a:stretch>
            <a:fillRect/>
          </a:stretch>
        </p:blipFill>
        <p:spPr bwMode="auto">
          <a:xfrm>
            <a:off x="838200" y="3429000"/>
            <a:ext cx="3438525" cy="2667000"/>
          </a:xfrm>
          <a:prstGeom prst="rect">
            <a:avLst/>
          </a:prstGeom>
          <a:noFill/>
        </p:spPr>
      </p:pic>
      <p:pic>
        <p:nvPicPr>
          <p:cNvPr id="40964" name="Picture 4" descr="https://study.com/academy/lesson/wave-period-definition-formula-quiz.html"/>
          <p:cNvPicPr>
            <a:picLocks noChangeAspect="1" noChangeArrowheads="1"/>
          </p:cNvPicPr>
          <p:nvPr/>
        </p:nvPicPr>
        <p:blipFill>
          <a:blip r:embed="rId4" cstate="print"/>
          <a:srcRect/>
          <a:stretch>
            <a:fillRect/>
          </a:stretch>
        </p:blipFill>
        <p:spPr bwMode="auto">
          <a:xfrm>
            <a:off x="4495800" y="3429000"/>
            <a:ext cx="4038600" cy="26670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533400" y="1066800"/>
            <a:ext cx="80772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ct val="0"/>
              </a:spcBef>
              <a:buClrTx/>
              <a:buSzTx/>
              <a:buFont typeface="Wingdings" pitchFamily="2" charset="2"/>
              <a:buChar char="Ø"/>
            </a:pPr>
            <a:r>
              <a:rPr lang="en-US" altLang="en-US" sz="1800" dirty="0">
                <a:solidFill>
                  <a:schemeClr val="bg2"/>
                </a:solidFill>
                <a:latin typeface="Arial" panose="020B0604020202020204" pitchFamily="34" charset="0"/>
              </a:rPr>
              <a:t>Following Table, summarizes the bandwidth requirements of several analog systems</a:t>
            </a:r>
            <a:r>
              <a:rPr lang="en-US" altLang="en-US" sz="2400" dirty="0">
                <a:solidFill>
                  <a:schemeClr val="bg2"/>
                </a:solidFill>
                <a:latin typeface="Arial" panose="020B0604020202020204" pitchFamily="34" charset="0"/>
              </a:rPr>
              <a:t>. </a:t>
            </a:r>
          </a:p>
        </p:txBody>
      </p:sp>
      <p:sp>
        <p:nvSpPr>
          <p:cNvPr id="17411" name="Rectangle 3"/>
          <p:cNvSpPr>
            <a:spLocks noChangeArrowheads="1"/>
          </p:cNvSpPr>
          <p:nvPr/>
        </p:nvSpPr>
        <p:spPr bwMode="auto">
          <a:xfrm>
            <a:off x="533400" y="152400"/>
            <a:ext cx="8229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2400" dirty="0">
                <a:solidFill>
                  <a:schemeClr val="bg2"/>
                </a:solidFill>
                <a:latin typeface="Arial" panose="020B0604020202020204" pitchFamily="34" charset="0"/>
              </a:rPr>
              <a:t>Bandwidth requirement for Common Analog Systems</a:t>
            </a:r>
          </a:p>
        </p:txBody>
      </p:sp>
      <p:pic>
        <p:nvPicPr>
          <p:cNvPr id="17414" name="Picture 6"/>
          <p:cNvPicPr>
            <a:picLocks noChangeAspect="1" noChangeArrowheads="1"/>
          </p:cNvPicPr>
          <p:nvPr/>
        </p:nvPicPr>
        <p:blipFill>
          <a:blip r:embed="rId3" cstate="print"/>
          <a:srcRect/>
          <a:stretch>
            <a:fillRect/>
          </a:stretch>
        </p:blipFill>
        <p:spPr bwMode="auto">
          <a:xfrm>
            <a:off x="838200" y="1981200"/>
            <a:ext cx="3564693" cy="2057400"/>
          </a:xfrm>
          <a:prstGeom prst="rect">
            <a:avLst/>
          </a:prstGeom>
          <a:noFill/>
          <a:ln w="9525">
            <a:noFill/>
            <a:miter lim="800000"/>
            <a:headEnd/>
            <a:tailEnd/>
          </a:ln>
        </p:spPr>
      </p:pic>
      <p:sp>
        <p:nvSpPr>
          <p:cNvPr id="6" name="Rectangle 5"/>
          <p:cNvSpPr/>
          <p:nvPr/>
        </p:nvSpPr>
        <p:spPr>
          <a:xfrm>
            <a:off x="3505200" y="4191000"/>
            <a:ext cx="1696298" cy="461665"/>
          </a:xfrm>
          <a:prstGeom prst="rect">
            <a:avLst/>
          </a:prstGeom>
        </p:spPr>
        <p:txBody>
          <a:bodyPr wrap="none">
            <a:spAutoFit/>
          </a:bodyPr>
          <a:lstStyle/>
          <a:p>
            <a:r>
              <a:rPr lang="en-US" dirty="0">
                <a:solidFill>
                  <a:schemeClr val="bg2"/>
                </a:solidFill>
              </a:rPr>
              <a:t>Bandwidth: </a:t>
            </a:r>
          </a:p>
        </p:txBody>
      </p:sp>
      <p:pic>
        <p:nvPicPr>
          <p:cNvPr id="17419" name="Picture 11"/>
          <p:cNvPicPr>
            <a:picLocks noChangeAspect="1" noChangeArrowheads="1"/>
          </p:cNvPicPr>
          <p:nvPr/>
        </p:nvPicPr>
        <p:blipFill>
          <a:blip r:embed="rId4" cstate="print"/>
          <a:srcRect/>
          <a:stretch>
            <a:fillRect/>
          </a:stretch>
        </p:blipFill>
        <p:spPr bwMode="auto">
          <a:xfrm>
            <a:off x="5105400" y="1676400"/>
            <a:ext cx="3439500" cy="2045622"/>
          </a:xfrm>
          <a:prstGeom prst="rect">
            <a:avLst/>
          </a:prstGeom>
          <a:noFill/>
          <a:ln w="9525">
            <a:noFill/>
            <a:miter lim="800000"/>
            <a:headEnd/>
            <a:tailEnd/>
          </a:ln>
        </p:spPr>
      </p:pic>
      <p:sp>
        <p:nvSpPr>
          <p:cNvPr id="10" name="Rectangle 9"/>
          <p:cNvSpPr/>
          <p:nvPr/>
        </p:nvSpPr>
        <p:spPr>
          <a:xfrm>
            <a:off x="685800" y="4648200"/>
            <a:ext cx="8305800" cy="1938992"/>
          </a:xfrm>
          <a:prstGeom prst="rect">
            <a:avLst/>
          </a:prstGeom>
        </p:spPr>
        <p:txBody>
          <a:bodyPr wrap="square">
            <a:spAutoFit/>
          </a:bodyPr>
          <a:lstStyle/>
          <a:p>
            <a:pPr>
              <a:buFont typeface="Wingdings" pitchFamily="2" charset="2"/>
              <a:buChar char="Ø"/>
            </a:pPr>
            <a:r>
              <a:rPr lang="en-US" dirty="0">
                <a:solidFill>
                  <a:schemeClr val="bg2"/>
                </a:solidFill>
              </a:rPr>
              <a:t>Bandwidth is a maximum transmission rate of a communications channel. </a:t>
            </a:r>
          </a:p>
          <a:p>
            <a:pPr>
              <a:buFont typeface="Wingdings" pitchFamily="2" charset="2"/>
              <a:buChar char="Ø"/>
            </a:pPr>
            <a:r>
              <a:rPr lang="en-US" dirty="0">
                <a:solidFill>
                  <a:schemeClr val="bg2"/>
                </a:solidFill>
              </a:rPr>
              <a:t>Measure in bits per second (bps)</a:t>
            </a:r>
          </a:p>
          <a:p>
            <a:pPr>
              <a:buFont typeface="Wingdings" pitchFamily="2" charset="2"/>
              <a:buChar char="Ø"/>
            </a:pPr>
            <a:r>
              <a:rPr lang="en-US" dirty="0">
                <a:solidFill>
                  <a:schemeClr val="bg2"/>
                </a:solidFill>
              </a:rPr>
              <a:t>Kbps, Mbps, </a:t>
            </a:r>
            <a:r>
              <a:rPr lang="en-US" dirty="0" err="1">
                <a:solidFill>
                  <a:schemeClr val="bg2"/>
                </a:solidFill>
              </a:rPr>
              <a:t>Gbps</a:t>
            </a:r>
            <a:endParaRPr lang="en-US" dirty="0">
              <a:solidFill>
                <a:schemeClr val="bg2"/>
              </a:solidFill>
            </a:endParaRPr>
          </a:p>
          <a:p>
            <a:pPr>
              <a:buFont typeface="Wingdings" pitchFamily="2" charset="2"/>
              <a:buChar char="Ø"/>
            </a:pPr>
            <a:r>
              <a:rPr lang="en-US" dirty="0">
                <a:solidFill>
                  <a:schemeClr val="bg2"/>
                </a:solidFill>
              </a:rPr>
              <a:t>A measure of the capacity of communication channel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533400" y="914400"/>
            <a:ext cx="8077200" cy="171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lnSpc>
                <a:spcPct val="110000"/>
              </a:lnSpc>
              <a:spcBef>
                <a:spcPct val="0"/>
              </a:spcBef>
              <a:buClrTx/>
              <a:buSzTx/>
              <a:buFontTx/>
              <a:buNone/>
            </a:pPr>
            <a:r>
              <a:rPr lang="en-US" altLang="en-US" sz="2400" dirty="0">
                <a:solidFill>
                  <a:schemeClr val="bg2"/>
                </a:solidFill>
                <a:latin typeface="Arial" panose="020B0604020202020204" pitchFamily="34" charset="0"/>
              </a:rPr>
              <a:t>When analog signals are transmitted digitally, the bit rate depends on the </a:t>
            </a:r>
          </a:p>
          <a:p>
            <a:pPr algn="just" eaLnBrk="1" hangingPunct="1">
              <a:lnSpc>
                <a:spcPct val="110000"/>
              </a:lnSpc>
              <a:spcBef>
                <a:spcPct val="0"/>
              </a:spcBef>
              <a:buClrTx/>
              <a:buSzTx/>
              <a:buFont typeface="Wingdings" pitchFamily="2" charset="2"/>
              <a:buChar char="Ø"/>
            </a:pPr>
            <a:r>
              <a:rPr lang="en-US" altLang="en-US" sz="2400" dirty="0">
                <a:solidFill>
                  <a:schemeClr val="bg2"/>
                </a:solidFill>
                <a:latin typeface="Arial" panose="020B0604020202020204" pitchFamily="34" charset="0"/>
              </a:rPr>
              <a:t>rate at which the analog signal is sampled</a:t>
            </a:r>
          </a:p>
          <a:p>
            <a:pPr algn="just" eaLnBrk="1" hangingPunct="1">
              <a:lnSpc>
                <a:spcPct val="110000"/>
              </a:lnSpc>
              <a:spcBef>
                <a:spcPct val="0"/>
              </a:spcBef>
              <a:buClrTx/>
              <a:buSzTx/>
              <a:buFont typeface="Wingdings" pitchFamily="2" charset="2"/>
              <a:buChar char="Ø"/>
            </a:pPr>
            <a:r>
              <a:rPr lang="en-US" altLang="en-US" sz="2400" dirty="0">
                <a:solidFill>
                  <a:schemeClr val="bg2"/>
                </a:solidFill>
                <a:latin typeface="Arial" panose="020B0604020202020204" pitchFamily="34" charset="0"/>
              </a:rPr>
              <a:t>the coding scheme. </a:t>
            </a:r>
          </a:p>
        </p:txBody>
      </p:sp>
      <p:sp>
        <p:nvSpPr>
          <p:cNvPr id="59395" name="Text Box 3"/>
          <p:cNvSpPr txBox="1">
            <a:spLocks noChangeArrowheads="1"/>
          </p:cNvSpPr>
          <p:nvPr/>
        </p:nvSpPr>
        <p:spPr bwMode="auto">
          <a:xfrm>
            <a:off x="838200" y="152400"/>
            <a:ext cx="7391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sz="4400" dirty="0">
                <a:solidFill>
                  <a:schemeClr val="tx2"/>
                </a:solidFill>
                <a:effectLst>
                  <a:outerShdw blurRad="38100" dist="38100" dir="2700000" algn="tl">
                    <a:srgbClr val="000000"/>
                  </a:outerShdw>
                </a:effectLst>
                <a:latin typeface="Arial" charset="0"/>
              </a:rPr>
              <a:t>Sampling</a:t>
            </a:r>
            <a:r>
              <a:rPr lang="en-US" sz="4400" b="1" dirty="0">
                <a:latin typeface="Arial" charset="0"/>
              </a:rPr>
              <a:t> </a:t>
            </a:r>
            <a:endParaRPr lang="en-US" sz="6000" b="1" dirty="0">
              <a:latin typeface="Arial" charset="0"/>
            </a:endParaRPr>
          </a:p>
        </p:txBody>
      </p:sp>
      <p:sp>
        <p:nvSpPr>
          <p:cNvPr id="17412" name="Text Box 4"/>
          <p:cNvSpPr txBox="1">
            <a:spLocks noChangeArrowheads="1"/>
          </p:cNvSpPr>
          <p:nvPr/>
        </p:nvSpPr>
        <p:spPr bwMode="auto">
          <a:xfrm>
            <a:off x="457200" y="2514600"/>
            <a:ext cx="78486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lnSpc>
                <a:spcPct val="120000"/>
              </a:lnSpc>
              <a:spcBef>
                <a:spcPct val="0"/>
              </a:spcBef>
              <a:buClrTx/>
              <a:buSzTx/>
              <a:buFontTx/>
              <a:buNone/>
            </a:pPr>
            <a:r>
              <a:rPr lang="en-US" altLang="en-US" sz="2300" b="1" dirty="0">
                <a:solidFill>
                  <a:schemeClr val="bg2"/>
                </a:solidFill>
                <a:latin typeface="Arial" panose="020B0604020202020204" pitchFamily="34" charset="0"/>
              </a:rPr>
              <a:t>Why the standard 4-kHz telephone channel is sampled 8000 times a second?</a:t>
            </a:r>
          </a:p>
          <a:p>
            <a:pPr algn="just" eaLnBrk="1" hangingPunct="1">
              <a:lnSpc>
                <a:spcPct val="120000"/>
              </a:lnSpc>
              <a:spcBef>
                <a:spcPct val="0"/>
              </a:spcBef>
              <a:buClrTx/>
              <a:buSzTx/>
              <a:buFont typeface="Wingdings" pitchFamily="2" charset="2"/>
              <a:buChar char="Ø"/>
            </a:pPr>
            <a:r>
              <a:rPr lang="en-US" altLang="en-US" sz="2300" dirty="0">
                <a:solidFill>
                  <a:schemeClr val="bg2"/>
                </a:solidFill>
                <a:latin typeface="Arial" panose="020B0604020202020204" pitchFamily="34" charset="0"/>
              </a:rPr>
              <a:t>To transmit the signal accurately, the signal should be sampled at a rate of at least twice the highest frequency contained in that signal. </a:t>
            </a:r>
          </a:p>
          <a:p>
            <a:pPr algn="just" eaLnBrk="1" hangingPunct="1">
              <a:lnSpc>
                <a:spcPct val="120000"/>
              </a:lnSpc>
              <a:spcBef>
                <a:spcPct val="0"/>
              </a:spcBef>
              <a:buClrTx/>
              <a:buSzTx/>
              <a:buFont typeface="Wingdings" pitchFamily="2" charset="2"/>
              <a:buChar char="Ø"/>
            </a:pPr>
            <a:r>
              <a:rPr lang="en-US" altLang="en-US" sz="2300" dirty="0">
                <a:solidFill>
                  <a:schemeClr val="bg2"/>
                </a:solidFill>
                <a:latin typeface="Arial" panose="020B0604020202020204" pitchFamily="34" charset="0"/>
              </a:rPr>
              <a:t>For this reason the standard 4-kHz telephone channel is sampled 8000 times a second.</a:t>
            </a:r>
          </a:p>
          <a:p>
            <a:pPr algn="just" eaLnBrk="1" hangingPunct="1">
              <a:lnSpc>
                <a:spcPct val="120000"/>
              </a:lnSpc>
              <a:spcBef>
                <a:spcPct val="0"/>
              </a:spcBef>
              <a:buClrTx/>
              <a:buSzTx/>
              <a:buFont typeface="Wingdings" pitchFamily="2" charset="2"/>
              <a:buChar char="Ø"/>
            </a:pPr>
            <a:r>
              <a:rPr lang="en-US" altLang="en-US" sz="2300" dirty="0">
                <a:solidFill>
                  <a:schemeClr val="bg2"/>
                </a:solidFill>
                <a:latin typeface="Arial" panose="020B0604020202020204" pitchFamily="34" charset="0"/>
              </a:rPr>
              <a:t>The coding procedure uses 8 bit to present amplitude of each sample</a:t>
            </a:r>
          </a:p>
          <a:p>
            <a:pPr algn="just" eaLnBrk="1" hangingPunct="1">
              <a:lnSpc>
                <a:spcPct val="120000"/>
              </a:lnSpc>
              <a:spcBef>
                <a:spcPct val="0"/>
              </a:spcBef>
              <a:buClrTx/>
              <a:buSzTx/>
              <a:buFont typeface="Wingdings" pitchFamily="2" charset="2"/>
              <a:buChar char="Ø"/>
            </a:pPr>
            <a:r>
              <a:rPr lang="en-US" altLang="en-US" sz="2300" dirty="0">
                <a:solidFill>
                  <a:schemeClr val="bg2"/>
                </a:solidFill>
                <a:latin typeface="Arial" panose="020B0604020202020204" pitchFamily="34" charset="0"/>
              </a:rPr>
              <a:t>So a single telephone message needs 64,000 bps.</a:t>
            </a:r>
          </a:p>
          <a:p>
            <a:pPr algn="just" eaLnBrk="1" hangingPunct="1">
              <a:lnSpc>
                <a:spcPct val="120000"/>
              </a:lnSpc>
              <a:spcBef>
                <a:spcPct val="0"/>
              </a:spcBef>
              <a:buClrTx/>
              <a:buSzTx/>
              <a:buFont typeface="Wingdings" pitchFamily="2" charset="2"/>
              <a:buChar char="Ø"/>
            </a:pPr>
            <a:endParaRPr lang="en-US" altLang="en-US" sz="2400" dirty="0">
              <a:solidFill>
                <a:schemeClr val="bg2"/>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nodeType="clickEffect">
                                  <p:stCondLst>
                                    <p:cond delay="0"/>
                                  </p:stCondLst>
                                  <p:childTnLst>
                                    <p:set>
                                      <p:cBhvr>
                                        <p:cTn id="6" dur="1" fill="hold">
                                          <p:stCondLst>
                                            <p:cond delay="0"/>
                                          </p:stCondLst>
                                        </p:cTn>
                                        <p:tgtEl>
                                          <p:spTgt spid="17412">
                                            <p:txEl>
                                              <p:pRg st="1" end="1"/>
                                            </p:txEl>
                                          </p:spTgt>
                                        </p:tgtEl>
                                        <p:attrNameLst>
                                          <p:attrName>style.visibility</p:attrName>
                                        </p:attrNameLst>
                                      </p:cBhvr>
                                      <p:to>
                                        <p:strVal val="visible"/>
                                      </p:to>
                                    </p:set>
                                    <p:animEffect transition="in" filter="fade">
                                      <p:cBhvr>
                                        <p:cTn id="7" dur="1000"/>
                                        <p:tgtEl>
                                          <p:spTgt spid="17412">
                                            <p:txEl>
                                              <p:pRg st="1" end="1"/>
                                            </p:txEl>
                                          </p:spTgt>
                                        </p:tgtEl>
                                      </p:cBhvr>
                                    </p:animEffect>
                                    <p:anim calcmode="lin" valueType="num">
                                      <p:cBhvr>
                                        <p:cTn id="8" dur="1000" fill="hold"/>
                                        <p:tgtEl>
                                          <p:spTgt spid="174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74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7412">
                                            <p:txEl>
                                              <p:pRg st="2" end="2"/>
                                            </p:txEl>
                                          </p:spTgt>
                                        </p:tgtEl>
                                        <p:attrNameLst>
                                          <p:attrName>style.visibility</p:attrName>
                                        </p:attrNameLst>
                                      </p:cBhvr>
                                      <p:to>
                                        <p:strVal val="visible"/>
                                      </p:to>
                                    </p:set>
                                    <p:animEffect transition="in" filter="fade">
                                      <p:cBhvr>
                                        <p:cTn id="14" dur="1000"/>
                                        <p:tgtEl>
                                          <p:spTgt spid="17412">
                                            <p:txEl>
                                              <p:pRg st="2" end="2"/>
                                            </p:txEl>
                                          </p:spTgt>
                                        </p:tgtEl>
                                      </p:cBhvr>
                                    </p:animEffect>
                                    <p:anim calcmode="lin" valueType="num">
                                      <p:cBhvr>
                                        <p:cTn id="15" dur="1000" fill="hold"/>
                                        <p:tgtEl>
                                          <p:spTgt spid="1741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74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17412">
                                            <p:txEl>
                                              <p:pRg st="3" end="3"/>
                                            </p:txEl>
                                          </p:spTgt>
                                        </p:tgtEl>
                                        <p:attrNameLst>
                                          <p:attrName>style.visibility</p:attrName>
                                        </p:attrNameLst>
                                      </p:cBhvr>
                                      <p:to>
                                        <p:strVal val="visible"/>
                                      </p:to>
                                    </p:set>
                                    <p:animEffect transition="in" filter="fade">
                                      <p:cBhvr>
                                        <p:cTn id="21" dur="1000"/>
                                        <p:tgtEl>
                                          <p:spTgt spid="17412">
                                            <p:txEl>
                                              <p:pRg st="3" end="3"/>
                                            </p:txEl>
                                          </p:spTgt>
                                        </p:tgtEl>
                                      </p:cBhvr>
                                    </p:animEffect>
                                    <p:anim calcmode="lin" valueType="num">
                                      <p:cBhvr>
                                        <p:cTn id="22" dur="1000" fill="hold"/>
                                        <p:tgtEl>
                                          <p:spTgt spid="17412">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74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17412">
                                            <p:txEl>
                                              <p:pRg st="4" end="4"/>
                                            </p:txEl>
                                          </p:spTgt>
                                        </p:tgtEl>
                                        <p:attrNameLst>
                                          <p:attrName>style.visibility</p:attrName>
                                        </p:attrNameLst>
                                      </p:cBhvr>
                                      <p:to>
                                        <p:strVal val="visible"/>
                                      </p:to>
                                    </p:set>
                                    <p:animEffect transition="in" filter="fade">
                                      <p:cBhvr>
                                        <p:cTn id="28" dur="1000"/>
                                        <p:tgtEl>
                                          <p:spTgt spid="17412">
                                            <p:txEl>
                                              <p:pRg st="4" end="4"/>
                                            </p:txEl>
                                          </p:spTgt>
                                        </p:tgtEl>
                                      </p:cBhvr>
                                    </p:animEffect>
                                    <p:anim calcmode="lin" valueType="num">
                                      <p:cBhvr>
                                        <p:cTn id="29" dur="1000" fill="hold"/>
                                        <p:tgtEl>
                                          <p:spTgt spid="1741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741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5" name="Text Box 3"/>
          <p:cNvSpPr txBox="1">
            <a:spLocks noChangeArrowheads="1"/>
          </p:cNvSpPr>
          <p:nvPr/>
        </p:nvSpPr>
        <p:spPr bwMode="auto">
          <a:xfrm>
            <a:off x="838200" y="152400"/>
            <a:ext cx="77724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400" dirty="0">
                <a:solidFill>
                  <a:schemeClr val="tx2"/>
                </a:solidFill>
                <a:effectLst>
                  <a:outerShdw blurRad="38100" dist="38100" dir="2700000" algn="tl">
                    <a:srgbClr val="000000"/>
                  </a:outerShdw>
                </a:effectLst>
                <a:latin typeface="Arial" charset="0"/>
              </a:rPr>
              <a:t>Data Rates of the Telephone Systems in the USA</a:t>
            </a:r>
            <a:r>
              <a:rPr lang="en-US" sz="4400" b="1" dirty="0">
                <a:latin typeface="Arial" charset="0"/>
              </a:rPr>
              <a:t> </a:t>
            </a:r>
            <a:endParaRPr lang="en-US" sz="6000" b="1" dirty="0">
              <a:latin typeface="Arial" charset="0"/>
            </a:endParaRPr>
          </a:p>
        </p:txBody>
      </p:sp>
      <p:sp>
        <p:nvSpPr>
          <p:cNvPr id="17412" name="Text Box 4"/>
          <p:cNvSpPr txBox="1">
            <a:spLocks noChangeArrowheads="1"/>
          </p:cNvSpPr>
          <p:nvPr/>
        </p:nvSpPr>
        <p:spPr bwMode="auto">
          <a:xfrm>
            <a:off x="609600" y="4038600"/>
            <a:ext cx="78486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120000"/>
              </a:lnSpc>
              <a:spcBef>
                <a:spcPct val="0"/>
              </a:spcBef>
              <a:buClrTx/>
              <a:buSzTx/>
              <a:buFont typeface="Wingdings" pitchFamily="2" charset="2"/>
              <a:buChar char="Ø"/>
            </a:pPr>
            <a:r>
              <a:rPr lang="en-US" altLang="en-US" sz="2400" dirty="0">
                <a:solidFill>
                  <a:schemeClr val="bg2"/>
                </a:solidFill>
                <a:latin typeface="Arial" panose="020B0604020202020204" pitchFamily="34" charset="0"/>
              </a:rPr>
              <a:t>A single voice channel needs 64 Kbps.</a:t>
            </a:r>
          </a:p>
          <a:p>
            <a:pPr eaLnBrk="1" hangingPunct="1">
              <a:lnSpc>
                <a:spcPct val="120000"/>
              </a:lnSpc>
              <a:spcBef>
                <a:spcPct val="0"/>
              </a:spcBef>
              <a:buClrTx/>
              <a:buSzTx/>
              <a:buFont typeface="Wingdings" pitchFamily="2" charset="2"/>
              <a:buChar char="Ø"/>
            </a:pPr>
            <a:r>
              <a:rPr lang="en-US" altLang="en-US" sz="2400" dirty="0">
                <a:solidFill>
                  <a:schemeClr val="bg2"/>
                </a:solidFill>
                <a:latin typeface="Arial" panose="020B0604020202020204" pitchFamily="34" charset="0"/>
              </a:rPr>
              <a:t>A T1 line can carry 24 voice channels or digital data rate of 1.544 Mbps.</a:t>
            </a:r>
          </a:p>
          <a:p>
            <a:pPr eaLnBrk="1" hangingPunct="1">
              <a:lnSpc>
                <a:spcPct val="120000"/>
              </a:lnSpc>
              <a:spcBef>
                <a:spcPct val="0"/>
              </a:spcBef>
              <a:buClrTx/>
              <a:buSzTx/>
              <a:buFont typeface="Wingdings" pitchFamily="2" charset="2"/>
              <a:buChar char="Ø"/>
            </a:pPr>
            <a:r>
              <a:rPr lang="en-US" altLang="en-US" sz="2400" dirty="0">
                <a:solidFill>
                  <a:schemeClr val="bg2"/>
                </a:solidFill>
                <a:latin typeface="Arial" panose="020B0604020202020204" pitchFamily="34" charset="0"/>
              </a:rPr>
              <a:t>Traditional T1 line use 2 twisted pair copper wires.</a:t>
            </a:r>
          </a:p>
          <a:p>
            <a:pPr eaLnBrk="1" hangingPunct="1">
              <a:lnSpc>
                <a:spcPct val="120000"/>
              </a:lnSpc>
              <a:spcBef>
                <a:spcPct val="0"/>
              </a:spcBef>
              <a:buClrTx/>
              <a:buSzTx/>
              <a:buFont typeface="Wingdings" pitchFamily="2" charset="2"/>
              <a:buChar char="Ø"/>
            </a:pPr>
            <a:r>
              <a:rPr lang="en-US" altLang="en-US" sz="2400" dirty="0">
                <a:solidFill>
                  <a:schemeClr val="bg2"/>
                </a:solidFill>
                <a:latin typeface="Arial" panose="020B0604020202020204" pitchFamily="34" charset="0"/>
              </a:rPr>
              <a:t>A T1 line can transmit data at a speed of 1.544 Mbps</a:t>
            </a:r>
          </a:p>
        </p:txBody>
      </p:sp>
      <p:pic>
        <p:nvPicPr>
          <p:cNvPr id="98306" name="Picture 2"/>
          <p:cNvPicPr>
            <a:picLocks noChangeAspect="1" noChangeArrowheads="1"/>
          </p:cNvPicPr>
          <p:nvPr/>
        </p:nvPicPr>
        <p:blipFill>
          <a:blip r:embed="rId3" cstate="print"/>
          <a:srcRect/>
          <a:stretch>
            <a:fillRect/>
          </a:stretch>
        </p:blipFill>
        <p:spPr bwMode="auto">
          <a:xfrm>
            <a:off x="990600" y="1752600"/>
            <a:ext cx="6305550" cy="236183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7412">
                                            <p:txEl>
                                              <p:pRg st="0" end="0"/>
                                            </p:txEl>
                                          </p:spTgt>
                                        </p:tgtEl>
                                        <p:attrNameLst>
                                          <p:attrName>style.visibility</p:attrName>
                                        </p:attrNameLst>
                                      </p:cBhvr>
                                      <p:to>
                                        <p:strVal val="visible"/>
                                      </p:to>
                                    </p:set>
                                    <p:animEffect transition="in" filter="fade">
                                      <p:cBhvr>
                                        <p:cTn id="7" dur="1000"/>
                                        <p:tgtEl>
                                          <p:spTgt spid="17412">
                                            <p:txEl>
                                              <p:pRg st="0" end="0"/>
                                            </p:txEl>
                                          </p:spTgt>
                                        </p:tgtEl>
                                      </p:cBhvr>
                                    </p:animEffect>
                                    <p:anim calcmode="lin" valueType="num">
                                      <p:cBhvr>
                                        <p:cTn id="8" dur="1000" fill="hold"/>
                                        <p:tgtEl>
                                          <p:spTgt spid="174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4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17412">
                                            <p:txEl>
                                              <p:pRg st="1" end="1"/>
                                            </p:txEl>
                                          </p:spTgt>
                                        </p:tgtEl>
                                        <p:attrNameLst>
                                          <p:attrName>style.visibility</p:attrName>
                                        </p:attrNameLst>
                                      </p:cBhvr>
                                      <p:to>
                                        <p:strVal val="visible"/>
                                      </p:to>
                                    </p:set>
                                    <p:animEffect transition="in" filter="fade">
                                      <p:cBhvr>
                                        <p:cTn id="14" dur="1000"/>
                                        <p:tgtEl>
                                          <p:spTgt spid="17412">
                                            <p:txEl>
                                              <p:pRg st="1" end="1"/>
                                            </p:txEl>
                                          </p:spTgt>
                                        </p:tgtEl>
                                      </p:cBhvr>
                                    </p:animEffect>
                                    <p:anim calcmode="lin" valueType="num">
                                      <p:cBhvr>
                                        <p:cTn id="15" dur="1000" fill="hold"/>
                                        <p:tgtEl>
                                          <p:spTgt spid="1741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4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17412">
                                            <p:txEl>
                                              <p:pRg st="2" end="2"/>
                                            </p:txEl>
                                          </p:spTgt>
                                        </p:tgtEl>
                                        <p:attrNameLst>
                                          <p:attrName>style.visibility</p:attrName>
                                        </p:attrNameLst>
                                      </p:cBhvr>
                                      <p:to>
                                        <p:strVal val="visible"/>
                                      </p:to>
                                    </p:set>
                                    <p:animEffect transition="in" filter="fade">
                                      <p:cBhvr>
                                        <p:cTn id="21" dur="1000"/>
                                        <p:tgtEl>
                                          <p:spTgt spid="17412">
                                            <p:txEl>
                                              <p:pRg st="2" end="2"/>
                                            </p:txEl>
                                          </p:spTgt>
                                        </p:tgtEl>
                                      </p:cBhvr>
                                    </p:animEffect>
                                    <p:anim calcmode="lin" valueType="num">
                                      <p:cBhvr>
                                        <p:cTn id="22" dur="1000" fill="hold"/>
                                        <p:tgtEl>
                                          <p:spTgt spid="1741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4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17412">
                                            <p:txEl>
                                              <p:pRg st="3" end="3"/>
                                            </p:txEl>
                                          </p:spTgt>
                                        </p:tgtEl>
                                        <p:attrNameLst>
                                          <p:attrName>style.visibility</p:attrName>
                                        </p:attrNameLst>
                                      </p:cBhvr>
                                      <p:to>
                                        <p:strVal val="visible"/>
                                      </p:to>
                                    </p:set>
                                    <p:animEffect transition="in" filter="fade">
                                      <p:cBhvr>
                                        <p:cTn id="28" dur="1000"/>
                                        <p:tgtEl>
                                          <p:spTgt spid="17412">
                                            <p:txEl>
                                              <p:pRg st="3" end="3"/>
                                            </p:txEl>
                                          </p:spTgt>
                                        </p:tgtEl>
                                      </p:cBhvr>
                                    </p:animEffect>
                                    <p:anim calcmode="lin" valueType="num">
                                      <p:cBhvr>
                                        <p:cTn id="29" dur="1000" fill="hold"/>
                                        <p:tgtEl>
                                          <p:spTgt spid="1741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4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5" name="Text Box 3"/>
          <p:cNvSpPr txBox="1">
            <a:spLocks noChangeArrowheads="1"/>
          </p:cNvSpPr>
          <p:nvPr/>
        </p:nvSpPr>
        <p:spPr bwMode="auto">
          <a:xfrm>
            <a:off x="838200" y="152400"/>
            <a:ext cx="7772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400" dirty="0">
                <a:solidFill>
                  <a:schemeClr val="tx2"/>
                </a:solidFill>
                <a:effectLst>
                  <a:outerShdw blurRad="38100" dist="38100" dir="2700000" algn="tl">
                    <a:srgbClr val="000000"/>
                  </a:outerShdw>
                </a:effectLst>
                <a:latin typeface="Arial" charset="0"/>
              </a:rPr>
              <a:t>SONET/SDH</a:t>
            </a:r>
            <a:endParaRPr lang="en-US" sz="6000" b="1" dirty="0">
              <a:latin typeface="Arial" charset="0"/>
            </a:endParaRPr>
          </a:p>
        </p:txBody>
      </p:sp>
      <p:sp>
        <p:nvSpPr>
          <p:cNvPr id="5" name="Rectangle 4"/>
          <p:cNvSpPr/>
          <p:nvPr/>
        </p:nvSpPr>
        <p:spPr>
          <a:xfrm>
            <a:off x="533400" y="990600"/>
            <a:ext cx="8001000" cy="2677656"/>
          </a:xfrm>
          <a:prstGeom prst="rect">
            <a:avLst/>
          </a:prstGeom>
        </p:spPr>
        <p:txBody>
          <a:bodyPr wrap="square">
            <a:spAutoFit/>
          </a:bodyPr>
          <a:lstStyle/>
          <a:p>
            <a:pPr>
              <a:buFont typeface="Wingdings" pitchFamily="2" charset="2"/>
              <a:buChar char="Ø"/>
            </a:pPr>
            <a:r>
              <a:rPr lang="en-US" dirty="0">
                <a:solidFill>
                  <a:schemeClr val="bg2"/>
                </a:solidFill>
              </a:rPr>
              <a:t>Synchronous Optical Network (SONET) is a standard for synchronous data transmission on optical fibers.</a:t>
            </a:r>
          </a:p>
          <a:p>
            <a:pPr>
              <a:buFont typeface="Wingdings" pitchFamily="2" charset="2"/>
              <a:buChar char="Ø"/>
            </a:pPr>
            <a:r>
              <a:rPr lang="en-US" dirty="0">
                <a:solidFill>
                  <a:schemeClr val="bg2"/>
                </a:solidFill>
              </a:rPr>
              <a:t>SONET was developed by the Exchange Carriers Standards Association (ECSA) for the American National Standards Institute (</a:t>
            </a:r>
            <a:r>
              <a:rPr lang="en-US" u="sng" dirty="0">
                <a:solidFill>
                  <a:schemeClr val="bg2"/>
                </a:solidFill>
                <a:hlinkClick r:id="rId3"/>
              </a:rPr>
              <a:t>ANSI</a:t>
            </a:r>
            <a:r>
              <a:rPr lang="en-US" dirty="0">
                <a:solidFill>
                  <a:schemeClr val="bg2"/>
                </a:solidFill>
              </a:rPr>
              <a:t>)</a:t>
            </a:r>
          </a:p>
          <a:p>
            <a:pPr>
              <a:buFont typeface="Wingdings" pitchFamily="2" charset="2"/>
              <a:buChar char="Ø"/>
            </a:pPr>
            <a:r>
              <a:rPr lang="en-US" dirty="0">
                <a:solidFill>
                  <a:schemeClr val="bg2"/>
                </a:solidFill>
              </a:rPr>
              <a:t>The ITU-T standard is called the Synchronous Digital Hierarchy (SDH).</a:t>
            </a:r>
          </a:p>
        </p:txBody>
      </p:sp>
      <p:sp>
        <p:nvSpPr>
          <p:cNvPr id="6" name="Rectangle 5"/>
          <p:cNvSpPr/>
          <p:nvPr/>
        </p:nvSpPr>
        <p:spPr>
          <a:xfrm>
            <a:off x="685800" y="3505200"/>
            <a:ext cx="8001000" cy="3231654"/>
          </a:xfrm>
          <a:prstGeom prst="rect">
            <a:avLst/>
          </a:prstGeom>
        </p:spPr>
        <p:txBody>
          <a:bodyPr wrap="square">
            <a:spAutoFit/>
          </a:bodyPr>
          <a:lstStyle/>
          <a:p>
            <a:pPr algn="ctr"/>
            <a:r>
              <a:rPr lang="en-US" dirty="0">
                <a:solidFill>
                  <a:schemeClr val="bg2"/>
                </a:solidFill>
              </a:rPr>
              <a:t>Background:</a:t>
            </a:r>
          </a:p>
          <a:p>
            <a:pPr algn="just"/>
            <a:r>
              <a:rPr lang="en-US" sz="2000" dirty="0">
                <a:solidFill>
                  <a:schemeClr val="bg2"/>
                </a:solidFill>
              </a:rPr>
              <a:t>Before, SONET, the first generations of fiber optic systems in the public telephone network used proprietary architectures, equipment, line codes, multiplexing formats, and maintenance procedures. The user of this equipment-regional Bell operating companies and interexchange carriers (IXCs) in the united States, Canada, Korea, Taiwan, and Hong </a:t>
            </a:r>
            <a:r>
              <a:rPr lang="en-US" sz="2000" dirty="0" err="1">
                <a:solidFill>
                  <a:schemeClr val="bg2"/>
                </a:solidFill>
              </a:rPr>
              <a:t>kong</a:t>
            </a:r>
            <a:r>
              <a:rPr lang="en-US" sz="2000" dirty="0">
                <a:solidFill>
                  <a:schemeClr val="bg2"/>
                </a:solidFill>
              </a:rPr>
              <a:t>-wanted standards so that they could mix and match equipment from different suppliers. The task of creating such a standards was taken up in 1984 by the ECSA to establish a standard for connecting one fiber system to another. This standard is called SONET.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5" name="Text Box 3"/>
          <p:cNvSpPr txBox="1">
            <a:spLocks noChangeArrowheads="1"/>
          </p:cNvSpPr>
          <p:nvPr/>
        </p:nvSpPr>
        <p:spPr bwMode="auto">
          <a:xfrm>
            <a:off x="838200" y="152400"/>
            <a:ext cx="7772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400" dirty="0">
                <a:solidFill>
                  <a:schemeClr val="tx2"/>
                </a:solidFill>
                <a:effectLst>
                  <a:outerShdw blurRad="38100" dist="38100" dir="2700000" algn="tl">
                    <a:srgbClr val="000000"/>
                  </a:outerShdw>
                </a:effectLst>
                <a:latin typeface="Arial" charset="0"/>
              </a:rPr>
              <a:t>SONET VS. SDH</a:t>
            </a:r>
            <a:endParaRPr lang="en-US" sz="6000" b="1" dirty="0">
              <a:latin typeface="Arial" charset="0"/>
            </a:endParaRPr>
          </a:p>
        </p:txBody>
      </p:sp>
      <p:sp>
        <p:nvSpPr>
          <p:cNvPr id="5" name="Rectangle 4"/>
          <p:cNvSpPr/>
          <p:nvPr/>
        </p:nvSpPr>
        <p:spPr>
          <a:xfrm>
            <a:off x="533400" y="990600"/>
            <a:ext cx="8001000" cy="5262979"/>
          </a:xfrm>
          <a:prstGeom prst="rect">
            <a:avLst/>
          </a:prstGeom>
        </p:spPr>
        <p:txBody>
          <a:bodyPr wrap="square">
            <a:spAutoFit/>
          </a:bodyPr>
          <a:lstStyle/>
          <a:p>
            <a:pPr>
              <a:buFont typeface="Wingdings" pitchFamily="2" charset="2"/>
              <a:buChar char="Ø"/>
            </a:pPr>
            <a:r>
              <a:rPr lang="en-US" dirty="0">
                <a:solidFill>
                  <a:schemeClr val="bg2"/>
                </a:solidFill>
              </a:rPr>
              <a:t>Together they are a set of global standards that interface equipment from different vendors.  </a:t>
            </a:r>
          </a:p>
          <a:p>
            <a:pPr>
              <a:buFont typeface="Wingdings" pitchFamily="2" charset="2"/>
              <a:buChar char="Ø"/>
            </a:pPr>
            <a:r>
              <a:rPr lang="en-US" dirty="0">
                <a:solidFill>
                  <a:schemeClr val="bg2"/>
                </a:solidFill>
              </a:rPr>
              <a:t>SDH is basically the international version of SONET, and SONET can be thought of as the North American version of SDH.  </a:t>
            </a:r>
          </a:p>
          <a:p>
            <a:pPr>
              <a:buFont typeface="Wingdings" pitchFamily="2" charset="2"/>
              <a:buChar char="Ø"/>
            </a:pPr>
            <a:r>
              <a:rPr lang="en-US" dirty="0">
                <a:solidFill>
                  <a:schemeClr val="bg2"/>
                </a:solidFill>
              </a:rPr>
              <a:t>The main differences are in the basic SDH and SONET frame formats, but SDH and SONET are essentially identical beyond the STS-3 signal level.  </a:t>
            </a:r>
          </a:p>
          <a:p>
            <a:pPr>
              <a:buFont typeface="Wingdings" pitchFamily="2" charset="2"/>
              <a:buChar char="Ø"/>
            </a:pPr>
            <a:r>
              <a:rPr lang="en-US" dirty="0">
                <a:solidFill>
                  <a:schemeClr val="bg2"/>
                </a:solidFill>
              </a:rPr>
              <a:t>The base signal for SONET is STS-1 and the base signal for SDH is STM-1.  </a:t>
            </a:r>
          </a:p>
          <a:p>
            <a:pPr>
              <a:buFont typeface="Wingdings" pitchFamily="2" charset="2"/>
              <a:buChar char="Ø"/>
            </a:pPr>
            <a:r>
              <a:rPr lang="en-US" dirty="0">
                <a:solidFill>
                  <a:schemeClr val="bg2"/>
                </a:solidFill>
              </a:rPr>
              <a:t>In SDH, both electrical and optical signals are referred to as STM signals. </a:t>
            </a:r>
          </a:p>
          <a:p>
            <a:pPr>
              <a:buFont typeface="Wingdings" pitchFamily="2" charset="2"/>
              <a:buChar char="Ø"/>
            </a:pPr>
            <a:r>
              <a:rPr lang="en-US" dirty="0">
                <a:solidFill>
                  <a:schemeClr val="bg2"/>
                </a:solidFill>
              </a:rPr>
              <a:t> In SONET, however, electrical signals are called STS and optical signals are referred to as OC.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533400" y="1219200"/>
            <a:ext cx="78486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lnSpc>
                <a:spcPct val="150000"/>
              </a:lnSpc>
              <a:spcBef>
                <a:spcPct val="0"/>
              </a:spcBef>
              <a:buClrTx/>
              <a:buSzTx/>
              <a:buFont typeface="Wingdings" pitchFamily="2" charset="2"/>
              <a:buChar char="Ø"/>
            </a:pPr>
            <a:r>
              <a:rPr lang="en-US" altLang="en-US" sz="2400" dirty="0">
                <a:solidFill>
                  <a:schemeClr val="bg2"/>
                </a:solidFill>
                <a:latin typeface="+mn-lt"/>
              </a:rPr>
              <a:t>Reduction in equipment requirements</a:t>
            </a:r>
          </a:p>
          <a:p>
            <a:pPr eaLnBrk="1" hangingPunct="1">
              <a:lnSpc>
                <a:spcPct val="150000"/>
              </a:lnSpc>
              <a:spcBef>
                <a:spcPct val="0"/>
              </a:spcBef>
              <a:buClrTx/>
              <a:buSzTx/>
              <a:buFont typeface="Wingdings" pitchFamily="2" charset="2"/>
              <a:buChar char="Ø"/>
            </a:pPr>
            <a:r>
              <a:rPr lang="en-US" altLang="en-US" sz="2400" dirty="0">
                <a:solidFill>
                  <a:schemeClr val="bg2"/>
                </a:solidFill>
                <a:latin typeface="+mn-lt"/>
              </a:rPr>
              <a:t>Increase in network reliability</a:t>
            </a:r>
          </a:p>
          <a:p>
            <a:pPr eaLnBrk="1" hangingPunct="1">
              <a:lnSpc>
                <a:spcPct val="150000"/>
              </a:lnSpc>
              <a:spcBef>
                <a:spcPct val="0"/>
              </a:spcBef>
              <a:buClrTx/>
              <a:buSzTx/>
              <a:buFont typeface="Wingdings" pitchFamily="2" charset="2"/>
              <a:buChar char="Ø"/>
            </a:pPr>
            <a:r>
              <a:rPr lang="en-US" altLang="en-US" sz="2400" dirty="0">
                <a:solidFill>
                  <a:schemeClr val="bg2"/>
                </a:solidFill>
                <a:latin typeface="+mn-lt"/>
              </a:rPr>
              <a:t>Support of multiple data types (data, voice, and video)</a:t>
            </a:r>
          </a:p>
          <a:p>
            <a:pPr eaLnBrk="1" hangingPunct="1">
              <a:lnSpc>
                <a:spcPct val="150000"/>
              </a:lnSpc>
              <a:spcBef>
                <a:spcPct val="0"/>
              </a:spcBef>
              <a:buClrTx/>
              <a:buSzTx/>
              <a:buFont typeface="Wingdings" pitchFamily="2" charset="2"/>
              <a:buChar char="Ø"/>
            </a:pPr>
            <a:r>
              <a:rPr lang="en-US" altLang="en-US" sz="2400" dirty="0">
                <a:solidFill>
                  <a:schemeClr val="bg2"/>
                </a:solidFill>
                <a:latin typeface="+mn-lt"/>
              </a:rPr>
              <a:t>Can carry high-level protocols such as IP</a:t>
            </a:r>
          </a:p>
          <a:p>
            <a:pPr eaLnBrk="1" hangingPunct="1">
              <a:lnSpc>
                <a:spcPct val="150000"/>
              </a:lnSpc>
              <a:spcBef>
                <a:spcPct val="0"/>
              </a:spcBef>
              <a:buClrTx/>
              <a:buSzTx/>
              <a:buFont typeface="Wingdings" pitchFamily="2" charset="2"/>
              <a:buChar char="Ø"/>
            </a:pPr>
            <a:r>
              <a:rPr lang="en-US" sz="2400" dirty="0">
                <a:solidFill>
                  <a:schemeClr val="bg2"/>
                </a:solidFill>
                <a:latin typeface="+mn-lt"/>
              </a:rPr>
              <a:t>Availability of a set of generic standards that enable products from different vendors to be connected.</a:t>
            </a:r>
          </a:p>
          <a:p>
            <a:pPr eaLnBrk="1" hangingPunct="1">
              <a:lnSpc>
                <a:spcPct val="150000"/>
              </a:lnSpc>
              <a:spcBef>
                <a:spcPct val="0"/>
              </a:spcBef>
              <a:buClrTx/>
              <a:buSzTx/>
              <a:buFont typeface="Wingdings" pitchFamily="2" charset="2"/>
              <a:buChar char="Ø"/>
            </a:pPr>
            <a:r>
              <a:rPr lang="en-US" sz="2400" dirty="0">
                <a:solidFill>
                  <a:schemeClr val="bg2"/>
                </a:solidFill>
                <a:latin typeface="+mn-lt"/>
              </a:rPr>
              <a:t>A flexible architecture capable of future applications, with variety of transmission rates.</a:t>
            </a:r>
          </a:p>
          <a:p>
            <a:pPr eaLnBrk="1" hangingPunct="1">
              <a:lnSpc>
                <a:spcPct val="150000"/>
              </a:lnSpc>
              <a:spcBef>
                <a:spcPct val="0"/>
              </a:spcBef>
              <a:buClrTx/>
              <a:buSzTx/>
              <a:buFont typeface="Wingdings" pitchFamily="2" charset="2"/>
              <a:buChar char="Ø"/>
            </a:pPr>
            <a:r>
              <a:rPr lang="en-US" sz="2400" dirty="0">
                <a:solidFill>
                  <a:schemeClr val="bg2"/>
                </a:solidFill>
                <a:latin typeface="+mn-lt"/>
              </a:rPr>
              <a:t>To accommodate existing signal structure</a:t>
            </a:r>
          </a:p>
          <a:p>
            <a:pPr eaLnBrk="1" hangingPunct="1">
              <a:lnSpc>
                <a:spcPct val="120000"/>
              </a:lnSpc>
              <a:spcBef>
                <a:spcPct val="0"/>
              </a:spcBef>
              <a:buClrTx/>
              <a:buSzTx/>
              <a:buNone/>
            </a:pPr>
            <a:endParaRPr lang="en-US" altLang="en-US" sz="2400" dirty="0">
              <a:solidFill>
                <a:schemeClr val="bg2"/>
              </a:solidFill>
              <a:latin typeface="Arial" panose="020B0604020202020204" pitchFamily="34" charset="0"/>
            </a:endParaRPr>
          </a:p>
        </p:txBody>
      </p:sp>
      <p:sp>
        <p:nvSpPr>
          <p:cNvPr id="7" name="Text Box 3"/>
          <p:cNvSpPr txBox="1">
            <a:spLocks noChangeArrowheads="1"/>
          </p:cNvSpPr>
          <p:nvPr/>
        </p:nvSpPr>
        <p:spPr bwMode="auto">
          <a:xfrm>
            <a:off x="685800" y="152400"/>
            <a:ext cx="7772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400" dirty="0">
                <a:solidFill>
                  <a:schemeClr val="tx2"/>
                </a:solidFill>
                <a:effectLst>
                  <a:outerShdw blurRad="38100" dist="38100" dir="2700000" algn="tl">
                    <a:srgbClr val="000000"/>
                  </a:outerShdw>
                </a:effectLst>
                <a:latin typeface="Arial" charset="0"/>
              </a:rPr>
              <a:t>Why SONET/SDH</a:t>
            </a:r>
            <a:endParaRPr lang="en-US" sz="6000" b="1"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fade">
                                      <p:cBhvr>
                                        <p:cTn id="42" dur="1000"/>
                                        <p:tgtEl>
                                          <p:spTgt spid="6">
                                            <p:txEl>
                                              <p:pRg st="5" end="5"/>
                                            </p:txEl>
                                          </p:spTgt>
                                        </p:tgtEl>
                                      </p:cBhvr>
                                    </p:animEffect>
                                    <p:anim calcmode="lin" valueType="num">
                                      <p:cBhvr>
                                        <p:cTn id="4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fade">
                                      <p:cBhvr>
                                        <p:cTn id="49" dur="1000"/>
                                        <p:tgtEl>
                                          <p:spTgt spid="6">
                                            <p:txEl>
                                              <p:pRg st="6" end="6"/>
                                            </p:txEl>
                                          </p:spTgt>
                                        </p:tgtEl>
                                      </p:cBhvr>
                                    </p:animEffect>
                                    <p:anim calcmode="lin" valueType="num">
                                      <p:cBhvr>
                                        <p:cTn id="5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609600" y="914400"/>
            <a:ext cx="80010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 typeface="Wingdings" pitchFamily="2" charset="2"/>
              <a:buChar char="Ø"/>
            </a:pPr>
            <a:r>
              <a:rPr lang="en-US" sz="2200" dirty="0">
                <a:solidFill>
                  <a:schemeClr val="bg2"/>
                </a:solidFill>
              </a:rPr>
              <a:t>SONET defines a hierarchy of electrical signaling levels called synchronous transport signals (STSs).  </a:t>
            </a:r>
          </a:p>
          <a:p>
            <a:pPr eaLnBrk="1" hangingPunct="1">
              <a:spcBef>
                <a:spcPct val="0"/>
              </a:spcBef>
              <a:buClrTx/>
              <a:buSzTx/>
              <a:buFont typeface="Wingdings" pitchFamily="2" charset="2"/>
              <a:buChar char="Ø"/>
            </a:pPr>
            <a:r>
              <a:rPr lang="en-US" sz="2200" dirty="0">
                <a:solidFill>
                  <a:schemeClr val="bg2"/>
                </a:solidFill>
              </a:rPr>
              <a:t>Each STS level (STS-1 to STS- 768) supports a certain data rate, specified in megabits per second (see table in next slide).</a:t>
            </a:r>
          </a:p>
          <a:p>
            <a:pPr eaLnBrk="1" hangingPunct="1">
              <a:spcBef>
                <a:spcPct val="0"/>
              </a:spcBef>
              <a:buClrTx/>
              <a:buSzTx/>
              <a:buFont typeface="Wingdings" pitchFamily="2" charset="2"/>
              <a:buChar char="Ø"/>
            </a:pPr>
            <a:r>
              <a:rPr lang="en-US" sz="2200" dirty="0">
                <a:solidFill>
                  <a:schemeClr val="bg2"/>
                </a:solidFill>
              </a:rPr>
              <a:t>The corresponding optical signals are called optical carriers (OCs).  </a:t>
            </a:r>
          </a:p>
          <a:p>
            <a:pPr eaLnBrk="1" hangingPunct="1">
              <a:spcBef>
                <a:spcPct val="0"/>
              </a:spcBef>
              <a:buClrTx/>
              <a:buSzTx/>
              <a:buFont typeface="Wingdings" pitchFamily="2" charset="2"/>
              <a:buChar char="Ø"/>
            </a:pPr>
            <a:r>
              <a:rPr lang="en-US" sz="2200" dirty="0">
                <a:solidFill>
                  <a:schemeClr val="bg2"/>
                </a:solidFill>
              </a:rPr>
              <a:t>SDH specifies a similar system called a synchronous transport module (STM). </a:t>
            </a:r>
          </a:p>
          <a:p>
            <a:pPr eaLnBrk="1" hangingPunct="1">
              <a:spcBef>
                <a:spcPct val="0"/>
              </a:spcBef>
              <a:buClrTx/>
              <a:buSzTx/>
              <a:buFont typeface="Wingdings" pitchFamily="2" charset="2"/>
              <a:buChar char="Ø"/>
            </a:pPr>
            <a:r>
              <a:rPr lang="en-US" sz="2200" dirty="0">
                <a:solidFill>
                  <a:schemeClr val="bg2"/>
                </a:solidFill>
              </a:rPr>
              <a:t> STM is compatible with existing European hierarchies, such as E-lines, and with STS levels.  </a:t>
            </a:r>
          </a:p>
          <a:p>
            <a:pPr eaLnBrk="1" hangingPunct="1">
              <a:spcBef>
                <a:spcPct val="0"/>
              </a:spcBef>
              <a:buClrTx/>
              <a:buSzTx/>
              <a:buFont typeface="Wingdings" pitchFamily="2" charset="2"/>
              <a:buChar char="Ø"/>
            </a:pPr>
            <a:r>
              <a:rPr lang="en-US" sz="2200" dirty="0">
                <a:solidFill>
                  <a:schemeClr val="bg2"/>
                </a:solidFill>
              </a:rPr>
              <a:t>The lowest STM level, STM-1, is defined as 155.520 Mbps, which is exactly equal to STS-3.  </a:t>
            </a:r>
          </a:p>
          <a:p>
            <a:pPr eaLnBrk="1" hangingPunct="1">
              <a:spcBef>
                <a:spcPct val="0"/>
              </a:spcBef>
              <a:buClrTx/>
              <a:buSzTx/>
              <a:buFont typeface="Wingdings" pitchFamily="2" charset="2"/>
              <a:buChar char="Ø"/>
            </a:pPr>
            <a:r>
              <a:rPr lang="en-US" sz="2200" dirty="0">
                <a:solidFill>
                  <a:schemeClr val="bg2"/>
                </a:solidFill>
              </a:rPr>
              <a:t>The STS-3 rate is exactly three times the STS-1 rate; and the STS-9 rate is exactly one-half the STS-18 rate.  </a:t>
            </a:r>
          </a:p>
          <a:p>
            <a:pPr eaLnBrk="1" hangingPunct="1">
              <a:spcBef>
                <a:spcPct val="0"/>
              </a:spcBef>
              <a:buClrTx/>
              <a:buSzTx/>
              <a:buFont typeface="Wingdings" pitchFamily="2" charset="2"/>
              <a:buChar char="Ø"/>
            </a:pPr>
            <a:r>
              <a:rPr lang="en-US" sz="2200" dirty="0">
                <a:solidFill>
                  <a:schemeClr val="bg2"/>
                </a:solidFill>
              </a:rPr>
              <a:t>These relationships mean that 18 STS-1 channels can be multiplexed into one STS-18, six STS-3 channels can be multiplexed into one STS-18, and so on.</a:t>
            </a:r>
            <a:endParaRPr lang="en-US" altLang="en-US" sz="2200" dirty="0">
              <a:solidFill>
                <a:schemeClr val="bg2"/>
              </a:solidFill>
              <a:latin typeface="Arial" panose="020B0604020202020204" pitchFamily="34" charset="0"/>
            </a:endParaRPr>
          </a:p>
        </p:txBody>
      </p:sp>
      <p:sp>
        <p:nvSpPr>
          <p:cNvPr id="7" name="Text Box 3"/>
          <p:cNvSpPr txBox="1">
            <a:spLocks noChangeArrowheads="1"/>
          </p:cNvSpPr>
          <p:nvPr/>
        </p:nvSpPr>
        <p:spPr bwMode="auto">
          <a:xfrm>
            <a:off x="685800" y="152400"/>
            <a:ext cx="7772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400" dirty="0">
                <a:solidFill>
                  <a:schemeClr val="tx2"/>
                </a:solidFill>
                <a:effectLst>
                  <a:outerShdw blurRad="38100" dist="38100" dir="2700000" algn="tl">
                    <a:srgbClr val="000000"/>
                  </a:outerShdw>
                </a:effectLst>
                <a:latin typeface="Arial" charset="0"/>
              </a:rPr>
              <a:t>SONET Signals </a:t>
            </a:r>
            <a:endParaRPr lang="en-US" sz="6000" b="1"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fade">
                                      <p:cBhvr>
                                        <p:cTn id="42" dur="1000"/>
                                        <p:tgtEl>
                                          <p:spTgt spid="6">
                                            <p:txEl>
                                              <p:pRg st="5" end="5"/>
                                            </p:txEl>
                                          </p:spTgt>
                                        </p:tgtEl>
                                      </p:cBhvr>
                                    </p:animEffect>
                                    <p:anim calcmode="lin" valueType="num">
                                      <p:cBhvr>
                                        <p:cTn id="4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fade">
                                      <p:cBhvr>
                                        <p:cTn id="49" dur="1000"/>
                                        <p:tgtEl>
                                          <p:spTgt spid="6">
                                            <p:txEl>
                                              <p:pRg st="6" end="6"/>
                                            </p:txEl>
                                          </p:spTgt>
                                        </p:tgtEl>
                                      </p:cBhvr>
                                    </p:animEffect>
                                    <p:anim calcmode="lin" valueType="num">
                                      <p:cBhvr>
                                        <p:cTn id="5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7" presetClass="entr" presetSubtype="0" fill="hold" nodeType="clickEffect">
                                  <p:stCondLst>
                                    <p:cond delay="0"/>
                                  </p:stCondLst>
                                  <p:childTnLst>
                                    <p:set>
                                      <p:cBhvr>
                                        <p:cTn id="55" dur="1" fill="hold">
                                          <p:stCondLst>
                                            <p:cond delay="0"/>
                                          </p:stCondLst>
                                        </p:cTn>
                                        <p:tgtEl>
                                          <p:spTgt spid="6">
                                            <p:txEl>
                                              <p:pRg st="7" end="7"/>
                                            </p:txEl>
                                          </p:spTgt>
                                        </p:tgtEl>
                                        <p:attrNameLst>
                                          <p:attrName>style.visibility</p:attrName>
                                        </p:attrNameLst>
                                      </p:cBhvr>
                                      <p:to>
                                        <p:strVal val="visible"/>
                                      </p:to>
                                    </p:set>
                                    <p:animEffect transition="in" filter="fade">
                                      <p:cBhvr>
                                        <p:cTn id="56" dur="1000"/>
                                        <p:tgtEl>
                                          <p:spTgt spid="6">
                                            <p:txEl>
                                              <p:pRg st="7" end="7"/>
                                            </p:txEl>
                                          </p:spTgt>
                                        </p:tgtEl>
                                      </p:cBhvr>
                                    </p:animEffect>
                                    <p:anim calcmode="lin" valueType="num">
                                      <p:cBhvr>
                                        <p:cTn id="57"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609600" y="914400"/>
            <a:ext cx="80010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None/>
            </a:pPr>
            <a:endParaRPr lang="en-US" altLang="en-US" sz="2200" dirty="0">
              <a:latin typeface="Arial" panose="020B0604020202020204" pitchFamily="34" charset="0"/>
            </a:endParaRPr>
          </a:p>
        </p:txBody>
      </p:sp>
      <p:sp>
        <p:nvSpPr>
          <p:cNvPr id="7" name="Text Box 3"/>
          <p:cNvSpPr txBox="1">
            <a:spLocks noChangeArrowheads="1"/>
          </p:cNvSpPr>
          <p:nvPr/>
        </p:nvSpPr>
        <p:spPr bwMode="auto">
          <a:xfrm>
            <a:off x="685800" y="152400"/>
            <a:ext cx="7772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400" dirty="0">
                <a:solidFill>
                  <a:schemeClr val="tx2"/>
                </a:solidFill>
                <a:effectLst>
                  <a:outerShdw blurRad="38100" dist="38100" dir="2700000" algn="tl">
                    <a:srgbClr val="000000"/>
                  </a:outerShdw>
                </a:effectLst>
                <a:latin typeface="Arial" charset="0"/>
              </a:rPr>
              <a:t>SONET/SDH Rates</a:t>
            </a:r>
            <a:endParaRPr lang="en-US" sz="6000" b="1" dirty="0">
              <a:latin typeface="Arial" charset="0"/>
            </a:endParaRPr>
          </a:p>
        </p:txBody>
      </p:sp>
      <p:graphicFrame>
        <p:nvGraphicFramePr>
          <p:cNvPr id="4" name="Table 3"/>
          <p:cNvGraphicFramePr>
            <a:graphicFrameLocks noGrp="1"/>
          </p:cNvGraphicFramePr>
          <p:nvPr/>
        </p:nvGraphicFramePr>
        <p:xfrm>
          <a:off x="1295400" y="1143000"/>
          <a:ext cx="6934200" cy="5486400"/>
        </p:xfrm>
        <a:graphic>
          <a:graphicData uri="http://schemas.openxmlformats.org/drawingml/2006/table">
            <a:tbl>
              <a:tblPr firstRow="1" bandRow="1">
                <a:tableStyleId>{5C22544A-7EE6-4342-B048-85BDC9FD1C3A}</a:tableStyleId>
              </a:tblPr>
              <a:tblGrid>
                <a:gridCol w="1733550">
                  <a:extLst>
                    <a:ext uri="{9D8B030D-6E8A-4147-A177-3AD203B41FA5}">
                      <a16:colId xmlns:a16="http://schemas.microsoft.com/office/drawing/2014/main" val="20000"/>
                    </a:ext>
                  </a:extLst>
                </a:gridCol>
                <a:gridCol w="1733550">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1733550">
                  <a:extLst>
                    <a:ext uri="{9D8B030D-6E8A-4147-A177-3AD203B41FA5}">
                      <a16:colId xmlns:a16="http://schemas.microsoft.com/office/drawing/2014/main" val="20003"/>
                    </a:ext>
                  </a:extLst>
                </a:gridCol>
              </a:tblGrid>
              <a:tr h="457200">
                <a:tc>
                  <a:txBody>
                    <a:bodyPr/>
                    <a:lstStyle/>
                    <a:p>
                      <a:pPr algn="ctr"/>
                      <a:r>
                        <a:rPr lang="en-US" sz="1800" dirty="0">
                          <a:solidFill>
                            <a:schemeClr val="bg2"/>
                          </a:solidFill>
                        </a:rPr>
                        <a:t>STS</a:t>
                      </a:r>
                    </a:p>
                  </a:txBody>
                  <a:tcPr/>
                </a:tc>
                <a:tc>
                  <a:txBody>
                    <a:bodyPr/>
                    <a:lstStyle/>
                    <a:p>
                      <a:pPr algn="ctr"/>
                      <a:r>
                        <a:rPr lang="en-US" sz="1800" dirty="0">
                          <a:solidFill>
                            <a:schemeClr val="bg2"/>
                          </a:solidFill>
                        </a:rPr>
                        <a:t>OC</a:t>
                      </a:r>
                    </a:p>
                  </a:txBody>
                  <a:tcPr/>
                </a:tc>
                <a:tc>
                  <a:txBody>
                    <a:bodyPr/>
                    <a:lstStyle/>
                    <a:p>
                      <a:pPr algn="ctr"/>
                      <a:r>
                        <a:rPr lang="en-US" sz="1800" dirty="0">
                          <a:solidFill>
                            <a:schemeClr val="bg2"/>
                          </a:solidFill>
                        </a:rPr>
                        <a:t>Rate(Mbps)</a:t>
                      </a:r>
                    </a:p>
                  </a:txBody>
                  <a:tcPr/>
                </a:tc>
                <a:tc>
                  <a:txBody>
                    <a:bodyPr/>
                    <a:lstStyle/>
                    <a:p>
                      <a:pPr algn="ctr"/>
                      <a:r>
                        <a:rPr lang="en-US" sz="1800" dirty="0">
                          <a:solidFill>
                            <a:schemeClr val="bg2"/>
                          </a:solidFill>
                        </a:rPr>
                        <a:t>STM</a:t>
                      </a:r>
                    </a:p>
                  </a:txBody>
                  <a:tcPr/>
                </a:tc>
                <a:extLst>
                  <a:ext uri="{0D108BD9-81ED-4DB2-BD59-A6C34878D82A}">
                    <a16:rowId xmlns:a16="http://schemas.microsoft.com/office/drawing/2014/main" val="10000"/>
                  </a:ext>
                </a:extLst>
              </a:tr>
              <a:tr h="457200">
                <a:tc>
                  <a:txBody>
                    <a:bodyPr/>
                    <a:lstStyle/>
                    <a:p>
                      <a:pPr algn="ctr"/>
                      <a:r>
                        <a:rPr lang="en-US" sz="1800" dirty="0">
                          <a:solidFill>
                            <a:schemeClr val="bg2"/>
                          </a:solidFill>
                        </a:rPr>
                        <a:t>STS-1</a:t>
                      </a:r>
                    </a:p>
                  </a:txBody>
                  <a:tcPr/>
                </a:tc>
                <a:tc>
                  <a:txBody>
                    <a:bodyPr/>
                    <a:lstStyle/>
                    <a:p>
                      <a:pPr algn="ctr"/>
                      <a:r>
                        <a:rPr lang="en-US" sz="1800" dirty="0">
                          <a:solidFill>
                            <a:schemeClr val="bg2"/>
                          </a:solidFill>
                        </a:rPr>
                        <a:t>OC-1</a:t>
                      </a:r>
                    </a:p>
                  </a:txBody>
                  <a:tcPr/>
                </a:tc>
                <a:tc>
                  <a:txBody>
                    <a:bodyPr/>
                    <a:lstStyle/>
                    <a:p>
                      <a:pPr algn="ctr"/>
                      <a:r>
                        <a:rPr lang="en-US" sz="1800" dirty="0">
                          <a:solidFill>
                            <a:schemeClr val="bg2"/>
                          </a:solidFill>
                        </a:rPr>
                        <a:t>51.840</a:t>
                      </a:r>
                    </a:p>
                  </a:txBody>
                  <a:tcPr/>
                </a:tc>
                <a:tc>
                  <a:txBody>
                    <a:bodyPr/>
                    <a:lstStyle/>
                    <a:p>
                      <a:pPr algn="ctr"/>
                      <a:endParaRPr lang="en-US" sz="1800" dirty="0">
                        <a:solidFill>
                          <a:schemeClr val="bg2"/>
                        </a:solidFill>
                      </a:endParaRPr>
                    </a:p>
                  </a:txBody>
                  <a:tcPr/>
                </a:tc>
                <a:extLst>
                  <a:ext uri="{0D108BD9-81ED-4DB2-BD59-A6C34878D82A}">
                    <a16:rowId xmlns:a16="http://schemas.microsoft.com/office/drawing/2014/main" val="10001"/>
                  </a:ext>
                </a:extLst>
              </a:tr>
              <a:tr h="457200">
                <a:tc>
                  <a:txBody>
                    <a:bodyPr/>
                    <a:lstStyle/>
                    <a:p>
                      <a:pPr algn="ctr"/>
                      <a:r>
                        <a:rPr lang="en-US" sz="1800" dirty="0">
                          <a:solidFill>
                            <a:schemeClr val="bg2"/>
                          </a:solidFill>
                        </a:rPr>
                        <a:t>STS-3</a:t>
                      </a:r>
                    </a:p>
                  </a:txBody>
                  <a:tcPr/>
                </a:tc>
                <a:tc>
                  <a:txBody>
                    <a:bodyPr/>
                    <a:lstStyle/>
                    <a:p>
                      <a:pPr algn="ctr"/>
                      <a:r>
                        <a:rPr lang="en-US" sz="1800" dirty="0">
                          <a:solidFill>
                            <a:schemeClr val="bg2"/>
                          </a:solidFill>
                        </a:rPr>
                        <a:t>OC-3</a:t>
                      </a:r>
                    </a:p>
                  </a:txBody>
                  <a:tcPr/>
                </a:tc>
                <a:tc>
                  <a:txBody>
                    <a:bodyPr/>
                    <a:lstStyle/>
                    <a:p>
                      <a:pPr algn="ctr"/>
                      <a:r>
                        <a:rPr lang="en-US" sz="1800" dirty="0">
                          <a:solidFill>
                            <a:schemeClr val="bg2"/>
                          </a:solidFill>
                        </a:rPr>
                        <a:t>155.520</a:t>
                      </a:r>
                    </a:p>
                  </a:txBody>
                  <a:tcPr/>
                </a:tc>
                <a:tc>
                  <a:txBody>
                    <a:bodyPr/>
                    <a:lstStyle/>
                    <a:p>
                      <a:pPr algn="ctr"/>
                      <a:r>
                        <a:rPr lang="en-US" sz="1800" dirty="0">
                          <a:solidFill>
                            <a:schemeClr val="bg2"/>
                          </a:solidFill>
                        </a:rPr>
                        <a:t>STM-1</a:t>
                      </a:r>
                    </a:p>
                  </a:txBody>
                  <a:tcPr/>
                </a:tc>
                <a:extLst>
                  <a:ext uri="{0D108BD9-81ED-4DB2-BD59-A6C34878D82A}">
                    <a16:rowId xmlns:a16="http://schemas.microsoft.com/office/drawing/2014/main" val="10002"/>
                  </a:ext>
                </a:extLst>
              </a:tr>
              <a:tr h="457200">
                <a:tc>
                  <a:txBody>
                    <a:bodyPr/>
                    <a:lstStyle/>
                    <a:p>
                      <a:pPr algn="ctr"/>
                      <a:r>
                        <a:rPr lang="en-US" sz="1800" dirty="0">
                          <a:solidFill>
                            <a:schemeClr val="bg2"/>
                          </a:solidFill>
                        </a:rPr>
                        <a:t>STS-9</a:t>
                      </a:r>
                    </a:p>
                  </a:txBody>
                  <a:tcPr/>
                </a:tc>
                <a:tc>
                  <a:txBody>
                    <a:bodyPr/>
                    <a:lstStyle/>
                    <a:p>
                      <a:pPr algn="ctr"/>
                      <a:r>
                        <a:rPr lang="en-US" sz="1800" dirty="0">
                          <a:solidFill>
                            <a:schemeClr val="bg2"/>
                          </a:solidFill>
                        </a:rPr>
                        <a:t>OC-9</a:t>
                      </a:r>
                    </a:p>
                  </a:txBody>
                  <a:tcPr/>
                </a:tc>
                <a:tc>
                  <a:txBody>
                    <a:bodyPr/>
                    <a:lstStyle/>
                    <a:p>
                      <a:pPr algn="ctr"/>
                      <a:r>
                        <a:rPr lang="en-US" sz="1800" dirty="0">
                          <a:solidFill>
                            <a:schemeClr val="bg2"/>
                          </a:solidFill>
                        </a:rPr>
                        <a:t>466.560</a:t>
                      </a:r>
                    </a:p>
                  </a:txBody>
                  <a:tcPr/>
                </a:tc>
                <a:tc>
                  <a:txBody>
                    <a:bodyPr/>
                    <a:lstStyle/>
                    <a:p>
                      <a:pPr algn="ctr"/>
                      <a:r>
                        <a:rPr lang="en-US" sz="1800" dirty="0">
                          <a:solidFill>
                            <a:schemeClr val="bg2"/>
                          </a:solidFill>
                        </a:rPr>
                        <a:t>STM-3</a:t>
                      </a:r>
                    </a:p>
                  </a:txBody>
                  <a:tcPr/>
                </a:tc>
                <a:extLst>
                  <a:ext uri="{0D108BD9-81ED-4DB2-BD59-A6C34878D82A}">
                    <a16:rowId xmlns:a16="http://schemas.microsoft.com/office/drawing/2014/main" val="10003"/>
                  </a:ext>
                </a:extLst>
              </a:tr>
              <a:tr h="457200">
                <a:tc>
                  <a:txBody>
                    <a:bodyPr/>
                    <a:lstStyle/>
                    <a:p>
                      <a:pPr algn="ctr"/>
                      <a:r>
                        <a:rPr lang="en-US" sz="1800" dirty="0">
                          <a:solidFill>
                            <a:schemeClr val="bg2"/>
                          </a:solidFill>
                        </a:rPr>
                        <a:t>STS-12</a:t>
                      </a:r>
                    </a:p>
                  </a:txBody>
                  <a:tcPr/>
                </a:tc>
                <a:tc>
                  <a:txBody>
                    <a:bodyPr/>
                    <a:lstStyle/>
                    <a:p>
                      <a:pPr algn="ctr"/>
                      <a:r>
                        <a:rPr lang="en-US" sz="1800" dirty="0">
                          <a:solidFill>
                            <a:schemeClr val="bg2"/>
                          </a:solidFill>
                        </a:rPr>
                        <a:t>OC-12</a:t>
                      </a:r>
                    </a:p>
                  </a:txBody>
                  <a:tcPr/>
                </a:tc>
                <a:tc>
                  <a:txBody>
                    <a:bodyPr/>
                    <a:lstStyle/>
                    <a:p>
                      <a:pPr algn="ctr"/>
                      <a:r>
                        <a:rPr lang="en-US" sz="1800" dirty="0">
                          <a:solidFill>
                            <a:schemeClr val="bg2"/>
                          </a:solidFill>
                        </a:rPr>
                        <a:t>622.080</a:t>
                      </a:r>
                    </a:p>
                  </a:txBody>
                  <a:tcPr/>
                </a:tc>
                <a:tc>
                  <a:txBody>
                    <a:bodyPr/>
                    <a:lstStyle/>
                    <a:p>
                      <a:pPr algn="ctr"/>
                      <a:r>
                        <a:rPr lang="en-US" sz="1800" dirty="0">
                          <a:solidFill>
                            <a:schemeClr val="bg2"/>
                          </a:solidFill>
                        </a:rPr>
                        <a:t>STM-4</a:t>
                      </a:r>
                    </a:p>
                  </a:txBody>
                  <a:tcPr/>
                </a:tc>
                <a:extLst>
                  <a:ext uri="{0D108BD9-81ED-4DB2-BD59-A6C34878D82A}">
                    <a16:rowId xmlns:a16="http://schemas.microsoft.com/office/drawing/2014/main" val="10004"/>
                  </a:ext>
                </a:extLst>
              </a:tr>
              <a:tr h="457200">
                <a:tc>
                  <a:txBody>
                    <a:bodyPr/>
                    <a:lstStyle/>
                    <a:p>
                      <a:pPr algn="ctr"/>
                      <a:r>
                        <a:rPr lang="en-US" sz="1800" dirty="0">
                          <a:solidFill>
                            <a:schemeClr val="bg2"/>
                          </a:solidFill>
                        </a:rPr>
                        <a:t>STS-18</a:t>
                      </a:r>
                    </a:p>
                  </a:txBody>
                  <a:tcPr/>
                </a:tc>
                <a:tc>
                  <a:txBody>
                    <a:bodyPr/>
                    <a:lstStyle/>
                    <a:p>
                      <a:pPr algn="ctr"/>
                      <a:r>
                        <a:rPr lang="en-US" sz="1800" dirty="0">
                          <a:solidFill>
                            <a:schemeClr val="bg2"/>
                          </a:solidFill>
                        </a:rPr>
                        <a:t>0C-18</a:t>
                      </a:r>
                    </a:p>
                  </a:txBody>
                  <a:tcPr/>
                </a:tc>
                <a:tc>
                  <a:txBody>
                    <a:bodyPr/>
                    <a:lstStyle/>
                    <a:p>
                      <a:pPr algn="ctr"/>
                      <a:r>
                        <a:rPr lang="en-US" sz="1800" dirty="0">
                          <a:solidFill>
                            <a:schemeClr val="bg2"/>
                          </a:solidFill>
                        </a:rPr>
                        <a:t>933.120</a:t>
                      </a:r>
                    </a:p>
                  </a:txBody>
                  <a:tcPr/>
                </a:tc>
                <a:tc>
                  <a:txBody>
                    <a:bodyPr/>
                    <a:lstStyle/>
                    <a:p>
                      <a:pPr algn="ctr"/>
                      <a:r>
                        <a:rPr lang="en-US" sz="1800" dirty="0">
                          <a:solidFill>
                            <a:schemeClr val="bg2"/>
                          </a:solidFill>
                        </a:rPr>
                        <a:t>STM-6</a:t>
                      </a:r>
                    </a:p>
                  </a:txBody>
                  <a:tcPr/>
                </a:tc>
                <a:extLst>
                  <a:ext uri="{0D108BD9-81ED-4DB2-BD59-A6C34878D82A}">
                    <a16:rowId xmlns:a16="http://schemas.microsoft.com/office/drawing/2014/main" val="10005"/>
                  </a:ext>
                </a:extLst>
              </a:tr>
              <a:tr h="457200">
                <a:tc>
                  <a:txBody>
                    <a:bodyPr/>
                    <a:lstStyle/>
                    <a:p>
                      <a:pPr algn="ctr"/>
                      <a:r>
                        <a:rPr lang="en-US" sz="1800" dirty="0">
                          <a:solidFill>
                            <a:schemeClr val="bg2"/>
                          </a:solidFill>
                        </a:rPr>
                        <a:t>STS-24</a:t>
                      </a:r>
                    </a:p>
                  </a:txBody>
                  <a:tcPr/>
                </a:tc>
                <a:tc>
                  <a:txBody>
                    <a:bodyPr/>
                    <a:lstStyle/>
                    <a:p>
                      <a:pPr algn="ctr"/>
                      <a:r>
                        <a:rPr lang="en-US" sz="1800" dirty="0">
                          <a:solidFill>
                            <a:schemeClr val="bg2"/>
                          </a:solidFill>
                        </a:rPr>
                        <a:t>OC-24</a:t>
                      </a:r>
                    </a:p>
                  </a:txBody>
                  <a:tcPr/>
                </a:tc>
                <a:tc>
                  <a:txBody>
                    <a:bodyPr/>
                    <a:lstStyle/>
                    <a:p>
                      <a:pPr algn="ctr"/>
                      <a:r>
                        <a:rPr lang="en-US" sz="1800" dirty="0">
                          <a:solidFill>
                            <a:schemeClr val="bg2"/>
                          </a:solidFill>
                        </a:rPr>
                        <a:t>1244.160</a:t>
                      </a:r>
                    </a:p>
                  </a:txBody>
                  <a:tcPr/>
                </a:tc>
                <a:tc>
                  <a:txBody>
                    <a:bodyPr/>
                    <a:lstStyle/>
                    <a:p>
                      <a:pPr algn="ctr"/>
                      <a:r>
                        <a:rPr lang="en-US" sz="1800" dirty="0">
                          <a:solidFill>
                            <a:schemeClr val="bg2"/>
                          </a:solidFill>
                        </a:rPr>
                        <a:t>STM-8</a:t>
                      </a:r>
                    </a:p>
                  </a:txBody>
                  <a:tcPr/>
                </a:tc>
                <a:extLst>
                  <a:ext uri="{0D108BD9-81ED-4DB2-BD59-A6C34878D82A}">
                    <a16:rowId xmlns:a16="http://schemas.microsoft.com/office/drawing/2014/main" val="10006"/>
                  </a:ext>
                </a:extLst>
              </a:tr>
              <a:tr h="457200">
                <a:tc>
                  <a:txBody>
                    <a:bodyPr/>
                    <a:lstStyle/>
                    <a:p>
                      <a:pPr algn="ctr"/>
                      <a:r>
                        <a:rPr lang="en-US" sz="1800" dirty="0">
                          <a:solidFill>
                            <a:schemeClr val="bg2"/>
                          </a:solidFill>
                        </a:rPr>
                        <a:t>STS-36</a:t>
                      </a:r>
                    </a:p>
                  </a:txBody>
                  <a:tcPr/>
                </a:tc>
                <a:tc>
                  <a:txBody>
                    <a:bodyPr/>
                    <a:lstStyle/>
                    <a:p>
                      <a:pPr algn="ctr"/>
                      <a:r>
                        <a:rPr lang="en-US" sz="1800" dirty="0">
                          <a:solidFill>
                            <a:schemeClr val="bg2"/>
                          </a:solidFill>
                        </a:rPr>
                        <a:t>0C-36</a:t>
                      </a:r>
                    </a:p>
                  </a:txBody>
                  <a:tcPr/>
                </a:tc>
                <a:tc>
                  <a:txBody>
                    <a:bodyPr/>
                    <a:lstStyle/>
                    <a:p>
                      <a:pPr algn="ctr"/>
                      <a:r>
                        <a:rPr lang="en-US" sz="1800" dirty="0">
                          <a:solidFill>
                            <a:schemeClr val="bg2"/>
                          </a:solidFill>
                        </a:rPr>
                        <a:t>1866.320</a:t>
                      </a:r>
                    </a:p>
                  </a:txBody>
                  <a:tcPr/>
                </a:tc>
                <a:tc>
                  <a:txBody>
                    <a:bodyPr/>
                    <a:lstStyle/>
                    <a:p>
                      <a:pPr algn="ctr"/>
                      <a:r>
                        <a:rPr lang="en-US" sz="1800" dirty="0">
                          <a:solidFill>
                            <a:schemeClr val="bg2"/>
                          </a:solidFill>
                        </a:rPr>
                        <a:t>STM-12</a:t>
                      </a:r>
                    </a:p>
                  </a:txBody>
                  <a:tcPr/>
                </a:tc>
                <a:extLst>
                  <a:ext uri="{0D108BD9-81ED-4DB2-BD59-A6C34878D82A}">
                    <a16:rowId xmlns:a16="http://schemas.microsoft.com/office/drawing/2014/main" val="10007"/>
                  </a:ext>
                </a:extLst>
              </a:tr>
              <a:tr h="457200">
                <a:tc>
                  <a:txBody>
                    <a:bodyPr/>
                    <a:lstStyle/>
                    <a:p>
                      <a:pPr algn="ctr"/>
                      <a:r>
                        <a:rPr lang="en-US" sz="1800" dirty="0">
                          <a:solidFill>
                            <a:schemeClr val="bg2"/>
                          </a:solidFill>
                        </a:rPr>
                        <a:t>STS-48</a:t>
                      </a:r>
                    </a:p>
                  </a:txBody>
                  <a:tcPr/>
                </a:tc>
                <a:tc>
                  <a:txBody>
                    <a:bodyPr/>
                    <a:lstStyle/>
                    <a:p>
                      <a:pPr algn="ctr"/>
                      <a:r>
                        <a:rPr lang="en-US" sz="1800" dirty="0">
                          <a:solidFill>
                            <a:schemeClr val="bg2"/>
                          </a:solidFill>
                        </a:rPr>
                        <a:t>OC-48</a:t>
                      </a:r>
                    </a:p>
                  </a:txBody>
                  <a:tcPr/>
                </a:tc>
                <a:tc>
                  <a:txBody>
                    <a:bodyPr/>
                    <a:lstStyle/>
                    <a:p>
                      <a:pPr algn="ctr"/>
                      <a:r>
                        <a:rPr lang="en-US" sz="1800" dirty="0">
                          <a:solidFill>
                            <a:schemeClr val="bg2"/>
                          </a:solidFill>
                        </a:rPr>
                        <a:t>2488.320</a:t>
                      </a:r>
                    </a:p>
                  </a:txBody>
                  <a:tcPr/>
                </a:tc>
                <a:tc>
                  <a:txBody>
                    <a:bodyPr/>
                    <a:lstStyle/>
                    <a:p>
                      <a:pPr algn="ctr"/>
                      <a:r>
                        <a:rPr lang="en-US" sz="1800" dirty="0">
                          <a:solidFill>
                            <a:schemeClr val="bg2"/>
                          </a:solidFill>
                        </a:rPr>
                        <a:t>STM-16</a:t>
                      </a:r>
                    </a:p>
                  </a:txBody>
                  <a:tcPr/>
                </a:tc>
                <a:extLst>
                  <a:ext uri="{0D108BD9-81ED-4DB2-BD59-A6C34878D82A}">
                    <a16:rowId xmlns:a16="http://schemas.microsoft.com/office/drawing/2014/main" val="10008"/>
                  </a:ext>
                </a:extLst>
              </a:tr>
              <a:tr h="457200">
                <a:tc>
                  <a:txBody>
                    <a:bodyPr/>
                    <a:lstStyle/>
                    <a:p>
                      <a:pPr algn="ctr"/>
                      <a:r>
                        <a:rPr lang="en-US" sz="1800" dirty="0">
                          <a:solidFill>
                            <a:schemeClr val="bg2"/>
                          </a:solidFill>
                        </a:rPr>
                        <a:t>STS-96</a:t>
                      </a:r>
                    </a:p>
                  </a:txBody>
                  <a:tcPr/>
                </a:tc>
                <a:tc>
                  <a:txBody>
                    <a:bodyPr/>
                    <a:lstStyle/>
                    <a:p>
                      <a:pPr algn="ctr"/>
                      <a:r>
                        <a:rPr lang="en-US" sz="1800" dirty="0">
                          <a:solidFill>
                            <a:schemeClr val="bg2"/>
                          </a:solidFill>
                        </a:rPr>
                        <a:t>0C-96</a:t>
                      </a:r>
                    </a:p>
                  </a:txBody>
                  <a:tcPr/>
                </a:tc>
                <a:tc>
                  <a:txBody>
                    <a:bodyPr/>
                    <a:lstStyle/>
                    <a:p>
                      <a:pPr algn="ctr"/>
                      <a:r>
                        <a:rPr lang="en-US" sz="1800" dirty="0">
                          <a:solidFill>
                            <a:schemeClr val="bg2"/>
                          </a:solidFill>
                        </a:rPr>
                        <a:t>4976.640</a:t>
                      </a:r>
                    </a:p>
                  </a:txBody>
                  <a:tcPr/>
                </a:tc>
                <a:tc>
                  <a:txBody>
                    <a:bodyPr/>
                    <a:lstStyle/>
                    <a:p>
                      <a:pPr algn="ctr"/>
                      <a:r>
                        <a:rPr lang="en-US" sz="1800" dirty="0">
                          <a:solidFill>
                            <a:schemeClr val="bg2"/>
                          </a:solidFill>
                        </a:rPr>
                        <a:t>STM-32</a:t>
                      </a:r>
                    </a:p>
                  </a:txBody>
                  <a:tcPr/>
                </a:tc>
                <a:extLst>
                  <a:ext uri="{0D108BD9-81ED-4DB2-BD59-A6C34878D82A}">
                    <a16:rowId xmlns:a16="http://schemas.microsoft.com/office/drawing/2014/main" val="10009"/>
                  </a:ext>
                </a:extLst>
              </a:tr>
              <a:tr h="457200">
                <a:tc>
                  <a:txBody>
                    <a:bodyPr/>
                    <a:lstStyle/>
                    <a:p>
                      <a:pPr algn="ctr"/>
                      <a:r>
                        <a:rPr lang="en-US" sz="1800" dirty="0">
                          <a:solidFill>
                            <a:schemeClr val="bg2"/>
                          </a:solidFill>
                        </a:rPr>
                        <a:t>STS-192</a:t>
                      </a:r>
                    </a:p>
                  </a:txBody>
                  <a:tcPr/>
                </a:tc>
                <a:tc>
                  <a:txBody>
                    <a:bodyPr/>
                    <a:lstStyle/>
                    <a:p>
                      <a:pPr algn="ctr"/>
                      <a:r>
                        <a:rPr lang="en-US" sz="1800" dirty="0">
                          <a:solidFill>
                            <a:schemeClr val="bg2"/>
                          </a:solidFill>
                        </a:rPr>
                        <a:t>0C-192</a:t>
                      </a:r>
                    </a:p>
                  </a:txBody>
                  <a:tcPr/>
                </a:tc>
                <a:tc>
                  <a:txBody>
                    <a:bodyPr/>
                    <a:lstStyle/>
                    <a:p>
                      <a:pPr algn="ctr"/>
                      <a:r>
                        <a:rPr lang="en-US" sz="1800" dirty="0">
                          <a:solidFill>
                            <a:schemeClr val="bg2"/>
                          </a:solidFill>
                        </a:rPr>
                        <a:t>9953.280</a:t>
                      </a:r>
                    </a:p>
                  </a:txBody>
                  <a:tcPr/>
                </a:tc>
                <a:tc>
                  <a:txBody>
                    <a:bodyPr/>
                    <a:lstStyle/>
                    <a:p>
                      <a:pPr algn="ctr"/>
                      <a:r>
                        <a:rPr lang="en-US" sz="1800" dirty="0">
                          <a:solidFill>
                            <a:schemeClr val="bg2"/>
                          </a:solidFill>
                        </a:rPr>
                        <a:t>STM-64</a:t>
                      </a:r>
                    </a:p>
                  </a:txBody>
                  <a:tcPr/>
                </a:tc>
                <a:extLst>
                  <a:ext uri="{0D108BD9-81ED-4DB2-BD59-A6C34878D82A}">
                    <a16:rowId xmlns:a16="http://schemas.microsoft.com/office/drawing/2014/main" val="10010"/>
                  </a:ext>
                </a:extLst>
              </a:tr>
              <a:tr h="457200">
                <a:tc>
                  <a:txBody>
                    <a:bodyPr/>
                    <a:lstStyle/>
                    <a:p>
                      <a:pPr algn="ctr"/>
                      <a:r>
                        <a:rPr lang="en-US" sz="1800" dirty="0">
                          <a:solidFill>
                            <a:schemeClr val="bg2"/>
                          </a:solidFill>
                        </a:rPr>
                        <a:t>STS-768</a:t>
                      </a:r>
                    </a:p>
                  </a:txBody>
                  <a:tcPr/>
                </a:tc>
                <a:tc>
                  <a:txBody>
                    <a:bodyPr/>
                    <a:lstStyle/>
                    <a:p>
                      <a:pPr algn="ctr"/>
                      <a:r>
                        <a:rPr lang="en-US" sz="1800" dirty="0">
                          <a:solidFill>
                            <a:schemeClr val="bg2"/>
                          </a:solidFill>
                        </a:rPr>
                        <a:t>0C-768</a:t>
                      </a:r>
                    </a:p>
                  </a:txBody>
                  <a:tcPr/>
                </a:tc>
                <a:tc>
                  <a:txBody>
                    <a:bodyPr/>
                    <a:lstStyle/>
                    <a:p>
                      <a:pPr algn="ctr"/>
                      <a:r>
                        <a:rPr lang="en-US" sz="1800" dirty="0">
                          <a:solidFill>
                            <a:schemeClr val="bg2"/>
                          </a:solidFill>
                        </a:rPr>
                        <a:t>39813.120</a:t>
                      </a:r>
                    </a:p>
                  </a:txBody>
                  <a:tcPr/>
                </a:tc>
                <a:tc>
                  <a:txBody>
                    <a:bodyPr/>
                    <a:lstStyle/>
                    <a:p>
                      <a:pPr algn="ctr"/>
                      <a:r>
                        <a:rPr lang="en-US" sz="1800" dirty="0">
                          <a:solidFill>
                            <a:schemeClr val="bg2"/>
                          </a:solidFill>
                        </a:rPr>
                        <a:t>STM-256</a:t>
                      </a:r>
                    </a:p>
                  </a:txBody>
                  <a:tcPr/>
                </a:tc>
                <a:extLst>
                  <a:ext uri="{0D108BD9-81ED-4DB2-BD59-A6C34878D82A}">
                    <a16:rowId xmlns:a16="http://schemas.microsoft.com/office/drawing/2014/main" val="1001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609600" y="914400"/>
            <a:ext cx="80010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 typeface="Wingdings" pitchFamily="2" charset="2"/>
              <a:buChar char="Ø"/>
            </a:pPr>
            <a:r>
              <a:rPr lang="en-US" sz="2200" dirty="0">
                <a:solidFill>
                  <a:schemeClr val="bg2"/>
                </a:solidFill>
              </a:rPr>
              <a:t>Clocking means using a series of repetitive pulses to keep the bit rate of data constant and to indicate where the ones and zeroes are located in a data stream. </a:t>
            </a:r>
          </a:p>
          <a:p>
            <a:pPr eaLnBrk="1" hangingPunct="1">
              <a:spcBef>
                <a:spcPct val="0"/>
              </a:spcBef>
              <a:buClrTx/>
              <a:buSzTx/>
              <a:buFont typeface="Wingdings" pitchFamily="2" charset="2"/>
              <a:buChar char="Ø"/>
            </a:pPr>
            <a:r>
              <a:rPr lang="en-US" sz="2200" dirty="0">
                <a:solidFill>
                  <a:schemeClr val="bg2"/>
                </a:solidFill>
              </a:rPr>
              <a:t>Asynchronous multiplexing uses multiple stages.</a:t>
            </a:r>
          </a:p>
          <a:p>
            <a:pPr eaLnBrk="1" hangingPunct="1">
              <a:spcBef>
                <a:spcPct val="0"/>
              </a:spcBef>
              <a:buClrTx/>
              <a:buSzTx/>
              <a:buFont typeface="Wingdings" pitchFamily="2" charset="2"/>
              <a:buChar char="Ø"/>
            </a:pPr>
            <a:r>
              <a:rPr lang="en-US" sz="2200" dirty="0">
                <a:solidFill>
                  <a:schemeClr val="bg2"/>
                </a:solidFill>
              </a:rPr>
              <a:t>Extra bits are added (bit-stuffing) for DS-1s multiplexing to account for the variations of each individual stream and combined with other bits (framing bits) to form a DS-2 stream. </a:t>
            </a:r>
          </a:p>
          <a:p>
            <a:pPr eaLnBrk="1" hangingPunct="1">
              <a:spcBef>
                <a:spcPct val="0"/>
              </a:spcBef>
              <a:buClrTx/>
              <a:buSzTx/>
              <a:buFont typeface="Wingdings" pitchFamily="2" charset="2"/>
              <a:buChar char="Ø"/>
            </a:pPr>
            <a:r>
              <a:rPr lang="en-US" sz="2200" dirty="0">
                <a:solidFill>
                  <a:schemeClr val="bg2"/>
                </a:solidFill>
              </a:rPr>
              <a:t>Again bit-stuffing is used to multiplex up to DS-3.</a:t>
            </a:r>
          </a:p>
          <a:p>
            <a:pPr eaLnBrk="1" hangingPunct="1">
              <a:spcBef>
                <a:spcPct val="0"/>
              </a:spcBef>
              <a:buClrTx/>
              <a:buSzTx/>
              <a:buFont typeface="Wingdings" pitchFamily="2" charset="2"/>
              <a:buChar char="Ø"/>
            </a:pPr>
            <a:r>
              <a:rPr lang="en-US" sz="2200" dirty="0">
                <a:solidFill>
                  <a:schemeClr val="bg2"/>
                </a:solidFill>
              </a:rPr>
              <a:t>DS-3s are multiplexed up to higher rates in the same manner.</a:t>
            </a:r>
          </a:p>
          <a:p>
            <a:pPr eaLnBrk="1" hangingPunct="1">
              <a:spcBef>
                <a:spcPct val="0"/>
              </a:spcBef>
              <a:buClrTx/>
              <a:buSzTx/>
              <a:buFont typeface="Wingdings" pitchFamily="2" charset="2"/>
              <a:buChar char="Ø"/>
            </a:pPr>
            <a:r>
              <a:rPr lang="en-US" sz="2200" dirty="0">
                <a:solidFill>
                  <a:schemeClr val="bg2"/>
                </a:solidFill>
              </a:rPr>
              <a:t>At the higher asynchronous rate, they cannot be accessed without demultiplexing. </a:t>
            </a:r>
          </a:p>
          <a:p>
            <a:pPr eaLnBrk="1" hangingPunct="1">
              <a:spcBef>
                <a:spcPct val="0"/>
              </a:spcBef>
              <a:buClrTx/>
              <a:buSzTx/>
              <a:buFont typeface="Wingdings" pitchFamily="2" charset="2"/>
              <a:buChar char="Ø"/>
            </a:pPr>
            <a:r>
              <a:rPr lang="en-US" sz="2200" dirty="0">
                <a:solidFill>
                  <a:schemeClr val="bg2"/>
                </a:solidFill>
              </a:rPr>
              <a:t>In a synchronous system such as SONET, the average frequency of all clocks in the system will be the same (Synchronous), or nearly the same (plesiochronous).</a:t>
            </a:r>
          </a:p>
          <a:p>
            <a:pPr eaLnBrk="1" hangingPunct="1">
              <a:spcBef>
                <a:spcPct val="0"/>
              </a:spcBef>
              <a:buClrTx/>
              <a:buSzTx/>
              <a:buFont typeface="Wingdings" pitchFamily="2" charset="2"/>
              <a:buChar char="Ø"/>
            </a:pPr>
            <a:r>
              <a:rPr lang="en-US" sz="2200" dirty="0">
                <a:solidFill>
                  <a:schemeClr val="bg2"/>
                </a:solidFill>
              </a:rPr>
              <a:t> Many Synchronous signals to be stacked together when multiplexed without any bit-stuffing.</a:t>
            </a:r>
          </a:p>
          <a:p>
            <a:pPr eaLnBrk="1" hangingPunct="1">
              <a:spcBef>
                <a:spcPct val="0"/>
              </a:spcBef>
              <a:buClrTx/>
              <a:buSzTx/>
              <a:buFont typeface="Wingdings" pitchFamily="2" charset="2"/>
              <a:buChar char="Ø"/>
            </a:pPr>
            <a:r>
              <a:rPr lang="en-US" sz="2200" dirty="0">
                <a:solidFill>
                  <a:schemeClr val="bg2"/>
                </a:solidFill>
              </a:rPr>
              <a:t>The STS-1s are easily accessed at a higher STS-N rate.</a:t>
            </a:r>
          </a:p>
          <a:p>
            <a:pPr eaLnBrk="1" hangingPunct="1">
              <a:spcBef>
                <a:spcPct val="0"/>
              </a:spcBef>
              <a:buClrTx/>
              <a:buSzTx/>
              <a:buFont typeface="Wingdings" pitchFamily="2" charset="2"/>
              <a:buChar char="Ø"/>
            </a:pPr>
            <a:endParaRPr lang="en-US" altLang="en-US" sz="2200" dirty="0">
              <a:solidFill>
                <a:schemeClr val="bg2"/>
              </a:solidFill>
              <a:latin typeface="Arial" panose="020B0604020202020204" pitchFamily="34" charset="0"/>
            </a:endParaRPr>
          </a:p>
        </p:txBody>
      </p:sp>
      <p:sp>
        <p:nvSpPr>
          <p:cNvPr id="7" name="Text Box 3"/>
          <p:cNvSpPr txBox="1">
            <a:spLocks noChangeArrowheads="1"/>
          </p:cNvSpPr>
          <p:nvPr/>
        </p:nvSpPr>
        <p:spPr bwMode="auto">
          <a:xfrm>
            <a:off x="685800" y="152400"/>
            <a:ext cx="777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000" dirty="0">
                <a:solidFill>
                  <a:schemeClr val="tx2"/>
                </a:solidFill>
                <a:effectLst>
                  <a:outerShdw blurRad="38100" dist="38100" dir="2700000" algn="tl">
                    <a:srgbClr val="000000"/>
                  </a:outerShdw>
                </a:effectLst>
                <a:latin typeface="Arial" charset="0"/>
              </a:rPr>
              <a:t>Synchronous vs. Asynchronous</a:t>
            </a:r>
            <a:endParaRPr lang="en-US" sz="4000" b="1"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fade">
                                      <p:cBhvr>
                                        <p:cTn id="42" dur="1000"/>
                                        <p:tgtEl>
                                          <p:spTgt spid="6">
                                            <p:txEl>
                                              <p:pRg st="5" end="5"/>
                                            </p:txEl>
                                          </p:spTgt>
                                        </p:tgtEl>
                                      </p:cBhvr>
                                    </p:animEffect>
                                    <p:anim calcmode="lin" valueType="num">
                                      <p:cBhvr>
                                        <p:cTn id="4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fade">
                                      <p:cBhvr>
                                        <p:cTn id="49" dur="1000"/>
                                        <p:tgtEl>
                                          <p:spTgt spid="6">
                                            <p:txEl>
                                              <p:pRg st="6" end="6"/>
                                            </p:txEl>
                                          </p:spTgt>
                                        </p:tgtEl>
                                      </p:cBhvr>
                                    </p:animEffect>
                                    <p:anim calcmode="lin" valueType="num">
                                      <p:cBhvr>
                                        <p:cTn id="5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7" presetClass="entr" presetSubtype="0" fill="hold" nodeType="clickEffect">
                                  <p:stCondLst>
                                    <p:cond delay="0"/>
                                  </p:stCondLst>
                                  <p:childTnLst>
                                    <p:set>
                                      <p:cBhvr>
                                        <p:cTn id="55" dur="1" fill="hold">
                                          <p:stCondLst>
                                            <p:cond delay="0"/>
                                          </p:stCondLst>
                                        </p:cTn>
                                        <p:tgtEl>
                                          <p:spTgt spid="6">
                                            <p:txEl>
                                              <p:pRg st="7" end="7"/>
                                            </p:txEl>
                                          </p:spTgt>
                                        </p:tgtEl>
                                        <p:attrNameLst>
                                          <p:attrName>style.visibility</p:attrName>
                                        </p:attrNameLst>
                                      </p:cBhvr>
                                      <p:to>
                                        <p:strVal val="visible"/>
                                      </p:to>
                                    </p:set>
                                    <p:animEffect transition="in" filter="fade">
                                      <p:cBhvr>
                                        <p:cTn id="56" dur="1000"/>
                                        <p:tgtEl>
                                          <p:spTgt spid="6">
                                            <p:txEl>
                                              <p:pRg st="7" end="7"/>
                                            </p:txEl>
                                          </p:spTgt>
                                        </p:tgtEl>
                                      </p:cBhvr>
                                    </p:animEffect>
                                    <p:anim calcmode="lin" valueType="num">
                                      <p:cBhvr>
                                        <p:cTn id="57"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7" presetClass="entr" presetSubtype="0" fill="hold" nodeType="clickEffect">
                                  <p:stCondLst>
                                    <p:cond delay="0"/>
                                  </p:stCondLst>
                                  <p:childTnLst>
                                    <p:set>
                                      <p:cBhvr>
                                        <p:cTn id="62" dur="1" fill="hold">
                                          <p:stCondLst>
                                            <p:cond delay="0"/>
                                          </p:stCondLst>
                                        </p:cTn>
                                        <p:tgtEl>
                                          <p:spTgt spid="6">
                                            <p:txEl>
                                              <p:pRg st="8" end="8"/>
                                            </p:txEl>
                                          </p:spTgt>
                                        </p:tgtEl>
                                        <p:attrNameLst>
                                          <p:attrName>style.visibility</p:attrName>
                                        </p:attrNameLst>
                                      </p:cBhvr>
                                      <p:to>
                                        <p:strVal val="visible"/>
                                      </p:to>
                                    </p:set>
                                    <p:animEffect transition="in" filter="fade">
                                      <p:cBhvr>
                                        <p:cTn id="63" dur="1000"/>
                                        <p:tgtEl>
                                          <p:spTgt spid="6">
                                            <p:txEl>
                                              <p:pRg st="8" end="8"/>
                                            </p:txEl>
                                          </p:spTgt>
                                        </p:tgtEl>
                                      </p:cBhvr>
                                    </p:animEffect>
                                    <p:anim calcmode="lin" valueType="num">
                                      <p:cBhvr>
                                        <p:cTn id="64"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838200" y="4800600"/>
            <a:ext cx="76200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None/>
            </a:pPr>
            <a:r>
              <a:rPr lang="en-US" sz="2200" dirty="0">
                <a:solidFill>
                  <a:schemeClr val="bg2"/>
                </a:solidFill>
              </a:rPr>
              <a:t>ADM: Add/drop multiplexer</a:t>
            </a:r>
          </a:p>
          <a:p>
            <a:pPr eaLnBrk="1" hangingPunct="1">
              <a:spcBef>
                <a:spcPct val="0"/>
              </a:spcBef>
              <a:buClrTx/>
              <a:buSzTx/>
              <a:buNone/>
            </a:pPr>
            <a:r>
              <a:rPr lang="en-US" sz="2200" dirty="0">
                <a:solidFill>
                  <a:schemeClr val="bg2"/>
                </a:solidFill>
              </a:rPr>
              <a:t>STS MUX: Synchronous transport signal multiplexer</a:t>
            </a:r>
          </a:p>
          <a:p>
            <a:pPr eaLnBrk="1" hangingPunct="1">
              <a:spcBef>
                <a:spcPct val="0"/>
              </a:spcBef>
              <a:buClrTx/>
              <a:buSzTx/>
              <a:buNone/>
            </a:pPr>
            <a:r>
              <a:rPr lang="en-US" sz="2200" dirty="0">
                <a:solidFill>
                  <a:schemeClr val="bg2"/>
                </a:solidFill>
              </a:rPr>
              <a:t>STS DEMUX: Synchronous transport signal demultiplexer</a:t>
            </a:r>
          </a:p>
          <a:p>
            <a:pPr eaLnBrk="1" hangingPunct="1">
              <a:spcBef>
                <a:spcPct val="0"/>
              </a:spcBef>
              <a:buClrTx/>
              <a:buSzTx/>
              <a:buNone/>
            </a:pPr>
            <a:r>
              <a:rPr lang="en-US" sz="2200" dirty="0">
                <a:solidFill>
                  <a:schemeClr val="bg2"/>
                </a:solidFill>
              </a:rPr>
              <a:t>R: Regenerator</a:t>
            </a:r>
          </a:p>
          <a:p>
            <a:pPr eaLnBrk="1" hangingPunct="1">
              <a:spcBef>
                <a:spcPct val="0"/>
              </a:spcBef>
              <a:buClrTx/>
              <a:buSzTx/>
              <a:buNone/>
            </a:pPr>
            <a:r>
              <a:rPr lang="en-US" sz="2200" dirty="0">
                <a:solidFill>
                  <a:schemeClr val="bg2"/>
                </a:solidFill>
              </a:rPr>
              <a:t>T: Terminal</a:t>
            </a:r>
          </a:p>
          <a:p>
            <a:pPr eaLnBrk="1" hangingPunct="1">
              <a:spcBef>
                <a:spcPct val="0"/>
              </a:spcBef>
              <a:buClrTx/>
              <a:buSzTx/>
              <a:buNone/>
            </a:pPr>
            <a:r>
              <a:rPr lang="en-US" sz="2200" dirty="0">
                <a:solidFill>
                  <a:schemeClr val="bg2"/>
                </a:solidFill>
              </a:rPr>
              <a:t> </a:t>
            </a:r>
          </a:p>
          <a:p>
            <a:pPr eaLnBrk="1" hangingPunct="1">
              <a:spcBef>
                <a:spcPct val="0"/>
              </a:spcBef>
              <a:buClrTx/>
              <a:buSzTx/>
              <a:buFont typeface="Wingdings" pitchFamily="2" charset="2"/>
              <a:buChar char="Ø"/>
            </a:pPr>
            <a:endParaRPr lang="en-US" altLang="en-US" sz="2200" dirty="0">
              <a:solidFill>
                <a:schemeClr val="bg2"/>
              </a:solidFill>
              <a:latin typeface="Arial" panose="020B0604020202020204" pitchFamily="34" charset="0"/>
            </a:endParaRPr>
          </a:p>
        </p:txBody>
      </p:sp>
      <p:sp>
        <p:nvSpPr>
          <p:cNvPr id="7" name="Text Box 3"/>
          <p:cNvSpPr txBox="1">
            <a:spLocks noChangeArrowheads="1"/>
          </p:cNvSpPr>
          <p:nvPr/>
        </p:nvSpPr>
        <p:spPr bwMode="auto">
          <a:xfrm>
            <a:off x="685800" y="152400"/>
            <a:ext cx="777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000" dirty="0">
                <a:solidFill>
                  <a:schemeClr val="tx2"/>
                </a:solidFill>
                <a:effectLst>
                  <a:outerShdw blurRad="38100" dist="38100" dir="2700000" algn="tl">
                    <a:srgbClr val="000000"/>
                  </a:outerShdw>
                </a:effectLst>
                <a:latin typeface="Arial" charset="0"/>
              </a:rPr>
              <a:t>SONET Devices</a:t>
            </a:r>
            <a:endParaRPr lang="en-US" sz="4000" b="1" dirty="0">
              <a:latin typeface="Arial" charset="0"/>
            </a:endParaRPr>
          </a:p>
        </p:txBody>
      </p:sp>
      <p:sp>
        <p:nvSpPr>
          <p:cNvPr id="4" name="Rectangle 3"/>
          <p:cNvSpPr/>
          <p:nvPr/>
        </p:nvSpPr>
        <p:spPr>
          <a:xfrm>
            <a:off x="762000" y="838200"/>
            <a:ext cx="7543800" cy="1569660"/>
          </a:xfrm>
          <a:prstGeom prst="rect">
            <a:avLst/>
          </a:prstGeom>
        </p:spPr>
        <p:txBody>
          <a:bodyPr wrap="square">
            <a:spAutoFit/>
          </a:bodyPr>
          <a:lstStyle/>
          <a:p>
            <a:r>
              <a:rPr lang="en-US" dirty="0">
                <a:solidFill>
                  <a:schemeClr val="bg2"/>
                </a:solidFill>
              </a:rPr>
              <a:t>SONET transmission relies on three basic devices: </a:t>
            </a:r>
          </a:p>
          <a:p>
            <a:pPr>
              <a:buFont typeface="Wingdings" pitchFamily="2" charset="2"/>
              <a:buChar char="Ø"/>
            </a:pPr>
            <a:r>
              <a:rPr lang="en-US" dirty="0">
                <a:solidFill>
                  <a:schemeClr val="bg2"/>
                </a:solidFill>
              </a:rPr>
              <a:t>STS multiplexers/</a:t>
            </a:r>
            <a:r>
              <a:rPr lang="en-US" dirty="0" err="1">
                <a:solidFill>
                  <a:schemeClr val="bg2"/>
                </a:solidFill>
              </a:rPr>
              <a:t>demultiplexers</a:t>
            </a:r>
            <a:r>
              <a:rPr lang="en-US" dirty="0">
                <a:solidFill>
                  <a:schemeClr val="bg2"/>
                </a:solidFill>
              </a:rPr>
              <a:t>, </a:t>
            </a:r>
          </a:p>
          <a:p>
            <a:pPr>
              <a:buFont typeface="Wingdings" pitchFamily="2" charset="2"/>
              <a:buChar char="Ø"/>
            </a:pPr>
            <a:r>
              <a:rPr lang="en-US" dirty="0">
                <a:solidFill>
                  <a:schemeClr val="bg2"/>
                </a:solidFill>
              </a:rPr>
              <a:t>Regenerators, </a:t>
            </a:r>
          </a:p>
          <a:p>
            <a:pPr>
              <a:buFont typeface="Wingdings" pitchFamily="2" charset="2"/>
              <a:buChar char="Ø"/>
            </a:pPr>
            <a:r>
              <a:rPr lang="en-US" dirty="0">
                <a:solidFill>
                  <a:schemeClr val="bg2"/>
                </a:solidFill>
              </a:rPr>
              <a:t>add/drop multiplexers and terminals.</a:t>
            </a:r>
          </a:p>
        </p:txBody>
      </p:sp>
      <p:grpSp>
        <p:nvGrpSpPr>
          <p:cNvPr id="2" name="Group 153"/>
          <p:cNvGrpSpPr/>
          <p:nvPr/>
        </p:nvGrpSpPr>
        <p:grpSpPr>
          <a:xfrm>
            <a:off x="1143000" y="2362200"/>
            <a:ext cx="6477000" cy="2362200"/>
            <a:chOff x="1066800" y="2438400"/>
            <a:chExt cx="6477000" cy="2362200"/>
          </a:xfrm>
        </p:grpSpPr>
        <p:grpSp>
          <p:nvGrpSpPr>
            <p:cNvPr id="3" name="Group 128"/>
            <p:cNvGrpSpPr/>
            <p:nvPr/>
          </p:nvGrpSpPr>
          <p:grpSpPr>
            <a:xfrm>
              <a:off x="1066800" y="2438400"/>
              <a:ext cx="6477000" cy="1328410"/>
              <a:chOff x="1066800" y="2438400"/>
              <a:chExt cx="6477000" cy="1328410"/>
            </a:xfrm>
          </p:grpSpPr>
          <p:grpSp>
            <p:nvGrpSpPr>
              <p:cNvPr id="19" name="Group 72"/>
              <p:cNvGrpSpPr/>
              <p:nvPr/>
            </p:nvGrpSpPr>
            <p:grpSpPr>
              <a:xfrm>
                <a:off x="1066800" y="2438400"/>
                <a:ext cx="6477000" cy="1069848"/>
                <a:chOff x="762000" y="2435352"/>
                <a:chExt cx="6477000" cy="1069848"/>
              </a:xfrm>
            </p:grpSpPr>
            <p:grpSp>
              <p:nvGrpSpPr>
                <p:cNvPr id="21" name="Group 68"/>
                <p:cNvGrpSpPr/>
                <p:nvPr/>
              </p:nvGrpSpPr>
              <p:grpSpPr>
                <a:xfrm>
                  <a:off x="762000" y="2435352"/>
                  <a:ext cx="6172200" cy="1069848"/>
                  <a:chOff x="762000" y="2435352"/>
                  <a:chExt cx="6172200" cy="1069848"/>
                </a:xfrm>
              </p:grpSpPr>
              <p:cxnSp>
                <p:nvCxnSpPr>
                  <p:cNvPr id="32" name="Straight Connector 31"/>
                  <p:cNvCxnSpPr/>
                  <p:nvPr/>
                </p:nvCxnSpPr>
                <p:spPr bwMode="auto">
                  <a:xfrm>
                    <a:off x="6477000" y="2971800"/>
                    <a:ext cx="457200" cy="0"/>
                  </a:xfrm>
                  <a:prstGeom prst="line">
                    <a:avLst/>
                  </a:prstGeom>
                  <a:solidFill>
                    <a:schemeClr val="accent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p:cNvCxnSpPr/>
                  <p:nvPr/>
                </p:nvCxnSpPr>
                <p:spPr bwMode="auto">
                  <a:xfrm>
                    <a:off x="6477000" y="2743200"/>
                    <a:ext cx="457200" cy="0"/>
                  </a:xfrm>
                  <a:prstGeom prst="line">
                    <a:avLst/>
                  </a:prstGeom>
                  <a:solidFill>
                    <a:schemeClr val="accent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33"/>
                  <p:cNvCxnSpPr/>
                  <p:nvPr/>
                </p:nvCxnSpPr>
                <p:spPr bwMode="auto">
                  <a:xfrm>
                    <a:off x="6477000" y="3200400"/>
                    <a:ext cx="457200" cy="0"/>
                  </a:xfrm>
                  <a:prstGeom prst="line">
                    <a:avLst/>
                  </a:prstGeom>
                  <a:solidFill>
                    <a:schemeClr val="accent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4" name="Group 67"/>
                  <p:cNvGrpSpPr/>
                  <p:nvPr/>
                </p:nvGrpSpPr>
                <p:grpSpPr>
                  <a:xfrm>
                    <a:off x="762000" y="2435352"/>
                    <a:ext cx="5715000" cy="1069848"/>
                    <a:chOff x="762000" y="2435352"/>
                    <a:chExt cx="5715000" cy="1069848"/>
                  </a:xfrm>
                </p:grpSpPr>
                <p:sp>
                  <p:nvSpPr>
                    <p:cNvPr id="15" name="Trapezoid 14"/>
                    <p:cNvSpPr/>
                    <p:nvPr/>
                  </p:nvSpPr>
                  <p:spPr bwMode="auto">
                    <a:xfrm rot="16200000">
                      <a:off x="5637276" y="2665476"/>
                      <a:ext cx="1069848" cy="609600"/>
                    </a:xfrm>
                    <a:prstGeom prst="trapezoid">
                      <a:avLst/>
                    </a:prstGeom>
                    <a:solidFill>
                      <a:srgbClr val="92D050"/>
                    </a:solidFill>
                    <a:ln w="9525" cap="flat" cmpd="sng" algn="ctr">
                      <a:solidFill>
                        <a:srgbClr val="92D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none" lIns="91440" tIns="45720" rIns="91440" bIns="45720" numCol="1" rtlCol="0" anchor="t" anchorCtr="0" compatLnSpc="1">
                      <a:prstTxWarp prst="textNoShape">
                        <a:avLst/>
                      </a:prstTxWarp>
                    </a:bodyPr>
                    <a:lstStyle/>
                    <a:p>
                      <a:pPr algn="ctr"/>
                      <a:endParaRPr lang="en-US" sz="1400" dirty="0">
                        <a:ln>
                          <a:solidFill>
                            <a:schemeClr val="bg2"/>
                          </a:solidFill>
                        </a:ln>
                        <a:solidFill>
                          <a:schemeClr val="bg2"/>
                        </a:solidFill>
                      </a:endParaRPr>
                    </a:p>
                    <a:p>
                      <a:pPr algn="ctr"/>
                      <a:r>
                        <a:rPr lang="en-US" sz="1000" dirty="0">
                          <a:ln>
                            <a:solidFill>
                              <a:schemeClr val="bg2"/>
                            </a:solidFill>
                          </a:ln>
                          <a:solidFill>
                            <a:schemeClr val="bg2"/>
                          </a:solidFill>
                        </a:rPr>
                        <a:t>STS </a:t>
                      </a:r>
                    </a:p>
                    <a:p>
                      <a:pPr algn="ctr"/>
                      <a:r>
                        <a:rPr lang="en-US" sz="1000" dirty="0">
                          <a:ln>
                            <a:solidFill>
                              <a:schemeClr val="bg2"/>
                            </a:solidFill>
                          </a:ln>
                          <a:solidFill>
                            <a:schemeClr val="bg2"/>
                          </a:solidFill>
                        </a:rPr>
                        <a:t>DEMUX</a:t>
                      </a:r>
                    </a:p>
                    <a:p>
                      <a:pPr algn="ctr"/>
                      <a:endParaRPr lang="en-US" sz="1400" dirty="0">
                        <a:ln>
                          <a:solidFill>
                            <a:schemeClr val="bg2"/>
                          </a:solidFill>
                        </a:ln>
                        <a:solidFill>
                          <a:schemeClr val="bg2"/>
                        </a:solidFill>
                      </a:endParaRPr>
                    </a:p>
                  </p:txBody>
                </p:sp>
                <p:grpSp>
                  <p:nvGrpSpPr>
                    <p:cNvPr id="26" name="Group 66"/>
                    <p:cNvGrpSpPr/>
                    <p:nvPr/>
                  </p:nvGrpSpPr>
                  <p:grpSpPr>
                    <a:xfrm>
                      <a:off x="762000" y="2438400"/>
                      <a:ext cx="5120640" cy="1066800"/>
                      <a:chOff x="762000" y="2438400"/>
                      <a:chExt cx="5120640" cy="1066800"/>
                    </a:xfrm>
                  </p:grpSpPr>
                  <p:cxnSp>
                    <p:nvCxnSpPr>
                      <p:cNvPr id="31" name="Straight Arrow Connector 30"/>
                      <p:cNvCxnSpPr/>
                      <p:nvPr/>
                    </p:nvCxnSpPr>
                    <p:spPr bwMode="auto">
                      <a:xfrm>
                        <a:off x="5334000" y="2971800"/>
                        <a:ext cx="548640" cy="0"/>
                      </a:xfrm>
                      <a:prstGeom prst="straightConnector1">
                        <a:avLst/>
                      </a:prstGeom>
                      <a:solidFill>
                        <a:schemeClr val="accent1"/>
                      </a:solidFill>
                      <a:ln w="9525" cap="rnd" cmpd="sng" algn="ctr">
                        <a:solidFill>
                          <a:schemeClr val="bg2"/>
                        </a:solidFill>
                        <a:prstDash val="solid"/>
                        <a:bevel/>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7" name="Group 65"/>
                      <p:cNvGrpSpPr/>
                      <p:nvPr/>
                    </p:nvGrpSpPr>
                    <p:grpSpPr>
                      <a:xfrm>
                        <a:off x="762000" y="2438400"/>
                        <a:ext cx="4572000" cy="1066800"/>
                        <a:chOff x="762000" y="2438400"/>
                        <a:chExt cx="4572000" cy="1066800"/>
                      </a:xfrm>
                    </p:grpSpPr>
                    <p:grpSp>
                      <p:nvGrpSpPr>
                        <p:cNvPr id="39" name="Group 64"/>
                        <p:cNvGrpSpPr/>
                        <p:nvPr/>
                      </p:nvGrpSpPr>
                      <p:grpSpPr>
                        <a:xfrm>
                          <a:off x="4953000" y="2819400"/>
                          <a:ext cx="381000" cy="307777"/>
                          <a:chOff x="4953000" y="2819400"/>
                          <a:chExt cx="381000" cy="307777"/>
                        </a:xfrm>
                      </p:grpSpPr>
                      <p:sp>
                        <p:nvSpPr>
                          <p:cNvPr id="13" name="Isosceles Triangle 12"/>
                          <p:cNvSpPr/>
                          <p:nvPr/>
                        </p:nvSpPr>
                        <p:spPr bwMode="auto">
                          <a:xfrm rot="5400000">
                            <a:off x="5029200" y="2819400"/>
                            <a:ext cx="304800" cy="304800"/>
                          </a:xfrm>
                          <a:prstGeom prst="triangle">
                            <a:avLst/>
                          </a:prstGeom>
                          <a:solidFill>
                            <a:srgbClr val="C0000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2"/>
                              </a:solidFill>
                              <a:effectLst/>
                              <a:latin typeface="Times New Roman" pitchFamily="18" charset="0"/>
                            </a:endParaRPr>
                          </a:p>
                        </p:txBody>
                      </p:sp>
                      <p:sp>
                        <p:nvSpPr>
                          <p:cNvPr id="37" name="TextBox 36"/>
                          <p:cNvSpPr txBox="1"/>
                          <p:nvPr/>
                        </p:nvSpPr>
                        <p:spPr>
                          <a:xfrm>
                            <a:off x="4953000" y="2819400"/>
                            <a:ext cx="228600" cy="307777"/>
                          </a:xfrm>
                          <a:prstGeom prst="rect">
                            <a:avLst/>
                          </a:prstGeom>
                          <a:noFill/>
                        </p:spPr>
                        <p:txBody>
                          <a:bodyPr wrap="square" rtlCol="0">
                            <a:spAutoFit/>
                          </a:bodyPr>
                          <a:lstStyle/>
                          <a:p>
                            <a:r>
                              <a:rPr lang="en-US" sz="1400" dirty="0">
                                <a:solidFill>
                                  <a:schemeClr val="bg2"/>
                                </a:solidFill>
                              </a:rPr>
                              <a:t>R</a:t>
                            </a:r>
                          </a:p>
                        </p:txBody>
                      </p:sp>
                    </p:grpSp>
                    <p:grpSp>
                      <p:nvGrpSpPr>
                        <p:cNvPr id="45" name="Group 63"/>
                        <p:cNvGrpSpPr/>
                        <p:nvPr/>
                      </p:nvGrpSpPr>
                      <p:grpSpPr>
                        <a:xfrm>
                          <a:off x="762000" y="2438400"/>
                          <a:ext cx="4267200" cy="1066800"/>
                          <a:chOff x="762000" y="2438400"/>
                          <a:chExt cx="4267200" cy="1066800"/>
                        </a:xfrm>
                      </p:grpSpPr>
                      <p:cxnSp>
                        <p:nvCxnSpPr>
                          <p:cNvPr id="30" name="Straight Arrow Connector 29"/>
                          <p:cNvCxnSpPr/>
                          <p:nvPr/>
                        </p:nvCxnSpPr>
                        <p:spPr bwMode="auto">
                          <a:xfrm>
                            <a:off x="4663440" y="2971800"/>
                            <a:ext cx="365760" cy="0"/>
                          </a:xfrm>
                          <a:prstGeom prst="straightConnector1">
                            <a:avLst/>
                          </a:prstGeom>
                          <a:solidFill>
                            <a:schemeClr val="accent1"/>
                          </a:solidFill>
                          <a:ln w="9525" cap="rnd" cmpd="sng" algn="ctr">
                            <a:solidFill>
                              <a:schemeClr val="bg2"/>
                            </a:solidFill>
                            <a:prstDash val="solid"/>
                            <a:bevel/>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6" name="Group 62"/>
                          <p:cNvGrpSpPr/>
                          <p:nvPr/>
                        </p:nvGrpSpPr>
                        <p:grpSpPr>
                          <a:xfrm>
                            <a:off x="762000" y="2438400"/>
                            <a:ext cx="3901440" cy="1066800"/>
                            <a:chOff x="762000" y="2438400"/>
                            <a:chExt cx="3901440" cy="1066800"/>
                          </a:xfrm>
                        </p:grpSpPr>
                        <p:sp>
                          <p:nvSpPr>
                            <p:cNvPr id="14" name="Rectangle 13"/>
                            <p:cNvSpPr>
                              <a:spLocks/>
                            </p:cNvSpPr>
                            <p:nvPr/>
                          </p:nvSpPr>
                          <p:spPr bwMode="auto">
                            <a:xfrm>
                              <a:off x="4206240" y="2590800"/>
                              <a:ext cx="457200" cy="731520"/>
                            </a:xfrm>
                            <a:prstGeom prst="rect">
                              <a:avLst/>
                            </a:prstGeom>
                            <a:solidFill>
                              <a:srgbClr val="92D050"/>
                            </a:solidFill>
                            <a:ln w="9525" cap="flat" cmpd="sng" algn="ctr">
                              <a:solidFill>
                                <a:srgbClr val="92D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lang="en-US" sz="1400" dirty="0">
                                <a:solidFill>
                                  <a:schemeClr val="bg2"/>
                                </a:solidFill>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bg2"/>
                                  </a:solidFill>
                                  <a:effectLst/>
                                  <a:latin typeface="Times New Roman" pitchFamily="18" charset="0"/>
                                </a:rPr>
                                <a:t>ADM</a:t>
                              </a:r>
                            </a:p>
                          </p:txBody>
                        </p:sp>
                        <p:grpSp>
                          <p:nvGrpSpPr>
                            <p:cNvPr id="47" name="Group 61"/>
                            <p:cNvGrpSpPr/>
                            <p:nvPr/>
                          </p:nvGrpSpPr>
                          <p:grpSpPr>
                            <a:xfrm>
                              <a:off x="762000" y="2438400"/>
                              <a:ext cx="3429000" cy="1066800"/>
                              <a:chOff x="762000" y="2438400"/>
                              <a:chExt cx="3429000" cy="1066800"/>
                            </a:xfrm>
                          </p:grpSpPr>
                          <p:cxnSp>
                            <p:nvCxnSpPr>
                              <p:cNvPr id="29" name="Straight Arrow Connector 28"/>
                              <p:cNvCxnSpPr/>
                              <p:nvPr/>
                            </p:nvCxnSpPr>
                            <p:spPr bwMode="auto">
                              <a:xfrm>
                                <a:off x="3733800" y="2971800"/>
                                <a:ext cx="457200" cy="0"/>
                              </a:xfrm>
                              <a:prstGeom prst="straightConnector1">
                                <a:avLst/>
                              </a:prstGeom>
                              <a:solidFill>
                                <a:schemeClr val="accent1"/>
                              </a:solidFill>
                              <a:ln w="9525" cap="rnd" cmpd="sng" algn="ctr">
                                <a:solidFill>
                                  <a:schemeClr val="bg2"/>
                                </a:solidFill>
                                <a:prstDash val="solid"/>
                                <a:bevel/>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8" name="Group 60"/>
                              <p:cNvGrpSpPr/>
                              <p:nvPr/>
                            </p:nvGrpSpPr>
                            <p:grpSpPr>
                              <a:xfrm>
                                <a:off x="762000" y="2438400"/>
                                <a:ext cx="2971800" cy="1066800"/>
                                <a:chOff x="762000" y="2438400"/>
                                <a:chExt cx="2971800" cy="1066800"/>
                              </a:xfrm>
                            </p:grpSpPr>
                            <p:grpSp>
                              <p:nvGrpSpPr>
                                <p:cNvPr id="49" name="Group 58"/>
                                <p:cNvGrpSpPr/>
                                <p:nvPr/>
                              </p:nvGrpSpPr>
                              <p:grpSpPr>
                                <a:xfrm>
                                  <a:off x="3352800" y="2819400"/>
                                  <a:ext cx="381000" cy="307777"/>
                                  <a:chOff x="3352800" y="2819400"/>
                                  <a:chExt cx="381000" cy="307777"/>
                                </a:xfrm>
                              </p:grpSpPr>
                              <p:sp>
                                <p:nvSpPr>
                                  <p:cNvPr id="12" name="Isosceles Triangle 11"/>
                                  <p:cNvSpPr/>
                                  <p:nvPr/>
                                </p:nvSpPr>
                                <p:spPr bwMode="auto">
                                  <a:xfrm rot="5400000">
                                    <a:off x="3429000" y="2819400"/>
                                    <a:ext cx="304800" cy="304800"/>
                                  </a:xfrm>
                                  <a:prstGeom prst="triangle">
                                    <a:avLst/>
                                  </a:prstGeom>
                                  <a:solidFill>
                                    <a:srgbClr val="C0000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2"/>
                                      </a:solidFill>
                                      <a:effectLst/>
                                      <a:latin typeface="Times New Roman" pitchFamily="18" charset="0"/>
                                    </a:endParaRPr>
                                  </a:p>
                                </p:txBody>
                              </p:sp>
                              <p:sp>
                                <p:nvSpPr>
                                  <p:cNvPr id="36" name="TextBox 35"/>
                                  <p:cNvSpPr txBox="1"/>
                                  <p:nvPr/>
                                </p:nvSpPr>
                                <p:spPr>
                                  <a:xfrm>
                                    <a:off x="3352800" y="2819400"/>
                                    <a:ext cx="228600" cy="307777"/>
                                  </a:xfrm>
                                  <a:prstGeom prst="rect">
                                    <a:avLst/>
                                  </a:prstGeom>
                                  <a:noFill/>
                                </p:spPr>
                                <p:txBody>
                                  <a:bodyPr wrap="square" rtlCol="0">
                                    <a:spAutoFit/>
                                  </a:bodyPr>
                                  <a:lstStyle/>
                                  <a:p>
                                    <a:r>
                                      <a:rPr lang="en-US" sz="1400" dirty="0">
                                        <a:solidFill>
                                          <a:schemeClr val="bg2"/>
                                        </a:solidFill>
                                      </a:rPr>
                                      <a:t>R</a:t>
                                    </a:r>
                                  </a:p>
                                </p:txBody>
                              </p:sp>
                            </p:grpSp>
                            <p:grpSp>
                              <p:nvGrpSpPr>
                                <p:cNvPr id="50" name="Group 59"/>
                                <p:cNvGrpSpPr/>
                                <p:nvPr/>
                              </p:nvGrpSpPr>
                              <p:grpSpPr>
                                <a:xfrm>
                                  <a:off x="762000" y="2438400"/>
                                  <a:ext cx="2667000" cy="1066800"/>
                                  <a:chOff x="762000" y="2438400"/>
                                  <a:chExt cx="2667000" cy="1066800"/>
                                </a:xfrm>
                              </p:grpSpPr>
                              <p:cxnSp>
                                <p:nvCxnSpPr>
                                  <p:cNvPr id="28" name="Straight Arrow Connector 27"/>
                                  <p:cNvCxnSpPr/>
                                  <p:nvPr/>
                                </p:nvCxnSpPr>
                                <p:spPr bwMode="auto">
                                  <a:xfrm>
                                    <a:off x="2971800" y="2971800"/>
                                    <a:ext cx="457200" cy="0"/>
                                  </a:xfrm>
                                  <a:prstGeom prst="straightConnector1">
                                    <a:avLst/>
                                  </a:prstGeom>
                                  <a:solidFill>
                                    <a:schemeClr val="accent1"/>
                                  </a:solidFill>
                                  <a:ln w="9525" cap="rnd" cmpd="sng" algn="ctr">
                                    <a:solidFill>
                                      <a:schemeClr val="bg2"/>
                                    </a:solidFill>
                                    <a:prstDash val="solid"/>
                                    <a:bevel/>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1" name="Group 57"/>
                                  <p:cNvGrpSpPr/>
                                  <p:nvPr/>
                                </p:nvGrpSpPr>
                                <p:grpSpPr>
                                  <a:xfrm>
                                    <a:off x="762000" y="2438400"/>
                                    <a:ext cx="2209800" cy="1066800"/>
                                    <a:chOff x="762000" y="2438400"/>
                                    <a:chExt cx="2209800" cy="1066800"/>
                                  </a:xfrm>
                                </p:grpSpPr>
                                <p:grpSp>
                                  <p:nvGrpSpPr>
                                    <p:cNvPr id="52" name="Group 56"/>
                                    <p:cNvGrpSpPr/>
                                    <p:nvPr/>
                                  </p:nvGrpSpPr>
                                  <p:grpSpPr>
                                    <a:xfrm>
                                      <a:off x="2590800" y="2819400"/>
                                      <a:ext cx="381000" cy="307777"/>
                                      <a:chOff x="2590800" y="2819400"/>
                                      <a:chExt cx="381000" cy="307777"/>
                                    </a:xfrm>
                                  </p:grpSpPr>
                                  <p:sp>
                                    <p:nvSpPr>
                                      <p:cNvPr id="11" name="Isosceles Triangle 10"/>
                                      <p:cNvSpPr/>
                                      <p:nvPr/>
                                    </p:nvSpPr>
                                    <p:spPr bwMode="auto">
                                      <a:xfrm rot="5400000">
                                        <a:off x="2667000" y="2819400"/>
                                        <a:ext cx="304800" cy="304800"/>
                                      </a:xfrm>
                                      <a:prstGeom prst="triangle">
                                        <a:avLst/>
                                      </a:prstGeom>
                                      <a:solidFill>
                                        <a:srgbClr val="C0000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270"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bg2"/>
                                          </a:solidFill>
                                          <a:effectLst/>
                                          <a:latin typeface="Times New Roman" pitchFamily="18" charset="0"/>
                                        </a:endParaRPr>
                                      </a:p>
                                    </p:txBody>
                                  </p:sp>
                                  <p:sp>
                                    <p:nvSpPr>
                                      <p:cNvPr id="35" name="TextBox 34"/>
                                      <p:cNvSpPr txBox="1"/>
                                      <p:nvPr/>
                                    </p:nvSpPr>
                                    <p:spPr>
                                      <a:xfrm>
                                        <a:off x="2590800" y="2819400"/>
                                        <a:ext cx="228600" cy="307777"/>
                                      </a:xfrm>
                                      <a:prstGeom prst="rect">
                                        <a:avLst/>
                                      </a:prstGeom>
                                      <a:noFill/>
                                    </p:spPr>
                                    <p:txBody>
                                      <a:bodyPr wrap="square" rtlCol="0">
                                        <a:spAutoFit/>
                                      </a:bodyPr>
                                      <a:lstStyle/>
                                      <a:p>
                                        <a:r>
                                          <a:rPr lang="en-US" sz="1400" dirty="0">
                                            <a:solidFill>
                                              <a:schemeClr val="bg2"/>
                                            </a:solidFill>
                                          </a:rPr>
                                          <a:t>R</a:t>
                                        </a:r>
                                      </a:p>
                                    </p:txBody>
                                  </p:sp>
                                </p:grpSp>
                                <p:grpSp>
                                  <p:nvGrpSpPr>
                                    <p:cNvPr id="53" name="Group 55"/>
                                    <p:cNvGrpSpPr/>
                                    <p:nvPr/>
                                  </p:nvGrpSpPr>
                                  <p:grpSpPr>
                                    <a:xfrm>
                                      <a:off x="762000" y="2438400"/>
                                      <a:ext cx="1905000" cy="1066800"/>
                                      <a:chOff x="762000" y="2438400"/>
                                      <a:chExt cx="1905000" cy="1066800"/>
                                    </a:xfrm>
                                  </p:grpSpPr>
                                  <p:cxnSp>
                                    <p:nvCxnSpPr>
                                      <p:cNvPr id="25" name="Straight Arrow Connector 24"/>
                                      <p:cNvCxnSpPr/>
                                      <p:nvPr/>
                                    </p:nvCxnSpPr>
                                    <p:spPr bwMode="auto">
                                      <a:xfrm>
                                        <a:off x="2209800" y="2971800"/>
                                        <a:ext cx="457200" cy="0"/>
                                      </a:xfrm>
                                      <a:prstGeom prst="straightConnector1">
                                        <a:avLst/>
                                      </a:prstGeom>
                                      <a:solidFill>
                                        <a:schemeClr val="accent1"/>
                                      </a:solidFill>
                                      <a:ln w="9525" cap="rnd" cmpd="sng" algn="ctr">
                                        <a:solidFill>
                                          <a:schemeClr val="bg2"/>
                                        </a:solidFill>
                                        <a:prstDash val="solid"/>
                                        <a:bevel/>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4" name="Group 54"/>
                                      <p:cNvGrpSpPr/>
                                      <p:nvPr/>
                                    </p:nvGrpSpPr>
                                    <p:grpSpPr>
                                      <a:xfrm>
                                        <a:off x="762000" y="2438400"/>
                                        <a:ext cx="1447800" cy="1066800"/>
                                        <a:chOff x="762000" y="2438400"/>
                                        <a:chExt cx="1447800" cy="1066800"/>
                                      </a:xfrm>
                                    </p:grpSpPr>
                                    <p:grpSp>
                                      <p:nvGrpSpPr>
                                        <p:cNvPr id="55" name="Group 51"/>
                                        <p:cNvGrpSpPr/>
                                        <p:nvPr/>
                                      </p:nvGrpSpPr>
                                      <p:grpSpPr>
                                        <a:xfrm>
                                          <a:off x="762000" y="2636520"/>
                                          <a:ext cx="762000" cy="253916"/>
                                          <a:chOff x="762000" y="2636520"/>
                                          <a:chExt cx="762000" cy="253916"/>
                                        </a:xfrm>
                                      </p:grpSpPr>
                                      <p:cxnSp>
                                        <p:nvCxnSpPr>
                                          <p:cNvPr id="23" name="Straight Connector 22"/>
                                          <p:cNvCxnSpPr/>
                                          <p:nvPr/>
                                        </p:nvCxnSpPr>
                                        <p:spPr bwMode="auto">
                                          <a:xfrm>
                                            <a:off x="1066800" y="2743200"/>
                                            <a:ext cx="457200" cy="0"/>
                                          </a:xfrm>
                                          <a:prstGeom prst="line">
                                            <a:avLst/>
                                          </a:prstGeom>
                                          <a:solidFill>
                                            <a:schemeClr val="accent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6" name="Group 38"/>
                                          <p:cNvGrpSpPr/>
                                          <p:nvPr/>
                                        </p:nvGrpSpPr>
                                        <p:grpSpPr>
                                          <a:xfrm>
                                            <a:off x="762000" y="2636520"/>
                                            <a:ext cx="304800" cy="253916"/>
                                            <a:chOff x="762000" y="2636520"/>
                                            <a:chExt cx="304800" cy="253916"/>
                                          </a:xfrm>
                                        </p:grpSpPr>
                                        <p:sp>
                                          <p:nvSpPr>
                                            <p:cNvPr id="8" name="Cube 7"/>
                                            <p:cNvSpPr/>
                                            <p:nvPr/>
                                          </p:nvSpPr>
                                          <p:spPr bwMode="auto">
                                            <a:xfrm>
                                              <a:off x="762000" y="2667000"/>
                                              <a:ext cx="304800" cy="152400"/>
                                            </a:xfrm>
                                            <a:prstGeom prst="cube">
                                              <a:avLst/>
                                            </a:prstGeom>
                                            <a:solidFill>
                                              <a:schemeClr val="tx1">
                                                <a:lumMod val="65000"/>
                                              </a:schemeClr>
                                            </a:solidFill>
                                            <a:ln w="9525" cap="flat" cmpd="sng" algn="ctr">
                                              <a:solidFill>
                                                <a:schemeClr val="tx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bg2"/>
                                                </a:solidFill>
                                                <a:effectLst/>
                                                <a:latin typeface="Times New Roman" pitchFamily="18" charset="0"/>
                                              </a:endParaRPr>
                                            </a:p>
                                          </p:txBody>
                                        </p:sp>
                                        <p:sp>
                                          <p:nvSpPr>
                                            <p:cNvPr id="38" name="TextBox 37"/>
                                            <p:cNvSpPr txBox="1"/>
                                            <p:nvPr/>
                                          </p:nvSpPr>
                                          <p:spPr>
                                            <a:xfrm>
                                              <a:off x="762000" y="2636520"/>
                                              <a:ext cx="182880" cy="253916"/>
                                            </a:xfrm>
                                            <a:prstGeom prst="rect">
                                              <a:avLst/>
                                            </a:prstGeom>
                                            <a:noFill/>
                                          </p:spPr>
                                          <p:txBody>
                                            <a:bodyPr wrap="square" rtlCol="0">
                                              <a:spAutoFit/>
                                            </a:bodyPr>
                                            <a:lstStyle/>
                                            <a:p>
                                              <a:r>
                                                <a:rPr lang="en-US" sz="1050" dirty="0">
                                                  <a:solidFill>
                                                    <a:schemeClr val="bg2"/>
                                                  </a:solidFill>
                                                </a:rPr>
                                                <a:t>T</a:t>
                                              </a:r>
                                            </a:p>
                                          </p:txBody>
                                        </p:sp>
                                      </p:grpSp>
                                    </p:grpSp>
                                    <p:grpSp>
                                      <p:nvGrpSpPr>
                                        <p:cNvPr id="57" name="Group 53"/>
                                        <p:cNvGrpSpPr/>
                                        <p:nvPr/>
                                      </p:nvGrpSpPr>
                                      <p:grpSpPr>
                                        <a:xfrm>
                                          <a:off x="762000" y="2438400"/>
                                          <a:ext cx="1447800" cy="1066800"/>
                                          <a:chOff x="762000" y="2438400"/>
                                          <a:chExt cx="1447800" cy="1066800"/>
                                        </a:xfrm>
                                      </p:grpSpPr>
                                      <p:grpSp>
                                        <p:nvGrpSpPr>
                                          <p:cNvPr id="58" name="Group 49"/>
                                          <p:cNvGrpSpPr/>
                                          <p:nvPr/>
                                        </p:nvGrpSpPr>
                                        <p:grpSpPr>
                                          <a:xfrm>
                                            <a:off x="762000" y="2870284"/>
                                            <a:ext cx="762000" cy="253916"/>
                                            <a:chOff x="762000" y="2870284"/>
                                            <a:chExt cx="762000" cy="253916"/>
                                          </a:xfrm>
                                        </p:grpSpPr>
                                        <p:sp>
                                          <p:nvSpPr>
                                            <p:cNvPr id="9" name="Cube 8"/>
                                            <p:cNvSpPr/>
                                            <p:nvPr/>
                                          </p:nvSpPr>
                                          <p:spPr bwMode="auto">
                                            <a:xfrm>
                                              <a:off x="762000" y="2895600"/>
                                              <a:ext cx="304800" cy="152400"/>
                                            </a:xfrm>
                                            <a:prstGeom prst="cube">
                                              <a:avLst/>
                                            </a:prstGeom>
                                            <a:solidFill>
                                              <a:schemeClr val="tx1">
                                                <a:lumMod val="65000"/>
                                              </a:schemeClr>
                                            </a:solidFill>
                                            <a:ln w="9525" cap="flat" cmpd="sng" algn="ctr">
                                              <a:solidFill>
                                                <a:schemeClr val="tx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2"/>
                                                </a:solidFill>
                                                <a:effectLst/>
                                                <a:latin typeface="Times New Roman" pitchFamily="18" charset="0"/>
                                              </a:endParaRPr>
                                            </a:p>
                                          </p:txBody>
                                        </p:sp>
                                        <p:cxnSp>
                                          <p:nvCxnSpPr>
                                            <p:cNvPr id="20" name="Straight Connector 19"/>
                                            <p:cNvCxnSpPr/>
                                            <p:nvPr/>
                                          </p:nvCxnSpPr>
                                          <p:spPr bwMode="auto">
                                            <a:xfrm>
                                              <a:off x="1066800" y="2971800"/>
                                              <a:ext cx="457200" cy="0"/>
                                            </a:xfrm>
                                            <a:prstGeom prst="line">
                                              <a:avLst/>
                                            </a:prstGeom>
                                            <a:solidFill>
                                              <a:schemeClr val="accent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Box 39"/>
                                            <p:cNvSpPr txBox="1"/>
                                            <p:nvPr/>
                                          </p:nvSpPr>
                                          <p:spPr>
                                            <a:xfrm>
                                              <a:off x="762000" y="2870284"/>
                                              <a:ext cx="182880" cy="253916"/>
                                            </a:xfrm>
                                            <a:prstGeom prst="rect">
                                              <a:avLst/>
                                            </a:prstGeom>
                                            <a:noFill/>
                                          </p:spPr>
                                          <p:txBody>
                                            <a:bodyPr wrap="square" rtlCol="0">
                                              <a:spAutoFit/>
                                            </a:bodyPr>
                                            <a:lstStyle/>
                                            <a:p>
                                              <a:r>
                                                <a:rPr lang="en-US" sz="1050" dirty="0">
                                                  <a:solidFill>
                                                    <a:schemeClr val="bg2"/>
                                                  </a:solidFill>
                                                </a:rPr>
                                                <a:t>T</a:t>
                                              </a:r>
                                            </a:p>
                                          </p:txBody>
                                        </p:sp>
                                      </p:grpSp>
                                      <p:grpSp>
                                        <p:nvGrpSpPr>
                                          <p:cNvPr id="59" name="Group 52"/>
                                          <p:cNvGrpSpPr/>
                                          <p:nvPr/>
                                        </p:nvGrpSpPr>
                                        <p:grpSpPr>
                                          <a:xfrm>
                                            <a:off x="762000" y="2438400"/>
                                            <a:ext cx="1447800" cy="1066800"/>
                                            <a:chOff x="762000" y="2438400"/>
                                            <a:chExt cx="1447800" cy="1066800"/>
                                          </a:xfrm>
                                        </p:grpSpPr>
                                        <p:sp>
                                          <p:nvSpPr>
                                            <p:cNvPr id="5" name="Trapezoid 4"/>
                                            <p:cNvSpPr/>
                                            <p:nvPr/>
                                          </p:nvSpPr>
                                          <p:spPr bwMode="auto">
                                            <a:xfrm rot="5400000">
                                              <a:off x="1333500" y="2628900"/>
                                              <a:ext cx="1066800" cy="685800"/>
                                            </a:xfrm>
                                            <a:prstGeom prst="trapezoid">
                                              <a:avLst/>
                                            </a:prstGeom>
                                            <a:solidFill>
                                              <a:srgbClr val="92D050"/>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270"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solidFill>
                                                    <a:schemeClr val="bg2"/>
                                                  </a:solidFill>
                                                </a:ln>
                                                <a:solidFill>
                                                  <a:schemeClr val="bg2"/>
                                                </a:solidFill>
                                                <a:effectLst/>
                                                <a:latin typeface="Times New Roman" pitchFamily="18" charset="0"/>
                                              </a:endParaRPr>
                                            </a:p>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solidFill>
                                                      <a:schemeClr val="bg2"/>
                                                    </a:solidFill>
                                                  </a:ln>
                                                  <a:solidFill>
                                                    <a:schemeClr val="bg2"/>
                                                  </a:solidFill>
                                                  <a:effectLst/>
                                                  <a:latin typeface="Times New Roman" pitchFamily="18" charset="0"/>
                                                </a:rPr>
                                                <a:t>STS </a:t>
                                              </a:r>
                                            </a:p>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solidFill>
                                                      <a:schemeClr val="bg2"/>
                                                    </a:solidFill>
                                                  </a:ln>
                                                  <a:solidFill>
                                                    <a:schemeClr val="bg2"/>
                                                  </a:solidFill>
                                                  <a:effectLst/>
                                                  <a:latin typeface="Times New Roman" pitchFamily="18" charset="0"/>
                                                </a:rPr>
                                                <a:t>MUX</a:t>
                                              </a:r>
                                            </a:p>
                                          </p:txBody>
                                        </p:sp>
                                        <p:grpSp>
                                          <p:nvGrpSpPr>
                                            <p:cNvPr id="60" name="Group 50"/>
                                            <p:cNvGrpSpPr/>
                                            <p:nvPr/>
                                          </p:nvGrpSpPr>
                                          <p:grpSpPr>
                                            <a:xfrm>
                                              <a:off x="762000" y="3098884"/>
                                              <a:ext cx="762000" cy="253916"/>
                                              <a:chOff x="762000" y="3098884"/>
                                              <a:chExt cx="762000" cy="253916"/>
                                            </a:xfrm>
                                          </p:grpSpPr>
                                          <p:sp>
                                            <p:nvSpPr>
                                              <p:cNvPr id="10" name="Cube 9"/>
                                              <p:cNvSpPr/>
                                              <p:nvPr/>
                                            </p:nvSpPr>
                                            <p:spPr bwMode="auto">
                                              <a:xfrm>
                                                <a:off x="762000" y="3124200"/>
                                                <a:ext cx="304800" cy="152400"/>
                                              </a:xfrm>
                                              <a:prstGeom prst="cube">
                                                <a:avLst/>
                                              </a:prstGeom>
                                              <a:solidFill>
                                                <a:schemeClr val="tx1">
                                                  <a:lumMod val="65000"/>
                                                </a:schemeClr>
                                              </a:solidFill>
                                              <a:ln w="9525" cap="flat" cmpd="sng" algn="ctr">
                                                <a:solidFill>
                                                  <a:schemeClr val="tx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2"/>
                                                  </a:solidFill>
                                                  <a:effectLst/>
                                                  <a:latin typeface="Times New Roman" pitchFamily="18" charset="0"/>
                                                </a:endParaRPr>
                                              </a:p>
                                            </p:txBody>
                                          </p:sp>
                                          <p:cxnSp>
                                            <p:nvCxnSpPr>
                                              <p:cNvPr id="22" name="Straight Connector 21"/>
                                              <p:cNvCxnSpPr/>
                                              <p:nvPr/>
                                            </p:nvCxnSpPr>
                                            <p:spPr bwMode="auto">
                                              <a:xfrm>
                                                <a:off x="1066800" y="3200400"/>
                                                <a:ext cx="457200" cy="0"/>
                                              </a:xfrm>
                                              <a:prstGeom prst="line">
                                                <a:avLst/>
                                              </a:prstGeom>
                                              <a:solidFill>
                                                <a:schemeClr val="accent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TextBox 40"/>
                                              <p:cNvSpPr txBox="1"/>
                                              <p:nvPr/>
                                            </p:nvSpPr>
                                            <p:spPr>
                                              <a:xfrm>
                                                <a:off x="762000" y="3098884"/>
                                                <a:ext cx="182880" cy="253916"/>
                                              </a:xfrm>
                                              <a:prstGeom prst="rect">
                                                <a:avLst/>
                                              </a:prstGeom>
                                              <a:noFill/>
                                            </p:spPr>
                                            <p:txBody>
                                              <a:bodyPr wrap="square" rtlCol="0">
                                                <a:spAutoFit/>
                                              </a:bodyPr>
                                              <a:lstStyle/>
                                              <a:p>
                                                <a:r>
                                                  <a:rPr lang="en-US" sz="1050" dirty="0">
                                                    <a:solidFill>
                                                      <a:schemeClr val="bg2"/>
                                                    </a:solidFill>
                                                  </a:rPr>
                                                  <a:t>T</a:t>
                                                </a:r>
                                              </a:p>
                                            </p:txBody>
                                          </p:sp>
                                        </p:grpSp>
                                      </p:grpSp>
                                    </p:grpSp>
                                  </p:grpSp>
                                </p:grpSp>
                              </p:grpSp>
                            </p:grpSp>
                          </p:grpSp>
                        </p:grpSp>
                      </p:grpSp>
                    </p:grpSp>
                  </p:grpSp>
                </p:grpSp>
              </p:grpSp>
            </p:grpSp>
            <p:grpSp>
              <p:nvGrpSpPr>
                <p:cNvPr id="61" name="Group 69"/>
                <p:cNvGrpSpPr/>
                <p:nvPr/>
              </p:nvGrpSpPr>
              <p:grpSpPr>
                <a:xfrm>
                  <a:off x="6934200" y="2641684"/>
                  <a:ext cx="304800" cy="253916"/>
                  <a:chOff x="6934200" y="2641684"/>
                  <a:chExt cx="304800" cy="253916"/>
                </a:xfrm>
              </p:grpSpPr>
              <p:sp>
                <p:nvSpPr>
                  <p:cNvPr id="16" name="Cube 15"/>
                  <p:cNvSpPr/>
                  <p:nvPr/>
                </p:nvSpPr>
                <p:spPr bwMode="auto">
                  <a:xfrm>
                    <a:off x="6934200" y="2667000"/>
                    <a:ext cx="304800" cy="152400"/>
                  </a:xfrm>
                  <a:prstGeom prst="cube">
                    <a:avLst/>
                  </a:prstGeom>
                  <a:solidFill>
                    <a:schemeClr val="tx1">
                      <a:lumMod val="65000"/>
                    </a:schemeClr>
                  </a:solidFill>
                  <a:ln w="9525" cap="flat" cmpd="sng" algn="ctr">
                    <a:solidFill>
                      <a:schemeClr val="tx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2"/>
                      </a:solidFill>
                      <a:effectLst/>
                      <a:latin typeface="Times New Roman" pitchFamily="18" charset="0"/>
                    </a:endParaRPr>
                  </a:p>
                </p:txBody>
              </p:sp>
              <p:sp>
                <p:nvSpPr>
                  <p:cNvPr id="42" name="TextBox 41"/>
                  <p:cNvSpPr txBox="1"/>
                  <p:nvPr/>
                </p:nvSpPr>
                <p:spPr>
                  <a:xfrm>
                    <a:off x="6934200" y="2641684"/>
                    <a:ext cx="182880" cy="253916"/>
                  </a:xfrm>
                  <a:prstGeom prst="rect">
                    <a:avLst/>
                  </a:prstGeom>
                  <a:noFill/>
                </p:spPr>
                <p:txBody>
                  <a:bodyPr wrap="square" rtlCol="0">
                    <a:spAutoFit/>
                  </a:bodyPr>
                  <a:lstStyle/>
                  <a:p>
                    <a:r>
                      <a:rPr lang="en-US" sz="1050" dirty="0">
                        <a:solidFill>
                          <a:schemeClr val="bg2"/>
                        </a:solidFill>
                      </a:rPr>
                      <a:t>T</a:t>
                    </a:r>
                  </a:p>
                </p:txBody>
              </p:sp>
            </p:grpSp>
            <p:grpSp>
              <p:nvGrpSpPr>
                <p:cNvPr id="62" name="Group 70"/>
                <p:cNvGrpSpPr/>
                <p:nvPr/>
              </p:nvGrpSpPr>
              <p:grpSpPr>
                <a:xfrm>
                  <a:off x="6934200" y="2870284"/>
                  <a:ext cx="304800" cy="253916"/>
                  <a:chOff x="6934200" y="2870284"/>
                  <a:chExt cx="304800" cy="253916"/>
                </a:xfrm>
              </p:grpSpPr>
              <p:sp>
                <p:nvSpPr>
                  <p:cNvPr id="17" name="Cube 16"/>
                  <p:cNvSpPr/>
                  <p:nvPr/>
                </p:nvSpPr>
                <p:spPr bwMode="auto">
                  <a:xfrm>
                    <a:off x="6934200" y="2895600"/>
                    <a:ext cx="304800" cy="152400"/>
                  </a:xfrm>
                  <a:prstGeom prst="cube">
                    <a:avLst/>
                  </a:prstGeom>
                  <a:solidFill>
                    <a:schemeClr val="tx1">
                      <a:lumMod val="65000"/>
                    </a:schemeClr>
                  </a:solidFill>
                  <a:ln w="9525" cap="flat" cmpd="sng" algn="ctr">
                    <a:solidFill>
                      <a:schemeClr val="tx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2"/>
                      </a:solidFill>
                      <a:effectLst/>
                      <a:latin typeface="Times New Roman" pitchFamily="18" charset="0"/>
                    </a:endParaRPr>
                  </a:p>
                </p:txBody>
              </p:sp>
              <p:sp>
                <p:nvSpPr>
                  <p:cNvPr id="43" name="TextBox 42"/>
                  <p:cNvSpPr txBox="1"/>
                  <p:nvPr/>
                </p:nvSpPr>
                <p:spPr>
                  <a:xfrm>
                    <a:off x="6934200" y="2870284"/>
                    <a:ext cx="182880" cy="253916"/>
                  </a:xfrm>
                  <a:prstGeom prst="rect">
                    <a:avLst/>
                  </a:prstGeom>
                  <a:noFill/>
                </p:spPr>
                <p:txBody>
                  <a:bodyPr wrap="square" rtlCol="0">
                    <a:spAutoFit/>
                  </a:bodyPr>
                  <a:lstStyle/>
                  <a:p>
                    <a:r>
                      <a:rPr lang="en-US" sz="1050" dirty="0">
                        <a:solidFill>
                          <a:schemeClr val="bg2"/>
                        </a:solidFill>
                      </a:rPr>
                      <a:t>T</a:t>
                    </a:r>
                  </a:p>
                </p:txBody>
              </p:sp>
            </p:grpSp>
            <p:grpSp>
              <p:nvGrpSpPr>
                <p:cNvPr id="63" name="Group 71"/>
                <p:cNvGrpSpPr/>
                <p:nvPr/>
              </p:nvGrpSpPr>
              <p:grpSpPr>
                <a:xfrm>
                  <a:off x="6934200" y="3098884"/>
                  <a:ext cx="304800" cy="253916"/>
                  <a:chOff x="6934200" y="3098884"/>
                  <a:chExt cx="304800" cy="253916"/>
                </a:xfrm>
              </p:grpSpPr>
              <p:sp>
                <p:nvSpPr>
                  <p:cNvPr id="18" name="Cube 17"/>
                  <p:cNvSpPr/>
                  <p:nvPr/>
                </p:nvSpPr>
                <p:spPr bwMode="auto">
                  <a:xfrm>
                    <a:off x="6934200" y="3124200"/>
                    <a:ext cx="304800" cy="152400"/>
                  </a:xfrm>
                  <a:prstGeom prst="cube">
                    <a:avLst/>
                  </a:prstGeom>
                  <a:solidFill>
                    <a:schemeClr val="tx1">
                      <a:lumMod val="65000"/>
                    </a:schemeClr>
                  </a:solidFill>
                  <a:ln w="9525" cap="flat" cmpd="sng" algn="ctr">
                    <a:solidFill>
                      <a:schemeClr val="tx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2"/>
                      </a:solidFill>
                      <a:effectLst/>
                      <a:latin typeface="Times New Roman" pitchFamily="18" charset="0"/>
                    </a:endParaRPr>
                  </a:p>
                </p:txBody>
              </p:sp>
              <p:sp>
                <p:nvSpPr>
                  <p:cNvPr id="44" name="TextBox 43"/>
                  <p:cNvSpPr txBox="1"/>
                  <p:nvPr/>
                </p:nvSpPr>
                <p:spPr>
                  <a:xfrm>
                    <a:off x="6934200" y="3098884"/>
                    <a:ext cx="182880" cy="253916"/>
                  </a:xfrm>
                  <a:prstGeom prst="rect">
                    <a:avLst/>
                  </a:prstGeom>
                  <a:noFill/>
                </p:spPr>
                <p:txBody>
                  <a:bodyPr wrap="square" rtlCol="0">
                    <a:spAutoFit/>
                  </a:bodyPr>
                  <a:lstStyle/>
                  <a:p>
                    <a:r>
                      <a:rPr lang="en-US" sz="1050" dirty="0">
                        <a:solidFill>
                          <a:schemeClr val="bg2"/>
                        </a:solidFill>
                      </a:rPr>
                      <a:t>T</a:t>
                    </a:r>
                  </a:p>
                </p:txBody>
              </p:sp>
            </p:grpSp>
          </p:grpSp>
          <p:cxnSp>
            <p:nvCxnSpPr>
              <p:cNvPr id="124" name="Straight Arrow Connector 123"/>
              <p:cNvCxnSpPr/>
              <p:nvPr/>
            </p:nvCxnSpPr>
            <p:spPr bwMode="auto">
              <a:xfrm flipH="1">
                <a:off x="4648200" y="3325368"/>
                <a:ext cx="0" cy="256032"/>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Straight Arrow Connector 125"/>
              <p:cNvCxnSpPr/>
              <p:nvPr/>
            </p:nvCxnSpPr>
            <p:spPr bwMode="auto">
              <a:xfrm flipV="1">
                <a:off x="4876800" y="3325368"/>
                <a:ext cx="0" cy="256032"/>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TextBox 126"/>
              <p:cNvSpPr txBox="1"/>
              <p:nvPr/>
            </p:nvSpPr>
            <p:spPr>
              <a:xfrm>
                <a:off x="4267200" y="3505200"/>
                <a:ext cx="457200" cy="261610"/>
              </a:xfrm>
              <a:prstGeom prst="rect">
                <a:avLst/>
              </a:prstGeom>
              <a:noFill/>
            </p:spPr>
            <p:txBody>
              <a:bodyPr wrap="square" rtlCol="0">
                <a:spAutoFit/>
              </a:bodyPr>
              <a:lstStyle/>
              <a:p>
                <a:r>
                  <a:rPr lang="en-US" sz="1100" dirty="0">
                    <a:solidFill>
                      <a:schemeClr val="bg2"/>
                    </a:solidFill>
                  </a:rPr>
                  <a:t>Add</a:t>
                </a:r>
              </a:p>
            </p:txBody>
          </p:sp>
          <p:sp>
            <p:nvSpPr>
              <p:cNvPr id="128" name="TextBox 127"/>
              <p:cNvSpPr txBox="1"/>
              <p:nvPr/>
            </p:nvSpPr>
            <p:spPr>
              <a:xfrm>
                <a:off x="4800600" y="3505200"/>
                <a:ext cx="685800" cy="261610"/>
              </a:xfrm>
              <a:prstGeom prst="rect">
                <a:avLst/>
              </a:prstGeom>
              <a:noFill/>
            </p:spPr>
            <p:txBody>
              <a:bodyPr wrap="square" rtlCol="0">
                <a:spAutoFit/>
              </a:bodyPr>
              <a:lstStyle/>
              <a:p>
                <a:r>
                  <a:rPr lang="en-US" sz="1100" dirty="0">
                    <a:solidFill>
                      <a:schemeClr val="bg2"/>
                    </a:solidFill>
                  </a:rPr>
                  <a:t>Drop</a:t>
                </a:r>
              </a:p>
            </p:txBody>
          </p:sp>
        </p:grpSp>
        <p:grpSp>
          <p:nvGrpSpPr>
            <p:cNvPr id="64" name="Group 152"/>
            <p:cNvGrpSpPr/>
            <p:nvPr/>
          </p:nvGrpSpPr>
          <p:grpSpPr>
            <a:xfrm>
              <a:off x="2496312" y="3806952"/>
              <a:ext cx="3675888" cy="993648"/>
              <a:chOff x="2496312" y="3806952"/>
              <a:chExt cx="3675888" cy="993648"/>
            </a:xfrm>
          </p:grpSpPr>
          <p:grpSp>
            <p:nvGrpSpPr>
              <p:cNvPr id="65" name="Group 137"/>
              <p:cNvGrpSpPr/>
              <p:nvPr/>
            </p:nvGrpSpPr>
            <p:grpSpPr>
              <a:xfrm>
                <a:off x="3944112" y="3806952"/>
                <a:ext cx="627888" cy="307848"/>
                <a:chOff x="3944112" y="3806952"/>
                <a:chExt cx="627888" cy="307848"/>
              </a:xfrm>
            </p:grpSpPr>
            <p:grpSp>
              <p:nvGrpSpPr>
                <p:cNvPr id="66" name="Group 98"/>
                <p:cNvGrpSpPr/>
                <p:nvPr/>
              </p:nvGrpSpPr>
              <p:grpSpPr>
                <a:xfrm>
                  <a:off x="4038600" y="3806952"/>
                  <a:ext cx="457200" cy="155448"/>
                  <a:chOff x="2514600" y="3429000"/>
                  <a:chExt cx="457200" cy="152400"/>
                </a:xfrm>
              </p:grpSpPr>
              <p:cxnSp>
                <p:nvCxnSpPr>
                  <p:cNvPr id="100" name="Straight Connector 99"/>
                  <p:cNvCxnSpPr/>
                  <p:nvPr/>
                </p:nvCxnSpPr>
                <p:spPr bwMode="auto">
                  <a:xfrm>
                    <a:off x="2514600" y="3581400"/>
                    <a:ext cx="457200" cy="0"/>
                  </a:xfrm>
                  <a:prstGeom prst="line">
                    <a:avLst/>
                  </a:prstGeom>
                  <a:solidFill>
                    <a:schemeClr val="accent1"/>
                  </a:solidFill>
                  <a:ln w="9525" cap="flat" cmpd="sng" algn="ctr">
                    <a:solidFill>
                      <a:schemeClr val="bg2"/>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Straight Arrow Connector 100"/>
                  <p:cNvCxnSpPr/>
                  <p:nvPr/>
                </p:nvCxnSpPr>
                <p:spPr bwMode="auto">
                  <a:xfrm flipV="1">
                    <a:off x="25146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Straight Arrow Connector 101"/>
                  <p:cNvCxnSpPr/>
                  <p:nvPr/>
                </p:nvCxnSpPr>
                <p:spPr bwMode="auto">
                  <a:xfrm flipV="1">
                    <a:off x="29718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3" name="TextBox 132"/>
                <p:cNvSpPr txBox="1">
                  <a:spLocks/>
                </p:cNvSpPr>
                <p:nvPr/>
              </p:nvSpPr>
              <p:spPr>
                <a:xfrm>
                  <a:off x="3944112" y="3931920"/>
                  <a:ext cx="627888" cy="182880"/>
                </a:xfrm>
                <a:prstGeom prst="rect">
                  <a:avLst/>
                </a:prstGeom>
                <a:noFill/>
              </p:spPr>
              <p:txBody>
                <a:bodyPr wrap="square" lIns="0" tIns="0" rIns="0" bIns="0" rtlCol="0" anchor="t" anchorCtr="1">
                  <a:normAutofit fontScale="62500" lnSpcReduction="20000"/>
                </a:bodyPr>
                <a:lstStyle/>
                <a:p>
                  <a:pPr algn="ctr"/>
                  <a:r>
                    <a:rPr lang="en-US" sz="1600" dirty="0">
                      <a:solidFill>
                        <a:schemeClr val="bg2"/>
                      </a:solidFill>
                    </a:rPr>
                    <a:t>Section</a:t>
                  </a:r>
                  <a:r>
                    <a:rPr lang="en-US" dirty="0">
                      <a:solidFill>
                        <a:schemeClr val="bg2"/>
                      </a:solidFill>
                    </a:rPr>
                    <a:t> </a:t>
                  </a:r>
                </a:p>
              </p:txBody>
            </p:sp>
          </p:grpSp>
          <p:grpSp>
            <p:nvGrpSpPr>
              <p:cNvPr id="67" name="Group 151"/>
              <p:cNvGrpSpPr/>
              <p:nvPr/>
            </p:nvGrpSpPr>
            <p:grpSpPr>
              <a:xfrm>
                <a:off x="2496312" y="3806952"/>
                <a:ext cx="3675888" cy="993648"/>
                <a:chOff x="2496312" y="3806952"/>
                <a:chExt cx="3675888" cy="993648"/>
              </a:xfrm>
            </p:grpSpPr>
            <p:grpSp>
              <p:nvGrpSpPr>
                <p:cNvPr id="68" name="Group 136"/>
                <p:cNvGrpSpPr/>
                <p:nvPr/>
              </p:nvGrpSpPr>
              <p:grpSpPr>
                <a:xfrm>
                  <a:off x="3200400" y="3806952"/>
                  <a:ext cx="627888" cy="307848"/>
                  <a:chOff x="3200400" y="3806952"/>
                  <a:chExt cx="627888" cy="307848"/>
                </a:xfrm>
              </p:grpSpPr>
              <p:grpSp>
                <p:nvGrpSpPr>
                  <p:cNvPr id="69" name="Group 94"/>
                  <p:cNvGrpSpPr/>
                  <p:nvPr/>
                </p:nvGrpSpPr>
                <p:grpSpPr>
                  <a:xfrm>
                    <a:off x="3291840" y="3806952"/>
                    <a:ext cx="457200" cy="155448"/>
                    <a:chOff x="2514600" y="3429000"/>
                    <a:chExt cx="457200" cy="152400"/>
                  </a:xfrm>
                </p:grpSpPr>
                <p:cxnSp>
                  <p:nvCxnSpPr>
                    <p:cNvPr id="96" name="Straight Connector 95"/>
                    <p:cNvCxnSpPr/>
                    <p:nvPr/>
                  </p:nvCxnSpPr>
                  <p:spPr bwMode="auto">
                    <a:xfrm>
                      <a:off x="2514600" y="3581400"/>
                      <a:ext cx="457200" cy="0"/>
                    </a:xfrm>
                    <a:prstGeom prst="line">
                      <a:avLst/>
                    </a:prstGeom>
                    <a:solidFill>
                      <a:schemeClr val="accent1"/>
                    </a:solidFill>
                    <a:ln w="9525" cap="flat" cmpd="sng" algn="ctr">
                      <a:solidFill>
                        <a:schemeClr val="bg2"/>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Straight Arrow Connector 96"/>
                    <p:cNvCxnSpPr/>
                    <p:nvPr/>
                  </p:nvCxnSpPr>
                  <p:spPr bwMode="auto">
                    <a:xfrm flipV="1">
                      <a:off x="25146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Straight Arrow Connector 97"/>
                    <p:cNvCxnSpPr/>
                    <p:nvPr/>
                  </p:nvCxnSpPr>
                  <p:spPr bwMode="auto">
                    <a:xfrm flipV="1">
                      <a:off x="29718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2" name="TextBox 131"/>
                  <p:cNvSpPr txBox="1">
                    <a:spLocks/>
                  </p:cNvSpPr>
                  <p:nvPr/>
                </p:nvSpPr>
                <p:spPr>
                  <a:xfrm>
                    <a:off x="3200400" y="3931920"/>
                    <a:ext cx="627888" cy="182880"/>
                  </a:xfrm>
                  <a:prstGeom prst="rect">
                    <a:avLst/>
                  </a:prstGeom>
                  <a:noFill/>
                </p:spPr>
                <p:txBody>
                  <a:bodyPr wrap="square" lIns="0" tIns="0" rIns="0" bIns="0" rtlCol="0" anchor="t" anchorCtr="1">
                    <a:normAutofit fontScale="62500" lnSpcReduction="20000"/>
                  </a:bodyPr>
                  <a:lstStyle/>
                  <a:p>
                    <a:pPr algn="ctr"/>
                    <a:r>
                      <a:rPr lang="en-US" sz="1600" dirty="0">
                        <a:solidFill>
                          <a:schemeClr val="bg2"/>
                        </a:solidFill>
                      </a:rPr>
                      <a:t>Section</a:t>
                    </a:r>
                    <a:r>
                      <a:rPr lang="en-US" dirty="0">
                        <a:solidFill>
                          <a:schemeClr val="bg2"/>
                        </a:solidFill>
                      </a:rPr>
                      <a:t> </a:t>
                    </a:r>
                  </a:p>
                </p:txBody>
              </p:sp>
            </p:grpSp>
            <p:grpSp>
              <p:nvGrpSpPr>
                <p:cNvPr id="70" name="Group 150"/>
                <p:cNvGrpSpPr/>
                <p:nvPr/>
              </p:nvGrpSpPr>
              <p:grpSpPr>
                <a:xfrm>
                  <a:off x="2496312" y="3806952"/>
                  <a:ext cx="3675888" cy="993648"/>
                  <a:chOff x="2496312" y="3806952"/>
                  <a:chExt cx="3675888" cy="993648"/>
                </a:xfrm>
              </p:grpSpPr>
              <p:grpSp>
                <p:nvGrpSpPr>
                  <p:cNvPr id="71" name="Group 135"/>
                  <p:cNvGrpSpPr/>
                  <p:nvPr/>
                </p:nvGrpSpPr>
                <p:grpSpPr>
                  <a:xfrm>
                    <a:off x="2496312" y="3810000"/>
                    <a:ext cx="627888" cy="304800"/>
                    <a:chOff x="2496312" y="3810000"/>
                    <a:chExt cx="627888" cy="304800"/>
                  </a:xfrm>
                </p:grpSpPr>
                <p:grpSp>
                  <p:nvGrpSpPr>
                    <p:cNvPr id="72" name="Group 93"/>
                    <p:cNvGrpSpPr/>
                    <p:nvPr/>
                  </p:nvGrpSpPr>
                  <p:grpSpPr>
                    <a:xfrm>
                      <a:off x="2606040" y="3810000"/>
                      <a:ext cx="365760" cy="152400"/>
                      <a:chOff x="2514600" y="3429000"/>
                      <a:chExt cx="457200" cy="152400"/>
                    </a:xfrm>
                  </p:grpSpPr>
                  <p:cxnSp>
                    <p:nvCxnSpPr>
                      <p:cNvPr id="89" name="Straight Connector 88"/>
                      <p:cNvCxnSpPr/>
                      <p:nvPr/>
                    </p:nvCxnSpPr>
                    <p:spPr bwMode="auto">
                      <a:xfrm>
                        <a:off x="2514600" y="3581400"/>
                        <a:ext cx="457200" cy="0"/>
                      </a:xfrm>
                      <a:prstGeom prst="line">
                        <a:avLst/>
                      </a:prstGeom>
                      <a:solidFill>
                        <a:schemeClr val="accent1"/>
                      </a:solidFill>
                      <a:ln w="9525" cap="flat" cmpd="sng" algn="ctr">
                        <a:solidFill>
                          <a:schemeClr val="bg2"/>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Straight Arrow Connector 90"/>
                      <p:cNvCxnSpPr/>
                      <p:nvPr/>
                    </p:nvCxnSpPr>
                    <p:spPr bwMode="auto">
                      <a:xfrm flipV="1">
                        <a:off x="25146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Straight Arrow Connector 92"/>
                      <p:cNvCxnSpPr/>
                      <p:nvPr/>
                    </p:nvCxnSpPr>
                    <p:spPr bwMode="auto">
                      <a:xfrm flipV="1">
                        <a:off x="29718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0" name="TextBox 129"/>
                    <p:cNvSpPr txBox="1">
                      <a:spLocks/>
                    </p:cNvSpPr>
                    <p:nvPr/>
                  </p:nvSpPr>
                  <p:spPr>
                    <a:xfrm>
                      <a:off x="2496312" y="3931920"/>
                      <a:ext cx="627888" cy="182880"/>
                    </a:xfrm>
                    <a:prstGeom prst="rect">
                      <a:avLst/>
                    </a:prstGeom>
                    <a:noFill/>
                  </p:spPr>
                  <p:txBody>
                    <a:bodyPr wrap="square" lIns="0" tIns="0" rIns="0" bIns="0" rtlCol="0" anchor="t" anchorCtr="1">
                      <a:normAutofit fontScale="62500" lnSpcReduction="20000"/>
                    </a:bodyPr>
                    <a:lstStyle/>
                    <a:p>
                      <a:pPr algn="ctr"/>
                      <a:r>
                        <a:rPr lang="en-US" sz="1600" dirty="0">
                          <a:solidFill>
                            <a:schemeClr val="bg2"/>
                          </a:solidFill>
                        </a:rPr>
                        <a:t>Section</a:t>
                      </a:r>
                      <a:r>
                        <a:rPr lang="en-US" dirty="0">
                          <a:solidFill>
                            <a:schemeClr val="bg2"/>
                          </a:solidFill>
                        </a:rPr>
                        <a:t> </a:t>
                      </a:r>
                    </a:p>
                  </p:txBody>
                </p:sp>
              </p:grpSp>
              <p:grpSp>
                <p:nvGrpSpPr>
                  <p:cNvPr id="73" name="Group 149"/>
                  <p:cNvGrpSpPr/>
                  <p:nvPr/>
                </p:nvGrpSpPr>
                <p:grpSpPr>
                  <a:xfrm>
                    <a:off x="2590800" y="3806952"/>
                    <a:ext cx="3581400" cy="993648"/>
                    <a:chOff x="2590800" y="3806952"/>
                    <a:chExt cx="3581400" cy="993648"/>
                  </a:xfrm>
                </p:grpSpPr>
                <p:grpSp>
                  <p:nvGrpSpPr>
                    <p:cNvPr id="74" name="Group 138"/>
                    <p:cNvGrpSpPr/>
                    <p:nvPr/>
                  </p:nvGrpSpPr>
                  <p:grpSpPr>
                    <a:xfrm>
                      <a:off x="4934712" y="3806952"/>
                      <a:ext cx="627888" cy="307848"/>
                      <a:chOff x="4934712" y="3806952"/>
                      <a:chExt cx="627888" cy="307848"/>
                    </a:xfrm>
                  </p:grpSpPr>
                  <p:grpSp>
                    <p:nvGrpSpPr>
                      <p:cNvPr id="75" name="Group 102"/>
                      <p:cNvGrpSpPr/>
                      <p:nvPr/>
                    </p:nvGrpSpPr>
                    <p:grpSpPr>
                      <a:xfrm>
                        <a:off x="5029200" y="3806952"/>
                        <a:ext cx="365760" cy="155448"/>
                        <a:chOff x="2514600" y="3429000"/>
                        <a:chExt cx="457200" cy="152400"/>
                      </a:xfrm>
                    </p:grpSpPr>
                    <p:cxnSp>
                      <p:nvCxnSpPr>
                        <p:cNvPr id="104" name="Straight Connector 103"/>
                        <p:cNvCxnSpPr/>
                        <p:nvPr/>
                      </p:nvCxnSpPr>
                      <p:spPr bwMode="auto">
                        <a:xfrm>
                          <a:off x="2514600" y="3581400"/>
                          <a:ext cx="457200" cy="0"/>
                        </a:xfrm>
                        <a:prstGeom prst="line">
                          <a:avLst/>
                        </a:prstGeom>
                        <a:solidFill>
                          <a:schemeClr val="accent1"/>
                        </a:solidFill>
                        <a:ln w="9525" cap="flat" cmpd="sng" algn="ctr">
                          <a:solidFill>
                            <a:schemeClr val="bg2"/>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Straight Arrow Connector 104"/>
                        <p:cNvCxnSpPr/>
                        <p:nvPr/>
                      </p:nvCxnSpPr>
                      <p:spPr bwMode="auto">
                        <a:xfrm flipV="1">
                          <a:off x="25146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Straight Arrow Connector 105"/>
                        <p:cNvCxnSpPr/>
                        <p:nvPr/>
                      </p:nvCxnSpPr>
                      <p:spPr bwMode="auto">
                        <a:xfrm flipV="1">
                          <a:off x="29718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4" name="TextBox 133"/>
                      <p:cNvSpPr txBox="1">
                        <a:spLocks/>
                      </p:cNvSpPr>
                      <p:nvPr/>
                    </p:nvSpPr>
                    <p:spPr>
                      <a:xfrm>
                        <a:off x="4934712" y="3931920"/>
                        <a:ext cx="627888" cy="182880"/>
                      </a:xfrm>
                      <a:prstGeom prst="rect">
                        <a:avLst/>
                      </a:prstGeom>
                      <a:noFill/>
                    </p:spPr>
                    <p:txBody>
                      <a:bodyPr wrap="square" lIns="0" tIns="0" rIns="0" bIns="0" rtlCol="0" anchor="t" anchorCtr="1">
                        <a:normAutofit fontScale="62500" lnSpcReduction="20000"/>
                      </a:bodyPr>
                      <a:lstStyle/>
                      <a:p>
                        <a:pPr algn="ctr"/>
                        <a:r>
                          <a:rPr lang="en-US" sz="1600" dirty="0">
                            <a:solidFill>
                              <a:schemeClr val="bg2"/>
                            </a:solidFill>
                          </a:rPr>
                          <a:t>Section</a:t>
                        </a:r>
                        <a:r>
                          <a:rPr lang="en-US" dirty="0">
                            <a:solidFill>
                              <a:schemeClr val="bg2"/>
                            </a:solidFill>
                          </a:rPr>
                          <a:t> </a:t>
                        </a:r>
                      </a:p>
                    </p:txBody>
                  </p:sp>
                </p:grpSp>
                <p:grpSp>
                  <p:nvGrpSpPr>
                    <p:cNvPr id="76" name="Group 148"/>
                    <p:cNvGrpSpPr/>
                    <p:nvPr/>
                  </p:nvGrpSpPr>
                  <p:grpSpPr>
                    <a:xfrm>
                      <a:off x="2590800" y="3810000"/>
                      <a:ext cx="3581400" cy="990600"/>
                      <a:chOff x="2590800" y="3810000"/>
                      <a:chExt cx="3581400" cy="990600"/>
                    </a:xfrm>
                  </p:grpSpPr>
                  <p:grpSp>
                    <p:nvGrpSpPr>
                      <p:cNvPr id="77" name="Group 139"/>
                      <p:cNvGrpSpPr/>
                      <p:nvPr/>
                    </p:nvGrpSpPr>
                    <p:grpSpPr>
                      <a:xfrm>
                        <a:off x="5544312" y="3810000"/>
                        <a:ext cx="627888" cy="304800"/>
                        <a:chOff x="5544312" y="3810000"/>
                        <a:chExt cx="627888" cy="304800"/>
                      </a:xfrm>
                    </p:grpSpPr>
                    <p:grpSp>
                      <p:nvGrpSpPr>
                        <p:cNvPr id="78" name="Group 106"/>
                        <p:cNvGrpSpPr/>
                        <p:nvPr/>
                      </p:nvGrpSpPr>
                      <p:grpSpPr>
                        <a:xfrm>
                          <a:off x="5638800" y="3810000"/>
                          <a:ext cx="457200" cy="155448"/>
                          <a:chOff x="2514600" y="3429000"/>
                          <a:chExt cx="457200" cy="152400"/>
                        </a:xfrm>
                      </p:grpSpPr>
                      <p:cxnSp>
                        <p:nvCxnSpPr>
                          <p:cNvPr id="108" name="Straight Connector 107"/>
                          <p:cNvCxnSpPr/>
                          <p:nvPr/>
                        </p:nvCxnSpPr>
                        <p:spPr bwMode="auto">
                          <a:xfrm>
                            <a:off x="2514600" y="3581400"/>
                            <a:ext cx="457200" cy="0"/>
                          </a:xfrm>
                          <a:prstGeom prst="line">
                            <a:avLst/>
                          </a:prstGeom>
                          <a:solidFill>
                            <a:schemeClr val="accent1"/>
                          </a:solidFill>
                          <a:ln w="9525" cap="flat" cmpd="sng" algn="ctr">
                            <a:solidFill>
                              <a:schemeClr val="bg2"/>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Straight Arrow Connector 108"/>
                          <p:cNvCxnSpPr/>
                          <p:nvPr/>
                        </p:nvCxnSpPr>
                        <p:spPr bwMode="auto">
                          <a:xfrm flipV="1">
                            <a:off x="25146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Straight Arrow Connector 109"/>
                          <p:cNvCxnSpPr/>
                          <p:nvPr/>
                        </p:nvCxnSpPr>
                        <p:spPr bwMode="auto">
                          <a:xfrm flipV="1">
                            <a:off x="29718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5" name="TextBox 134"/>
                        <p:cNvSpPr txBox="1">
                          <a:spLocks/>
                        </p:cNvSpPr>
                        <p:nvPr/>
                      </p:nvSpPr>
                      <p:spPr>
                        <a:xfrm>
                          <a:off x="5544312" y="3931920"/>
                          <a:ext cx="627888" cy="182880"/>
                        </a:xfrm>
                        <a:prstGeom prst="rect">
                          <a:avLst/>
                        </a:prstGeom>
                        <a:noFill/>
                      </p:spPr>
                      <p:txBody>
                        <a:bodyPr wrap="square" lIns="0" tIns="0" rIns="0" bIns="0" rtlCol="0" anchor="t" anchorCtr="1">
                          <a:normAutofit fontScale="62500" lnSpcReduction="20000"/>
                        </a:bodyPr>
                        <a:lstStyle/>
                        <a:p>
                          <a:pPr algn="ctr"/>
                          <a:r>
                            <a:rPr lang="en-US" sz="1600" dirty="0">
                              <a:solidFill>
                                <a:schemeClr val="bg2"/>
                              </a:solidFill>
                            </a:rPr>
                            <a:t>Section</a:t>
                          </a:r>
                          <a:r>
                            <a:rPr lang="en-US" dirty="0">
                              <a:solidFill>
                                <a:schemeClr val="bg2"/>
                              </a:solidFill>
                            </a:rPr>
                            <a:t> </a:t>
                          </a:r>
                        </a:p>
                      </p:txBody>
                    </p:sp>
                  </p:grpSp>
                  <p:grpSp>
                    <p:nvGrpSpPr>
                      <p:cNvPr id="79" name="Group 147"/>
                      <p:cNvGrpSpPr/>
                      <p:nvPr/>
                    </p:nvGrpSpPr>
                    <p:grpSpPr>
                      <a:xfrm>
                        <a:off x="2590800" y="4111752"/>
                        <a:ext cx="3566160" cy="688848"/>
                        <a:chOff x="2590800" y="4111752"/>
                        <a:chExt cx="3566160" cy="688848"/>
                      </a:xfrm>
                    </p:grpSpPr>
                    <p:grpSp>
                      <p:nvGrpSpPr>
                        <p:cNvPr id="80" name="Group 144"/>
                        <p:cNvGrpSpPr/>
                        <p:nvPr/>
                      </p:nvGrpSpPr>
                      <p:grpSpPr>
                        <a:xfrm>
                          <a:off x="5029200" y="4111752"/>
                          <a:ext cx="1097280" cy="338328"/>
                          <a:chOff x="5029200" y="4111752"/>
                          <a:chExt cx="1097280" cy="338328"/>
                        </a:xfrm>
                      </p:grpSpPr>
                      <p:grpSp>
                        <p:nvGrpSpPr>
                          <p:cNvPr id="81" name="Group 114"/>
                          <p:cNvGrpSpPr/>
                          <p:nvPr/>
                        </p:nvGrpSpPr>
                        <p:grpSpPr>
                          <a:xfrm>
                            <a:off x="5029200" y="4111752"/>
                            <a:ext cx="1097280" cy="155448"/>
                            <a:chOff x="2514600" y="3429000"/>
                            <a:chExt cx="457200" cy="152400"/>
                          </a:xfrm>
                        </p:grpSpPr>
                        <p:cxnSp>
                          <p:nvCxnSpPr>
                            <p:cNvPr id="116" name="Straight Connector 115"/>
                            <p:cNvCxnSpPr/>
                            <p:nvPr/>
                          </p:nvCxnSpPr>
                          <p:spPr bwMode="auto">
                            <a:xfrm>
                              <a:off x="2514600" y="3581400"/>
                              <a:ext cx="457200" cy="0"/>
                            </a:xfrm>
                            <a:prstGeom prst="line">
                              <a:avLst/>
                            </a:prstGeom>
                            <a:solidFill>
                              <a:schemeClr val="accent1"/>
                            </a:solidFill>
                            <a:ln w="9525" cap="flat" cmpd="sng" algn="ctr">
                              <a:solidFill>
                                <a:schemeClr val="bg2"/>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Straight Arrow Connector 116"/>
                            <p:cNvCxnSpPr/>
                            <p:nvPr/>
                          </p:nvCxnSpPr>
                          <p:spPr bwMode="auto">
                            <a:xfrm flipV="1">
                              <a:off x="25146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Straight Arrow Connector 117"/>
                            <p:cNvCxnSpPr/>
                            <p:nvPr/>
                          </p:nvCxnSpPr>
                          <p:spPr bwMode="auto">
                            <a:xfrm flipV="1">
                              <a:off x="29718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2" name="TextBox 141"/>
                          <p:cNvSpPr txBox="1">
                            <a:spLocks/>
                          </p:cNvSpPr>
                          <p:nvPr/>
                        </p:nvSpPr>
                        <p:spPr>
                          <a:xfrm>
                            <a:off x="5239512" y="4267200"/>
                            <a:ext cx="627888" cy="182880"/>
                          </a:xfrm>
                          <a:prstGeom prst="rect">
                            <a:avLst/>
                          </a:prstGeom>
                          <a:noFill/>
                        </p:spPr>
                        <p:txBody>
                          <a:bodyPr wrap="square" lIns="0" tIns="0" rIns="0" bIns="0" rtlCol="0" anchor="t" anchorCtr="1">
                            <a:normAutofit fontScale="62500" lnSpcReduction="20000"/>
                          </a:bodyPr>
                          <a:lstStyle/>
                          <a:p>
                            <a:pPr algn="ctr"/>
                            <a:r>
                              <a:rPr lang="en-US" sz="1600" dirty="0">
                                <a:solidFill>
                                  <a:schemeClr val="bg2"/>
                                </a:solidFill>
                              </a:rPr>
                              <a:t>STS Line</a:t>
                            </a:r>
                            <a:r>
                              <a:rPr lang="en-US" dirty="0">
                                <a:solidFill>
                                  <a:schemeClr val="bg2"/>
                                </a:solidFill>
                              </a:rPr>
                              <a:t> </a:t>
                            </a:r>
                          </a:p>
                        </p:txBody>
                      </p:sp>
                    </p:grpSp>
                    <p:grpSp>
                      <p:nvGrpSpPr>
                        <p:cNvPr id="82" name="Group 146"/>
                        <p:cNvGrpSpPr/>
                        <p:nvPr/>
                      </p:nvGrpSpPr>
                      <p:grpSpPr>
                        <a:xfrm>
                          <a:off x="2590800" y="4111752"/>
                          <a:ext cx="3566160" cy="688848"/>
                          <a:chOff x="2590800" y="4111752"/>
                          <a:chExt cx="3566160" cy="688848"/>
                        </a:xfrm>
                      </p:grpSpPr>
                      <p:grpSp>
                        <p:nvGrpSpPr>
                          <p:cNvPr id="83" name="Group 143"/>
                          <p:cNvGrpSpPr/>
                          <p:nvPr/>
                        </p:nvGrpSpPr>
                        <p:grpSpPr>
                          <a:xfrm>
                            <a:off x="2590800" y="4111752"/>
                            <a:ext cx="1920240" cy="338328"/>
                            <a:chOff x="2590800" y="4111752"/>
                            <a:chExt cx="1920240" cy="338328"/>
                          </a:xfrm>
                        </p:grpSpPr>
                        <p:grpSp>
                          <p:nvGrpSpPr>
                            <p:cNvPr id="84" name="Group 110"/>
                            <p:cNvGrpSpPr/>
                            <p:nvPr/>
                          </p:nvGrpSpPr>
                          <p:grpSpPr>
                            <a:xfrm>
                              <a:off x="2590800" y="4111752"/>
                              <a:ext cx="1920240" cy="155448"/>
                              <a:chOff x="2514600" y="3429000"/>
                              <a:chExt cx="457200" cy="152400"/>
                            </a:xfrm>
                          </p:grpSpPr>
                          <p:cxnSp>
                            <p:nvCxnSpPr>
                              <p:cNvPr id="112" name="Straight Connector 111"/>
                              <p:cNvCxnSpPr/>
                              <p:nvPr/>
                            </p:nvCxnSpPr>
                            <p:spPr bwMode="auto">
                              <a:xfrm>
                                <a:off x="2514600" y="3581400"/>
                                <a:ext cx="457200" cy="0"/>
                              </a:xfrm>
                              <a:prstGeom prst="line">
                                <a:avLst/>
                              </a:prstGeom>
                              <a:solidFill>
                                <a:schemeClr val="accent1"/>
                              </a:solidFill>
                              <a:ln w="9525" cap="flat" cmpd="sng" algn="ctr">
                                <a:solidFill>
                                  <a:schemeClr val="bg2"/>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Straight Arrow Connector 112"/>
                              <p:cNvCxnSpPr/>
                              <p:nvPr/>
                            </p:nvCxnSpPr>
                            <p:spPr bwMode="auto">
                              <a:xfrm flipV="1">
                                <a:off x="25146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Straight Arrow Connector 113"/>
                              <p:cNvCxnSpPr/>
                              <p:nvPr/>
                            </p:nvCxnSpPr>
                            <p:spPr bwMode="auto">
                              <a:xfrm flipV="1">
                                <a:off x="29718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1" name="TextBox 140"/>
                            <p:cNvSpPr txBox="1">
                              <a:spLocks/>
                            </p:cNvSpPr>
                            <p:nvPr/>
                          </p:nvSpPr>
                          <p:spPr>
                            <a:xfrm>
                              <a:off x="3182112" y="4267200"/>
                              <a:ext cx="627888" cy="182880"/>
                            </a:xfrm>
                            <a:prstGeom prst="rect">
                              <a:avLst/>
                            </a:prstGeom>
                            <a:noFill/>
                          </p:spPr>
                          <p:txBody>
                            <a:bodyPr wrap="square" lIns="0" tIns="0" rIns="0" bIns="0" rtlCol="0" anchor="t" anchorCtr="1">
                              <a:normAutofit fontScale="62500" lnSpcReduction="20000"/>
                            </a:bodyPr>
                            <a:lstStyle/>
                            <a:p>
                              <a:pPr algn="ctr"/>
                              <a:r>
                                <a:rPr lang="en-US" sz="1600" dirty="0">
                                  <a:solidFill>
                                    <a:schemeClr val="bg2"/>
                                  </a:solidFill>
                                </a:rPr>
                                <a:t>STS Line</a:t>
                              </a:r>
                              <a:r>
                                <a:rPr lang="en-US" dirty="0">
                                  <a:solidFill>
                                    <a:schemeClr val="bg2"/>
                                  </a:solidFill>
                                </a:rPr>
                                <a:t> </a:t>
                              </a:r>
                            </a:p>
                          </p:txBody>
                        </p:sp>
                      </p:grpSp>
                      <p:grpSp>
                        <p:nvGrpSpPr>
                          <p:cNvPr id="85" name="Group 145"/>
                          <p:cNvGrpSpPr/>
                          <p:nvPr/>
                        </p:nvGrpSpPr>
                        <p:grpSpPr>
                          <a:xfrm>
                            <a:off x="2590800" y="4416552"/>
                            <a:ext cx="3566160" cy="384048"/>
                            <a:chOff x="2590800" y="4416552"/>
                            <a:chExt cx="3566160" cy="384048"/>
                          </a:xfrm>
                        </p:grpSpPr>
                        <p:grpSp>
                          <p:nvGrpSpPr>
                            <p:cNvPr id="86" name="Group 118"/>
                            <p:cNvGrpSpPr/>
                            <p:nvPr/>
                          </p:nvGrpSpPr>
                          <p:grpSpPr>
                            <a:xfrm>
                              <a:off x="2590800" y="4416552"/>
                              <a:ext cx="3566160" cy="155448"/>
                              <a:chOff x="2514600" y="3429000"/>
                              <a:chExt cx="457200" cy="152400"/>
                            </a:xfrm>
                          </p:grpSpPr>
                          <p:cxnSp>
                            <p:nvCxnSpPr>
                              <p:cNvPr id="120" name="Straight Connector 119"/>
                              <p:cNvCxnSpPr/>
                              <p:nvPr/>
                            </p:nvCxnSpPr>
                            <p:spPr bwMode="auto">
                              <a:xfrm>
                                <a:off x="2514600" y="3581400"/>
                                <a:ext cx="457200" cy="0"/>
                              </a:xfrm>
                              <a:prstGeom prst="line">
                                <a:avLst/>
                              </a:prstGeom>
                              <a:solidFill>
                                <a:schemeClr val="accent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1" name="Straight Arrow Connector 120"/>
                              <p:cNvCxnSpPr/>
                              <p:nvPr/>
                            </p:nvCxnSpPr>
                            <p:spPr bwMode="auto">
                              <a:xfrm flipV="1">
                                <a:off x="25146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Straight Arrow Connector 121"/>
                              <p:cNvCxnSpPr/>
                              <p:nvPr/>
                            </p:nvCxnSpPr>
                            <p:spPr bwMode="auto">
                              <a:xfrm flipV="1">
                                <a:off x="2971800" y="3429000"/>
                                <a:ext cx="0" cy="152400"/>
                              </a:xfrm>
                              <a:prstGeom prst="straightConnector1">
                                <a:avLst/>
                              </a:prstGeom>
                              <a:solidFill>
                                <a:schemeClr val="accent1"/>
                              </a:solidFill>
                              <a:ln w="9525"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3" name="TextBox 142"/>
                            <p:cNvSpPr txBox="1">
                              <a:spLocks/>
                            </p:cNvSpPr>
                            <p:nvPr/>
                          </p:nvSpPr>
                          <p:spPr>
                            <a:xfrm>
                              <a:off x="4096512" y="4617720"/>
                              <a:ext cx="627888" cy="182880"/>
                            </a:xfrm>
                            <a:prstGeom prst="rect">
                              <a:avLst/>
                            </a:prstGeom>
                            <a:noFill/>
                          </p:spPr>
                          <p:txBody>
                            <a:bodyPr wrap="square" lIns="0" tIns="0" rIns="0" bIns="0" rtlCol="0" anchor="t" anchorCtr="1">
                              <a:normAutofit fontScale="62500" lnSpcReduction="20000"/>
                            </a:bodyPr>
                            <a:lstStyle/>
                            <a:p>
                              <a:pPr algn="ctr"/>
                              <a:r>
                                <a:rPr lang="en-US" sz="1600" dirty="0">
                                  <a:solidFill>
                                    <a:schemeClr val="bg2"/>
                                  </a:solidFill>
                                </a:rPr>
                                <a:t>STS Path</a:t>
                              </a:r>
                              <a:r>
                                <a:rPr lang="en-US" dirty="0">
                                  <a:solidFill>
                                    <a:schemeClr val="bg2"/>
                                  </a:solidFill>
                                </a:rPr>
                                <a:t> </a:t>
                              </a:r>
                            </a:p>
                          </p:txBody>
                        </p:sp>
                      </p:grpSp>
                    </p:grpSp>
                  </p:grpSp>
                </p:grpSp>
              </p:grpSp>
            </p:gr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fade">
                                      <p:cBhvr>
                                        <p:cTn id="42" dur="1000"/>
                                        <p:tgtEl>
                                          <p:spTgt spid="6">
                                            <p:txEl>
                                              <p:pRg st="5" end="5"/>
                                            </p:txEl>
                                          </p:spTgt>
                                        </p:tgtEl>
                                      </p:cBhvr>
                                    </p:animEffect>
                                    <p:anim calcmode="lin" valueType="num">
                                      <p:cBhvr>
                                        <p:cTn id="4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000" dirty="0">
                <a:solidFill>
                  <a:schemeClr val="tx2"/>
                </a:solidFill>
                <a:effectLst>
                  <a:outerShdw blurRad="38100" dist="38100" dir="2700000" algn="tl">
                    <a:srgbClr val="000000"/>
                  </a:outerShdw>
                </a:effectLst>
                <a:latin typeface="Arial" charset="0"/>
              </a:rPr>
              <a:t>SONET Devices</a:t>
            </a:r>
            <a:endParaRPr lang="en-US" sz="4000" b="1" dirty="0">
              <a:latin typeface="Arial" charset="0"/>
            </a:endParaRPr>
          </a:p>
        </p:txBody>
      </p:sp>
      <p:sp>
        <p:nvSpPr>
          <p:cNvPr id="4" name="Rectangle 3"/>
          <p:cNvSpPr/>
          <p:nvPr/>
        </p:nvSpPr>
        <p:spPr>
          <a:xfrm>
            <a:off x="762000" y="838200"/>
            <a:ext cx="8001000" cy="3046988"/>
          </a:xfrm>
          <a:prstGeom prst="rect">
            <a:avLst/>
          </a:prstGeom>
        </p:spPr>
        <p:txBody>
          <a:bodyPr wrap="square">
            <a:spAutoFit/>
          </a:bodyPr>
          <a:lstStyle/>
          <a:p>
            <a:r>
              <a:rPr lang="en-US" dirty="0">
                <a:solidFill>
                  <a:schemeClr val="bg2"/>
                </a:solidFill>
              </a:rPr>
              <a:t>STS multiplexers/</a:t>
            </a:r>
            <a:r>
              <a:rPr lang="en-US" dirty="0" err="1">
                <a:solidFill>
                  <a:schemeClr val="bg2"/>
                </a:solidFill>
              </a:rPr>
              <a:t>demultiplexers</a:t>
            </a:r>
            <a:r>
              <a:rPr lang="en-US" dirty="0">
                <a:solidFill>
                  <a:schemeClr val="bg2"/>
                </a:solidFill>
              </a:rPr>
              <a:t>: </a:t>
            </a:r>
          </a:p>
          <a:p>
            <a:pPr>
              <a:buFont typeface="Wingdings" pitchFamily="2" charset="2"/>
              <a:buChar char="Ø"/>
            </a:pPr>
            <a:r>
              <a:rPr lang="en-US" dirty="0">
                <a:solidFill>
                  <a:schemeClr val="bg2"/>
                </a:solidFill>
              </a:rPr>
              <a:t>It is the beginning points and endpoints of a SONET link.</a:t>
            </a:r>
          </a:p>
          <a:p>
            <a:pPr algn="just">
              <a:buFont typeface="Wingdings" pitchFamily="2" charset="2"/>
              <a:buChar char="Ø"/>
            </a:pPr>
            <a:r>
              <a:rPr lang="en-US" dirty="0">
                <a:solidFill>
                  <a:schemeClr val="bg2"/>
                </a:solidFill>
              </a:rPr>
              <a:t>They provide the interface between an electrical tributary network and the optical network. </a:t>
            </a:r>
          </a:p>
          <a:p>
            <a:pPr algn="just">
              <a:buFont typeface="Wingdings" pitchFamily="2" charset="2"/>
              <a:buChar char="Ø"/>
            </a:pPr>
            <a:r>
              <a:rPr lang="en-US" dirty="0">
                <a:solidFill>
                  <a:schemeClr val="bg2"/>
                </a:solidFill>
              </a:rPr>
              <a:t> An STS multiplexer multiplexes signals from multiple electrical sources and creates the corresponding OC signal and an STS demultiplexer demultiplexes an optical OC signal into corresponding electric signals.</a:t>
            </a:r>
          </a:p>
        </p:txBody>
      </p:sp>
      <p:pic>
        <p:nvPicPr>
          <p:cNvPr id="99330" name="Picture 2"/>
          <p:cNvPicPr>
            <a:picLocks noChangeAspect="1" noChangeArrowheads="1"/>
          </p:cNvPicPr>
          <p:nvPr/>
        </p:nvPicPr>
        <p:blipFill>
          <a:blip r:embed="rId3" cstate="print"/>
          <a:srcRect/>
          <a:stretch>
            <a:fillRect/>
          </a:stretch>
        </p:blipFill>
        <p:spPr bwMode="auto">
          <a:xfrm>
            <a:off x="2438400" y="3885188"/>
            <a:ext cx="4873501" cy="2744212"/>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000" dirty="0">
                <a:solidFill>
                  <a:schemeClr val="tx2"/>
                </a:solidFill>
                <a:effectLst>
                  <a:outerShdw blurRad="38100" dist="38100" dir="2700000" algn="tl">
                    <a:srgbClr val="000000"/>
                  </a:outerShdw>
                </a:effectLst>
                <a:latin typeface="Arial" charset="0"/>
              </a:rPr>
              <a:t>SONET Devices</a:t>
            </a:r>
            <a:endParaRPr lang="en-US" sz="4000" b="1" dirty="0">
              <a:latin typeface="Arial" charset="0"/>
            </a:endParaRPr>
          </a:p>
        </p:txBody>
      </p:sp>
      <p:sp>
        <p:nvSpPr>
          <p:cNvPr id="4" name="Rectangle 3"/>
          <p:cNvSpPr/>
          <p:nvPr/>
        </p:nvSpPr>
        <p:spPr>
          <a:xfrm>
            <a:off x="762000" y="838200"/>
            <a:ext cx="8001000" cy="3231654"/>
          </a:xfrm>
          <a:prstGeom prst="rect">
            <a:avLst/>
          </a:prstGeom>
        </p:spPr>
        <p:txBody>
          <a:bodyPr wrap="square">
            <a:spAutoFit/>
          </a:bodyPr>
          <a:lstStyle/>
          <a:p>
            <a:r>
              <a:rPr lang="en-US" dirty="0">
                <a:solidFill>
                  <a:schemeClr val="bg2"/>
                </a:solidFill>
              </a:rPr>
              <a:t>Regenerator:</a:t>
            </a:r>
          </a:p>
          <a:p>
            <a:pPr algn="just">
              <a:lnSpc>
                <a:spcPct val="150000"/>
              </a:lnSpc>
              <a:buFont typeface="Wingdings" pitchFamily="2" charset="2"/>
              <a:buChar char="Ø"/>
            </a:pPr>
            <a:r>
              <a:rPr lang="en-US" dirty="0">
                <a:solidFill>
                  <a:schemeClr val="bg2"/>
                </a:solidFill>
              </a:rPr>
              <a:t>Regenerators extend the length of the links.  </a:t>
            </a:r>
          </a:p>
          <a:p>
            <a:pPr algn="just">
              <a:lnSpc>
                <a:spcPct val="150000"/>
              </a:lnSpc>
              <a:buFont typeface="Wingdings" pitchFamily="2" charset="2"/>
              <a:buChar char="Ø"/>
            </a:pPr>
            <a:r>
              <a:rPr lang="en-US" dirty="0">
                <a:solidFill>
                  <a:schemeClr val="bg2"/>
                </a:solidFill>
              </a:rPr>
              <a:t>It is a repeater that takes a received optical signal (OC-n), demodulates it into the corresponding electric signal (STS-n), regenerates the electric signal, and finally modulates the electric signal into its correspondent OC-n signal. </a:t>
            </a:r>
          </a:p>
        </p:txBody>
      </p:sp>
      <p:pic>
        <p:nvPicPr>
          <p:cNvPr id="101378" name="Picture 2" descr="https://eng.thesaurus.rusnano.com/upload/iblock/68f/optical%20regenerator_1.jpg"/>
          <p:cNvPicPr>
            <a:picLocks noChangeAspect="1" noChangeArrowheads="1"/>
          </p:cNvPicPr>
          <p:nvPr/>
        </p:nvPicPr>
        <p:blipFill>
          <a:blip r:embed="rId3" cstate="print"/>
          <a:srcRect/>
          <a:stretch>
            <a:fillRect/>
          </a:stretch>
        </p:blipFill>
        <p:spPr bwMode="auto">
          <a:xfrm>
            <a:off x="2667000" y="4114800"/>
            <a:ext cx="3905397" cy="2402608"/>
          </a:xfrm>
          <a:prstGeom prst="rect">
            <a:avLst/>
          </a:prstGeom>
          <a:noFill/>
          <a:ln>
            <a:solidFill>
              <a:schemeClr val="tx1"/>
            </a:solid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000" dirty="0">
                <a:solidFill>
                  <a:schemeClr val="tx2"/>
                </a:solidFill>
                <a:effectLst>
                  <a:outerShdw blurRad="38100" dist="38100" dir="2700000" algn="tl">
                    <a:srgbClr val="000000"/>
                  </a:outerShdw>
                </a:effectLst>
                <a:latin typeface="Arial" charset="0"/>
              </a:rPr>
              <a:t>SONET Devices</a:t>
            </a:r>
            <a:endParaRPr lang="en-US" sz="4000" b="1" dirty="0">
              <a:latin typeface="Arial" charset="0"/>
            </a:endParaRPr>
          </a:p>
        </p:txBody>
      </p:sp>
      <p:sp>
        <p:nvSpPr>
          <p:cNvPr id="5" name="Rectangle 4"/>
          <p:cNvSpPr/>
          <p:nvPr/>
        </p:nvSpPr>
        <p:spPr>
          <a:xfrm>
            <a:off x="838200" y="838200"/>
            <a:ext cx="7848600" cy="3416320"/>
          </a:xfrm>
          <a:prstGeom prst="rect">
            <a:avLst/>
          </a:prstGeom>
        </p:spPr>
        <p:txBody>
          <a:bodyPr wrap="square">
            <a:spAutoFit/>
          </a:bodyPr>
          <a:lstStyle/>
          <a:p>
            <a:r>
              <a:rPr lang="en-US" dirty="0">
                <a:solidFill>
                  <a:schemeClr val="bg2"/>
                </a:solidFill>
              </a:rPr>
              <a:t>Add/drop Multiplexer: </a:t>
            </a:r>
          </a:p>
          <a:p>
            <a:pPr>
              <a:buFont typeface="Wingdings" pitchFamily="2" charset="2"/>
              <a:buChar char="Ø"/>
            </a:pPr>
            <a:r>
              <a:rPr lang="en-US" dirty="0">
                <a:solidFill>
                  <a:schemeClr val="bg2"/>
                </a:solidFill>
              </a:rPr>
              <a:t>Add/drop multiplexers (ADMs) allow insertion and extraction of signals.  </a:t>
            </a:r>
          </a:p>
          <a:p>
            <a:pPr>
              <a:buFont typeface="Wingdings" pitchFamily="2" charset="2"/>
              <a:buChar char="Ø"/>
            </a:pPr>
            <a:r>
              <a:rPr lang="en-US" dirty="0">
                <a:solidFill>
                  <a:schemeClr val="bg2"/>
                </a:solidFill>
              </a:rPr>
              <a:t>ADM can add STSs coming from different sources in to a given path or can remove a desired signal from a path and redirect it without demultiplexing the entire signal.  </a:t>
            </a:r>
          </a:p>
          <a:p>
            <a:pPr>
              <a:buFont typeface="Wingdings" pitchFamily="2" charset="2"/>
              <a:buChar char="Ø"/>
            </a:pPr>
            <a:r>
              <a:rPr lang="en-US" dirty="0">
                <a:solidFill>
                  <a:schemeClr val="bg2"/>
                </a:solidFill>
              </a:rPr>
              <a:t>Instead of relying on timing and bit positions, add/drop multiplexers use header information such as addresses and pointers to identify individual streams.</a:t>
            </a:r>
          </a:p>
        </p:txBody>
      </p:sp>
      <p:sp>
        <p:nvSpPr>
          <p:cNvPr id="6" name="Rectangle 5"/>
          <p:cNvSpPr/>
          <p:nvPr/>
        </p:nvSpPr>
        <p:spPr>
          <a:xfrm>
            <a:off x="914400" y="4572000"/>
            <a:ext cx="7696200" cy="1200329"/>
          </a:xfrm>
          <a:prstGeom prst="rect">
            <a:avLst/>
          </a:prstGeom>
        </p:spPr>
        <p:txBody>
          <a:bodyPr wrap="square">
            <a:spAutoFit/>
          </a:bodyPr>
          <a:lstStyle/>
          <a:p>
            <a:r>
              <a:rPr lang="en-US" dirty="0">
                <a:solidFill>
                  <a:schemeClr val="bg2"/>
                </a:solidFill>
              </a:rPr>
              <a:t>Terminals:</a:t>
            </a:r>
          </a:p>
          <a:p>
            <a:pPr>
              <a:buFont typeface="Wingdings" pitchFamily="2" charset="2"/>
              <a:buChar char="Ø"/>
            </a:pPr>
            <a:r>
              <a:rPr lang="en-US" dirty="0">
                <a:solidFill>
                  <a:schemeClr val="bg2"/>
                </a:solidFill>
              </a:rPr>
              <a:t>  A terminal is a device that uses the services of a SONET network.</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000" dirty="0">
                <a:solidFill>
                  <a:schemeClr val="tx2"/>
                </a:solidFill>
                <a:effectLst>
                  <a:outerShdw blurRad="38100" dist="38100" dir="2700000" algn="tl">
                    <a:srgbClr val="000000"/>
                  </a:outerShdw>
                </a:effectLst>
                <a:latin typeface="Arial" charset="0"/>
              </a:rPr>
              <a:t>SONET Devices</a:t>
            </a:r>
            <a:endParaRPr lang="en-US" sz="4000" b="1" dirty="0">
              <a:latin typeface="Arial" charset="0"/>
            </a:endParaRPr>
          </a:p>
        </p:txBody>
      </p:sp>
      <p:sp>
        <p:nvSpPr>
          <p:cNvPr id="8" name="Rectangle 7"/>
          <p:cNvSpPr/>
          <p:nvPr/>
        </p:nvSpPr>
        <p:spPr>
          <a:xfrm>
            <a:off x="685800" y="762000"/>
            <a:ext cx="8001000" cy="5632311"/>
          </a:xfrm>
          <a:prstGeom prst="rect">
            <a:avLst/>
          </a:prstGeom>
        </p:spPr>
        <p:txBody>
          <a:bodyPr wrap="square">
            <a:spAutoFit/>
          </a:bodyPr>
          <a:lstStyle/>
          <a:p>
            <a:r>
              <a:rPr lang="en-US" dirty="0">
                <a:solidFill>
                  <a:schemeClr val="bg2"/>
                </a:solidFill>
              </a:rPr>
              <a:t>Section:</a:t>
            </a:r>
          </a:p>
          <a:p>
            <a:pPr>
              <a:buFont typeface="Wingdings" pitchFamily="2" charset="2"/>
              <a:buChar char="Ø"/>
            </a:pPr>
            <a:r>
              <a:rPr lang="en-US" dirty="0">
                <a:solidFill>
                  <a:schemeClr val="bg2"/>
                </a:solidFill>
              </a:rPr>
              <a:t>SONET Devices  A section is the optical link connecting two neighbor devices: multiplexer to multiplexer, multiplexer to regenerator, or regenerator to regenerator. </a:t>
            </a:r>
          </a:p>
          <a:p>
            <a:endParaRPr lang="en-US" dirty="0">
              <a:solidFill>
                <a:schemeClr val="bg2"/>
              </a:solidFill>
            </a:endParaRPr>
          </a:p>
          <a:p>
            <a:r>
              <a:rPr lang="en-US" dirty="0">
                <a:solidFill>
                  <a:schemeClr val="bg2"/>
                </a:solidFill>
              </a:rPr>
              <a:t>Lines :</a:t>
            </a:r>
          </a:p>
          <a:p>
            <a:pPr>
              <a:buFont typeface="Wingdings" pitchFamily="2" charset="2"/>
              <a:buChar char="Ø"/>
            </a:pPr>
            <a:r>
              <a:rPr lang="en-US" dirty="0">
                <a:solidFill>
                  <a:schemeClr val="bg2"/>
                </a:solidFill>
              </a:rPr>
              <a:t> A line is the portion of the network between two multiplexers: STS multiplexer to add/drop multiplexer, two add/drop multiplexers, or two STS multiplexers . </a:t>
            </a:r>
          </a:p>
          <a:p>
            <a:endParaRPr lang="en-US" dirty="0">
              <a:solidFill>
                <a:schemeClr val="bg2"/>
              </a:solidFill>
            </a:endParaRPr>
          </a:p>
          <a:p>
            <a:r>
              <a:rPr lang="en-US" dirty="0">
                <a:solidFill>
                  <a:schemeClr val="bg2"/>
                </a:solidFill>
              </a:rPr>
              <a:t>Paths :</a:t>
            </a:r>
          </a:p>
          <a:p>
            <a:pPr>
              <a:buFont typeface="Wingdings" pitchFamily="2" charset="2"/>
              <a:buChar char="Ø"/>
            </a:pPr>
            <a:r>
              <a:rPr lang="en-US" dirty="0">
                <a:solidFill>
                  <a:schemeClr val="bg2"/>
                </a:solidFill>
              </a:rPr>
              <a:t> A path is the end-to-end portion of the network between two STS multiplexers.  In a simple SONET of two STS multiplexers linked directly to each other, the section, line, and path are the same.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000" dirty="0">
                <a:solidFill>
                  <a:schemeClr val="tx2"/>
                </a:solidFill>
                <a:effectLst>
                  <a:outerShdw blurRad="38100" dist="38100" dir="2700000" algn="tl">
                    <a:srgbClr val="000000"/>
                  </a:outerShdw>
                </a:effectLst>
                <a:latin typeface="Arial" charset="0"/>
              </a:rPr>
              <a:t>SONET Layers Architecture</a:t>
            </a:r>
            <a:endParaRPr lang="en-US" sz="4000" b="1" dirty="0">
              <a:latin typeface="Arial" charset="0"/>
            </a:endParaRPr>
          </a:p>
        </p:txBody>
      </p:sp>
      <p:sp>
        <p:nvSpPr>
          <p:cNvPr id="8" name="Rectangle 7"/>
          <p:cNvSpPr/>
          <p:nvPr/>
        </p:nvSpPr>
        <p:spPr>
          <a:xfrm>
            <a:off x="685800" y="685800"/>
            <a:ext cx="8001000" cy="461665"/>
          </a:xfrm>
          <a:prstGeom prst="rect">
            <a:avLst/>
          </a:prstGeom>
        </p:spPr>
        <p:txBody>
          <a:bodyPr wrap="square">
            <a:spAutoFit/>
          </a:bodyPr>
          <a:lstStyle/>
          <a:p>
            <a:r>
              <a:rPr lang="en-US" dirty="0">
                <a:solidFill>
                  <a:schemeClr val="bg2"/>
                </a:solidFill>
              </a:rPr>
              <a:t>SONET defines four layers: path, line, section, and photonic</a:t>
            </a:r>
          </a:p>
        </p:txBody>
      </p:sp>
      <p:grpSp>
        <p:nvGrpSpPr>
          <p:cNvPr id="18" name="Group 17"/>
          <p:cNvGrpSpPr/>
          <p:nvPr/>
        </p:nvGrpSpPr>
        <p:grpSpPr>
          <a:xfrm>
            <a:off x="2438400" y="1219200"/>
            <a:ext cx="3733800" cy="2438400"/>
            <a:chOff x="1905000" y="1524000"/>
            <a:chExt cx="4038600" cy="3048000"/>
          </a:xfrm>
        </p:grpSpPr>
        <p:sp>
          <p:nvSpPr>
            <p:cNvPr id="11" name="TextBox 10"/>
            <p:cNvSpPr txBox="1"/>
            <p:nvPr/>
          </p:nvSpPr>
          <p:spPr>
            <a:xfrm>
              <a:off x="1981200" y="2667000"/>
              <a:ext cx="1447800" cy="577081"/>
            </a:xfrm>
            <a:prstGeom prst="rect">
              <a:avLst/>
            </a:prstGeom>
            <a:noFill/>
          </p:spPr>
          <p:txBody>
            <a:bodyPr wrap="square" rtlCol="0">
              <a:spAutoFit/>
            </a:bodyPr>
            <a:lstStyle/>
            <a:p>
              <a:r>
                <a:rPr lang="en-US" dirty="0">
                  <a:solidFill>
                    <a:schemeClr val="bg2"/>
                  </a:solidFill>
                </a:rPr>
                <a:t>Data link</a:t>
              </a:r>
            </a:p>
          </p:txBody>
        </p:sp>
        <p:grpSp>
          <p:nvGrpSpPr>
            <p:cNvPr id="17" name="Group 16"/>
            <p:cNvGrpSpPr/>
            <p:nvPr/>
          </p:nvGrpSpPr>
          <p:grpSpPr>
            <a:xfrm>
              <a:off x="1905000" y="1524000"/>
              <a:ext cx="4038600" cy="3048000"/>
              <a:chOff x="1905000" y="1524000"/>
              <a:chExt cx="4038600" cy="3048000"/>
            </a:xfrm>
          </p:grpSpPr>
          <p:grpSp>
            <p:nvGrpSpPr>
              <p:cNvPr id="14" name="Group 13"/>
              <p:cNvGrpSpPr/>
              <p:nvPr/>
            </p:nvGrpSpPr>
            <p:grpSpPr>
              <a:xfrm>
                <a:off x="3505200" y="1828800"/>
                <a:ext cx="1737360" cy="1424940"/>
                <a:chOff x="3505200" y="1828800"/>
                <a:chExt cx="1737360" cy="1424940"/>
              </a:xfrm>
            </p:grpSpPr>
            <p:sp>
              <p:nvSpPr>
                <p:cNvPr id="5" name="Rectangle 4"/>
                <p:cNvSpPr/>
                <p:nvPr/>
              </p:nvSpPr>
              <p:spPr bwMode="auto">
                <a:xfrm>
                  <a:off x="3505200" y="1828800"/>
                  <a:ext cx="1737360" cy="491490"/>
                </a:xfrm>
                <a:prstGeom prst="rect">
                  <a:avLst/>
                </a:prstGeom>
                <a:solidFill>
                  <a:srgbClr val="FFCCFF"/>
                </a:solidFill>
                <a:ln w="2857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2"/>
                      </a:solidFill>
                      <a:effectLst/>
                      <a:latin typeface="Times New Roman" pitchFamily="18" charset="0"/>
                    </a:rPr>
                    <a:t>Path layer</a:t>
                  </a:r>
                </a:p>
              </p:txBody>
            </p:sp>
            <p:sp>
              <p:nvSpPr>
                <p:cNvPr id="6" name="Rectangle 5"/>
                <p:cNvSpPr/>
                <p:nvPr/>
              </p:nvSpPr>
              <p:spPr bwMode="auto">
                <a:xfrm>
                  <a:off x="3505200" y="2286000"/>
                  <a:ext cx="1737360" cy="491490"/>
                </a:xfrm>
                <a:prstGeom prst="rect">
                  <a:avLst/>
                </a:prstGeom>
                <a:solidFill>
                  <a:srgbClr val="92D050"/>
                </a:solidFill>
                <a:ln w="2857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2"/>
                      </a:solidFill>
                      <a:effectLst/>
                      <a:latin typeface="Times New Roman" pitchFamily="18" charset="0"/>
                    </a:rPr>
                    <a:t>Line layer</a:t>
                  </a:r>
                </a:p>
              </p:txBody>
            </p:sp>
            <p:sp>
              <p:nvSpPr>
                <p:cNvPr id="9" name="Rectangle 8"/>
                <p:cNvSpPr/>
                <p:nvPr/>
              </p:nvSpPr>
              <p:spPr bwMode="auto">
                <a:xfrm>
                  <a:off x="3505200" y="2762250"/>
                  <a:ext cx="1737360" cy="491490"/>
                </a:xfrm>
                <a:prstGeom prst="rect">
                  <a:avLst/>
                </a:prstGeom>
                <a:solidFill>
                  <a:srgbClr val="99CCFF"/>
                </a:solidFill>
                <a:ln w="2857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2"/>
                      </a:solidFill>
                      <a:effectLst/>
                      <a:latin typeface="Times New Roman" pitchFamily="18" charset="0"/>
                    </a:rPr>
                    <a:t>Section layer</a:t>
                  </a:r>
                </a:p>
              </p:txBody>
            </p:sp>
          </p:grpSp>
          <p:grpSp>
            <p:nvGrpSpPr>
              <p:cNvPr id="16" name="Group 15"/>
              <p:cNvGrpSpPr/>
              <p:nvPr/>
            </p:nvGrpSpPr>
            <p:grpSpPr>
              <a:xfrm>
                <a:off x="1905000" y="1524000"/>
                <a:ext cx="4038600" cy="3048000"/>
                <a:chOff x="1905000" y="1524000"/>
                <a:chExt cx="4038600" cy="3048000"/>
              </a:xfrm>
            </p:grpSpPr>
            <p:sp>
              <p:nvSpPr>
                <p:cNvPr id="10" name="Rectangle 9"/>
                <p:cNvSpPr/>
                <p:nvPr/>
              </p:nvSpPr>
              <p:spPr bwMode="auto">
                <a:xfrm>
                  <a:off x="1905000" y="1524000"/>
                  <a:ext cx="4038600" cy="1905000"/>
                </a:xfrm>
                <a:prstGeom prst="rect">
                  <a:avLst/>
                </a:prstGeom>
                <a:noFill/>
                <a:ln w="1905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2"/>
                    </a:solidFill>
                    <a:effectLst/>
                    <a:latin typeface="Times New Roman" pitchFamily="18" charset="0"/>
                  </a:endParaRPr>
                </a:p>
              </p:txBody>
            </p:sp>
            <p:sp>
              <p:nvSpPr>
                <p:cNvPr id="12" name="Rectangle 11"/>
                <p:cNvSpPr/>
                <p:nvPr/>
              </p:nvSpPr>
              <p:spPr bwMode="auto">
                <a:xfrm>
                  <a:off x="3505200" y="3886200"/>
                  <a:ext cx="1737359" cy="495300"/>
                </a:xfrm>
                <a:prstGeom prst="rect">
                  <a:avLst/>
                </a:prstGeom>
                <a:solidFill>
                  <a:srgbClr val="FFFF00"/>
                </a:solidFill>
                <a:ln w="2857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2"/>
                      </a:solidFill>
                      <a:effectLst/>
                      <a:latin typeface="Times New Roman" pitchFamily="18" charset="0"/>
                    </a:rPr>
                    <a:t>Photonic layer</a:t>
                  </a:r>
                </a:p>
              </p:txBody>
            </p:sp>
            <p:sp>
              <p:nvSpPr>
                <p:cNvPr id="13" name="Rectangle 12"/>
                <p:cNvSpPr/>
                <p:nvPr/>
              </p:nvSpPr>
              <p:spPr bwMode="auto">
                <a:xfrm>
                  <a:off x="1905000" y="3505200"/>
                  <a:ext cx="4038600" cy="1066800"/>
                </a:xfrm>
                <a:prstGeom prst="rect">
                  <a:avLst/>
                </a:prstGeom>
                <a:noFill/>
                <a:ln w="19050"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bg2"/>
                    </a:solidFill>
                    <a:effectLst/>
                    <a:latin typeface="Times New Roman" pitchFamily="18" charset="0"/>
                  </a:endParaRPr>
                </a:p>
              </p:txBody>
            </p:sp>
          </p:grpSp>
        </p:grpSp>
        <p:sp>
          <p:nvSpPr>
            <p:cNvPr id="15" name="TextBox 14"/>
            <p:cNvSpPr txBox="1"/>
            <p:nvPr/>
          </p:nvSpPr>
          <p:spPr>
            <a:xfrm>
              <a:off x="1981200" y="3886200"/>
              <a:ext cx="1447800" cy="577081"/>
            </a:xfrm>
            <a:prstGeom prst="rect">
              <a:avLst/>
            </a:prstGeom>
            <a:noFill/>
          </p:spPr>
          <p:txBody>
            <a:bodyPr wrap="square" rtlCol="0">
              <a:spAutoFit/>
            </a:bodyPr>
            <a:lstStyle/>
            <a:p>
              <a:r>
                <a:rPr lang="en-US" dirty="0">
                  <a:solidFill>
                    <a:schemeClr val="bg2"/>
                  </a:solidFill>
                </a:rPr>
                <a:t>Physical </a:t>
              </a:r>
            </a:p>
          </p:txBody>
        </p:sp>
      </p:grpSp>
      <p:sp>
        <p:nvSpPr>
          <p:cNvPr id="19" name="Rectangle 18"/>
          <p:cNvSpPr/>
          <p:nvPr/>
        </p:nvSpPr>
        <p:spPr>
          <a:xfrm>
            <a:off x="609600" y="3657600"/>
            <a:ext cx="8229600" cy="3262432"/>
          </a:xfrm>
          <a:prstGeom prst="rect">
            <a:avLst/>
          </a:prstGeom>
        </p:spPr>
        <p:txBody>
          <a:bodyPr wrap="square">
            <a:spAutoFit/>
          </a:bodyPr>
          <a:lstStyle/>
          <a:p>
            <a:r>
              <a:rPr lang="en-US" sz="2000" dirty="0">
                <a:solidFill>
                  <a:schemeClr val="bg2"/>
                </a:solidFill>
              </a:rPr>
              <a:t>The path layer: The path layer is responsible for the movement of a signal from its optical source to its optical destination. </a:t>
            </a:r>
            <a:r>
              <a:rPr lang="en-US" dirty="0">
                <a:solidFill>
                  <a:schemeClr val="bg2"/>
                </a:solidFill>
              </a:rPr>
              <a:t> </a:t>
            </a:r>
          </a:p>
          <a:p>
            <a:pPr>
              <a:buFont typeface="Wingdings" pitchFamily="2" charset="2"/>
              <a:buChar char="Ø"/>
            </a:pPr>
            <a:r>
              <a:rPr lang="en-US" sz="1800" dirty="0">
                <a:solidFill>
                  <a:schemeClr val="bg2"/>
                </a:solidFill>
              </a:rPr>
              <a:t>The signal is changed from an electronic form into an optical form, multiplexed with other signals, and encapsulated in a frame.  </a:t>
            </a:r>
          </a:p>
          <a:p>
            <a:pPr>
              <a:buFont typeface="Wingdings" pitchFamily="2" charset="2"/>
              <a:buChar char="Ø"/>
            </a:pPr>
            <a:r>
              <a:rPr lang="en-US" sz="1800" dirty="0">
                <a:solidFill>
                  <a:schemeClr val="bg2"/>
                </a:solidFill>
              </a:rPr>
              <a:t>At the optical destination, the received frame is </a:t>
            </a:r>
            <a:r>
              <a:rPr lang="en-US" sz="1800" dirty="0" err="1">
                <a:solidFill>
                  <a:schemeClr val="bg2"/>
                </a:solidFill>
              </a:rPr>
              <a:t>demultiplexed</a:t>
            </a:r>
            <a:r>
              <a:rPr lang="en-US" sz="1800" dirty="0">
                <a:solidFill>
                  <a:schemeClr val="bg2"/>
                </a:solidFill>
              </a:rPr>
              <a:t>, and the individual optical signals are changed back into their electronic forms.  </a:t>
            </a:r>
          </a:p>
          <a:p>
            <a:pPr>
              <a:buFont typeface="Wingdings" pitchFamily="2" charset="2"/>
              <a:buChar char="Ø"/>
            </a:pPr>
            <a:r>
              <a:rPr lang="en-US" sz="1800" dirty="0">
                <a:solidFill>
                  <a:schemeClr val="bg2"/>
                </a:solidFill>
              </a:rPr>
              <a:t>Path layer overhead is added here and make SPE. </a:t>
            </a:r>
          </a:p>
          <a:p>
            <a:pPr>
              <a:buFont typeface="Wingdings" pitchFamily="2" charset="2"/>
              <a:buChar char="Ø"/>
            </a:pPr>
            <a:r>
              <a:rPr lang="en-US" sz="1800" dirty="0">
                <a:solidFill>
                  <a:schemeClr val="bg2"/>
                </a:solidFill>
              </a:rPr>
              <a:t>Data identification inside the SPE </a:t>
            </a:r>
          </a:p>
          <a:p>
            <a:pPr>
              <a:buFont typeface="Wingdings" pitchFamily="2" charset="2"/>
              <a:buChar char="Ø"/>
            </a:pPr>
            <a:r>
              <a:rPr lang="en-US" sz="1800" dirty="0">
                <a:solidFill>
                  <a:schemeClr val="bg2"/>
                </a:solidFill>
              </a:rPr>
              <a:t>Path end to end verification.</a:t>
            </a:r>
          </a:p>
          <a:p>
            <a:pPr>
              <a:buFont typeface="Wingdings" pitchFamily="2" charset="2"/>
              <a:buChar char="Ø"/>
            </a:pPr>
            <a:r>
              <a:rPr lang="en-US" sz="1800" dirty="0">
                <a:solidFill>
                  <a:schemeClr val="bg2"/>
                </a:solidFill>
              </a:rPr>
              <a:t>Path status check-in</a:t>
            </a:r>
          </a:p>
          <a:p>
            <a:pPr>
              <a:buFont typeface="Wingdings" pitchFamily="2" charset="2"/>
              <a:buChar char="Ø"/>
            </a:pPr>
            <a:r>
              <a:rPr lang="en-US" sz="1800" dirty="0">
                <a:solidFill>
                  <a:schemeClr val="bg2"/>
                </a:solidFill>
              </a:rPr>
              <a:t>  STS multiplexers provide path layer functions.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000" dirty="0">
                <a:solidFill>
                  <a:schemeClr val="tx2"/>
                </a:solidFill>
                <a:effectLst>
                  <a:outerShdw blurRad="38100" dist="38100" dir="2700000" algn="tl">
                    <a:srgbClr val="000000"/>
                  </a:outerShdw>
                </a:effectLst>
                <a:latin typeface="Arial" charset="0"/>
              </a:rPr>
              <a:t>SONET Layers Architecture</a:t>
            </a:r>
            <a:endParaRPr lang="en-US" sz="4000" b="1" dirty="0">
              <a:latin typeface="Arial" charset="0"/>
            </a:endParaRPr>
          </a:p>
        </p:txBody>
      </p:sp>
      <p:sp>
        <p:nvSpPr>
          <p:cNvPr id="19" name="Rectangle 18"/>
          <p:cNvSpPr/>
          <p:nvPr/>
        </p:nvSpPr>
        <p:spPr>
          <a:xfrm>
            <a:off x="533400" y="838200"/>
            <a:ext cx="8229600" cy="2492990"/>
          </a:xfrm>
          <a:prstGeom prst="rect">
            <a:avLst/>
          </a:prstGeom>
        </p:spPr>
        <p:txBody>
          <a:bodyPr wrap="square">
            <a:spAutoFit/>
          </a:bodyPr>
          <a:lstStyle/>
          <a:p>
            <a:r>
              <a:rPr lang="en-US" dirty="0">
                <a:solidFill>
                  <a:schemeClr val="bg2"/>
                </a:solidFill>
              </a:rPr>
              <a:t>The line layer: </a:t>
            </a:r>
            <a:r>
              <a:rPr lang="en-US" sz="2000" dirty="0">
                <a:solidFill>
                  <a:schemeClr val="bg2"/>
                </a:solidFill>
              </a:rPr>
              <a:t>The line layer is responsible for the movement of a signal across a physical line such as MUX, DEMUX, and ADM</a:t>
            </a:r>
            <a:r>
              <a:rPr lang="en-US" dirty="0">
                <a:solidFill>
                  <a:schemeClr val="bg2"/>
                </a:solidFill>
              </a:rPr>
              <a:t>. </a:t>
            </a:r>
          </a:p>
          <a:p>
            <a:pPr>
              <a:buFont typeface="Wingdings" pitchFamily="2" charset="2"/>
              <a:buChar char="Ø"/>
            </a:pPr>
            <a:r>
              <a:rPr lang="en-US" sz="1800" dirty="0">
                <a:solidFill>
                  <a:schemeClr val="bg2"/>
                </a:solidFill>
              </a:rPr>
              <a:t>Line layer overhead </a:t>
            </a:r>
            <a:r>
              <a:rPr lang="en-US" sz="1800" dirty="0" err="1">
                <a:solidFill>
                  <a:schemeClr val="bg2"/>
                </a:solidFill>
              </a:rPr>
              <a:t>overhead</a:t>
            </a:r>
            <a:r>
              <a:rPr lang="en-US" sz="1800" dirty="0">
                <a:solidFill>
                  <a:schemeClr val="bg2"/>
                </a:solidFill>
              </a:rPr>
              <a:t> is added to the frame at this layer. </a:t>
            </a:r>
          </a:p>
          <a:p>
            <a:pPr>
              <a:buFont typeface="Wingdings" pitchFamily="2" charset="2"/>
              <a:buChar char="Ø"/>
            </a:pPr>
            <a:r>
              <a:rPr lang="en-US" sz="1800" dirty="0">
                <a:solidFill>
                  <a:schemeClr val="bg2"/>
                </a:solidFill>
              </a:rPr>
              <a:t>Error checking over a line.</a:t>
            </a:r>
          </a:p>
          <a:p>
            <a:pPr>
              <a:buFont typeface="Wingdings" pitchFamily="2" charset="2"/>
              <a:buChar char="Ø"/>
            </a:pPr>
            <a:r>
              <a:rPr lang="en-US" sz="1800" dirty="0">
                <a:solidFill>
                  <a:schemeClr val="bg2"/>
                </a:solidFill>
              </a:rPr>
              <a:t>Operation, Administration, and maintenance signaling over a line.</a:t>
            </a:r>
          </a:p>
          <a:p>
            <a:pPr>
              <a:buFont typeface="Wingdings" pitchFamily="2" charset="2"/>
              <a:buChar char="Ø"/>
            </a:pPr>
            <a:r>
              <a:rPr lang="en-US" sz="1800" dirty="0">
                <a:solidFill>
                  <a:schemeClr val="bg2"/>
                </a:solidFill>
              </a:rPr>
              <a:t>Order wire communication over line level</a:t>
            </a:r>
          </a:p>
          <a:p>
            <a:pPr>
              <a:buFont typeface="Wingdings" pitchFamily="2" charset="2"/>
              <a:buChar char="Ø"/>
            </a:pPr>
            <a:r>
              <a:rPr lang="en-US" sz="1800" dirty="0">
                <a:solidFill>
                  <a:schemeClr val="bg2"/>
                </a:solidFill>
              </a:rPr>
              <a:t>Automatic protection switching </a:t>
            </a:r>
          </a:p>
          <a:p>
            <a:pPr>
              <a:buFont typeface="Wingdings" pitchFamily="2" charset="2"/>
              <a:buChar char="Ø"/>
            </a:pPr>
            <a:r>
              <a:rPr lang="en-US" sz="1800" dirty="0">
                <a:solidFill>
                  <a:schemeClr val="bg2"/>
                </a:solidFill>
              </a:rPr>
              <a:t>STS multiplexers and add/drop multiplexers provide line layer functions. </a:t>
            </a:r>
          </a:p>
        </p:txBody>
      </p:sp>
      <p:sp>
        <p:nvSpPr>
          <p:cNvPr id="17" name="Rectangle 16"/>
          <p:cNvSpPr/>
          <p:nvPr/>
        </p:nvSpPr>
        <p:spPr>
          <a:xfrm>
            <a:off x="533400" y="3276600"/>
            <a:ext cx="8382000" cy="1600438"/>
          </a:xfrm>
          <a:prstGeom prst="rect">
            <a:avLst/>
          </a:prstGeom>
        </p:spPr>
        <p:txBody>
          <a:bodyPr wrap="square">
            <a:spAutoFit/>
          </a:bodyPr>
          <a:lstStyle/>
          <a:p>
            <a:r>
              <a:rPr lang="en-US" dirty="0">
                <a:solidFill>
                  <a:schemeClr val="bg2"/>
                </a:solidFill>
              </a:rPr>
              <a:t>The section layer: </a:t>
            </a:r>
            <a:r>
              <a:rPr lang="en-US" sz="2000" dirty="0">
                <a:solidFill>
                  <a:schemeClr val="bg2"/>
                </a:solidFill>
              </a:rPr>
              <a:t>The section layer is responsible for the movement of a signal across a physical section.</a:t>
            </a:r>
            <a:endParaRPr lang="en-US" dirty="0">
              <a:solidFill>
                <a:schemeClr val="bg2"/>
              </a:solidFill>
            </a:endParaRPr>
          </a:p>
          <a:p>
            <a:pPr>
              <a:buFont typeface="Wingdings" pitchFamily="2" charset="2"/>
              <a:buChar char="Ø"/>
            </a:pPr>
            <a:r>
              <a:rPr lang="en-US" sz="1800" dirty="0">
                <a:solidFill>
                  <a:schemeClr val="bg2"/>
                </a:solidFill>
              </a:rPr>
              <a:t> It handles framing, scrambling, and error control. </a:t>
            </a:r>
          </a:p>
          <a:p>
            <a:pPr>
              <a:buFont typeface="Wingdings" pitchFamily="2" charset="2"/>
              <a:buChar char="Ø"/>
            </a:pPr>
            <a:r>
              <a:rPr lang="en-US" sz="1800" dirty="0">
                <a:solidFill>
                  <a:schemeClr val="bg2"/>
                </a:solidFill>
              </a:rPr>
              <a:t>Operation, Administration, and maintenance signaling over a section.</a:t>
            </a:r>
          </a:p>
          <a:p>
            <a:pPr>
              <a:buFont typeface="Wingdings" pitchFamily="2" charset="2"/>
              <a:buChar char="Ø"/>
            </a:pPr>
            <a:r>
              <a:rPr lang="en-US" sz="1800" dirty="0">
                <a:solidFill>
                  <a:schemeClr val="bg2"/>
                </a:solidFill>
              </a:rPr>
              <a:t>Section layer overhead is added to the frame at this layer.</a:t>
            </a:r>
          </a:p>
        </p:txBody>
      </p:sp>
      <p:sp>
        <p:nvSpPr>
          <p:cNvPr id="18" name="Rectangle 17"/>
          <p:cNvSpPr/>
          <p:nvPr/>
        </p:nvSpPr>
        <p:spPr>
          <a:xfrm>
            <a:off x="457200" y="4800600"/>
            <a:ext cx="8382000" cy="1877437"/>
          </a:xfrm>
          <a:prstGeom prst="rect">
            <a:avLst/>
          </a:prstGeom>
        </p:spPr>
        <p:txBody>
          <a:bodyPr wrap="square">
            <a:spAutoFit/>
          </a:bodyPr>
          <a:lstStyle/>
          <a:p>
            <a:r>
              <a:rPr lang="en-US" dirty="0">
                <a:solidFill>
                  <a:schemeClr val="bg2"/>
                </a:solidFill>
              </a:rPr>
              <a:t>The photonic layer: </a:t>
            </a:r>
            <a:r>
              <a:rPr lang="en-US" sz="2000" dirty="0">
                <a:solidFill>
                  <a:schemeClr val="bg2"/>
                </a:solidFill>
              </a:rPr>
              <a:t>The photonic layer corresponds to the physical layer of the OSI model.</a:t>
            </a:r>
            <a:endParaRPr lang="en-US" dirty="0">
              <a:solidFill>
                <a:schemeClr val="bg2"/>
              </a:solidFill>
            </a:endParaRPr>
          </a:p>
          <a:p>
            <a:pPr>
              <a:buFont typeface="Wingdings" pitchFamily="2" charset="2"/>
              <a:buChar char="Ø"/>
            </a:pPr>
            <a:r>
              <a:rPr lang="en-US" sz="1800" dirty="0">
                <a:solidFill>
                  <a:schemeClr val="bg2"/>
                </a:solidFill>
              </a:rPr>
              <a:t> It includes physical specifications for the optical fiber channel, the sensitivity of the receiver, multiplexing functions, and so on.</a:t>
            </a:r>
          </a:p>
          <a:p>
            <a:pPr>
              <a:buFont typeface="Wingdings" pitchFamily="2" charset="2"/>
              <a:buChar char="Ø"/>
            </a:pPr>
            <a:r>
              <a:rPr lang="en-US" sz="1800" dirty="0">
                <a:solidFill>
                  <a:schemeClr val="bg2"/>
                </a:solidFill>
              </a:rPr>
              <a:t>SONET uses NRZ encoding with the presence of light representing 1 and the absence of light representing 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000" dirty="0">
                <a:solidFill>
                  <a:schemeClr val="tx2"/>
                </a:solidFill>
                <a:effectLst>
                  <a:outerShdw blurRad="38100" dist="38100" dir="2700000" algn="tl">
                    <a:srgbClr val="000000"/>
                  </a:outerShdw>
                </a:effectLst>
                <a:latin typeface="Arial" charset="0"/>
              </a:rPr>
              <a:t>Device-Layer Relationships</a:t>
            </a:r>
            <a:endParaRPr lang="en-US" sz="4000" b="1" dirty="0">
              <a:latin typeface="Arial" charset="0"/>
            </a:endParaRPr>
          </a:p>
        </p:txBody>
      </p:sp>
      <p:sp>
        <p:nvSpPr>
          <p:cNvPr id="6" name="Rectangle 5"/>
          <p:cNvSpPr/>
          <p:nvPr/>
        </p:nvSpPr>
        <p:spPr>
          <a:xfrm>
            <a:off x="838200" y="762000"/>
            <a:ext cx="7772400" cy="1938992"/>
          </a:xfrm>
          <a:prstGeom prst="rect">
            <a:avLst/>
          </a:prstGeom>
        </p:spPr>
        <p:txBody>
          <a:bodyPr wrap="square">
            <a:spAutoFit/>
          </a:bodyPr>
          <a:lstStyle/>
          <a:p>
            <a:r>
              <a:rPr lang="en-US" dirty="0">
                <a:solidFill>
                  <a:schemeClr val="bg2"/>
                </a:solidFill>
              </a:rPr>
              <a:t>Figure shows the relationship between the devices used in SONET transmission and the four layers of the standard.  </a:t>
            </a:r>
          </a:p>
          <a:p>
            <a:pPr>
              <a:buFont typeface="Wingdings" pitchFamily="2" charset="2"/>
              <a:buChar char="Ø"/>
            </a:pPr>
            <a:r>
              <a:rPr lang="en-US" dirty="0">
                <a:solidFill>
                  <a:schemeClr val="bg2"/>
                </a:solidFill>
              </a:rPr>
              <a:t>An STS multiplexer is a four layer device.  </a:t>
            </a:r>
          </a:p>
          <a:p>
            <a:pPr>
              <a:buFont typeface="Wingdings" pitchFamily="2" charset="2"/>
              <a:buChar char="Ø"/>
            </a:pPr>
            <a:r>
              <a:rPr lang="en-US" dirty="0">
                <a:solidFill>
                  <a:schemeClr val="bg2"/>
                </a:solidFill>
              </a:rPr>
              <a:t>An add/drop multiplexer is a three layer device.  </a:t>
            </a:r>
          </a:p>
          <a:p>
            <a:pPr>
              <a:buFont typeface="Wingdings" pitchFamily="2" charset="2"/>
              <a:buChar char="Ø"/>
            </a:pPr>
            <a:r>
              <a:rPr lang="en-US" dirty="0">
                <a:solidFill>
                  <a:schemeClr val="bg2"/>
                </a:solidFill>
              </a:rPr>
              <a:t>A regenerator is a two layer device.</a:t>
            </a:r>
          </a:p>
        </p:txBody>
      </p:sp>
      <p:pic>
        <p:nvPicPr>
          <p:cNvPr id="125954" name="Picture 2" descr="https://image1.slideserve.com/3046385/device-layer-relationship-in-sonet-n.jpg"/>
          <p:cNvPicPr>
            <a:picLocks noChangeAspect="1" noChangeArrowheads="1"/>
          </p:cNvPicPr>
          <p:nvPr/>
        </p:nvPicPr>
        <p:blipFill>
          <a:blip r:embed="rId3" cstate="print"/>
          <a:srcRect l="15556" t="17778" r="12222" b="24444"/>
          <a:stretch>
            <a:fillRect/>
          </a:stretch>
        </p:blipFill>
        <p:spPr bwMode="auto">
          <a:xfrm>
            <a:off x="1143000" y="2763943"/>
            <a:ext cx="6858000" cy="376707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4000" dirty="0">
                <a:solidFill>
                  <a:schemeClr val="tx2"/>
                </a:solidFill>
                <a:effectLst>
                  <a:outerShdw blurRad="38100" dist="38100" dir="2700000" algn="tl">
                    <a:srgbClr val="000000"/>
                  </a:outerShdw>
                </a:effectLst>
                <a:latin typeface="Arial" charset="0"/>
              </a:rPr>
              <a:t>SONET Frames</a:t>
            </a:r>
            <a:endParaRPr lang="en-US" sz="4000" b="1" dirty="0">
              <a:latin typeface="Arial" charset="0"/>
            </a:endParaRPr>
          </a:p>
        </p:txBody>
      </p:sp>
      <p:sp>
        <p:nvSpPr>
          <p:cNvPr id="6" name="Rectangle 5"/>
          <p:cNvSpPr/>
          <p:nvPr/>
        </p:nvSpPr>
        <p:spPr>
          <a:xfrm>
            <a:off x="838200" y="762000"/>
            <a:ext cx="7772400" cy="2616101"/>
          </a:xfrm>
          <a:prstGeom prst="rect">
            <a:avLst/>
          </a:prstGeom>
        </p:spPr>
        <p:txBody>
          <a:bodyPr wrap="square">
            <a:spAutoFit/>
          </a:bodyPr>
          <a:lstStyle/>
          <a:p>
            <a:pPr algn="just">
              <a:spcBef>
                <a:spcPts val="600"/>
              </a:spcBef>
              <a:spcAft>
                <a:spcPts val="600"/>
              </a:spcAft>
              <a:buFont typeface="Wingdings" pitchFamily="2" charset="2"/>
              <a:buChar char="Ø"/>
            </a:pPr>
            <a:r>
              <a:rPr lang="en-US" dirty="0">
                <a:solidFill>
                  <a:schemeClr val="bg2"/>
                </a:solidFill>
              </a:rPr>
              <a:t>Each synchronous transfer signal STS-n is composed of 8000 frames.  </a:t>
            </a:r>
          </a:p>
          <a:p>
            <a:pPr algn="just">
              <a:spcBef>
                <a:spcPts val="600"/>
              </a:spcBef>
              <a:spcAft>
                <a:spcPts val="600"/>
              </a:spcAft>
              <a:buFont typeface="Wingdings" pitchFamily="2" charset="2"/>
              <a:buChar char="Ø"/>
            </a:pPr>
            <a:r>
              <a:rPr lang="en-US" dirty="0">
                <a:solidFill>
                  <a:schemeClr val="bg2"/>
                </a:solidFill>
              </a:rPr>
              <a:t>Each frame is a two-</a:t>
            </a:r>
            <a:r>
              <a:rPr lang="en-US" dirty="0" err="1">
                <a:solidFill>
                  <a:schemeClr val="bg2"/>
                </a:solidFill>
              </a:rPr>
              <a:t>dimemsional</a:t>
            </a:r>
            <a:r>
              <a:rPr lang="en-US" dirty="0">
                <a:solidFill>
                  <a:schemeClr val="bg2"/>
                </a:solidFill>
              </a:rPr>
              <a:t> matrix of bytes with 9 rows by 90×n columns.  </a:t>
            </a:r>
          </a:p>
          <a:p>
            <a:pPr algn="just">
              <a:spcBef>
                <a:spcPts val="600"/>
              </a:spcBef>
              <a:spcAft>
                <a:spcPts val="600"/>
              </a:spcAft>
              <a:buFont typeface="Wingdings" pitchFamily="2" charset="2"/>
              <a:buChar char="Ø"/>
            </a:pPr>
            <a:r>
              <a:rPr lang="en-US" dirty="0">
                <a:solidFill>
                  <a:schemeClr val="bg2"/>
                </a:solidFill>
              </a:rPr>
              <a:t>For example, STS-1 frame is 9 rows by 90 columns (810 bytes), and an STS-3 is 9 rows by 270 columns (2430 bytes). </a:t>
            </a:r>
          </a:p>
        </p:txBody>
      </p:sp>
      <p:pic>
        <p:nvPicPr>
          <p:cNvPr id="130053" name="Picture 5"/>
          <p:cNvPicPr>
            <a:picLocks noChangeAspect="1" noChangeArrowheads="1"/>
          </p:cNvPicPr>
          <p:nvPr/>
        </p:nvPicPr>
        <p:blipFill>
          <a:blip r:embed="rId3" cstate="print"/>
          <a:srcRect l="12781" t="25236" r="59612" b="52496"/>
          <a:stretch>
            <a:fillRect/>
          </a:stretch>
        </p:blipFill>
        <p:spPr bwMode="auto">
          <a:xfrm>
            <a:off x="533400" y="3962400"/>
            <a:ext cx="7680960" cy="22860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Frame, Byte, and Bit Transmission</a:t>
            </a:r>
            <a:endParaRPr lang="en-US" sz="3600" b="1" dirty="0">
              <a:latin typeface="Arial" charset="0"/>
            </a:endParaRPr>
          </a:p>
        </p:txBody>
      </p:sp>
      <p:sp>
        <p:nvSpPr>
          <p:cNvPr id="6" name="Rectangle 5"/>
          <p:cNvSpPr/>
          <p:nvPr/>
        </p:nvSpPr>
        <p:spPr>
          <a:xfrm>
            <a:off x="838200" y="762000"/>
            <a:ext cx="7772400" cy="3754874"/>
          </a:xfrm>
          <a:prstGeom prst="rect">
            <a:avLst/>
          </a:prstGeom>
        </p:spPr>
        <p:txBody>
          <a:bodyPr wrap="square">
            <a:spAutoFit/>
          </a:bodyPr>
          <a:lstStyle/>
          <a:p>
            <a:pPr algn="just">
              <a:spcBef>
                <a:spcPts val="600"/>
              </a:spcBef>
              <a:spcAft>
                <a:spcPts val="600"/>
              </a:spcAft>
              <a:buFont typeface="Wingdings" pitchFamily="2" charset="2"/>
              <a:buChar char="Ø"/>
            </a:pPr>
            <a:r>
              <a:rPr lang="en-US" sz="1800" dirty="0">
                <a:solidFill>
                  <a:schemeClr val="bg2"/>
                </a:solidFill>
              </a:rPr>
              <a:t>Each STS-n signal in SONET is transmitted at a fixed rate of 8000 frames per second, at which voice is digitized.  </a:t>
            </a:r>
          </a:p>
          <a:p>
            <a:pPr algn="just">
              <a:spcBef>
                <a:spcPts val="600"/>
              </a:spcBef>
              <a:spcAft>
                <a:spcPts val="600"/>
              </a:spcAft>
              <a:buFont typeface="Wingdings" pitchFamily="2" charset="2"/>
              <a:buChar char="Ø"/>
            </a:pPr>
            <a:r>
              <a:rPr lang="en-US" sz="1800" dirty="0">
                <a:solidFill>
                  <a:schemeClr val="bg2"/>
                </a:solidFill>
              </a:rPr>
              <a:t>For each frame, the bytes are transmitted from the left to the right, top to the bottom. </a:t>
            </a:r>
          </a:p>
          <a:p>
            <a:pPr algn="just">
              <a:spcBef>
                <a:spcPts val="600"/>
              </a:spcBef>
              <a:spcAft>
                <a:spcPts val="600"/>
              </a:spcAft>
              <a:buFont typeface="Wingdings" pitchFamily="2" charset="2"/>
              <a:buChar char="Ø"/>
            </a:pPr>
            <a:r>
              <a:rPr lang="en-US" sz="1800" dirty="0">
                <a:solidFill>
                  <a:schemeClr val="bg2"/>
                </a:solidFill>
              </a:rPr>
              <a:t>For each byte, the bits are transmitted from the most significant to the least significant (left to right).  </a:t>
            </a:r>
          </a:p>
          <a:p>
            <a:pPr algn="just">
              <a:spcBef>
                <a:spcPts val="600"/>
              </a:spcBef>
              <a:spcAft>
                <a:spcPts val="600"/>
              </a:spcAft>
              <a:buFont typeface="Wingdings" pitchFamily="2" charset="2"/>
              <a:buChar char="Ø"/>
            </a:pPr>
            <a:r>
              <a:rPr lang="en-US" sz="1800" dirty="0">
                <a:solidFill>
                  <a:schemeClr val="bg2"/>
                </a:solidFill>
              </a:rPr>
              <a:t>If we sample a voice signal and use 8 bits (1 byte) for each sample, we can say that each byte in a SONET frame can carry information from a digitized voice channel.  </a:t>
            </a:r>
          </a:p>
          <a:p>
            <a:pPr algn="just">
              <a:spcBef>
                <a:spcPts val="600"/>
              </a:spcBef>
              <a:spcAft>
                <a:spcPts val="600"/>
              </a:spcAft>
              <a:buFont typeface="Wingdings" pitchFamily="2" charset="2"/>
              <a:buChar char="Ø"/>
            </a:pPr>
            <a:r>
              <a:rPr lang="en-US" sz="1800" dirty="0">
                <a:solidFill>
                  <a:schemeClr val="bg2"/>
                </a:solidFill>
              </a:rPr>
              <a:t>In other words, an STS-1 signal can carry 774 voice channels simultaneously (810 minus required bytes for overhead).</a:t>
            </a:r>
          </a:p>
        </p:txBody>
      </p:sp>
      <p:pic>
        <p:nvPicPr>
          <p:cNvPr id="131074" name="Picture 2"/>
          <p:cNvPicPr>
            <a:picLocks noChangeAspect="1" noChangeArrowheads="1"/>
          </p:cNvPicPr>
          <p:nvPr/>
        </p:nvPicPr>
        <p:blipFill>
          <a:blip r:embed="rId3" cstate="print"/>
          <a:srcRect/>
          <a:stretch>
            <a:fillRect/>
          </a:stretch>
        </p:blipFill>
        <p:spPr bwMode="auto">
          <a:xfrm>
            <a:off x="1219200" y="4648200"/>
            <a:ext cx="7010400" cy="1754474"/>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Example:</a:t>
            </a:r>
            <a:endParaRPr lang="en-US" sz="3600" b="1" dirty="0">
              <a:latin typeface="Arial" charset="0"/>
            </a:endParaRPr>
          </a:p>
        </p:txBody>
      </p:sp>
      <p:sp>
        <p:nvSpPr>
          <p:cNvPr id="6" name="Rectangle 5"/>
          <p:cNvSpPr/>
          <p:nvPr/>
        </p:nvSpPr>
        <p:spPr>
          <a:xfrm>
            <a:off x="838200" y="855583"/>
            <a:ext cx="7772400" cy="1354217"/>
          </a:xfrm>
          <a:prstGeom prst="rect">
            <a:avLst/>
          </a:prstGeom>
          <a:ln w="19050">
            <a:solidFill>
              <a:srgbClr val="00B050"/>
            </a:solidFill>
          </a:ln>
        </p:spPr>
        <p:txBody>
          <a:bodyPr wrap="square">
            <a:spAutoFit/>
          </a:bodyPr>
          <a:lstStyle/>
          <a:p>
            <a:pPr algn="just">
              <a:spcBef>
                <a:spcPts val="600"/>
              </a:spcBef>
              <a:spcAft>
                <a:spcPts val="600"/>
              </a:spcAft>
            </a:pPr>
            <a:r>
              <a:rPr lang="en-US" sz="1800" dirty="0">
                <a:solidFill>
                  <a:schemeClr val="bg2"/>
                </a:solidFill>
              </a:rPr>
              <a:t>Find the data rate of an STS-1 signal.</a:t>
            </a:r>
          </a:p>
          <a:p>
            <a:pPr algn="just">
              <a:spcBef>
                <a:spcPts val="600"/>
              </a:spcBef>
              <a:spcAft>
                <a:spcPts val="600"/>
              </a:spcAft>
            </a:pPr>
            <a:r>
              <a:rPr lang="en-US" sz="1800" dirty="0">
                <a:solidFill>
                  <a:schemeClr val="bg2"/>
                </a:solidFill>
              </a:rPr>
              <a:t> </a:t>
            </a:r>
            <a:r>
              <a:rPr lang="en-US" sz="1800" b="1" dirty="0">
                <a:solidFill>
                  <a:schemeClr val="bg2"/>
                </a:solidFill>
              </a:rPr>
              <a:t>Solution: </a:t>
            </a:r>
            <a:r>
              <a:rPr lang="en-US" sz="1800" dirty="0">
                <a:solidFill>
                  <a:schemeClr val="bg2"/>
                </a:solidFill>
              </a:rPr>
              <a:t>STS-1, like other STS signals, sends 8000 frames per second. Each STS-1 frame is made of 9 by (1 × 90) bytes. Each byte is made of 8 bits. The data rate is: </a:t>
            </a:r>
            <a:r>
              <a:rPr lang="en-US" sz="1800" dirty="0">
                <a:solidFill>
                  <a:srgbClr val="00B050"/>
                </a:solidFill>
              </a:rPr>
              <a:t>STS data rate= 8000×9×(1×90)×8= 51.840 Mbps</a:t>
            </a:r>
          </a:p>
        </p:txBody>
      </p:sp>
      <p:sp>
        <p:nvSpPr>
          <p:cNvPr id="8" name="Rectangle 7"/>
          <p:cNvSpPr/>
          <p:nvPr/>
        </p:nvSpPr>
        <p:spPr>
          <a:xfrm>
            <a:off x="838200" y="2438400"/>
            <a:ext cx="7772400" cy="1354217"/>
          </a:xfrm>
          <a:prstGeom prst="rect">
            <a:avLst/>
          </a:prstGeom>
          <a:ln w="19050">
            <a:solidFill>
              <a:srgbClr val="00B050"/>
            </a:solidFill>
          </a:ln>
        </p:spPr>
        <p:txBody>
          <a:bodyPr wrap="square">
            <a:spAutoFit/>
          </a:bodyPr>
          <a:lstStyle/>
          <a:p>
            <a:pPr algn="just">
              <a:spcBef>
                <a:spcPts val="600"/>
              </a:spcBef>
              <a:spcAft>
                <a:spcPts val="600"/>
              </a:spcAft>
            </a:pPr>
            <a:r>
              <a:rPr lang="en-US" sz="1800" dirty="0">
                <a:solidFill>
                  <a:schemeClr val="bg2"/>
                </a:solidFill>
              </a:rPr>
              <a:t>Find the data rate of an STS-3 signal.</a:t>
            </a:r>
          </a:p>
          <a:p>
            <a:pPr algn="just">
              <a:spcBef>
                <a:spcPts val="600"/>
              </a:spcBef>
              <a:spcAft>
                <a:spcPts val="600"/>
              </a:spcAft>
            </a:pPr>
            <a:r>
              <a:rPr lang="en-US" sz="1800" b="1" dirty="0">
                <a:solidFill>
                  <a:schemeClr val="bg2"/>
                </a:solidFill>
              </a:rPr>
              <a:t>Solution: </a:t>
            </a:r>
            <a:r>
              <a:rPr lang="en-US" sz="1800" dirty="0">
                <a:solidFill>
                  <a:schemeClr val="bg2"/>
                </a:solidFill>
              </a:rPr>
              <a:t>STS-3, like other STS signals, sends 8000 frames per second. Each STS-3 frame is made of 9 by (3 × 90) bytes. Each byte is made of 8 bits. The data rate is: </a:t>
            </a:r>
            <a:r>
              <a:rPr lang="en-US" sz="1800" dirty="0">
                <a:solidFill>
                  <a:srgbClr val="00B050"/>
                </a:solidFill>
              </a:rPr>
              <a:t>STS data rate= 8000×9×(3×90)×8= 155.52 Mbps</a:t>
            </a:r>
          </a:p>
        </p:txBody>
      </p:sp>
      <p:sp>
        <p:nvSpPr>
          <p:cNvPr id="9" name="Rectangle 8"/>
          <p:cNvSpPr/>
          <p:nvPr/>
        </p:nvSpPr>
        <p:spPr>
          <a:xfrm>
            <a:off x="838200" y="4114800"/>
            <a:ext cx="7772400" cy="1785104"/>
          </a:xfrm>
          <a:prstGeom prst="rect">
            <a:avLst/>
          </a:prstGeom>
          <a:ln w="19050">
            <a:solidFill>
              <a:srgbClr val="00B050"/>
            </a:solidFill>
          </a:ln>
        </p:spPr>
        <p:txBody>
          <a:bodyPr wrap="square">
            <a:spAutoFit/>
          </a:bodyPr>
          <a:lstStyle/>
          <a:p>
            <a:pPr algn="just">
              <a:spcBef>
                <a:spcPts val="600"/>
              </a:spcBef>
              <a:spcAft>
                <a:spcPts val="600"/>
              </a:spcAft>
            </a:pPr>
            <a:r>
              <a:rPr lang="en-US" sz="1800" dirty="0">
                <a:solidFill>
                  <a:schemeClr val="bg2"/>
                </a:solidFill>
              </a:rPr>
              <a:t>What is the duration of an STS-1 frame? STS-3 frame? STS-n frame?</a:t>
            </a:r>
          </a:p>
          <a:p>
            <a:pPr algn="just">
              <a:spcBef>
                <a:spcPts val="600"/>
              </a:spcBef>
              <a:spcAft>
                <a:spcPts val="600"/>
              </a:spcAft>
            </a:pPr>
            <a:r>
              <a:rPr lang="en-US" sz="1800" b="1" dirty="0">
                <a:solidFill>
                  <a:schemeClr val="bg2"/>
                </a:solidFill>
              </a:rPr>
              <a:t>Solution: </a:t>
            </a:r>
            <a:r>
              <a:rPr lang="en-US" sz="1800" dirty="0">
                <a:solidFill>
                  <a:schemeClr val="bg2"/>
                </a:solidFill>
              </a:rPr>
              <a:t>In SONET, 8000 frames are sent per second. This means that the duration of an STS-1, STS-3, or STS-n frame is the same and equal to 1/8000 s, or 125 </a:t>
            </a:r>
            <a:r>
              <a:rPr lang="en-US" sz="1800" dirty="0" err="1">
                <a:solidFill>
                  <a:schemeClr val="bg2"/>
                </a:solidFill>
              </a:rPr>
              <a:t>μs</a:t>
            </a:r>
            <a:r>
              <a:rPr lang="en-US" sz="1800" dirty="0">
                <a:solidFill>
                  <a:schemeClr val="bg2"/>
                </a:solidFill>
              </a:rPr>
              <a:t>. </a:t>
            </a:r>
          </a:p>
          <a:p>
            <a:pPr algn="just">
              <a:spcBef>
                <a:spcPts val="600"/>
              </a:spcBef>
              <a:spcAft>
                <a:spcPts val="600"/>
              </a:spcAft>
            </a:pPr>
            <a:r>
              <a:rPr lang="en-US" sz="1800" dirty="0">
                <a:solidFill>
                  <a:srgbClr val="00B050"/>
                </a:solidFill>
              </a:rPr>
              <a:t>In SONET, the duration of any frame is 125 </a:t>
            </a:r>
            <a:r>
              <a:rPr lang="en-US" sz="1800" dirty="0" err="1">
                <a:solidFill>
                  <a:srgbClr val="00B050"/>
                </a:solidFill>
              </a:rPr>
              <a:t>μs</a:t>
            </a:r>
            <a:r>
              <a:rPr lang="en-US" sz="1800" dirty="0">
                <a:solidFill>
                  <a:srgbClr val="00B050"/>
                </a:solidFill>
              </a:rPr>
              <a:t>.</a:t>
            </a:r>
          </a:p>
        </p:txBody>
      </p:sp>
    </p:spTree>
  </p:cSld>
  <p:clrMapOvr>
    <a:masterClrMapping/>
  </p:clrMapOvr>
  <p:transition advClick="0" advTm="2000"/>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STS-1 Frame Format</a:t>
            </a:r>
            <a:endParaRPr lang="en-US" sz="3600" b="1" dirty="0">
              <a:latin typeface="Arial" charset="0"/>
            </a:endParaRPr>
          </a:p>
        </p:txBody>
      </p:sp>
      <p:sp>
        <p:nvSpPr>
          <p:cNvPr id="6" name="Rectangle 5"/>
          <p:cNvSpPr/>
          <p:nvPr/>
        </p:nvSpPr>
        <p:spPr>
          <a:xfrm>
            <a:off x="838200" y="855583"/>
            <a:ext cx="7772400" cy="2062103"/>
          </a:xfrm>
          <a:prstGeom prst="rect">
            <a:avLst/>
          </a:prstGeom>
          <a:ln w="19050">
            <a:noFill/>
          </a:ln>
        </p:spPr>
        <p:txBody>
          <a:bodyPr wrap="square">
            <a:spAutoFit/>
          </a:bodyPr>
          <a:lstStyle/>
          <a:p>
            <a:pPr algn="just">
              <a:spcBef>
                <a:spcPts val="600"/>
              </a:spcBef>
              <a:spcAft>
                <a:spcPts val="600"/>
              </a:spcAft>
              <a:buFont typeface="Wingdings" pitchFamily="2" charset="2"/>
              <a:buChar char="Ø"/>
            </a:pPr>
            <a:r>
              <a:rPr lang="en-US" sz="1800" dirty="0">
                <a:solidFill>
                  <a:schemeClr val="bg2"/>
                </a:solidFill>
              </a:rPr>
              <a:t>A SONET frame is a matrix of 9 rows of 90 bytes (octets ) each, for a total of 810 bytes.  </a:t>
            </a:r>
          </a:p>
          <a:p>
            <a:pPr algn="just">
              <a:spcBef>
                <a:spcPts val="600"/>
              </a:spcBef>
              <a:spcAft>
                <a:spcPts val="600"/>
              </a:spcAft>
              <a:buFont typeface="Wingdings" pitchFamily="2" charset="2"/>
              <a:buChar char="Ø"/>
            </a:pPr>
            <a:r>
              <a:rPr lang="en-US" sz="1800" dirty="0">
                <a:solidFill>
                  <a:schemeClr val="bg2"/>
                </a:solidFill>
              </a:rPr>
              <a:t>The upper three rows of the first three columns are used for section overhead (SOH).  The lower six are line overhead (LOH).  </a:t>
            </a:r>
          </a:p>
          <a:p>
            <a:pPr algn="just">
              <a:spcBef>
                <a:spcPts val="600"/>
              </a:spcBef>
              <a:spcAft>
                <a:spcPts val="600"/>
              </a:spcAft>
              <a:buFont typeface="Wingdings" pitchFamily="2" charset="2"/>
              <a:buChar char="Ø"/>
            </a:pPr>
            <a:r>
              <a:rPr lang="en-US" sz="1800" dirty="0">
                <a:solidFill>
                  <a:schemeClr val="bg2"/>
                </a:solidFill>
              </a:rPr>
              <a:t>The rest of the frame is called the synchronous payload envelope (SPE). It contains user data and path overhead (POH) needed at the user data level.</a:t>
            </a:r>
            <a:endParaRPr lang="en-US" sz="1800" dirty="0">
              <a:solidFill>
                <a:srgbClr val="00B050"/>
              </a:solidFill>
            </a:endParaRPr>
          </a:p>
        </p:txBody>
      </p:sp>
      <p:graphicFrame>
        <p:nvGraphicFramePr>
          <p:cNvPr id="10" name="Table 9"/>
          <p:cNvGraphicFramePr>
            <a:graphicFrameLocks noGrp="1"/>
          </p:cNvGraphicFramePr>
          <p:nvPr/>
        </p:nvGraphicFramePr>
        <p:xfrm>
          <a:off x="1524000" y="3352800"/>
          <a:ext cx="6400800" cy="2468880"/>
        </p:xfrm>
        <a:graphic>
          <a:graphicData uri="http://schemas.openxmlformats.org/drawingml/2006/table">
            <a:tbl>
              <a:tblPr firstRow="1" bandRow="1">
                <a:tableStyleId>{2D5ABB26-0587-4C30-8999-92F81FD0307C}</a:tableStyleId>
              </a:tblPr>
              <a:tblGrid>
                <a:gridCol w="320040">
                  <a:extLst>
                    <a:ext uri="{9D8B030D-6E8A-4147-A177-3AD203B41FA5}">
                      <a16:colId xmlns:a16="http://schemas.microsoft.com/office/drawing/2014/main" val="20000"/>
                    </a:ext>
                  </a:extLst>
                </a:gridCol>
                <a:gridCol w="320040">
                  <a:extLst>
                    <a:ext uri="{9D8B030D-6E8A-4147-A177-3AD203B41FA5}">
                      <a16:colId xmlns:a16="http://schemas.microsoft.com/office/drawing/2014/main" val="20001"/>
                    </a:ext>
                  </a:extLst>
                </a:gridCol>
                <a:gridCol w="320040">
                  <a:extLst>
                    <a:ext uri="{9D8B030D-6E8A-4147-A177-3AD203B41FA5}">
                      <a16:colId xmlns:a16="http://schemas.microsoft.com/office/drawing/2014/main" val="20002"/>
                    </a:ext>
                  </a:extLst>
                </a:gridCol>
                <a:gridCol w="320040">
                  <a:extLst>
                    <a:ext uri="{9D8B030D-6E8A-4147-A177-3AD203B41FA5}">
                      <a16:colId xmlns:a16="http://schemas.microsoft.com/office/drawing/2014/main" val="20003"/>
                    </a:ext>
                  </a:extLst>
                </a:gridCol>
                <a:gridCol w="320040">
                  <a:extLst>
                    <a:ext uri="{9D8B030D-6E8A-4147-A177-3AD203B41FA5}">
                      <a16:colId xmlns:a16="http://schemas.microsoft.com/office/drawing/2014/main" val="20004"/>
                    </a:ext>
                  </a:extLst>
                </a:gridCol>
                <a:gridCol w="320040">
                  <a:extLst>
                    <a:ext uri="{9D8B030D-6E8A-4147-A177-3AD203B41FA5}">
                      <a16:colId xmlns:a16="http://schemas.microsoft.com/office/drawing/2014/main" val="20005"/>
                    </a:ext>
                  </a:extLst>
                </a:gridCol>
                <a:gridCol w="320040">
                  <a:extLst>
                    <a:ext uri="{9D8B030D-6E8A-4147-A177-3AD203B41FA5}">
                      <a16:colId xmlns:a16="http://schemas.microsoft.com/office/drawing/2014/main" val="20006"/>
                    </a:ext>
                  </a:extLst>
                </a:gridCol>
                <a:gridCol w="320040">
                  <a:extLst>
                    <a:ext uri="{9D8B030D-6E8A-4147-A177-3AD203B41FA5}">
                      <a16:colId xmlns:a16="http://schemas.microsoft.com/office/drawing/2014/main" val="20007"/>
                    </a:ext>
                  </a:extLst>
                </a:gridCol>
                <a:gridCol w="320040">
                  <a:extLst>
                    <a:ext uri="{9D8B030D-6E8A-4147-A177-3AD203B41FA5}">
                      <a16:colId xmlns:a16="http://schemas.microsoft.com/office/drawing/2014/main" val="20008"/>
                    </a:ext>
                  </a:extLst>
                </a:gridCol>
                <a:gridCol w="320040">
                  <a:extLst>
                    <a:ext uri="{9D8B030D-6E8A-4147-A177-3AD203B41FA5}">
                      <a16:colId xmlns:a16="http://schemas.microsoft.com/office/drawing/2014/main" val="20009"/>
                    </a:ext>
                  </a:extLst>
                </a:gridCol>
                <a:gridCol w="320040">
                  <a:extLst>
                    <a:ext uri="{9D8B030D-6E8A-4147-A177-3AD203B41FA5}">
                      <a16:colId xmlns:a16="http://schemas.microsoft.com/office/drawing/2014/main" val="20010"/>
                    </a:ext>
                  </a:extLst>
                </a:gridCol>
                <a:gridCol w="320040">
                  <a:extLst>
                    <a:ext uri="{9D8B030D-6E8A-4147-A177-3AD203B41FA5}">
                      <a16:colId xmlns:a16="http://schemas.microsoft.com/office/drawing/2014/main" val="20011"/>
                    </a:ext>
                  </a:extLst>
                </a:gridCol>
                <a:gridCol w="320040">
                  <a:extLst>
                    <a:ext uri="{9D8B030D-6E8A-4147-A177-3AD203B41FA5}">
                      <a16:colId xmlns:a16="http://schemas.microsoft.com/office/drawing/2014/main" val="20012"/>
                    </a:ext>
                  </a:extLst>
                </a:gridCol>
                <a:gridCol w="320040">
                  <a:extLst>
                    <a:ext uri="{9D8B030D-6E8A-4147-A177-3AD203B41FA5}">
                      <a16:colId xmlns:a16="http://schemas.microsoft.com/office/drawing/2014/main" val="20013"/>
                    </a:ext>
                  </a:extLst>
                </a:gridCol>
                <a:gridCol w="320040">
                  <a:extLst>
                    <a:ext uri="{9D8B030D-6E8A-4147-A177-3AD203B41FA5}">
                      <a16:colId xmlns:a16="http://schemas.microsoft.com/office/drawing/2014/main" val="20014"/>
                    </a:ext>
                  </a:extLst>
                </a:gridCol>
                <a:gridCol w="320040">
                  <a:extLst>
                    <a:ext uri="{9D8B030D-6E8A-4147-A177-3AD203B41FA5}">
                      <a16:colId xmlns:a16="http://schemas.microsoft.com/office/drawing/2014/main" val="20015"/>
                    </a:ext>
                  </a:extLst>
                </a:gridCol>
                <a:gridCol w="320040">
                  <a:extLst>
                    <a:ext uri="{9D8B030D-6E8A-4147-A177-3AD203B41FA5}">
                      <a16:colId xmlns:a16="http://schemas.microsoft.com/office/drawing/2014/main" val="20016"/>
                    </a:ext>
                  </a:extLst>
                </a:gridCol>
                <a:gridCol w="320040">
                  <a:extLst>
                    <a:ext uri="{9D8B030D-6E8A-4147-A177-3AD203B41FA5}">
                      <a16:colId xmlns:a16="http://schemas.microsoft.com/office/drawing/2014/main" val="20017"/>
                    </a:ext>
                  </a:extLst>
                </a:gridCol>
                <a:gridCol w="320040">
                  <a:extLst>
                    <a:ext uri="{9D8B030D-6E8A-4147-A177-3AD203B41FA5}">
                      <a16:colId xmlns:a16="http://schemas.microsoft.com/office/drawing/2014/main" val="20018"/>
                    </a:ext>
                  </a:extLst>
                </a:gridCol>
                <a:gridCol w="320040">
                  <a:extLst>
                    <a:ext uri="{9D8B030D-6E8A-4147-A177-3AD203B41FA5}">
                      <a16:colId xmlns:a16="http://schemas.microsoft.com/office/drawing/2014/main" val="20019"/>
                    </a:ext>
                  </a:extLst>
                </a:gridCol>
              </a:tblGrid>
              <a:tr h="274320">
                <a:tc>
                  <a:txBody>
                    <a:bodyPr/>
                    <a:lstStyle/>
                    <a:p>
                      <a:pPr algn="ctr"/>
                      <a:r>
                        <a:rPr lang="en-US" sz="1200" dirty="0">
                          <a:solidFill>
                            <a:schemeClr val="bg2"/>
                          </a:solidFill>
                        </a:rPr>
                        <a:t>A1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sz="1200" dirty="0">
                          <a:solidFill>
                            <a:schemeClr val="bg2"/>
                          </a:solidFill>
                        </a:rPr>
                        <a:t>A2</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sz="1200" dirty="0">
                          <a:solidFill>
                            <a:schemeClr val="bg2"/>
                          </a:solidFill>
                        </a:rPr>
                        <a:t>J0</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sz="1200" dirty="0">
                          <a:solidFill>
                            <a:schemeClr val="bg2"/>
                          </a:solidFill>
                        </a:rPr>
                        <a:t>J1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0"/>
                  </a:ext>
                </a:extLst>
              </a:tr>
              <a:tr h="274320">
                <a:tc>
                  <a:txBody>
                    <a:bodyPr/>
                    <a:lstStyle/>
                    <a:p>
                      <a:pPr algn="ctr"/>
                      <a:r>
                        <a:rPr lang="en-US" sz="1200" dirty="0">
                          <a:solidFill>
                            <a:schemeClr val="bg2"/>
                          </a:solidFill>
                        </a:rPr>
                        <a:t>B1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sz="1200" dirty="0">
                          <a:solidFill>
                            <a:schemeClr val="bg2"/>
                          </a:solidFill>
                        </a:rPr>
                        <a:t>E1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sz="1200" dirty="0">
                          <a:solidFill>
                            <a:schemeClr val="bg2"/>
                          </a:solidFill>
                        </a:rPr>
                        <a:t>F1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sz="1200" dirty="0">
                          <a:solidFill>
                            <a:schemeClr val="bg2"/>
                          </a:solidFill>
                        </a:rPr>
                        <a:t>B3</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1"/>
                  </a:ext>
                </a:extLst>
              </a:tr>
              <a:tr h="274320">
                <a:tc>
                  <a:txBody>
                    <a:bodyPr/>
                    <a:lstStyle/>
                    <a:p>
                      <a:pPr algn="ctr"/>
                      <a:r>
                        <a:rPr lang="en-US" sz="1200" dirty="0">
                          <a:solidFill>
                            <a:schemeClr val="bg2"/>
                          </a:solidFill>
                        </a:rPr>
                        <a:t>D1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sz="1200" dirty="0">
                          <a:solidFill>
                            <a:schemeClr val="bg2"/>
                          </a:solidFill>
                        </a:rPr>
                        <a:t>D2</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sz="1200" dirty="0">
                          <a:solidFill>
                            <a:schemeClr val="bg2"/>
                          </a:solidFill>
                        </a:rPr>
                        <a:t>D3</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a:r>
                        <a:rPr lang="en-US" sz="1200" dirty="0">
                          <a:solidFill>
                            <a:schemeClr val="bg2"/>
                          </a:solidFill>
                        </a:rPr>
                        <a:t>C2</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2"/>
                  </a:ext>
                </a:extLst>
              </a:tr>
              <a:tr h="274320">
                <a:tc>
                  <a:txBody>
                    <a:bodyPr/>
                    <a:lstStyle/>
                    <a:p>
                      <a:pPr algn="ctr"/>
                      <a:r>
                        <a:rPr lang="en-US" sz="1200" dirty="0">
                          <a:solidFill>
                            <a:schemeClr val="bg2"/>
                          </a:solidFill>
                        </a:rPr>
                        <a:t>H1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H2</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H3</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G1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3"/>
                  </a:ext>
                </a:extLst>
              </a:tr>
              <a:tr h="274320">
                <a:tc>
                  <a:txBody>
                    <a:bodyPr/>
                    <a:lstStyle/>
                    <a:p>
                      <a:pPr algn="ctr"/>
                      <a:r>
                        <a:rPr lang="en-US" sz="1200" dirty="0">
                          <a:solidFill>
                            <a:schemeClr val="bg2"/>
                          </a:solidFill>
                        </a:rPr>
                        <a:t>B2</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K1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K2</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F2</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4"/>
                  </a:ext>
                </a:extLst>
              </a:tr>
              <a:tr h="274320">
                <a:tc>
                  <a:txBody>
                    <a:bodyPr/>
                    <a:lstStyle/>
                    <a:p>
                      <a:pPr algn="ctr"/>
                      <a:r>
                        <a:rPr lang="en-US" sz="1200" dirty="0">
                          <a:solidFill>
                            <a:schemeClr val="bg2"/>
                          </a:solidFill>
                        </a:rPr>
                        <a:t>D4</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D5</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D6</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H4</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5"/>
                  </a:ext>
                </a:extLst>
              </a:tr>
              <a:tr h="274320">
                <a:tc>
                  <a:txBody>
                    <a:bodyPr/>
                    <a:lstStyle/>
                    <a:p>
                      <a:pPr algn="ctr"/>
                      <a:r>
                        <a:rPr lang="en-US" sz="1200" dirty="0">
                          <a:solidFill>
                            <a:schemeClr val="bg2"/>
                          </a:solidFill>
                        </a:rPr>
                        <a:t>D7</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D8</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D9</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Z3</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6"/>
                  </a:ext>
                </a:extLst>
              </a:tr>
              <a:tr h="274320">
                <a:tc>
                  <a:txBody>
                    <a:bodyPr/>
                    <a:lstStyle/>
                    <a:p>
                      <a:pPr algn="ctr"/>
                      <a:r>
                        <a:rPr lang="en-US" sz="1200" dirty="0">
                          <a:solidFill>
                            <a:schemeClr val="bg2"/>
                          </a:solidFill>
                        </a:rPr>
                        <a:t>D10</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D11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D12</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Z4</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7"/>
                  </a:ext>
                </a:extLst>
              </a:tr>
              <a:tr h="274320">
                <a:tc>
                  <a:txBody>
                    <a:bodyPr/>
                    <a:lstStyle/>
                    <a:p>
                      <a:pPr algn="ctr"/>
                      <a:r>
                        <a:rPr lang="en-US" sz="1200" dirty="0">
                          <a:solidFill>
                            <a:schemeClr val="bg2"/>
                          </a:solidFill>
                        </a:rPr>
                        <a:t>Z1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Z2</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E2</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FCC00"/>
                    </a:solidFill>
                  </a:tcPr>
                </a:tc>
                <a:tc>
                  <a:txBody>
                    <a:bodyPr/>
                    <a:lstStyle/>
                    <a:p>
                      <a:pPr algn="ctr"/>
                      <a:r>
                        <a:rPr lang="en-US" sz="1200" dirty="0">
                          <a:solidFill>
                            <a:schemeClr val="bg2"/>
                          </a:solidFill>
                        </a:rPr>
                        <a:t>N1</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lumMod val="20000"/>
                        <a:lumOff val="80000"/>
                      </a:schemeClr>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endParaRPr lang="en-US" sz="1200" dirty="0">
                        <a:solidFill>
                          <a:schemeClr val="bg2"/>
                        </a:solidFill>
                      </a:endParaRP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8"/>
                  </a:ext>
                </a:extLst>
              </a:tr>
            </a:tbl>
          </a:graphicData>
        </a:graphic>
      </p:graphicFrame>
      <p:cxnSp>
        <p:nvCxnSpPr>
          <p:cNvPr id="15" name="Straight Connector 14"/>
          <p:cNvCxnSpPr/>
          <p:nvPr/>
        </p:nvCxnSpPr>
        <p:spPr bwMode="auto">
          <a:xfrm flipV="1">
            <a:off x="1524000" y="3048000"/>
            <a:ext cx="0" cy="304800"/>
          </a:xfrm>
          <a:prstGeom prst="line">
            <a:avLst/>
          </a:prstGeom>
          <a:solidFill>
            <a:schemeClr val="accent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9" name="Group 28"/>
          <p:cNvGrpSpPr/>
          <p:nvPr/>
        </p:nvGrpSpPr>
        <p:grpSpPr>
          <a:xfrm>
            <a:off x="4724400" y="3276600"/>
            <a:ext cx="304800" cy="2590800"/>
            <a:chOff x="4724400" y="3276600"/>
            <a:chExt cx="304800" cy="2590800"/>
          </a:xfrm>
        </p:grpSpPr>
        <p:cxnSp>
          <p:nvCxnSpPr>
            <p:cNvPr id="26" name="Curved Connector 25"/>
            <p:cNvCxnSpPr/>
            <p:nvPr/>
          </p:nvCxnSpPr>
          <p:spPr bwMode="auto">
            <a:xfrm rot="5400000">
              <a:off x="3619500" y="4457700"/>
              <a:ext cx="2514600" cy="304800"/>
            </a:xfrm>
            <a:prstGeom prst="curvedConnector3">
              <a:avLst>
                <a:gd name="adj1" fmla="val 49314"/>
              </a:avLst>
            </a:prstGeom>
            <a:solidFill>
              <a:schemeClr val="accent1"/>
            </a:solidFill>
            <a:ln w="762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urved Connector 27"/>
            <p:cNvCxnSpPr/>
            <p:nvPr/>
          </p:nvCxnSpPr>
          <p:spPr bwMode="auto">
            <a:xfrm rot="5400000">
              <a:off x="3611880" y="4419600"/>
              <a:ext cx="2560320" cy="274320"/>
            </a:xfrm>
            <a:prstGeom prst="curvedConnector3">
              <a:avLst>
                <a:gd name="adj1" fmla="val 49314"/>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Group 42"/>
          <p:cNvGrpSpPr/>
          <p:nvPr/>
        </p:nvGrpSpPr>
        <p:grpSpPr>
          <a:xfrm>
            <a:off x="1219200" y="2895600"/>
            <a:ext cx="6705600" cy="3201888"/>
            <a:chOff x="1219200" y="2895600"/>
            <a:chExt cx="6705600" cy="3201888"/>
          </a:xfrm>
        </p:grpSpPr>
        <p:sp>
          <p:nvSpPr>
            <p:cNvPr id="39" name="TextBox 38"/>
            <p:cNvSpPr txBox="1"/>
            <p:nvPr/>
          </p:nvSpPr>
          <p:spPr>
            <a:xfrm>
              <a:off x="3581400" y="5943600"/>
              <a:ext cx="2819400" cy="153888"/>
            </a:xfrm>
            <a:prstGeom prst="rect">
              <a:avLst/>
            </a:prstGeom>
            <a:noFill/>
          </p:spPr>
          <p:txBody>
            <a:bodyPr wrap="square" lIns="0" tIns="0" rIns="0" bIns="0" rtlCol="0">
              <a:spAutoFit/>
            </a:bodyPr>
            <a:lstStyle/>
            <a:p>
              <a:pPr algn="ctr"/>
              <a:r>
                <a:rPr lang="en-US" sz="1000" dirty="0">
                  <a:solidFill>
                    <a:schemeClr val="bg2"/>
                  </a:solidFill>
                </a:rPr>
                <a:t>87 Columns-Synchronous payload envelope (SPE)</a:t>
              </a:r>
            </a:p>
          </p:txBody>
        </p:sp>
        <p:grpSp>
          <p:nvGrpSpPr>
            <p:cNvPr id="42" name="Group 41"/>
            <p:cNvGrpSpPr/>
            <p:nvPr/>
          </p:nvGrpSpPr>
          <p:grpSpPr>
            <a:xfrm>
              <a:off x="1219200" y="2895600"/>
              <a:ext cx="6705600" cy="3048000"/>
              <a:chOff x="1219200" y="2895600"/>
              <a:chExt cx="6705600" cy="3048000"/>
            </a:xfrm>
          </p:grpSpPr>
          <p:sp>
            <p:nvSpPr>
              <p:cNvPr id="37" name="TextBox 36"/>
              <p:cNvSpPr txBox="1"/>
              <p:nvPr/>
            </p:nvSpPr>
            <p:spPr>
              <a:xfrm rot="5400000">
                <a:off x="800100" y="3619500"/>
                <a:ext cx="990600" cy="152400"/>
              </a:xfrm>
              <a:prstGeom prst="rect">
                <a:avLst/>
              </a:prstGeom>
              <a:noFill/>
            </p:spPr>
            <p:txBody>
              <a:bodyPr wrap="square" lIns="0" tIns="0" rIns="0" bIns="0" rtlCol="0">
                <a:spAutoFit/>
              </a:bodyPr>
              <a:lstStyle/>
              <a:p>
                <a:pPr algn="ctr"/>
                <a:r>
                  <a:rPr lang="en-US" sz="1000" dirty="0">
                    <a:solidFill>
                      <a:schemeClr val="bg2"/>
                    </a:solidFill>
                  </a:rPr>
                  <a:t>Section overhead</a:t>
                </a:r>
              </a:p>
            </p:txBody>
          </p:sp>
          <p:sp>
            <p:nvSpPr>
              <p:cNvPr id="38" name="TextBox 37"/>
              <p:cNvSpPr txBox="1"/>
              <p:nvPr/>
            </p:nvSpPr>
            <p:spPr>
              <a:xfrm rot="5400000">
                <a:off x="800100" y="4914900"/>
                <a:ext cx="990600" cy="152400"/>
              </a:xfrm>
              <a:prstGeom prst="rect">
                <a:avLst/>
              </a:prstGeom>
              <a:noFill/>
            </p:spPr>
            <p:txBody>
              <a:bodyPr wrap="square" lIns="0" tIns="0" rIns="0" bIns="0" rtlCol="0">
                <a:spAutoFit/>
              </a:bodyPr>
              <a:lstStyle/>
              <a:p>
                <a:pPr algn="ctr"/>
                <a:r>
                  <a:rPr lang="en-US" sz="1000" dirty="0">
                    <a:solidFill>
                      <a:schemeClr val="bg2"/>
                    </a:solidFill>
                  </a:rPr>
                  <a:t>Line overhead</a:t>
                </a:r>
              </a:p>
            </p:txBody>
          </p:sp>
          <p:grpSp>
            <p:nvGrpSpPr>
              <p:cNvPr id="41" name="Group 40"/>
              <p:cNvGrpSpPr/>
              <p:nvPr/>
            </p:nvGrpSpPr>
            <p:grpSpPr>
              <a:xfrm>
                <a:off x="1447800" y="2895600"/>
                <a:ext cx="6477000" cy="3048000"/>
                <a:chOff x="1447800" y="2895600"/>
                <a:chExt cx="6477000" cy="3048000"/>
              </a:xfrm>
            </p:grpSpPr>
            <p:grpSp>
              <p:nvGrpSpPr>
                <p:cNvPr id="36" name="Group 35"/>
                <p:cNvGrpSpPr/>
                <p:nvPr/>
              </p:nvGrpSpPr>
              <p:grpSpPr>
                <a:xfrm>
                  <a:off x="1447800" y="2895600"/>
                  <a:ext cx="6477000" cy="3048000"/>
                  <a:chOff x="1447800" y="2895600"/>
                  <a:chExt cx="6477000" cy="3048000"/>
                </a:xfrm>
              </p:grpSpPr>
              <p:sp>
                <p:nvSpPr>
                  <p:cNvPr id="31" name="TextBox 30"/>
                  <p:cNvSpPr txBox="1"/>
                  <p:nvPr/>
                </p:nvSpPr>
                <p:spPr>
                  <a:xfrm>
                    <a:off x="4267200" y="3048000"/>
                    <a:ext cx="1600200" cy="153888"/>
                  </a:xfrm>
                  <a:prstGeom prst="rect">
                    <a:avLst/>
                  </a:prstGeom>
                  <a:noFill/>
                </p:spPr>
                <p:txBody>
                  <a:bodyPr wrap="square" lIns="0" tIns="0" rIns="0" bIns="0" rtlCol="0">
                    <a:spAutoFit/>
                  </a:bodyPr>
                  <a:lstStyle/>
                  <a:p>
                    <a:pPr algn="ctr"/>
                    <a:r>
                      <a:rPr lang="en-US" sz="1000" dirty="0">
                        <a:solidFill>
                          <a:schemeClr val="bg2"/>
                        </a:solidFill>
                      </a:rPr>
                      <a:t>90 Columns/90 octets per row</a:t>
                    </a:r>
                  </a:p>
                </p:txBody>
              </p:sp>
              <p:grpSp>
                <p:nvGrpSpPr>
                  <p:cNvPr id="35" name="Group 34"/>
                  <p:cNvGrpSpPr/>
                  <p:nvPr/>
                </p:nvGrpSpPr>
                <p:grpSpPr>
                  <a:xfrm>
                    <a:off x="1447800" y="2895600"/>
                    <a:ext cx="6477000" cy="3048000"/>
                    <a:chOff x="1447800" y="2895600"/>
                    <a:chExt cx="6477000" cy="3048000"/>
                  </a:xfrm>
                </p:grpSpPr>
                <p:grpSp>
                  <p:nvGrpSpPr>
                    <p:cNvPr id="30" name="Group 29"/>
                    <p:cNvGrpSpPr/>
                    <p:nvPr/>
                  </p:nvGrpSpPr>
                  <p:grpSpPr>
                    <a:xfrm>
                      <a:off x="1447800" y="3048000"/>
                      <a:ext cx="6477000" cy="2895600"/>
                      <a:chOff x="1447800" y="3048000"/>
                      <a:chExt cx="6477000" cy="2895600"/>
                    </a:xfrm>
                  </p:grpSpPr>
                  <p:cxnSp>
                    <p:nvCxnSpPr>
                      <p:cNvPr id="16" name="Straight Connector 15"/>
                      <p:cNvCxnSpPr/>
                      <p:nvPr/>
                    </p:nvCxnSpPr>
                    <p:spPr bwMode="auto">
                      <a:xfrm flipV="1">
                        <a:off x="7924800" y="3048000"/>
                        <a:ext cx="0" cy="304800"/>
                      </a:xfrm>
                      <a:prstGeom prst="line">
                        <a:avLst/>
                      </a:prstGeom>
                      <a:solidFill>
                        <a:schemeClr val="accent1"/>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Straight Arrow Connector 17"/>
                      <p:cNvCxnSpPr/>
                      <p:nvPr/>
                    </p:nvCxnSpPr>
                    <p:spPr bwMode="auto">
                      <a:xfrm>
                        <a:off x="1524000" y="3200400"/>
                        <a:ext cx="6400800" cy="0"/>
                      </a:xfrm>
                      <a:prstGeom prst="straightConnector1">
                        <a:avLst/>
                      </a:prstGeom>
                      <a:solidFill>
                        <a:schemeClr val="accent1"/>
                      </a:solidFill>
                      <a:ln w="9525" cap="flat" cmpd="sng" algn="ctr">
                        <a:solidFill>
                          <a:schemeClr val="bg2"/>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Arrow Connector 18"/>
                      <p:cNvCxnSpPr/>
                      <p:nvPr/>
                    </p:nvCxnSpPr>
                    <p:spPr bwMode="auto">
                      <a:xfrm>
                        <a:off x="2484120" y="5943600"/>
                        <a:ext cx="5440680" cy="0"/>
                      </a:xfrm>
                      <a:prstGeom prst="straightConnector1">
                        <a:avLst/>
                      </a:prstGeom>
                      <a:solidFill>
                        <a:schemeClr val="accent1"/>
                      </a:solidFill>
                      <a:ln w="9525" cap="flat" cmpd="sng" algn="ctr">
                        <a:solidFill>
                          <a:schemeClr val="bg2"/>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Arrow Connector 19"/>
                      <p:cNvCxnSpPr/>
                      <p:nvPr/>
                    </p:nvCxnSpPr>
                    <p:spPr bwMode="auto">
                      <a:xfrm>
                        <a:off x="1508760" y="5943600"/>
                        <a:ext cx="1005840" cy="0"/>
                      </a:xfrm>
                      <a:prstGeom prst="curvedConnector3">
                        <a:avLst>
                          <a:gd name="adj1" fmla="val 50000"/>
                        </a:avLst>
                      </a:prstGeom>
                      <a:solidFill>
                        <a:schemeClr val="accent1"/>
                      </a:solidFill>
                      <a:ln w="9525" cap="flat" cmpd="sng" algn="ctr">
                        <a:solidFill>
                          <a:schemeClr val="bg2"/>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Straight Arrow Connector 20"/>
                      <p:cNvCxnSpPr/>
                      <p:nvPr/>
                    </p:nvCxnSpPr>
                    <p:spPr bwMode="auto">
                      <a:xfrm rot="5400000">
                        <a:off x="1036320" y="3764280"/>
                        <a:ext cx="822960" cy="0"/>
                      </a:xfrm>
                      <a:prstGeom prst="straightConnector1">
                        <a:avLst/>
                      </a:prstGeom>
                      <a:solidFill>
                        <a:schemeClr val="accent1"/>
                      </a:solidFill>
                      <a:ln w="9525" cap="flat" cmpd="sng" algn="ctr">
                        <a:solidFill>
                          <a:schemeClr val="bg2"/>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p:cNvCxnSpPr/>
                      <p:nvPr/>
                    </p:nvCxnSpPr>
                    <p:spPr bwMode="auto">
                      <a:xfrm rot="5400000">
                        <a:off x="624840" y="5029200"/>
                        <a:ext cx="1645920" cy="0"/>
                      </a:xfrm>
                      <a:prstGeom prst="straightConnector1">
                        <a:avLst/>
                      </a:prstGeom>
                      <a:solidFill>
                        <a:schemeClr val="accent1"/>
                      </a:solidFill>
                      <a:ln w="9525" cap="flat" cmpd="sng" algn="ctr">
                        <a:solidFill>
                          <a:schemeClr val="bg2"/>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2" name="TextBox 31"/>
                    <p:cNvSpPr txBox="1"/>
                    <p:nvPr/>
                  </p:nvSpPr>
                  <p:spPr>
                    <a:xfrm>
                      <a:off x="2590800" y="2895600"/>
                      <a:ext cx="990600" cy="152400"/>
                    </a:xfrm>
                    <a:prstGeom prst="rect">
                      <a:avLst/>
                    </a:prstGeom>
                    <a:noFill/>
                  </p:spPr>
                  <p:txBody>
                    <a:bodyPr wrap="square" lIns="0" tIns="0" rIns="0" bIns="0" rtlCol="0">
                      <a:spAutoFit/>
                    </a:bodyPr>
                    <a:lstStyle/>
                    <a:p>
                      <a:pPr algn="ctr"/>
                      <a:r>
                        <a:rPr lang="en-US" sz="1000" dirty="0">
                          <a:solidFill>
                            <a:schemeClr val="bg2"/>
                          </a:solidFill>
                        </a:rPr>
                        <a:t>Path Overhead</a:t>
                      </a:r>
                    </a:p>
                  </p:txBody>
                </p:sp>
                <p:cxnSp>
                  <p:nvCxnSpPr>
                    <p:cNvPr id="34" name="Straight Arrow Connector 33"/>
                    <p:cNvCxnSpPr/>
                    <p:nvPr/>
                  </p:nvCxnSpPr>
                  <p:spPr bwMode="auto">
                    <a:xfrm>
                      <a:off x="2667000" y="3048000"/>
                      <a:ext cx="0" cy="304800"/>
                    </a:xfrm>
                    <a:prstGeom prst="straightConnector1">
                      <a:avLst/>
                    </a:prstGeom>
                    <a:solidFill>
                      <a:schemeClr val="accent1"/>
                    </a:solidFill>
                    <a:ln w="9525" cap="flat" cmpd="sng" algn="ctr">
                      <a:solidFill>
                        <a:schemeClr val="bg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40" name="Oval 39"/>
                <p:cNvSpPr/>
                <p:nvPr/>
              </p:nvSpPr>
              <p:spPr bwMode="auto">
                <a:xfrm>
                  <a:off x="3886200" y="3733800"/>
                  <a:ext cx="2438400" cy="1600200"/>
                </a:xfrm>
                <a:prstGeom prst="ellipse">
                  <a:avLst/>
                </a:prstGeom>
                <a:solidFill>
                  <a:srgbClr val="00FFFF">
                    <a:alpha val="50196"/>
                  </a:srgbClr>
                </a:solidFill>
                <a:ln w="9525" cap="flat" cmpd="sng" algn="ctr">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600" dirty="0">
                      <a:solidFill>
                        <a:schemeClr val="bg2"/>
                      </a:solidFill>
                    </a:rPr>
                    <a:t>SPE-</a:t>
                  </a:r>
                </a:p>
                <a:p>
                  <a:pPr marL="0" marR="0" indent="0" algn="ctr" defTabSz="914400" rtl="0" eaLnBrk="1" fontAlgn="base" latinLnBrk="0" hangingPunct="1">
                    <a:lnSpc>
                      <a:spcPct val="100000"/>
                    </a:lnSpc>
                    <a:spcBef>
                      <a:spcPct val="0"/>
                    </a:spcBef>
                    <a:spcAft>
                      <a:spcPct val="0"/>
                    </a:spcAft>
                    <a:buClrTx/>
                    <a:buSzTx/>
                    <a:buFontTx/>
                    <a:buNone/>
                    <a:tabLst/>
                  </a:pPr>
                  <a:r>
                    <a:rPr lang="en-US" sz="1600" dirty="0">
                      <a:solidFill>
                        <a:schemeClr val="bg2"/>
                      </a:solidFill>
                    </a:rPr>
                    <a:t>user data </a:t>
                  </a:r>
                </a:p>
                <a:p>
                  <a:pPr marL="0" marR="0" indent="0" algn="ctr" defTabSz="914400" rtl="0" eaLnBrk="1" fontAlgn="base" latinLnBrk="0" hangingPunct="1">
                    <a:lnSpc>
                      <a:spcPct val="100000"/>
                    </a:lnSpc>
                    <a:spcBef>
                      <a:spcPct val="0"/>
                    </a:spcBef>
                    <a:spcAft>
                      <a:spcPct val="0"/>
                    </a:spcAft>
                    <a:buClrTx/>
                    <a:buSzTx/>
                    <a:buFontTx/>
                    <a:buNone/>
                    <a:tabLst/>
                  </a:pPr>
                  <a:r>
                    <a:rPr lang="en-US" sz="1600" dirty="0">
                      <a:solidFill>
                        <a:schemeClr val="bg2"/>
                      </a:solidFill>
                    </a:rPr>
                    <a:t>and </a:t>
                  </a:r>
                </a:p>
                <a:p>
                  <a:pPr marL="0" marR="0" indent="0" algn="ctr" defTabSz="914400" rtl="0" eaLnBrk="1" fontAlgn="base" latinLnBrk="0" hangingPunct="1">
                    <a:lnSpc>
                      <a:spcPct val="100000"/>
                    </a:lnSpc>
                    <a:spcBef>
                      <a:spcPct val="0"/>
                    </a:spcBef>
                    <a:spcAft>
                      <a:spcPct val="0"/>
                    </a:spcAft>
                    <a:buClrTx/>
                    <a:buSzTx/>
                    <a:buFontTx/>
                    <a:buNone/>
                    <a:tabLst/>
                  </a:pPr>
                  <a:r>
                    <a:rPr lang="en-US" sz="1600" dirty="0">
                      <a:solidFill>
                        <a:schemeClr val="bg2"/>
                      </a:solidFill>
                    </a:rPr>
                    <a:t>path overhead</a:t>
                  </a:r>
                </a:p>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bg2"/>
                      </a:solidFill>
                      <a:effectLst/>
                      <a:latin typeface="Times New Roman" pitchFamily="18" charset="0"/>
                    </a:rPr>
                    <a:t>9 Rows×87</a:t>
                  </a:r>
                  <a:r>
                    <a:rPr kumimoji="0" lang="en-US" sz="1600" b="0" i="0" u="none" strike="noStrike" cap="none" normalizeH="0" dirty="0">
                      <a:ln>
                        <a:noFill/>
                      </a:ln>
                      <a:solidFill>
                        <a:schemeClr val="bg2"/>
                      </a:solidFill>
                      <a:effectLst/>
                      <a:latin typeface="Times New Roman" pitchFamily="18" charset="0"/>
                    </a:rPr>
                    <a:t> Columns</a:t>
                  </a:r>
                  <a:endParaRPr kumimoji="0" lang="en-US" sz="1600" b="0" i="0" u="none" strike="noStrike" cap="none" normalizeH="0" baseline="0" dirty="0">
                    <a:ln>
                      <a:noFill/>
                    </a:ln>
                    <a:solidFill>
                      <a:schemeClr val="bg2"/>
                    </a:solidFill>
                    <a:effectLst/>
                    <a:latin typeface="Times New Roman" pitchFamily="18" charset="0"/>
                  </a:endParaRPr>
                </a:p>
              </p:txBody>
            </p:sp>
          </p:grpSp>
        </p:grpSp>
      </p:grpSp>
    </p:spTree>
  </p:cSld>
  <p:clrMapOvr>
    <a:masterClrMapping/>
  </p:clrMapOvr>
  <p:transition advClick="0" advTm="2000"/>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Overhead</a:t>
            </a:r>
            <a:endParaRPr lang="en-US" sz="3600" b="1" dirty="0">
              <a:latin typeface="Arial" charset="0"/>
            </a:endParaRPr>
          </a:p>
        </p:txBody>
      </p:sp>
      <p:sp>
        <p:nvSpPr>
          <p:cNvPr id="6" name="Rectangle 5"/>
          <p:cNvSpPr/>
          <p:nvPr/>
        </p:nvSpPr>
        <p:spPr>
          <a:xfrm>
            <a:off x="685800" y="855583"/>
            <a:ext cx="7772400" cy="1077218"/>
          </a:xfrm>
          <a:prstGeom prst="rect">
            <a:avLst/>
          </a:prstGeom>
          <a:ln w="19050">
            <a:noFill/>
          </a:ln>
        </p:spPr>
        <p:txBody>
          <a:bodyPr wrap="square">
            <a:spAutoFit/>
          </a:bodyPr>
          <a:lstStyle/>
          <a:p>
            <a:pPr algn="just">
              <a:spcBef>
                <a:spcPts val="600"/>
              </a:spcBef>
              <a:spcAft>
                <a:spcPts val="600"/>
              </a:spcAft>
              <a:buFont typeface="Wingdings" pitchFamily="2" charset="2"/>
              <a:buChar char="Ø"/>
            </a:pPr>
            <a:r>
              <a:rPr lang="en-US" sz="1800" dirty="0">
                <a:solidFill>
                  <a:schemeClr val="bg2"/>
                </a:solidFill>
              </a:rPr>
              <a:t>Allowing simpler multiplexing</a:t>
            </a:r>
          </a:p>
          <a:p>
            <a:pPr algn="just">
              <a:spcBef>
                <a:spcPts val="600"/>
              </a:spcBef>
              <a:spcAft>
                <a:spcPts val="600"/>
              </a:spcAft>
              <a:buFont typeface="Wingdings" pitchFamily="2" charset="2"/>
              <a:buChar char="Ø"/>
            </a:pPr>
            <a:r>
              <a:rPr lang="en-US" sz="1800" dirty="0">
                <a:solidFill>
                  <a:schemeClr val="bg2"/>
                </a:solidFill>
              </a:rPr>
              <a:t>Greatly expanded operations, administration, maintenance, and provisioning (OAM&amp;P)capabilities. </a:t>
            </a:r>
          </a:p>
        </p:txBody>
      </p:sp>
      <p:grpSp>
        <p:nvGrpSpPr>
          <p:cNvPr id="2" name="Group 28"/>
          <p:cNvGrpSpPr/>
          <p:nvPr/>
        </p:nvGrpSpPr>
        <p:grpSpPr>
          <a:xfrm>
            <a:off x="4724400" y="3276600"/>
            <a:ext cx="304800" cy="2590800"/>
            <a:chOff x="4724400" y="3276600"/>
            <a:chExt cx="304800" cy="2590800"/>
          </a:xfrm>
        </p:grpSpPr>
        <p:cxnSp>
          <p:nvCxnSpPr>
            <p:cNvPr id="26" name="Curved Connector 25"/>
            <p:cNvCxnSpPr/>
            <p:nvPr/>
          </p:nvCxnSpPr>
          <p:spPr bwMode="auto">
            <a:xfrm rot="5400000">
              <a:off x="3619500" y="4457700"/>
              <a:ext cx="2514600" cy="304800"/>
            </a:xfrm>
            <a:prstGeom prst="curvedConnector3">
              <a:avLst>
                <a:gd name="adj1" fmla="val 49314"/>
              </a:avLst>
            </a:prstGeom>
            <a:solidFill>
              <a:schemeClr val="accent1"/>
            </a:solidFill>
            <a:ln w="762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urved Connector 27"/>
            <p:cNvCxnSpPr/>
            <p:nvPr/>
          </p:nvCxnSpPr>
          <p:spPr bwMode="auto">
            <a:xfrm rot="5400000">
              <a:off x="3611880" y="4419600"/>
              <a:ext cx="2560320" cy="274320"/>
            </a:xfrm>
            <a:prstGeom prst="curvedConnector3">
              <a:avLst>
                <a:gd name="adj1" fmla="val 49314"/>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9" name="Rectangle 28"/>
          <p:cNvSpPr/>
          <p:nvPr/>
        </p:nvSpPr>
        <p:spPr>
          <a:xfrm>
            <a:off x="685800" y="1981200"/>
            <a:ext cx="7772400" cy="2092881"/>
          </a:xfrm>
          <a:prstGeom prst="rect">
            <a:avLst/>
          </a:prstGeom>
          <a:ln w="19050">
            <a:noFill/>
          </a:ln>
        </p:spPr>
        <p:txBody>
          <a:bodyPr wrap="square">
            <a:spAutoFit/>
          </a:bodyPr>
          <a:lstStyle/>
          <a:p>
            <a:pPr algn="just">
              <a:spcBef>
                <a:spcPts val="600"/>
              </a:spcBef>
              <a:spcAft>
                <a:spcPts val="600"/>
              </a:spcAft>
            </a:pPr>
            <a:r>
              <a:rPr lang="en-US" sz="1800" dirty="0">
                <a:solidFill>
                  <a:srgbClr val="FF0000"/>
                </a:solidFill>
              </a:rPr>
              <a:t>Section Overhead: </a:t>
            </a:r>
          </a:p>
          <a:p>
            <a:pPr algn="just">
              <a:spcBef>
                <a:spcPts val="600"/>
              </a:spcBef>
              <a:spcAft>
                <a:spcPts val="600"/>
              </a:spcAft>
              <a:buFont typeface="Wingdings" pitchFamily="2" charset="2"/>
              <a:buChar char="Ø"/>
            </a:pPr>
            <a:r>
              <a:rPr lang="en-US" sz="1800" dirty="0">
                <a:solidFill>
                  <a:schemeClr val="bg2"/>
                </a:solidFill>
              </a:rPr>
              <a:t>Performance monitoring (STS-N signal).</a:t>
            </a:r>
          </a:p>
          <a:p>
            <a:pPr algn="just">
              <a:spcBef>
                <a:spcPts val="600"/>
              </a:spcBef>
              <a:spcAft>
                <a:spcPts val="600"/>
              </a:spcAft>
              <a:buFont typeface="Wingdings" pitchFamily="2" charset="2"/>
              <a:buChar char="Ø"/>
            </a:pPr>
            <a:r>
              <a:rPr lang="en-US" sz="1800" dirty="0">
                <a:solidFill>
                  <a:schemeClr val="bg2"/>
                </a:solidFill>
              </a:rPr>
              <a:t>Local order wire.</a:t>
            </a:r>
          </a:p>
          <a:p>
            <a:pPr algn="just">
              <a:spcBef>
                <a:spcPts val="600"/>
              </a:spcBef>
              <a:spcAft>
                <a:spcPts val="600"/>
              </a:spcAft>
              <a:buFont typeface="Wingdings" pitchFamily="2" charset="2"/>
              <a:buChar char="Ø"/>
            </a:pPr>
            <a:r>
              <a:rPr lang="en-US" sz="1800" dirty="0">
                <a:solidFill>
                  <a:schemeClr val="bg2"/>
                </a:solidFill>
              </a:rPr>
              <a:t>Data communication channels to carry information for OAM&amp;P</a:t>
            </a:r>
          </a:p>
          <a:p>
            <a:pPr algn="just">
              <a:spcBef>
                <a:spcPts val="600"/>
              </a:spcBef>
              <a:spcAft>
                <a:spcPts val="600"/>
              </a:spcAft>
              <a:buFont typeface="Wingdings" pitchFamily="2" charset="2"/>
              <a:buChar char="Ø"/>
            </a:pPr>
            <a:r>
              <a:rPr lang="en-US" sz="1800" dirty="0">
                <a:solidFill>
                  <a:schemeClr val="bg2"/>
                </a:solidFill>
              </a:rPr>
              <a:t>framing </a:t>
            </a:r>
          </a:p>
        </p:txBody>
      </p:sp>
      <p:pic>
        <p:nvPicPr>
          <p:cNvPr id="133122" name="Picture 2" descr="https://image1.slideserve.com/3046385/sonet-frames-sts-1-n.jpg"/>
          <p:cNvPicPr>
            <a:picLocks noChangeAspect="1" noChangeArrowheads="1"/>
          </p:cNvPicPr>
          <p:nvPr/>
        </p:nvPicPr>
        <p:blipFill>
          <a:blip r:embed="rId3" cstate="print"/>
          <a:srcRect l="5556" t="22222" r="3333" b="45833"/>
          <a:stretch>
            <a:fillRect/>
          </a:stretch>
        </p:blipFill>
        <p:spPr bwMode="auto">
          <a:xfrm>
            <a:off x="1025932" y="4162206"/>
            <a:ext cx="7461576" cy="2238594"/>
          </a:xfrm>
          <a:prstGeom prst="rect">
            <a:avLst/>
          </a:prstGeom>
          <a:noFill/>
        </p:spPr>
      </p:pic>
    </p:spTree>
  </p:cSld>
  <p:clrMapOvr>
    <a:masterClrMapping/>
  </p:clrMapOvr>
  <p:transition advClick="0" advTm="2000"/>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Overhead</a:t>
            </a:r>
            <a:endParaRPr lang="en-US" sz="3600" b="1" dirty="0">
              <a:latin typeface="Arial" charset="0"/>
            </a:endParaRPr>
          </a:p>
        </p:txBody>
      </p:sp>
      <p:grpSp>
        <p:nvGrpSpPr>
          <p:cNvPr id="2" name="Group 28"/>
          <p:cNvGrpSpPr/>
          <p:nvPr/>
        </p:nvGrpSpPr>
        <p:grpSpPr>
          <a:xfrm>
            <a:off x="4724400" y="3276600"/>
            <a:ext cx="304800" cy="2590800"/>
            <a:chOff x="4724400" y="3276600"/>
            <a:chExt cx="304800" cy="2590800"/>
          </a:xfrm>
        </p:grpSpPr>
        <p:cxnSp>
          <p:nvCxnSpPr>
            <p:cNvPr id="26" name="Curved Connector 25"/>
            <p:cNvCxnSpPr/>
            <p:nvPr/>
          </p:nvCxnSpPr>
          <p:spPr bwMode="auto">
            <a:xfrm rot="5400000">
              <a:off x="3619500" y="4457700"/>
              <a:ext cx="2514600" cy="304800"/>
            </a:xfrm>
            <a:prstGeom prst="curvedConnector3">
              <a:avLst>
                <a:gd name="adj1" fmla="val 49314"/>
              </a:avLst>
            </a:prstGeom>
            <a:solidFill>
              <a:schemeClr val="accent1"/>
            </a:solidFill>
            <a:ln w="762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urved Connector 27"/>
            <p:cNvCxnSpPr/>
            <p:nvPr/>
          </p:nvCxnSpPr>
          <p:spPr bwMode="auto">
            <a:xfrm rot="5400000">
              <a:off x="3611880" y="4419600"/>
              <a:ext cx="2560320" cy="274320"/>
            </a:xfrm>
            <a:prstGeom prst="curvedConnector3">
              <a:avLst>
                <a:gd name="adj1" fmla="val 49314"/>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9" name="Rectangle 28"/>
          <p:cNvSpPr/>
          <p:nvPr/>
        </p:nvSpPr>
        <p:spPr>
          <a:xfrm>
            <a:off x="762000" y="914400"/>
            <a:ext cx="7772400" cy="2523768"/>
          </a:xfrm>
          <a:prstGeom prst="rect">
            <a:avLst/>
          </a:prstGeom>
          <a:ln w="19050">
            <a:noFill/>
          </a:ln>
        </p:spPr>
        <p:txBody>
          <a:bodyPr wrap="square">
            <a:spAutoFit/>
          </a:bodyPr>
          <a:lstStyle/>
          <a:p>
            <a:pPr algn="just">
              <a:spcBef>
                <a:spcPts val="600"/>
              </a:spcBef>
              <a:spcAft>
                <a:spcPts val="600"/>
              </a:spcAft>
            </a:pPr>
            <a:r>
              <a:rPr lang="en-US" sz="1800" dirty="0">
                <a:solidFill>
                  <a:srgbClr val="FF0000"/>
                </a:solidFill>
              </a:rPr>
              <a:t>Line Overhead: </a:t>
            </a:r>
            <a:r>
              <a:rPr lang="en-US" sz="1800" dirty="0">
                <a:solidFill>
                  <a:schemeClr val="bg2"/>
                </a:solidFill>
              </a:rPr>
              <a:t>The line overhead supports the following functions</a:t>
            </a:r>
          </a:p>
          <a:p>
            <a:pPr algn="just">
              <a:spcBef>
                <a:spcPts val="600"/>
              </a:spcBef>
              <a:spcAft>
                <a:spcPts val="600"/>
              </a:spcAft>
              <a:buFont typeface="Wingdings" pitchFamily="2" charset="2"/>
              <a:buChar char="Ø"/>
            </a:pPr>
            <a:r>
              <a:rPr lang="en-US" sz="1800" dirty="0">
                <a:solidFill>
                  <a:schemeClr val="bg2"/>
                </a:solidFill>
              </a:rPr>
              <a:t>Locating the SPE in the frame</a:t>
            </a:r>
          </a:p>
          <a:p>
            <a:pPr algn="just">
              <a:spcBef>
                <a:spcPts val="600"/>
              </a:spcBef>
              <a:spcAft>
                <a:spcPts val="600"/>
              </a:spcAft>
              <a:buFont typeface="Wingdings" pitchFamily="2" charset="2"/>
              <a:buChar char="Ø"/>
            </a:pPr>
            <a:r>
              <a:rPr lang="en-US" sz="1800" dirty="0">
                <a:solidFill>
                  <a:schemeClr val="bg2"/>
                </a:solidFill>
              </a:rPr>
              <a:t>Multiplexing or concatenating signals</a:t>
            </a:r>
          </a:p>
          <a:p>
            <a:pPr algn="just">
              <a:spcBef>
                <a:spcPts val="600"/>
              </a:spcBef>
              <a:spcAft>
                <a:spcPts val="600"/>
              </a:spcAft>
              <a:buFont typeface="Wingdings" pitchFamily="2" charset="2"/>
              <a:buChar char="Ø"/>
            </a:pPr>
            <a:r>
              <a:rPr lang="en-US" sz="1800" dirty="0">
                <a:solidFill>
                  <a:schemeClr val="bg2"/>
                </a:solidFill>
              </a:rPr>
              <a:t>Performance monitoring</a:t>
            </a:r>
          </a:p>
          <a:p>
            <a:pPr algn="just">
              <a:spcBef>
                <a:spcPts val="600"/>
              </a:spcBef>
              <a:spcAft>
                <a:spcPts val="600"/>
              </a:spcAft>
              <a:buFont typeface="Wingdings" pitchFamily="2" charset="2"/>
              <a:buChar char="Ø"/>
            </a:pPr>
            <a:r>
              <a:rPr lang="en-US" sz="1800" dirty="0">
                <a:solidFill>
                  <a:schemeClr val="bg2"/>
                </a:solidFill>
              </a:rPr>
              <a:t>Automatic protection switching</a:t>
            </a:r>
          </a:p>
          <a:p>
            <a:pPr algn="just">
              <a:spcBef>
                <a:spcPts val="600"/>
              </a:spcBef>
              <a:spcAft>
                <a:spcPts val="600"/>
              </a:spcAft>
              <a:buFont typeface="Wingdings" pitchFamily="2" charset="2"/>
              <a:buChar char="Ø"/>
            </a:pPr>
            <a:r>
              <a:rPr lang="en-US" sz="1800" dirty="0">
                <a:solidFill>
                  <a:schemeClr val="bg2"/>
                </a:solidFill>
              </a:rPr>
              <a:t>Line maintenance</a:t>
            </a:r>
          </a:p>
        </p:txBody>
      </p:sp>
      <p:pic>
        <p:nvPicPr>
          <p:cNvPr id="140290" name="Picture 2" descr="https://image1.slideserve.com/3046385/sonet-frames-sts-1-n.jpg"/>
          <p:cNvPicPr>
            <a:picLocks noChangeAspect="1" noChangeArrowheads="1"/>
          </p:cNvPicPr>
          <p:nvPr/>
        </p:nvPicPr>
        <p:blipFill>
          <a:blip r:embed="rId3" cstate="print">
            <a:lum bright="-10000" contrast="20000"/>
          </a:blip>
          <a:srcRect t="54054" b="9189"/>
          <a:stretch>
            <a:fillRect/>
          </a:stretch>
        </p:blipFill>
        <p:spPr bwMode="auto">
          <a:xfrm>
            <a:off x="685800" y="3514368"/>
            <a:ext cx="7585256" cy="2865541"/>
          </a:xfrm>
          <a:prstGeom prst="rect">
            <a:avLst/>
          </a:prstGeom>
          <a:noFill/>
        </p:spPr>
      </p:pic>
    </p:spTree>
  </p:cSld>
  <p:clrMapOvr>
    <a:masterClrMapping/>
  </p:clrMapOvr>
  <p:transition advClick="0" advTm="2000"/>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Overhead</a:t>
            </a:r>
            <a:endParaRPr lang="en-US" sz="3600" b="1" dirty="0">
              <a:latin typeface="Arial" charset="0"/>
            </a:endParaRPr>
          </a:p>
        </p:txBody>
      </p:sp>
      <p:grpSp>
        <p:nvGrpSpPr>
          <p:cNvPr id="2" name="Group 28"/>
          <p:cNvGrpSpPr/>
          <p:nvPr/>
        </p:nvGrpSpPr>
        <p:grpSpPr>
          <a:xfrm>
            <a:off x="4724400" y="3276600"/>
            <a:ext cx="304800" cy="2590800"/>
            <a:chOff x="4724400" y="3276600"/>
            <a:chExt cx="304800" cy="2590800"/>
          </a:xfrm>
        </p:grpSpPr>
        <p:cxnSp>
          <p:nvCxnSpPr>
            <p:cNvPr id="26" name="Curved Connector 25"/>
            <p:cNvCxnSpPr/>
            <p:nvPr/>
          </p:nvCxnSpPr>
          <p:spPr bwMode="auto">
            <a:xfrm rot="5400000">
              <a:off x="3619500" y="4457700"/>
              <a:ext cx="2514600" cy="304800"/>
            </a:xfrm>
            <a:prstGeom prst="curvedConnector3">
              <a:avLst>
                <a:gd name="adj1" fmla="val 49314"/>
              </a:avLst>
            </a:prstGeom>
            <a:solidFill>
              <a:schemeClr val="accent1"/>
            </a:solidFill>
            <a:ln w="762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urved Connector 27"/>
            <p:cNvCxnSpPr/>
            <p:nvPr/>
          </p:nvCxnSpPr>
          <p:spPr bwMode="auto">
            <a:xfrm rot="5400000">
              <a:off x="3611880" y="4419600"/>
              <a:ext cx="2560320" cy="274320"/>
            </a:xfrm>
            <a:prstGeom prst="curvedConnector3">
              <a:avLst>
                <a:gd name="adj1" fmla="val 49314"/>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9" name="Rectangle 28"/>
          <p:cNvSpPr/>
          <p:nvPr/>
        </p:nvSpPr>
        <p:spPr>
          <a:xfrm>
            <a:off x="762000" y="914400"/>
            <a:ext cx="7772400" cy="2092881"/>
          </a:xfrm>
          <a:prstGeom prst="rect">
            <a:avLst/>
          </a:prstGeom>
          <a:ln w="19050">
            <a:noFill/>
          </a:ln>
        </p:spPr>
        <p:txBody>
          <a:bodyPr wrap="square">
            <a:spAutoFit/>
          </a:bodyPr>
          <a:lstStyle/>
          <a:p>
            <a:pPr algn="just">
              <a:spcBef>
                <a:spcPts val="600"/>
              </a:spcBef>
              <a:spcAft>
                <a:spcPts val="600"/>
              </a:spcAft>
            </a:pPr>
            <a:r>
              <a:rPr lang="en-US" sz="1800" dirty="0">
                <a:solidFill>
                  <a:srgbClr val="FF0000"/>
                </a:solidFill>
              </a:rPr>
              <a:t>Path Overhead: </a:t>
            </a:r>
            <a:r>
              <a:rPr lang="en-US" sz="1800" dirty="0">
                <a:solidFill>
                  <a:schemeClr val="bg2"/>
                </a:solidFill>
              </a:rPr>
              <a:t>The path overhead supports the following functions</a:t>
            </a:r>
          </a:p>
          <a:p>
            <a:pPr algn="just">
              <a:spcBef>
                <a:spcPts val="600"/>
              </a:spcBef>
              <a:spcAft>
                <a:spcPts val="600"/>
              </a:spcAft>
              <a:buFont typeface="Wingdings" pitchFamily="2" charset="2"/>
              <a:buChar char="Ø"/>
            </a:pPr>
            <a:r>
              <a:rPr lang="en-US" sz="1800" dirty="0">
                <a:solidFill>
                  <a:schemeClr val="bg2"/>
                </a:solidFill>
              </a:rPr>
              <a:t>Performance monitoring of the STS SPE</a:t>
            </a:r>
          </a:p>
          <a:p>
            <a:pPr algn="just">
              <a:spcBef>
                <a:spcPts val="600"/>
              </a:spcBef>
              <a:spcAft>
                <a:spcPts val="600"/>
              </a:spcAft>
              <a:buFont typeface="Wingdings" pitchFamily="2" charset="2"/>
              <a:buChar char="Ø"/>
            </a:pPr>
            <a:r>
              <a:rPr lang="en-US" sz="1800" dirty="0">
                <a:solidFill>
                  <a:schemeClr val="bg2"/>
                </a:solidFill>
              </a:rPr>
              <a:t>Signal label (the content of the STS SPE, including status of mapped payloads)</a:t>
            </a:r>
          </a:p>
          <a:p>
            <a:pPr algn="just">
              <a:spcBef>
                <a:spcPts val="600"/>
              </a:spcBef>
              <a:spcAft>
                <a:spcPts val="600"/>
              </a:spcAft>
              <a:buFont typeface="Wingdings" pitchFamily="2" charset="2"/>
              <a:buChar char="Ø"/>
            </a:pPr>
            <a:r>
              <a:rPr lang="en-US" sz="1800" dirty="0">
                <a:solidFill>
                  <a:schemeClr val="bg2"/>
                </a:solidFill>
              </a:rPr>
              <a:t>Path status</a:t>
            </a:r>
          </a:p>
          <a:p>
            <a:pPr algn="just">
              <a:spcBef>
                <a:spcPts val="600"/>
              </a:spcBef>
              <a:spcAft>
                <a:spcPts val="600"/>
              </a:spcAft>
              <a:buFont typeface="Wingdings" pitchFamily="2" charset="2"/>
              <a:buChar char="Ø"/>
            </a:pPr>
            <a:r>
              <a:rPr lang="en-US" sz="1800" dirty="0">
                <a:solidFill>
                  <a:schemeClr val="bg2"/>
                </a:solidFill>
              </a:rPr>
              <a:t>Path trace</a:t>
            </a:r>
          </a:p>
        </p:txBody>
      </p:sp>
      <p:pic>
        <p:nvPicPr>
          <p:cNvPr id="142338" name="Picture 2" descr="https://image1.slideserve.com/3046385/sonet-frames-spe-n.jpg"/>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Lst>
          </a:blip>
          <a:srcRect l="25556" t="41481" r="21111" b="15556"/>
          <a:stretch>
            <a:fillRect/>
          </a:stretch>
        </p:blipFill>
        <p:spPr bwMode="auto">
          <a:xfrm>
            <a:off x="914400" y="2971800"/>
            <a:ext cx="3657600" cy="2743200"/>
          </a:xfrm>
          <a:prstGeom prst="rect">
            <a:avLst/>
          </a:prstGeom>
          <a:noFill/>
        </p:spPr>
      </p:pic>
      <p:pic>
        <p:nvPicPr>
          <p:cNvPr id="142340" name="Picture 4" descr="https://image1.slideserve.com/3046385/overhead-summary-n.jpg"/>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contrast="-40000"/>
                    </a14:imgEffect>
                  </a14:imgLayer>
                </a14:imgProps>
              </a:ext>
            </a:extLst>
          </a:blip>
          <a:srcRect l="10000" t="8889" r="10000" b="20000"/>
          <a:stretch>
            <a:fillRect/>
          </a:stretch>
        </p:blipFill>
        <p:spPr bwMode="auto">
          <a:xfrm>
            <a:off x="4343400" y="2590800"/>
            <a:ext cx="4114800" cy="3276600"/>
          </a:xfrm>
          <a:prstGeom prst="rect">
            <a:avLst/>
          </a:prstGeom>
          <a:noFill/>
        </p:spPr>
      </p:pic>
    </p:spTree>
  </p:cSld>
  <p:clrMapOvr>
    <a:masterClrMapping/>
  </p:clrMapOvr>
  <p:transition advClick="0" advTm="2000"/>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SONET network</a:t>
            </a:r>
            <a:endParaRPr lang="en-US" sz="3600" b="1" dirty="0">
              <a:latin typeface="Arial" charset="0"/>
            </a:endParaRPr>
          </a:p>
        </p:txBody>
      </p:sp>
      <p:grpSp>
        <p:nvGrpSpPr>
          <p:cNvPr id="2" name="Group 28"/>
          <p:cNvGrpSpPr/>
          <p:nvPr/>
        </p:nvGrpSpPr>
        <p:grpSpPr>
          <a:xfrm>
            <a:off x="4724400" y="3276600"/>
            <a:ext cx="304800" cy="2590800"/>
            <a:chOff x="4724400" y="3276600"/>
            <a:chExt cx="304800" cy="2590800"/>
          </a:xfrm>
        </p:grpSpPr>
        <p:cxnSp>
          <p:nvCxnSpPr>
            <p:cNvPr id="26" name="Curved Connector 25"/>
            <p:cNvCxnSpPr/>
            <p:nvPr/>
          </p:nvCxnSpPr>
          <p:spPr bwMode="auto">
            <a:xfrm rot="5400000">
              <a:off x="3619500" y="4457700"/>
              <a:ext cx="2514600" cy="304800"/>
            </a:xfrm>
            <a:prstGeom prst="curvedConnector3">
              <a:avLst>
                <a:gd name="adj1" fmla="val 49314"/>
              </a:avLst>
            </a:prstGeom>
            <a:solidFill>
              <a:schemeClr val="accent1"/>
            </a:solidFill>
            <a:ln w="762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urved Connector 27"/>
            <p:cNvCxnSpPr/>
            <p:nvPr/>
          </p:nvCxnSpPr>
          <p:spPr bwMode="auto">
            <a:xfrm rot="5400000">
              <a:off x="3611880" y="4419600"/>
              <a:ext cx="2560320" cy="274320"/>
            </a:xfrm>
            <a:prstGeom prst="curvedConnector3">
              <a:avLst>
                <a:gd name="adj1" fmla="val 49314"/>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9" name="Rectangle 28"/>
          <p:cNvSpPr/>
          <p:nvPr/>
        </p:nvSpPr>
        <p:spPr>
          <a:xfrm>
            <a:off x="762000" y="914400"/>
            <a:ext cx="7772400" cy="1354217"/>
          </a:xfrm>
          <a:prstGeom prst="rect">
            <a:avLst/>
          </a:prstGeom>
          <a:ln w="19050">
            <a:noFill/>
          </a:ln>
        </p:spPr>
        <p:txBody>
          <a:bodyPr wrap="square">
            <a:spAutoFit/>
          </a:bodyPr>
          <a:lstStyle/>
          <a:p>
            <a:pPr algn="just">
              <a:spcBef>
                <a:spcPts val="600"/>
              </a:spcBef>
              <a:spcAft>
                <a:spcPts val="600"/>
              </a:spcAft>
              <a:buFont typeface="Wingdings" pitchFamily="2" charset="2"/>
              <a:buChar char="Ø"/>
            </a:pPr>
            <a:r>
              <a:rPr lang="en-US" sz="1800" dirty="0">
                <a:solidFill>
                  <a:schemeClr val="bg2"/>
                </a:solidFill>
              </a:rPr>
              <a:t>Using SONET equipment, we can create a SONET network that can be used as a high-speed backbone carrying loads from other networks such as ATM or IP.  </a:t>
            </a:r>
          </a:p>
          <a:p>
            <a:pPr algn="just">
              <a:spcBef>
                <a:spcPts val="600"/>
              </a:spcBef>
              <a:spcAft>
                <a:spcPts val="600"/>
              </a:spcAft>
              <a:buFont typeface="Wingdings" pitchFamily="2" charset="2"/>
              <a:buChar char="Ø"/>
            </a:pPr>
            <a:r>
              <a:rPr lang="en-US" sz="1800" dirty="0">
                <a:solidFill>
                  <a:schemeClr val="bg2"/>
                </a:solidFill>
              </a:rPr>
              <a:t>We can roughly divide SONET networks into three categories: linear, ring, and mesh networks,</a:t>
            </a:r>
          </a:p>
        </p:txBody>
      </p:sp>
      <p:pic>
        <p:nvPicPr>
          <p:cNvPr id="143362" name="Picture 2"/>
          <p:cNvPicPr>
            <a:picLocks noChangeAspect="1" noChangeArrowheads="1"/>
          </p:cNvPicPr>
          <p:nvPr/>
        </p:nvPicPr>
        <p:blipFill>
          <a:blip r:embed="rId3" cstate="print"/>
          <a:srcRect/>
          <a:stretch>
            <a:fillRect/>
          </a:stretch>
        </p:blipFill>
        <p:spPr bwMode="auto">
          <a:xfrm>
            <a:off x="1447800" y="2209800"/>
            <a:ext cx="6553200" cy="2133600"/>
          </a:xfrm>
          <a:prstGeom prst="rect">
            <a:avLst/>
          </a:prstGeom>
          <a:noFill/>
          <a:ln w="9525">
            <a:noFill/>
            <a:miter lim="800000"/>
            <a:headEnd/>
            <a:tailEnd/>
          </a:ln>
        </p:spPr>
      </p:pic>
      <p:sp>
        <p:nvSpPr>
          <p:cNvPr id="10" name="Rectangle 9"/>
          <p:cNvSpPr/>
          <p:nvPr/>
        </p:nvSpPr>
        <p:spPr>
          <a:xfrm>
            <a:off x="762000" y="4267200"/>
            <a:ext cx="8153399" cy="1384995"/>
          </a:xfrm>
          <a:prstGeom prst="rect">
            <a:avLst/>
          </a:prstGeom>
        </p:spPr>
        <p:txBody>
          <a:bodyPr wrap="square">
            <a:spAutoFit/>
          </a:bodyPr>
          <a:lstStyle/>
          <a:p>
            <a:r>
              <a:rPr lang="en-US" dirty="0">
                <a:solidFill>
                  <a:schemeClr val="bg2"/>
                </a:solidFill>
              </a:rPr>
              <a:t>Point to Point Network: </a:t>
            </a:r>
            <a:r>
              <a:rPr lang="en-US" sz="2000" dirty="0">
                <a:solidFill>
                  <a:schemeClr val="bg2"/>
                </a:solidFill>
              </a:rPr>
              <a:t>A point-to-point network is normally made of an STS multiplexer, an STS demultiplexer, and zero or more regenerators with no add/drop multiplexers. The signal flow can be unidirectional or bidirectional</a:t>
            </a:r>
          </a:p>
        </p:txBody>
      </p:sp>
      <p:pic>
        <p:nvPicPr>
          <p:cNvPr id="143370" name="Picture 10"/>
          <p:cNvPicPr>
            <a:picLocks noChangeAspect="1" noChangeArrowheads="1"/>
          </p:cNvPicPr>
          <p:nvPr/>
        </p:nvPicPr>
        <p:blipFill>
          <a:blip r:embed="rId4" cstate="print"/>
          <a:srcRect/>
          <a:stretch>
            <a:fillRect/>
          </a:stretch>
        </p:blipFill>
        <p:spPr bwMode="auto">
          <a:xfrm>
            <a:off x="2590800" y="5257800"/>
            <a:ext cx="4937760" cy="1169991"/>
          </a:xfrm>
          <a:prstGeom prst="rect">
            <a:avLst/>
          </a:prstGeom>
          <a:noFill/>
          <a:ln w="9525">
            <a:noFill/>
            <a:miter lim="800000"/>
            <a:headEnd/>
            <a:tailEnd/>
          </a:ln>
        </p:spPr>
      </p:pic>
      <p:sp>
        <p:nvSpPr>
          <p:cNvPr id="16" name="TextBox 15"/>
          <p:cNvSpPr txBox="1"/>
          <p:nvPr/>
        </p:nvSpPr>
        <p:spPr>
          <a:xfrm>
            <a:off x="1981200" y="6248400"/>
            <a:ext cx="6172200" cy="400110"/>
          </a:xfrm>
          <a:prstGeom prst="rect">
            <a:avLst/>
          </a:prstGeom>
          <a:noFill/>
        </p:spPr>
        <p:txBody>
          <a:bodyPr wrap="square" rtlCol="0">
            <a:spAutoFit/>
          </a:bodyPr>
          <a:lstStyle/>
          <a:p>
            <a:pPr algn="ctr"/>
            <a:r>
              <a:rPr lang="en-US" sz="2000" dirty="0">
                <a:solidFill>
                  <a:schemeClr val="bg2"/>
                </a:solidFill>
              </a:rPr>
              <a:t>Fig. Point to Point Network</a:t>
            </a:r>
          </a:p>
        </p:txBody>
      </p:sp>
    </p:spTree>
  </p:cSld>
  <p:clrMapOvr>
    <a:masterClrMapping/>
  </p:clrMapOvr>
  <p:transition advClick="0" advTm="2000"/>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SONET network</a:t>
            </a:r>
            <a:endParaRPr lang="en-US" sz="3600" b="1" dirty="0">
              <a:latin typeface="Arial" charset="0"/>
            </a:endParaRPr>
          </a:p>
        </p:txBody>
      </p:sp>
      <p:grpSp>
        <p:nvGrpSpPr>
          <p:cNvPr id="2" name="Group 28"/>
          <p:cNvGrpSpPr/>
          <p:nvPr/>
        </p:nvGrpSpPr>
        <p:grpSpPr>
          <a:xfrm>
            <a:off x="4724400" y="3276600"/>
            <a:ext cx="304800" cy="2590800"/>
            <a:chOff x="4724400" y="3276600"/>
            <a:chExt cx="304800" cy="2590800"/>
          </a:xfrm>
        </p:grpSpPr>
        <p:cxnSp>
          <p:nvCxnSpPr>
            <p:cNvPr id="26" name="Curved Connector 25"/>
            <p:cNvCxnSpPr/>
            <p:nvPr/>
          </p:nvCxnSpPr>
          <p:spPr bwMode="auto">
            <a:xfrm rot="5400000">
              <a:off x="3619500" y="4457700"/>
              <a:ext cx="2514600" cy="304800"/>
            </a:xfrm>
            <a:prstGeom prst="curvedConnector3">
              <a:avLst>
                <a:gd name="adj1" fmla="val 49314"/>
              </a:avLst>
            </a:prstGeom>
            <a:solidFill>
              <a:schemeClr val="accent1"/>
            </a:solidFill>
            <a:ln w="762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urved Connector 27"/>
            <p:cNvCxnSpPr/>
            <p:nvPr/>
          </p:nvCxnSpPr>
          <p:spPr bwMode="auto">
            <a:xfrm rot="5400000">
              <a:off x="3611880" y="4419600"/>
              <a:ext cx="2560320" cy="274320"/>
            </a:xfrm>
            <a:prstGeom prst="curvedConnector3">
              <a:avLst>
                <a:gd name="adj1" fmla="val 49314"/>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 name="Rectangle 9"/>
          <p:cNvSpPr/>
          <p:nvPr/>
        </p:nvSpPr>
        <p:spPr>
          <a:xfrm>
            <a:off x="533400" y="838200"/>
            <a:ext cx="8153399" cy="3154710"/>
          </a:xfrm>
          <a:prstGeom prst="rect">
            <a:avLst/>
          </a:prstGeom>
        </p:spPr>
        <p:txBody>
          <a:bodyPr wrap="square">
            <a:spAutoFit/>
          </a:bodyPr>
          <a:lstStyle/>
          <a:p>
            <a:r>
              <a:rPr lang="en-US" dirty="0">
                <a:solidFill>
                  <a:schemeClr val="bg2"/>
                </a:solidFill>
              </a:rPr>
              <a:t>Multipoint Network: </a:t>
            </a:r>
          </a:p>
          <a:p>
            <a:pPr>
              <a:spcAft>
                <a:spcPts val="600"/>
              </a:spcAft>
              <a:buFont typeface="Wingdings" pitchFamily="2" charset="2"/>
              <a:buChar char="Ø"/>
            </a:pPr>
            <a:r>
              <a:rPr lang="en-US" sz="2000" dirty="0">
                <a:solidFill>
                  <a:schemeClr val="bg2"/>
                </a:solidFill>
              </a:rPr>
              <a:t>A multipoint network uses ADMs to allow the communications between several terminals.</a:t>
            </a:r>
          </a:p>
          <a:p>
            <a:pPr>
              <a:spcAft>
                <a:spcPts val="600"/>
              </a:spcAft>
              <a:buFont typeface="Wingdings" pitchFamily="2" charset="2"/>
              <a:buChar char="Ø"/>
            </a:pPr>
            <a:r>
              <a:rPr lang="en-US" sz="2000" dirty="0">
                <a:solidFill>
                  <a:schemeClr val="bg2"/>
                </a:solidFill>
              </a:rPr>
              <a:t>An ADM removes the signal belonging to the terminal connected to it and adds the signal transmitted from another terminal.</a:t>
            </a:r>
          </a:p>
          <a:p>
            <a:pPr>
              <a:spcAft>
                <a:spcPts val="600"/>
              </a:spcAft>
              <a:buFont typeface="Wingdings" pitchFamily="2" charset="2"/>
              <a:buChar char="Ø"/>
            </a:pPr>
            <a:r>
              <a:rPr lang="en-US" sz="2000" dirty="0">
                <a:solidFill>
                  <a:schemeClr val="bg2"/>
                </a:solidFill>
              </a:rPr>
              <a:t>Each terminal can send data to one or more downstream terminals.</a:t>
            </a:r>
          </a:p>
          <a:p>
            <a:pPr>
              <a:spcAft>
                <a:spcPts val="600"/>
              </a:spcAft>
              <a:buFont typeface="Wingdings" pitchFamily="2" charset="2"/>
              <a:buChar char="Ø"/>
            </a:pPr>
            <a:r>
              <a:rPr lang="en-US" sz="2000" dirty="0">
                <a:solidFill>
                  <a:schemeClr val="bg2"/>
                </a:solidFill>
              </a:rPr>
              <a:t>Figure 9.19 shows a unidirectional scheme in which each terminal can send data only to the downstream terminals, but a multipoint network can be bidirectional, too.</a:t>
            </a:r>
          </a:p>
        </p:txBody>
      </p:sp>
      <p:pic>
        <p:nvPicPr>
          <p:cNvPr id="144390" name="Picture 6"/>
          <p:cNvPicPr>
            <a:picLocks noChangeAspect="1" noChangeArrowheads="1"/>
          </p:cNvPicPr>
          <p:nvPr/>
        </p:nvPicPr>
        <p:blipFill>
          <a:blip r:embed="rId3" cstate="print"/>
          <a:srcRect/>
          <a:stretch>
            <a:fillRect/>
          </a:stretch>
        </p:blipFill>
        <p:spPr bwMode="auto">
          <a:xfrm>
            <a:off x="1752600" y="3962400"/>
            <a:ext cx="5577840" cy="2301393"/>
          </a:xfrm>
          <a:prstGeom prst="rect">
            <a:avLst/>
          </a:prstGeom>
          <a:noFill/>
          <a:ln w="9525">
            <a:noFill/>
            <a:miter lim="800000"/>
            <a:headEnd/>
            <a:tailEnd/>
          </a:ln>
        </p:spPr>
      </p:pic>
      <p:sp>
        <p:nvSpPr>
          <p:cNvPr id="14" name="TextBox 13"/>
          <p:cNvSpPr txBox="1"/>
          <p:nvPr/>
        </p:nvSpPr>
        <p:spPr>
          <a:xfrm>
            <a:off x="1524000" y="6172200"/>
            <a:ext cx="6172200" cy="400110"/>
          </a:xfrm>
          <a:prstGeom prst="rect">
            <a:avLst/>
          </a:prstGeom>
          <a:noFill/>
        </p:spPr>
        <p:txBody>
          <a:bodyPr wrap="square" rtlCol="0">
            <a:spAutoFit/>
          </a:bodyPr>
          <a:lstStyle/>
          <a:p>
            <a:pPr algn="ctr"/>
            <a:r>
              <a:rPr lang="en-US" sz="2000" dirty="0">
                <a:solidFill>
                  <a:schemeClr val="bg2"/>
                </a:solidFill>
              </a:rPr>
              <a:t>Fig. Multipoint Network</a:t>
            </a:r>
          </a:p>
        </p:txBody>
      </p:sp>
    </p:spTree>
  </p:cSld>
  <p:clrMapOvr>
    <a:masterClrMapping/>
  </p:clrMapOvr>
  <p:transition advClick="0" advTm="2000"/>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SONET network</a:t>
            </a:r>
            <a:endParaRPr lang="en-US" sz="3600" b="1" dirty="0">
              <a:latin typeface="Arial" charset="0"/>
            </a:endParaRPr>
          </a:p>
        </p:txBody>
      </p:sp>
      <p:grpSp>
        <p:nvGrpSpPr>
          <p:cNvPr id="2" name="Group 28"/>
          <p:cNvGrpSpPr/>
          <p:nvPr/>
        </p:nvGrpSpPr>
        <p:grpSpPr>
          <a:xfrm>
            <a:off x="4724400" y="3276600"/>
            <a:ext cx="304800" cy="2590800"/>
            <a:chOff x="4724400" y="3276600"/>
            <a:chExt cx="304800" cy="2590800"/>
          </a:xfrm>
        </p:grpSpPr>
        <p:cxnSp>
          <p:nvCxnSpPr>
            <p:cNvPr id="26" name="Curved Connector 25"/>
            <p:cNvCxnSpPr/>
            <p:nvPr/>
          </p:nvCxnSpPr>
          <p:spPr bwMode="auto">
            <a:xfrm rot="5400000">
              <a:off x="3619500" y="4457700"/>
              <a:ext cx="2514600" cy="304800"/>
            </a:xfrm>
            <a:prstGeom prst="curvedConnector3">
              <a:avLst>
                <a:gd name="adj1" fmla="val 49314"/>
              </a:avLst>
            </a:prstGeom>
            <a:solidFill>
              <a:schemeClr val="accent1"/>
            </a:solidFill>
            <a:ln w="762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urved Connector 27"/>
            <p:cNvCxnSpPr/>
            <p:nvPr/>
          </p:nvCxnSpPr>
          <p:spPr bwMode="auto">
            <a:xfrm rot="5400000">
              <a:off x="3611880" y="4419600"/>
              <a:ext cx="2560320" cy="274320"/>
            </a:xfrm>
            <a:prstGeom prst="curvedConnector3">
              <a:avLst>
                <a:gd name="adj1" fmla="val 49314"/>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 name="Rectangle 9"/>
          <p:cNvSpPr/>
          <p:nvPr/>
        </p:nvSpPr>
        <p:spPr>
          <a:xfrm>
            <a:off x="533400" y="838200"/>
            <a:ext cx="8153399" cy="2077492"/>
          </a:xfrm>
          <a:prstGeom prst="rect">
            <a:avLst/>
          </a:prstGeom>
        </p:spPr>
        <p:txBody>
          <a:bodyPr wrap="square">
            <a:spAutoFit/>
          </a:bodyPr>
          <a:lstStyle/>
          <a:p>
            <a:r>
              <a:rPr lang="en-US" dirty="0">
                <a:solidFill>
                  <a:schemeClr val="bg2"/>
                </a:solidFill>
              </a:rPr>
              <a:t>Ring Network: </a:t>
            </a:r>
          </a:p>
          <a:p>
            <a:pPr>
              <a:spcAft>
                <a:spcPts val="600"/>
              </a:spcAft>
              <a:buFont typeface="Wingdings" pitchFamily="2" charset="2"/>
              <a:buChar char="Ø"/>
            </a:pPr>
            <a:r>
              <a:rPr lang="en-US" sz="2000" dirty="0">
                <a:solidFill>
                  <a:schemeClr val="bg2"/>
                </a:solidFill>
              </a:rPr>
              <a:t> SONET networks today use a combination of interconnected rings to create services in a wide area.  </a:t>
            </a:r>
          </a:p>
          <a:p>
            <a:pPr>
              <a:spcAft>
                <a:spcPts val="600"/>
              </a:spcAft>
              <a:buFont typeface="Wingdings" pitchFamily="2" charset="2"/>
              <a:buChar char="Ø"/>
            </a:pPr>
            <a:r>
              <a:rPr lang="en-US" sz="2000" dirty="0">
                <a:solidFill>
                  <a:schemeClr val="bg2"/>
                </a:solidFill>
              </a:rPr>
              <a:t>A SONET network may have a regional ring, several local rings, and many site rings to give services to a wide area.  These rings can be UPSR, BLSR, or a combination of both.</a:t>
            </a:r>
          </a:p>
        </p:txBody>
      </p:sp>
      <p:pic>
        <p:nvPicPr>
          <p:cNvPr id="146434" name="Picture 2" descr="enter image description here"/>
          <p:cNvPicPr>
            <a:picLocks noChangeAspect="1" noChangeArrowheads="1"/>
          </p:cNvPicPr>
          <p:nvPr/>
        </p:nvPicPr>
        <p:blipFill>
          <a:blip r:embed="rId3" cstate="print"/>
          <a:srcRect b="7317"/>
          <a:stretch>
            <a:fillRect/>
          </a:stretch>
        </p:blipFill>
        <p:spPr bwMode="auto">
          <a:xfrm>
            <a:off x="1905000" y="2895600"/>
            <a:ext cx="5943600" cy="2895599"/>
          </a:xfrm>
          <a:prstGeom prst="rect">
            <a:avLst/>
          </a:prstGeom>
          <a:noFill/>
        </p:spPr>
      </p:pic>
      <p:sp>
        <p:nvSpPr>
          <p:cNvPr id="9" name="TextBox 8"/>
          <p:cNvSpPr txBox="1"/>
          <p:nvPr/>
        </p:nvSpPr>
        <p:spPr>
          <a:xfrm>
            <a:off x="1676400" y="5867400"/>
            <a:ext cx="6172200" cy="400110"/>
          </a:xfrm>
          <a:prstGeom prst="rect">
            <a:avLst/>
          </a:prstGeom>
          <a:noFill/>
        </p:spPr>
        <p:txBody>
          <a:bodyPr wrap="square" rtlCol="0">
            <a:spAutoFit/>
          </a:bodyPr>
          <a:lstStyle/>
          <a:p>
            <a:pPr algn="ctr"/>
            <a:r>
              <a:rPr lang="en-US" sz="2000" dirty="0">
                <a:solidFill>
                  <a:schemeClr val="bg2"/>
                </a:solidFill>
              </a:rPr>
              <a:t>Fig. Unidirectional Path Switching Ring (UPSR)</a:t>
            </a:r>
          </a:p>
        </p:txBody>
      </p:sp>
    </p:spTree>
  </p:cSld>
  <p:clrMapOvr>
    <a:masterClrMapping/>
  </p:clrMapOvr>
  <p:transition advClick="0" advTm="2000"/>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SONET network</a:t>
            </a:r>
            <a:endParaRPr lang="en-US" sz="3600" b="1" dirty="0">
              <a:latin typeface="Arial" charset="0"/>
            </a:endParaRPr>
          </a:p>
        </p:txBody>
      </p:sp>
      <p:grpSp>
        <p:nvGrpSpPr>
          <p:cNvPr id="2" name="Group 28"/>
          <p:cNvGrpSpPr/>
          <p:nvPr/>
        </p:nvGrpSpPr>
        <p:grpSpPr>
          <a:xfrm>
            <a:off x="4724400" y="3276600"/>
            <a:ext cx="304800" cy="2590800"/>
            <a:chOff x="4724400" y="3276600"/>
            <a:chExt cx="304800" cy="2590800"/>
          </a:xfrm>
        </p:grpSpPr>
        <p:cxnSp>
          <p:nvCxnSpPr>
            <p:cNvPr id="26" name="Curved Connector 25"/>
            <p:cNvCxnSpPr/>
            <p:nvPr/>
          </p:nvCxnSpPr>
          <p:spPr bwMode="auto">
            <a:xfrm rot="5400000">
              <a:off x="3619500" y="4457700"/>
              <a:ext cx="2514600" cy="304800"/>
            </a:xfrm>
            <a:prstGeom prst="curvedConnector3">
              <a:avLst>
                <a:gd name="adj1" fmla="val 49314"/>
              </a:avLst>
            </a:prstGeom>
            <a:solidFill>
              <a:schemeClr val="accent1"/>
            </a:solidFill>
            <a:ln w="762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urved Connector 27"/>
            <p:cNvCxnSpPr/>
            <p:nvPr/>
          </p:nvCxnSpPr>
          <p:spPr bwMode="auto">
            <a:xfrm rot="5400000">
              <a:off x="3611880" y="4419600"/>
              <a:ext cx="2560320" cy="274320"/>
            </a:xfrm>
            <a:prstGeom prst="curvedConnector3">
              <a:avLst>
                <a:gd name="adj1" fmla="val 49314"/>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 name="Rectangle 9"/>
          <p:cNvSpPr/>
          <p:nvPr/>
        </p:nvSpPr>
        <p:spPr>
          <a:xfrm>
            <a:off x="533400" y="1015454"/>
            <a:ext cx="8153399" cy="5309146"/>
          </a:xfrm>
          <a:prstGeom prst="rect">
            <a:avLst/>
          </a:prstGeom>
        </p:spPr>
        <p:txBody>
          <a:bodyPr wrap="square">
            <a:spAutoFit/>
          </a:bodyPr>
          <a:lstStyle/>
          <a:p>
            <a:r>
              <a:rPr lang="en-US" dirty="0">
                <a:solidFill>
                  <a:schemeClr val="bg2"/>
                </a:solidFill>
              </a:rPr>
              <a:t>Unidirectional path switching ring (UPSR): </a:t>
            </a:r>
          </a:p>
          <a:p>
            <a:pPr>
              <a:spcAft>
                <a:spcPts val="600"/>
              </a:spcAft>
              <a:buFont typeface="Wingdings" pitchFamily="2" charset="2"/>
              <a:buChar char="Ø"/>
            </a:pPr>
            <a:r>
              <a:rPr lang="en-US" sz="1900" dirty="0">
                <a:solidFill>
                  <a:schemeClr val="bg2"/>
                </a:solidFill>
              </a:rPr>
              <a:t> A unidirectional path switching ring (UPSR) is a unidirectional network with two rings: one ring used as the working ring and the other as the protection ring.  </a:t>
            </a:r>
          </a:p>
          <a:p>
            <a:pPr>
              <a:spcAft>
                <a:spcPts val="600"/>
              </a:spcAft>
              <a:buFont typeface="Wingdings" pitchFamily="2" charset="2"/>
              <a:buChar char="Ø"/>
            </a:pPr>
            <a:r>
              <a:rPr lang="en-US" sz="1900" dirty="0">
                <a:solidFill>
                  <a:schemeClr val="bg2"/>
                </a:solidFill>
              </a:rPr>
              <a:t>The same signal flows through both rings, one clockwise and the other counterclockwise. It is called UPSR because monitoring is done at the path layer.  </a:t>
            </a:r>
          </a:p>
          <a:p>
            <a:pPr>
              <a:spcAft>
                <a:spcPts val="600"/>
              </a:spcAft>
              <a:buFont typeface="Wingdings" pitchFamily="2" charset="2"/>
              <a:buChar char="Ø"/>
            </a:pPr>
            <a:r>
              <a:rPr lang="en-US" sz="1900" dirty="0">
                <a:solidFill>
                  <a:schemeClr val="bg2"/>
                </a:solidFill>
              </a:rPr>
              <a:t>A node receives two copies of the electrical signals at the path layer, compares them, and chooses the one with the better quality.  </a:t>
            </a:r>
          </a:p>
          <a:p>
            <a:pPr>
              <a:spcAft>
                <a:spcPts val="600"/>
              </a:spcAft>
              <a:buFont typeface="Wingdings" pitchFamily="2" charset="2"/>
              <a:buChar char="Ø"/>
            </a:pPr>
            <a:r>
              <a:rPr lang="en-US" sz="1900" dirty="0">
                <a:solidFill>
                  <a:schemeClr val="bg2"/>
                </a:solidFill>
              </a:rPr>
              <a:t>If part of a ring between two ADMs fails, the other ring still can guarantee the continuation of data flow.  </a:t>
            </a:r>
          </a:p>
          <a:p>
            <a:pPr>
              <a:spcAft>
                <a:spcPts val="600"/>
              </a:spcAft>
              <a:buFont typeface="Wingdings" pitchFamily="2" charset="2"/>
              <a:buChar char="Ø"/>
            </a:pPr>
            <a:r>
              <a:rPr lang="en-US" sz="1900" dirty="0">
                <a:solidFill>
                  <a:schemeClr val="bg2"/>
                </a:solidFill>
              </a:rPr>
              <a:t>UPSR has fast failure recovery, but it is not efficient because we need to have two rings that do the job of one. Half of the bandwidth is wasted!  </a:t>
            </a:r>
          </a:p>
          <a:p>
            <a:pPr>
              <a:spcAft>
                <a:spcPts val="600"/>
              </a:spcAft>
              <a:buFont typeface="Wingdings" pitchFamily="2" charset="2"/>
              <a:buChar char="Ø"/>
            </a:pPr>
            <a:r>
              <a:rPr lang="en-US" sz="1900" dirty="0">
                <a:solidFill>
                  <a:schemeClr val="bg2"/>
                </a:solidFill>
              </a:rPr>
              <a:t>The sender uses a two-way connection to send data to both rings simultaneously; the receiver uses selecting switches to select the ring with better signal quality.  </a:t>
            </a:r>
          </a:p>
          <a:p>
            <a:pPr>
              <a:spcAft>
                <a:spcPts val="600"/>
              </a:spcAft>
              <a:buFont typeface="Wingdings" pitchFamily="2" charset="2"/>
              <a:buChar char="Ø"/>
            </a:pPr>
            <a:r>
              <a:rPr lang="en-US" sz="1900" dirty="0">
                <a:solidFill>
                  <a:schemeClr val="bg2"/>
                </a:solidFill>
              </a:rPr>
              <a:t>One STS multiplexer and three STS </a:t>
            </a:r>
            <a:r>
              <a:rPr lang="en-US" sz="1900" dirty="0" err="1">
                <a:solidFill>
                  <a:schemeClr val="bg2"/>
                </a:solidFill>
              </a:rPr>
              <a:t>demultiplexers</a:t>
            </a:r>
            <a:r>
              <a:rPr lang="en-US" sz="1900" dirty="0">
                <a:solidFill>
                  <a:schemeClr val="bg2"/>
                </a:solidFill>
              </a:rPr>
              <a:t> to emphasize that nodes operate on the path layer.</a:t>
            </a:r>
          </a:p>
        </p:txBody>
      </p:sp>
    </p:spTree>
  </p:cSld>
  <p:clrMapOvr>
    <a:masterClrMapping/>
  </p:clrMapOvr>
  <p:transition advClick="0" advTm="2000"/>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SONET network</a:t>
            </a:r>
            <a:endParaRPr lang="en-US" sz="3600" b="1" dirty="0">
              <a:latin typeface="Arial" charset="0"/>
            </a:endParaRPr>
          </a:p>
        </p:txBody>
      </p:sp>
      <p:grpSp>
        <p:nvGrpSpPr>
          <p:cNvPr id="2" name="Group 28"/>
          <p:cNvGrpSpPr/>
          <p:nvPr/>
        </p:nvGrpSpPr>
        <p:grpSpPr>
          <a:xfrm>
            <a:off x="4724400" y="3276600"/>
            <a:ext cx="304800" cy="2590800"/>
            <a:chOff x="4724400" y="3276600"/>
            <a:chExt cx="304800" cy="2590800"/>
          </a:xfrm>
        </p:grpSpPr>
        <p:cxnSp>
          <p:nvCxnSpPr>
            <p:cNvPr id="26" name="Curved Connector 25"/>
            <p:cNvCxnSpPr/>
            <p:nvPr/>
          </p:nvCxnSpPr>
          <p:spPr bwMode="auto">
            <a:xfrm rot="5400000">
              <a:off x="3619500" y="4457700"/>
              <a:ext cx="2514600" cy="304800"/>
            </a:xfrm>
            <a:prstGeom prst="curvedConnector3">
              <a:avLst>
                <a:gd name="adj1" fmla="val 49314"/>
              </a:avLst>
            </a:prstGeom>
            <a:solidFill>
              <a:schemeClr val="accent1"/>
            </a:solidFill>
            <a:ln w="762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urved Connector 27"/>
            <p:cNvCxnSpPr/>
            <p:nvPr/>
          </p:nvCxnSpPr>
          <p:spPr bwMode="auto">
            <a:xfrm rot="5400000">
              <a:off x="3611880" y="4419600"/>
              <a:ext cx="2560320" cy="274320"/>
            </a:xfrm>
            <a:prstGeom prst="curvedConnector3">
              <a:avLst>
                <a:gd name="adj1" fmla="val 49314"/>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 name="Rectangle 9"/>
          <p:cNvSpPr/>
          <p:nvPr/>
        </p:nvSpPr>
        <p:spPr>
          <a:xfrm>
            <a:off x="533400" y="1015454"/>
            <a:ext cx="8153399" cy="3400931"/>
          </a:xfrm>
          <a:prstGeom prst="rect">
            <a:avLst/>
          </a:prstGeom>
        </p:spPr>
        <p:txBody>
          <a:bodyPr wrap="square">
            <a:spAutoFit/>
          </a:bodyPr>
          <a:lstStyle/>
          <a:p>
            <a:r>
              <a:rPr lang="en-US" dirty="0">
                <a:solidFill>
                  <a:schemeClr val="bg2"/>
                </a:solidFill>
              </a:rPr>
              <a:t>Bidirectional line switching ring (BLSR): </a:t>
            </a:r>
          </a:p>
          <a:p>
            <a:pPr>
              <a:spcAft>
                <a:spcPts val="600"/>
              </a:spcAft>
              <a:buFont typeface="Wingdings" pitchFamily="2" charset="2"/>
              <a:buChar char="Ø"/>
            </a:pPr>
            <a:r>
              <a:rPr lang="en-US" sz="1900" dirty="0">
                <a:solidFill>
                  <a:schemeClr val="bg2"/>
                </a:solidFill>
              </a:rPr>
              <a:t> In this case, communication is bidirectional, which means that we need two rings for working lines.  </a:t>
            </a:r>
          </a:p>
          <a:p>
            <a:pPr>
              <a:spcAft>
                <a:spcPts val="600"/>
              </a:spcAft>
              <a:buFont typeface="Wingdings" pitchFamily="2" charset="2"/>
              <a:buChar char="Ø"/>
            </a:pPr>
            <a:r>
              <a:rPr lang="en-US" sz="1900" dirty="0">
                <a:solidFill>
                  <a:schemeClr val="bg2"/>
                </a:solidFill>
              </a:rPr>
              <a:t>We also need two rings for protection lines This means BLSR uses four rings.</a:t>
            </a:r>
          </a:p>
          <a:p>
            <a:pPr>
              <a:spcAft>
                <a:spcPts val="600"/>
              </a:spcAft>
              <a:buFont typeface="Wingdings" pitchFamily="2" charset="2"/>
              <a:buChar char="Ø"/>
            </a:pPr>
            <a:r>
              <a:rPr lang="en-US" sz="1900" dirty="0">
                <a:solidFill>
                  <a:schemeClr val="bg2"/>
                </a:solidFill>
              </a:rPr>
              <a:t>  If a working ring in one direction between two nodes fails, the receiving node can use the reverse ring to inform the upstream node in the failed direction to use the protection ring.  </a:t>
            </a:r>
          </a:p>
          <a:p>
            <a:pPr>
              <a:spcAft>
                <a:spcPts val="600"/>
              </a:spcAft>
              <a:buFont typeface="Wingdings" pitchFamily="2" charset="2"/>
              <a:buChar char="Ø"/>
            </a:pPr>
            <a:r>
              <a:rPr lang="en-US" sz="1900" dirty="0">
                <a:solidFill>
                  <a:schemeClr val="bg2"/>
                </a:solidFill>
              </a:rPr>
              <a:t>The network can recover in several different failure situations.  </a:t>
            </a:r>
          </a:p>
          <a:p>
            <a:pPr>
              <a:spcAft>
                <a:spcPts val="600"/>
              </a:spcAft>
              <a:buFont typeface="Wingdings" pitchFamily="2" charset="2"/>
              <a:buChar char="Ø"/>
            </a:pPr>
            <a:r>
              <a:rPr lang="en-US" sz="1900" dirty="0">
                <a:solidFill>
                  <a:schemeClr val="bg2"/>
                </a:solidFill>
              </a:rPr>
              <a:t>The discovery of a failure in BLSR is at the line layer, not the path layer.  The ADMs find the failure and inform the adjacent nodes to use the protection rings.</a:t>
            </a:r>
          </a:p>
        </p:txBody>
      </p:sp>
      <p:pic>
        <p:nvPicPr>
          <p:cNvPr id="150530" name="Picture 2" descr="enter image description here"/>
          <p:cNvPicPr>
            <a:picLocks noChangeAspect="1" noChangeArrowheads="1"/>
          </p:cNvPicPr>
          <p:nvPr/>
        </p:nvPicPr>
        <p:blipFill>
          <a:blip r:embed="rId3" cstate="print"/>
          <a:srcRect b="15259"/>
          <a:stretch>
            <a:fillRect/>
          </a:stretch>
        </p:blipFill>
        <p:spPr bwMode="auto">
          <a:xfrm>
            <a:off x="2362200" y="4343400"/>
            <a:ext cx="3474720" cy="2115961"/>
          </a:xfrm>
          <a:prstGeom prst="rect">
            <a:avLst/>
          </a:prstGeom>
          <a:noFill/>
        </p:spPr>
      </p:pic>
      <p:sp>
        <p:nvSpPr>
          <p:cNvPr id="8" name="TextBox 7"/>
          <p:cNvSpPr txBox="1"/>
          <p:nvPr/>
        </p:nvSpPr>
        <p:spPr>
          <a:xfrm>
            <a:off x="1295400" y="6400800"/>
            <a:ext cx="6172200" cy="400110"/>
          </a:xfrm>
          <a:prstGeom prst="rect">
            <a:avLst/>
          </a:prstGeom>
          <a:noFill/>
        </p:spPr>
        <p:txBody>
          <a:bodyPr wrap="square" rtlCol="0">
            <a:spAutoFit/>
          </a:bodyPr>
          <a:lstStyle/>
          <a:p>
            <a:pPr algn="ctr"/>
            <a:r>
              <a:rPr lang="en-US" sz="2000" dirty="0">
                <a:solidFill>
                  <a:schemeClr val="bg2"/>
                </a:solidFill>
              </a:rPr>
              <a:t>Fig. Bidirectional Line Switching Ring (BLSR)</a:t>
            </a:r>
          </a:p>
        </p:txBody>
      </p:sp>
    </p:spTree>
  </p:cSld>
  <p:clrMapOvr>
    <a:masterClrMapping/>
  </p:clrMapOvr>
  <p:transition advClick="0" advTm="2000"/>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SONET network</a:t>
            </a:r>
            <a:endParaRPr lang="en-US" sz="3600" b="1" dirty="0">
              <a:latin typeface="Arial" charset="0"/>
            </a:endParaRPr>
          </a:p>
        </p:txBody>
      </p:sp>
      <p:grpSp>
        <p:nvGrpSpPr>
          <p:cNvPr id="2" name="Group 28"/>
          <p:cNvGrpSpPr/>
          <p:nvPr/>
        </p:nvGrpSpPr>
        <p:grpSpPr>
          <a:xfrm>
            <a:off x="4724400" y="3276600"/>
            <a:ext cx="304800" cy="2590800"/>
            <a:chOff x="4724400" y="3276600"/>
            <a:chExt cx="304800" cy="2590800"/>
          </a:xfrm>
        </p:grpSpPr>
        <p:cxnSp>
          <p:nvCxnSpPr>
            <p:cNvPr id="26" name="Curved Connector 25"/>
            <p:cNvCxnSpPr/>
            <p:nvPr/>
          </p:nvCxnSpPr>
          <p:spPr bwMode="auto">
            <a:xfrm rot="5400000">
              <a:off x="3619500" y="4457700"/>
              <a:ext cx="2514600" cy="304800"/>
            </a:xfrm>
            <a:prstGeom prst="curvedConnector3">
              <a:avLst>
                <a:gd name="adj1" fmla="val 49314"/>
              </a:avLst>
            </a:prstGeom>
            <a:solidFill>
              <a:schemeClr val="accent1"/>
            </a:solidFill>
            <a:ln w="762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urved Connector 27"/>
            <p:cNvCxnSpPr/>
            <p:nvPr/>
          </p:nvCxnSpPr>
          <p:spPr bwMode="auto">
            <a:xfrm rot="5400000">
              <a:off x="3611880" y="4419600"/>
              <a:ext cx="2560320" cy="274320"/>
            </a:xfrm>
            <a:prstGeom prst="curvedConnector3">
              <a:avLst>
                <a:gd name="adj1" fmla="val 49314"/>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 name="Rectangle 9"/>
          <p:cNvSpPr/>
          <p:nvPr/>
        </p:nvSpPr>
        <p:spPr>
          <a:xfrm>
            <a:off x="533400" y="1015454"/>
            <a:ext cx="8153399" cy="2077492"/>
          </a:xfrm>
          <a:prstGeom prst="rect">
            <a:avLst/>
          </a:prstGeom>
        </p:spPr>
        <p:txBody>
          <a:bodyPr wrap="square">
            <a:spAutoFit/>
          </a:bodyPr>
          <a:lstStyle/>
          <a:p>
            <a:r>
              <a:rPr lang="en-US" dirty="0">
                <a:solidFill>
                  <a:schemeClr val="bg2"/>
                </a:solidFill>
              </a:rPr>
              <a:t>Combination of Rings:</a:t>
            </a:r>
          </a:p>
          <a:p>
            <a:pPr>
              <a:spcAft>
                <a:spcPts val="600"/>
              </a:spcAft>
              <a:buFont typeface="Wingdings" pitchFamily="2" charset="2"/>
              <a:buChar char="Ø"/>
            </a:pPr>
            <a:r>
              <a:rPr lang="en-US" sz="1900" dirty="0">
                <a:solidFill>
                  <a:schemeClr val="bg2"/>
                </a:solidFill>
              </a:rPr>
              <a:t>  SONET networks today use a combination of interconnected rings to create services in a wide area.  </a:t>
            </a:r>
          </a:p>
          <a:p>
            <a:pPr>
              <a:spcAft>
                <a:spcPts val="600"/>
              </a:spcAft>
              <a:buFont typeface="Wingdings" pitchFamily="2" charset="2"/>
              <a:buChar char="Ø"/>
            </a:pPr>
            <a:r>
              <a:rPr lang="en-US" sz="1900" dirty="0">
                <a:solidFill>
                  <a:schemeClr val="bg2"/>
                </a:solidFill>
              </a:rPr>
              <a:t>A SONET network may have a regional ring, several local rings, and many site rings to give services to a wide area.  </a:t>
            </a:r>
          </a:p>
          <a:p>
            <a:pPr>
              <a:spcAft>
                <a:spcPts val="600"/>
              </a:spcAft>
              <a:buFont typeface="Wingdings" pitchFamily="2" charset="2"/>
              <a:buChar char="Ø"/>
            </a:pPr>
            <a:r>
              <a:rPr lang="en-US" sz="1900" dirty="0">
                <a:solidFill>
                  <a:schemeClr val="bg2"/>
                </a:solidFill>
              </a:rPr>
              <a:t>These rings can be UPSR, BLSR, or a combination of both.</a:t>
            </a:r>
          </a:p>
        </p:txBody>
      </p:sp>
      <p:sp>
        <p:nvSpPr>
          <p:cNvPr id="8" name="TextBox 7"/>
          <p:cNvSpPr txBox="1"/>
          <p:nvPr/>
        </p:nvSpPr>
        <p:spPr>
          <a:xfrm>
            <a:off x="1295400" y="6400800"/>
            <a:ext cx="6172200" cy="400110"/>
          </a:xfrm>
          <a:prstGeom prst="rect">
            <a:avLst/>
          </a:prstGeom>
          <a:noFill/>
        </p:spPr>
        <p:txBody>
          <a:bodyPr wrap="square" rtlCol="0">
            <a:spAutoFit/>
          </a:bodyPr>
          <a:lstStyle/>
          <a:p>
            <a:pPr algn="ctr"/>
            <a:r>
              <a:rPr lang="en-US" sz="2000" dirty="0">
                <a:solidFill>
                  <a:schemeClr val="bg2"/>
                </a:solidFill>
              </a:rPr>
              <a:t>Fig. Combination of Rings</a:t>
            </a:r>
          </a:p>
        </p:txBody>
      </p:sp>
      <p:pic>
        <p:nvPicPr>
          <p:cNvPr id="156673" name="Picture 1"/>
          <p:cNvPicPr>
            <a:picLocks noChangeAspect="1" noChangeArrowheads="1"/>
          </p:cNvPicPr>
          <p:nvPr/>
        </p:nvPicPr>
        <p:blipFill>
          <a:blip r:embed="rId3" cstate="print"/>
          <a:srcRect/>
          <a:stretch>
            <a:fillRect/>
          </a:stretch>
        </p:blipFill>
        <p:spPr bwMode="auto">
          <a:xfrm>
            <a:off x="2362200" y="3200400"/>
            <a:ext cx="4219575" cy="3124200"/>
          </a:xfrm>
          <a:prstGeom prst="rect">
            <a:avLst/>
          </a:prstGeom>
          <a:noFill/>
          <a:ln w="9525">
            <a:noFill/>
            <a:miter lim="800000"/>
            <a:headEnd/>
            <a:tailEnd/>
          </a:ln>
        </p:spPr>
      </p:pic>
    </p:spTree>
  </p:cSld>
  <p:clrMapOvr>
    <a:masterClrMapping/>
  </p:clrMapOvr>
  <p:transition advClick="0" advTm="2000"/>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3"/>
          <p:cNvSpPr txBox="1">
            <a:spLocks noChangeArrowheads="1"/>
          </p:cNvSpPr>
          <p:nvPr/>
        </p:nvSpPr>
        <p:spPr bwMode="auto">
          <a:xfrm>
            <a:off x="685800" y="152400"/>
            <a:ext cx="7772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defRPr/>
            </a:pPr>
            <a:r>
              <a:rPr lang="en-US" sz="3600" dirty="0">
                <a:solidFill>
                  <a:schemeClr val="tx2"/>
                </a:solidFill>
                <a:effectLst>
                  <a:outerShdw blurRad="38100" dist="38100" dir="2700000" algn="tl">
                    <a:srgbClr val="000000"/>
                  </a:outerShdw>
                </a:effectLst>
                <a:latin typeface="Arial" charset="0"/>
              </a:rPr>
              <a:t>SONET network</a:t>
            </a:r>
            <a:endParaRPr lang="en-US" sz="3600" b="1" dirty="0">
              <a:latin typeface="Arial" charset="0"/>
            </a:endParaRPr>
          </a:p>
        </p:txBody>
      </p:sp>
      <p:grpSp>
        <p:nvGrpSpPr>
          <p:cNvPr id="2" name="Group 28"/>
          <p:cNvGrpSpPr/>
          <p:nvPr/>
        </p:nvGrpSpPr>
        <p:grpSpPr>
          <a:xfrm>
            <a:off x="4724400" y="3276600"/>
            <a:ext cx="304800" cy="2590800"/>
            <a:chOff x="4724400" y="3276600"/>
            <a:chExt cx="304800" cy="2590800"/>
          </a:xfrm>
        </p:grpSpPr>
        <p:cxnSp>
          <p:nvCxnSpPr>
            <p:cNvPr id="26" name="Curved Connector 25"/>
            <p:cNvCxnSpPr/>
            <p:nvPr/>
          </p:nvCxnSpPr>
          <p:spPr bwMode="auto">
            <a:xfrm rot="5400000">
              <a:off x="3619500" y="4457700"/>
              <a:ext cx="2514600" cy="304800"/>
            </a:xfrm>
            <a:prstGeom prst="curvedConnector3">
              <a:avLst>
                <a:gd name="adj1" fmla="val 49314"/>
              </a:avLst>
            </a:prstGeom>
            <a:solidFill>
              <a:schemeClr val="accent1"/>
            </a:solidFill>
            <a:ln w="762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urved Connector 27"/>
            <p:cNvCxnSpPr/>
            <p:nvPr/>
          </p:nvCxnSpPr>
          <p:spPr bwMode="auto">
            <a:xfrm rot="5400000">
              <a:off x="3611880" y="4419600"/>
              <a:ext cx="2560320" cy="274320"/>
            </a:xfrm>
            <a:prstGeom prst="curvedConnector3">
              <a:avLst>
                <a:gd name="adj1" fmla="val 49314"/>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 name="Rectangle 9"/>
          <p:cNvSpPr/>
          <p:nvPr/>
        </p:nvSpPr>
        <p:spPr>
          <a:xfrm>
            <a:off x="533400" y="762000"/>
            <a:ext cx="8229600" cy="3616375"/>
          </a:xfrm>
          <a:prstGeom prst="rect">
            <a:avLst/>
          </a:prstGeom>
        </p:spPr>
        <p:txBody>
          <a:bodyPr wrap="square">
            <a:spAutoFit/>
          </a:bodyPr>
          <a:lstStyle/>
          <a:p>
            <a:r>
              <a:rPr lang="en-US" dirty="0">
                <a:solidFill>
                  <a:schemeClr val="bg2"/>
                </a:solidFill>
              </a:rPr>
              <a:t>Mesh Networks:</a:t>
            </a:r>
          </a:p>
          <a:p>
            <a:pPr algn="just">
              <a:spcAft>
                <a:spcPts val="600"/>
              </a:spcAft>
              <a:buFont typeface="Wingdings" pitchFamily="2" charset="2"/>
              <a:buChar char="Ø"/>
            </a:pPr>
            <a:r>
              <a:rPr lang="en-US" sz="1900" dirty="0">
                <a:solidFill>
                  <a:schemeClr val="bg2"/>
                </a:solidFill>
              </a:rPr>
              <a:t>  One problem with ring networks is the lack of scalability.  When the traffic in a ring increases, we need to upgrade not only the lines, but also the ADMs.  </a:t>
            </a:r>
          </a:p>
          <a:p>
            <a:pPr algn="just">
              <a:spcAft>
                <a:spcPts val="600"/>
              </a:spcAft>
              <a:buFont typeface="Wingdings" pitchFamily="2" charset="2"/>
              <a:buChar char="Ø"/>
            </a:pPr>
            <a:r>
              <a:rPr lang="en-US" sz="1900" dirty="0">
                <a:solidFill>
                  <a:schemeClr val="bg2"/>
                </a:solidFill>
              </a:rPr>
              <a:t>In this situation, a mesh network with switches probably give better performance.  </a:t>
            </a:r>
          </a:p>
          <a:p>
            <a:pPr algn="just">
              <a:spcAft>
                <a:spcPts val="600"/>
              </a:spcAft>
              <a:buFont typeface="Wingdings" pitchFamily="2" charset="2"/>
              <a:buChar char="Ø"/>
            </a:pPr>
            <a:r>
              <a:rPr lang="en-US" sz="1900" dirty="0">
                <a:solidFill>
                  <a:schemeClr val="bg2"/>
                </a:solidFill>
              </a:rPr>
              <a:t>A switch in a network mesh is called a cross-connect, has input and output ports.  In an input port, the switch takes an OC-n signal, changes it to an STS-n signal, demultiplexes it into the corresponding STS-1 signals, and sends each STS-1 signal to the appropriate output port.  </a:t>
            </a:r>
          </a:p>
          <a:p>
            <a:pPr algn="just">
              <a:spcAft>
                <a:spcPts val="600"/>
              </a:spcAft>
              <a:buFont typeface="Wingdings" pitchFamily="2" charset="2"/>
              <a:buChar char="Ø"/>
            </a:pPr>
            <a:r>
              <a:rPr lang="en-US" sz="1900" dirty="0">
                <a:solidFill>
                  <a:schemeClr val="bg2"/>
                </a:solidFill>
              </a:rPr>
              <a:t>An output port takes STS-1 signals coming from different input ports, multiplexes them into an STS-n signal, and makes an OC-n signal for transmission.</a:t>
            </a:r>
          </a:p>
        </p:txBody>
      </p:sp>
      <p:sp>
        <p:nvSpPr>
          <p:cNvPr id="8" name="TextBox 7"/>
          <p:cNvSpPr txBox="1"/>
          <p:nvPr/>
        </p:nvSpPr>
        <p:spPr>
          <a:xfrm>
            <a:off x="1828800" y="6400800"/>
            <a:ext cx="3810000" cy="400110"/>
          </a:xfrm>
          <a:prstGeom prst="rect">
            <a:avLst/>
          </a:prstGeom>
          <a:noFill/>
        </p:spPr>
        <p:txBody>
          <a:bodyPr wrap="square" rtlCol="0">
            <a:spAutoFit/>
          </a:bodyPr>
          <a:lstStyle/>
          <a:p>
            <a:pPr algn="ctr"/>
            <a:r>
              <a:rPr lang="en-US" sz="2000" dirty="0">
                <a:solidFill>
                  <a:schemeClr val="bg2"/>
                </a:solidFill>
              </a:rPr>
              <a:t>SONET mesh network</a:t>
            </a:r>
          </a:p>
        </p:txBody>
      </p:sp>
      <p:pic>
        <p:nvPicPr>
          <p:cNvPr id="157698" name="Picture 2"/>
          <p:cNvPicPr>
            <a:picLocks noChangeAspect="1" noChangeArrowheads="1"/>
          </p:cNvPicPr>
          <p:nvPr/>
        </p:nvPicPr>
        <p:blipFill>
          <a:blip r:embed="rId3" cstate="print"/>
          <a:srcRect b="6726"/>
          <a:stretch>
            <a:fillRect/>
          </a:stretch>
        </p:blipFill>
        <p:spPr bwMode="auto">
          <a:xfrm>
            <a:off x="1676400" y="4495800"/>
            <a:ext cx="6126480" cy="1904795"/>
          </a:xfrm>
          <a:prstGeom prst="rect">
            <a:avLst/>
          </a:prstGeom>
          <a:noFill/>
          <a:ln w="9525">
            <a:noFill/>
            <a:miter lim="800000"/>
            <a:headEnd/>
            <a:tailEnd/>
          </a:ln>
        </p:spPr>
      </p:pic>
      <p:sp>
        <p:nvSpPr>
          <p:cNvPr id="11" name="TextBox 10"/>
          <p:cNvSpPr txBox="1"/>
          <p:nvPr/>
        </p:nvSpPr>
        <p:spPr>
          <a:xfrm>
            <a:off x="5638800" y="6381690"/>
            <a:ext cx="2438400" cy="400110"/>
          </a:xfrm>
          <a:prstGeom prst="rect">
            <a:avLst/>
          </a:prstGeom>
          <a:noFill/>
        </p:spPr>
        <p:txBody>
          <a:bodyPr wrap="square" rtlCol="0">
            <a:spAutoFit/>
          </a:bodyPr>
          <a:lstStyle/>
          <a:p>
            <a:pPr algn="ctr"/>
            <a:r>
              <a:rPr lang="en-US" sz="2000" dirty="0">
                <a:solidFill>
                  <a:schemeClr val="bg2"/>
                </a:solidFill>
              </a:rPr>
              <a:t>Cross-connect Switch</a:t>
            </a:r>
          </a:p>
        </p:txBody>
      </p:sp>
    </p:spTree>
  </p:cSld>
  <p:clrMapOvr>
    <a:masterClrMapping/>
  </p:clrMapOvr>
  <p:transition advClick="0" advTm="2000"/>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457200" y="1600200"/>
            <a:ext cx="8077200"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12763" indent="-512763"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just" eaLnBrk="1" hangingPunct="1">
              <a:spcBef>
                <a:spcPts val="600"/>
              </a:spcBef>
              <a:spcAft>
                <a:spcPts val="600"/>
              </a:spcAft>
              <a:buClrTx/>
              <a:buSzTx/>
              <a:buFont typeface="Wingdings" pitchFamily="2" charset="2"/>
              <a:buChar char="Ø"/>
            </a:pPr>
            <a:r>
              <a:rPr lang="en-US" altLang="en-US" sz="2000" dirty="0">
                <a:solidFill>
                  <a:schemeClr val="bg2"/>
                </a:solidFill>
                <a:latin typeface="Arial" panose="020B0604020202020204" pitchFamily="34" charset="0"/>
              </a:rPr>
              <a:t>To design an optical fiber communication systems, it is important to account the optical power. </a:t>
            </a:r>
          </a:p>
          <a:p>
            <a:pPr algn="just" eaLnBrk="1" hangingPunct="1">
              <a:spcBef>
                <a:spcPts val="600"/>
              </a:spcBef>
              <a:spcAft>
                <a:spcPts val="600"/>
              </a:spcAft>
              <a:buClrTx/>
              <a:buSzTx/>
              <a:buFont typeface="Wingdings" pitchFamily="2" charset="2"/>
              <a:buChar char="Ø"/>
            </a:pPr>
            <a:r>
              <a:rPr lang="en-US" altLang="en-US" sz="2000" dirty="0">
                <a:solidFill>
                  <a:schemeClr val="bg2"/>
                </a:solidFill>
                <a:latin typeface="Arial" panose="020B0604020202020204" pitchFamily="34" charset="0"/>
              </a:rPr>
              <a:t>This power measurement helps to ensure that incident wave on the detector has sufficient strength to be clearly and correctly recognized. </a:t>
            </a:r>
          </a:p>
          <a:p>
            <a:pPr algn="just" eaLnBrk="1" hangingPunct="1">
              <a:spcBef>
                <a:spcPts val="600"/>
              </a:spcBef>
              <a:spcAft>
                <a:spcPts val="600"/>
              </a:spcAft>
              <a:buClrTx/>
              <a:buSzTx/>
              <a:buFont typeface="Wingdings" pitchFamily="2" charset="2"/>
              <a:buChar char="Ø"/>
            </a:pPr>
            <a:r>
              <a:rPr lang="en-US" altLang="en-US" sz="2000" dirty="0">
                <a:solidFill>
                  <a:schemeClr val="bg2"/>
                </a:solidFill>
                <a:latin typeface="Arial" panose="020B0604020202020204" pitchFamily="34" charset="0"/>
              </a:rPr>
              <a:t>In other instances the received power may even be too large for the receiver. </a:t>
            </a:r>
          </a:p>
          <a:p>
            <a:pPr algn="just" eaLnBrk="1" hangingPunct="1">
              <a:spcBef>
                <a:spcPts val="600"/>
              </a:spcBef>
              <a:spcAft>
                <a:spcPts val="600"/>
              </a:spcAft>
              <a:buClrTx/>
              <a:buSzTx/>
              <a:buFont typeface="Wingdings" pitchFamily="2" charset="2"/>
              <a:buChar char="Ø"/>
            </a:pPr>
            <a:r>
              <a:rPr lang="en-US" altLang="en-US" sz="2000" dirty="0">
                <a:solidFill>
                  <a:schemeClr val="bg2"/>
                </a:solidFill>
                <a:latin typeface="Arial" panose="020B0604020202020204" pitchFamily="34" charset="0"/>
              </a:rPr>
              <a:t>The designer must be certain this does not occur.</a:t>
            </a:r>
          </a:p>
        </p:txBody>
      </p:sp>
      <p:sp>
        <p:nvSpPr>
          <p:cNvPr id="69635" name="Text Box 3"/>
          <p:cNvSpPr txBox="1">
            <a:spLocks noChangeArrowheads="1"/>
          </p:cNvSpPr>
          <p:nvPr/>
        </p:nvSpPr>
        <p:spPr bwMode="auto">
          <a:xfrm>
            <a:off x="425450" y="168275"/>
            <a:ext cx="818515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sz="4400" dirty="0">
                <a:solidFill>
                  <a:schemeClr val="tx2">
                    <a:lumMod val="75000"/>
                  </a:schemeClr>
                </a:solidFill>
                <a:effectLst>
                  <a:outerShdw blurRad="38100" dist="38100" dir="2700000" algn="tl">
                    <a:srgbClr val="000000"/>
                  </a:outerShdw>
                </a:effectLst>
                <a:latin typeface="Arial" charset="0"/>
              </a:rPr>
              <a:t>Computing power levels</a:t>
            </a:r>
          </a:p>
          <a:p>
            <a:pPr algn="ctr">
              <a:defRPr/>
            </a:pPr>
            <a:r>
              <a:rPr lang="en-US" sz="4400" dirty="0">
                <a:solidFill>
                  <a:schemeClr val="tx2">
                    <a:lumMod val="75000"/>
                  </a:schemeClr>
                </a:solidFill>
                <a:effectLst>
                  <a:outerShdw blurRad="38100" dist="38100" dir="2700000" algn="tl">
                    <a:srgbClr val="000000"/>
                  </a:outerShdw>
                </a:effectLst>
                <a:latin typeface="Arial" charset="0"/>
              </a:rPr>
              <a:t>(decibels)</a:t>
            </a:r>
          </a:p>
        </p:txBody>
      </p:sp>
      <p:sp>
        <p:nvSpPr>
          <p:cNvPr id="4" name="Text Box 5"/>
          <p:cNvSpPr txBox="1">
            <a:spLocks noChangeArrowheads="1"/>
          </p:cNvSpPr>
          <p:nvPr/>
        </p:nvSpPr>
        <p:spPr bwMode="auto">
          <a:xfrm>
            <a:off x="1143000" y="5867400"/>
            <a:ext cx="3429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dirty="0">
                <a:solidFill>
                  <a:schemeClr val="bg2"/>
                </a:solidFill>
                <a:latin typeface="Arial" panose="020B0604020202020204" pitchFamily="34" charset="0"/>
              </a:rPr>
              <a:t>dB=10 log</a:t>
            </a:r>
            <a:r>
              <a:rPr lang="en-US" altLang="en-US" baseline="-25000" dirty="0">
                <a:solidFill>
                  <a:schemeClr val="bg2"/>
                </a:solidFill>
                <a:latin typeface="Arial" panose="020B0604020202020204" pitchFamily="34" charset="0"/>
              </a:rPr>
              <a:t>10</a:t>
            </a:r>
            <a:r>
              <a:rPr lang="en-US" altLang="en-US" sz="2500" dirty="0">
                <a:solidFill>
                  <a:schemeClr val="bg2"/>
                </a:solidFill>
                <a:latin typeface="Arial" panose="020B0604020202020204" pitchFamily="34" charset="0"/>
              </a:rPr>
              <a:t>P</a:t>
            </a:r>
            <a:r>
              <a:rPr lang="en-US" altLang="en-US" sz="2500" baseline="-25000" dirty="0">
                <a:solidFill>
                  <a:schemeClr val="bg2"/>
                </a:solidFill>
                <a:latin typeface="Arial" panose="020B0604020202020204" pitchFamily="34" charset="0"/>
              </a:rPr>
              <a:t>2</a:t>
            </a:r>
            <a:r>
              <a:rPr lang="en-US" altLang="en-US" sz="2500" dirty="0">
                <a:solidFill>
                  <a:schemeClr val="bg2"/>
                </a:solidFill>
                <a:latin typeface="Arial" panose="020B0604020202020204" pitchFamily="34" charset="0"/>
              </a:rPr>
              <a:t>/P</a:t>
            </a:r>
            <a:r>
              <a:rPr lang="en-US" altLang="en-US" sz="2500" baseline="-25000" dirty="0">
                <a:solidFill>
                  <a:schemeClr val="bg2"/>
                </a:solidFill>
                <a:latin typeface="Arial" panose="020B0604020202020204" pitchFamily="34" charset="0"/>
              </a:rPr>
              <a:t>1</a:t>
            </a:r>
            <a:endParaRPr lang="en-US" altLang="en-US" baseline="30000" dirty="0">
              <a:solidFill>
                <a:schemeClr val="bg2"/>
              </a:solidFill>
              <a:latin typeface="Arial" panose="020B0604020202020204" pitchFamily="34" charset="0"/>
            </a:endParaRPr>
          </a:p>
        </p:txBody>
      </p:sp>
      <p:sp>
        <p:nvSpPr>
          <p:cNvPr id="5" name="Text Box 4"/>
          <p:cNvSpPr txBox="1">
            <a:spLocks noChangeArrowheads="1"/>
          </p:cNvSpPr>
          <p:nvPr/>
        </p:nvSpPr>
        <p:spPr bwMode="auto">
          <a:xfrm>
            <a:off x="4191000" y="5867400"/>
            <a:ext cx="3886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dirty="0">
                <a:solidFill>
                  <a:schemeClr val="bg2"/>
                </a:solidFill>
                <a:latin typeface="Arial" panose="020B0604020202020204" pitchFamily="34" charset="0"/>
              </a:rPr>
              <a:t>or, P</a:t>
            </a:r>
            <a:r>
              <a:rPr lang="en-US" altLang="en-US" sz="2500" baseline="-25000" dirty="0">
                <a:solidFill>
                  <a:schemeClr val="bg2"/>
                </a:solidFill>
                <a:latin typeface="Arial" panose="020B0604020202020204" pitchFamily="34" charset="0"/>
              </a:rPr>
              <a:t>2</a:t>
            </a:r>
            <a:r>
              <a:rPr lang="en-US" altLang="en-US" dirty="0">
                <a:solidFill>
                  <a:schemeClr val="bg2"/>
                </a:solidFill>
                <a:latin typeface="Arial" panose="020B0604020202020204" pitchFamily="34" charset="0"/>
              </a:rPr>
              <a:t>=P</a:t>
            </a:r>
            <a:r>
              <a:rPr lang="en-US" altLang="en-US" sz="2500" baseline="-25000" dirty="0">
                <a:solidFill>
                  <a:schemeClr val="bg2"/>
                </a:solidFill>
                <a:latin typeface="Arial" panose="020B0604020202020204" pitchFamily="34" charset="0"/>
              </a:rPr>
              <a:t>1</a:t>
            </a:r>
            <a:r>
              <a:rPr lang="en-US" altLang="en-US" dirty="0">
                <a:solidFill>
                  <a:schemeClr val="bg2"/>
                </a:solidFill>
                <a:latin typeface="Arial" panose="020B0604020202020204" pitchFamily="34" charset="0"/>
              </a:rPr>
              <a:t> 10</a:t>
            </a:r>
            <a:r>
              <a:rPr lang="en-US" altLang="en-US" baseline="30000" dirty="0">
                <a:solidFill>
                  <a:schemeClr val="bg2"/>
                </a:solidFill>
                <a:latin typeface="Arial" panose="020B0604020202020204" pitchFamily="34" charset="0"/>
              </a:rPr>
              <a:t> dB/10</a:t>
            </a:r>
          </a:p>
        </p:txBody>
      </p:sp>
      <p:sp>
        <p:nvSpPr>
          <p:cNvPr id="6" name="Rectangle 3"/>
          <p:cNvSpPr txBox="1">
            <a:spLocks noChangeArrowheads="1"/>
          </p:cNvSpPr>
          <p:nvPr/>
        </p:nvSpPr>
        <p:spPr bwMode="auto">
          <a:xfrm>
            <a:off x="762000" y="4572000"/>
            <a:ext cx="7772400" cy="1316038"/>
          </a:xfrm>
          <a:prstGeom prst="rect">
            <a:avLst/>
          </a:prstGeom>
          <a:noFill/>
          <a:ln>
            <a:solidFill>
              <a:srgbClr val="92D05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marL="0" marR="0" lvl="0" indent="0" algn="just" defTabSz="914400" rtl="0" eaLnBrk="1" fontAlgn="base" latinLnBrk="0" hangingPunct="1">
              <a:lnSpc>
                <a:spcPct val="120000"/>
              </a:lnSpc>
              <a:spcBef>
                <a:spcPct val="0"/>
              </a:spcBef>
              <a:spcAft>
                <a:spcPct val="0"/>
              </a:spcAft>
              <a:buClr>
                <a:schemeClr val="accent2"/>
              </a:buClr>
              <a:buSzPct val="80000"/>
              <a:buFont typeface="Wingdings" pitchFamily="2" charset="2"/>
              <a:buNone/>
              <a:tabLst/>
              <a:defRPr/>
            </a:pPr>
            <a:r>
              <a:rPr kumimoji="0" lang="en-US" altLang="en-US" sz="2000" b="0" i="0" u="none" strike="noStrike" kern="0" cap="none" spc="0" normalizeH="0" baseline="0" noProof="0" dirty="0">
                <a:ln>
                  <a:noFill/>
                </a:ln>
                <a:solidFill>
                  <a:schemeClr val="bg2"/>
                </a:solidFill>
                <a:effectLst/>
                <a:uLnTx/>
                <a:uFillTx/>
                <a:latin typeface="+mn-lt"/>
                <a:ea typeface="+mn-ea"/>
                <a:cs typeface="+mn-cs"/>
              </a:rPr>
              <a:t>If the power is P</a:t>
            </a:r>
            <a:r>
              <a:rPr kumimoji="0" lang="en-US" altLang="en-US" sz="2000" b="0" i="0" u="none" strike="noStrike" kern="0" cap="none" spc="0" normalizeH="0" baseline="-25000" noProof="0" dirty="0">
                <a:ln>
                  <a:noFill/>
                </a:ln>
                <a:solidFill>
                  <a:schemeClr val="bg2"/>
                </a:solidFill>
                <a:effectLst/>
                <a:uLnTx/>
                <a:uFillTx/>
                <a:latin typeface="+mn-lt"/>
                <a:ea typeface="+mn-ea"/>
                <a:cs typeface="+mn-cs"/>
              </a:rPr>
              <a:t>1</a:t>
            </a:r>
            <a:r>
              <a:rPr kumimoji="0" lang="en-US" altLang="en-US" sz="2000" b="0" i="0" u="none" strike="noStrike" kern="0" cap="none" spc="0" normalizeH="0" baseline="0" noProof="0" dirty="0">
                <a:ln>
                  <a:noFill/>
                </a:ln>
                <a:solidFill>
                  <a:schemeClr val="bg2"/>
                </a:solidFill>
                <a:effectLst/>
                <a:uLnTx/>
                <a:uFillTx/>
                <a:latin typeface="+mn-lt"/>
                <a:ea typeface="+mn-ea"/>
                <a:cs typeface="+mn-cs"/>
              </a:rPr>
              <a:t> watts at one point in the system and P</a:t>
            </a:r>
            <a:r>
              <a:rPr kumimoji="0" lang="en-US" altLang="en-US" sz="2000" b="0" i="0" u="none" strike="noStrike" kern="0" cap="none" spc="0" normalizeH="0" baseline="-25000" noProof="0" dirty="0">
                <a:ln>
                  <a:noFill/>
                </a:ln>
                <a:solidFill>
                  <a:schemeClr val="bg2"/>
                </a:solidFill>
                <a:effectLst/>
                <a:uLnTx/>
                <a:uFillTx/>
                <a:latin typeface="+mn-lt"/>
                <a:ea typeface="+mn-ea"/>
                <a:cs typeface="+mn-cs"/>
              </a:rPr>
              <a:t>2</a:t>
            </a:r>
            <a:r>
              <a:rPr kumimoji="0" lang="en-US" altLang="en-US" sz="2000" b="0" i="0" u="none" strike="noStrike" kern="0" cap="none" spc="0" normalizeH="0" baseline="0" noProof="0" dirty="0">
                <a:ln>
                  <a:noFill/>
                </a:ln>
                <a:solidFill>
                  <a:schemeClr val="bg2"/>
                </a:solidFill>
                <a:effectLst/>
                <a:uLnTx/>
                <a:uFillTx/>
                <a:latin typeface="+mn-lt"/>
                <a:ea typeface="+mn-ea"/>
                <a:cs typeface="+mn-cs"/>
              </a:rPr>
              <a:t> watts at some point farther along the link, then P</a:t>
            </a:r>
            <a:r>
              <a:rPr kumimoji="0" lang="en-US" altLang="en-US" sz="2000" b="0" i="0" u="none" strike="noStrike" kern="0" cap="none" spc="0" normalizeH="0" baseline="-25000" noProof="0" dirty="0">
                <a:ln>
                  <a:noFill/>
                </a:ln>
                <a:solidFill>
                  <a:schemeClr val="bg2"/>
                </a:solidFill>
                <a:effectLst/>
                <a:uLnTx/>
                <a:uFillTx/>
                <a:latin typeface="+mn-lt"/>
                <a:ea typeface="+mn-ea"/>
                <a:cs typeface="+mn-cs"/>
              </a:rPr>
              <a:t>2</a:t>
            </a:r>
            <a:r>
              <a:rPr kumimoji="0" lang="en-US" altLang="en-US" sz="2000" b="0" i="0" u="none" strike="noStrike" kern="0" cap="none" spc="0" normalizeH="0" baseline="0" noProof="0" dirty="0">
                <a:ln>
                  <a:noFill/>
                </a:ln>
                <a:solidFill>
                  <a:schemeClr val="bg2"/>
                </a:solidFill>
                <a:effectLst/>
                <a:uLnTx/>
                <a:uFillTx/>
                <a:latin typeface="+mn-lt"/>
                <a:ea typeface="+mn-ea"/>
                <a:cs typeface="+mn-cs"/>
              </a:rPr>
              <a:t>/P</a:t>
            </a:r>
            <a:r>
              <a:rPr kumimoji="0" lang="en-US" altLang="en-US" sz="2000" b="0" i="0" u="none" strike="noStrike" kern="0" cap="none" spc="0" normalizeH="0" baseline="-25000" noProof="0" dirty="0">
                <a:ln>
                  <a:noFill/>
                </a:ln>
                <a:solidFill>
                  <a:schemeClr val="bg2"/>
                </a:solidFill>
                <a:effectLst/>
                <a:uLnTx/>
                <a:uFillTx/>
                <a:latin typeface="+mn-lt"/>
                <a:ea typeface="+mn-ea"/>
                <a:cs typeface="+mn-cs"/>
              </a:rPr>
              <a:t>1</a:t>
            </a:r>
            <a:r>
              <a:rPr kumimoji="0" lang="en-US" altLang="en-US" sz="2000" b="0" i="0" u="none" strike="noStrike" kern="0" cap="none" spc="0" normalizeH="0" baseline="0" noProof="0" dirty="0">
                <a:ln>
                  <a:noFill/>
                </a:ln>
                <a:solidFill>
                  <a:schemeClr val="bg2"/>
                </a:solidFill>
                <a:effectLst/>
                <a:uLnTx/>
                <a:uFillTx/>
                <a:latin typeface="+mn-lt"/>
                <a:ea typeface="+mn-ea"/>
                <a:cs typeface="+mn-cs"/>
              </a:rPr>
              <a:t> is the fraction of the power transmitted  between  the  two  locations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1066800" y="381000"/>
            <a:ext cx="64595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4400">
                <a:solidFill>
                  <a:schemeClr val="tx2"/>
                </a:solidFill>
                <a:effectLst>
                  <a:outerShdw blurRad="38100" dist="38100" dir="2700000" algn="tl">
                    <a:srgbClr val="000000"/>
                  </a:outerShdw>
                </a:effectLst>
                <a:latin typeface="Arial" charset="0"/>
              </a:rPr>
              <a:t>Decibels (dB) Calculation</a:t>
            </a:r>
          </a:p>
        </p:txBody>
      </p:sp>
      <p:grpSp>
        <p:nvGrpSpPr>
          <p:cNvPr id="2" name="Group 5"/>
          <p:cNvGrpSpPr>
            <a:grpSpLocks/>
          </p:cNvGrpSpPr>
          <p:nvPr/>
        </p:nvGrpSpPr>
        <p:grpSpPr bwMode="auto">
          <a:xfrm>
            <a:off x="1752600" y="1905000"/>
            <a:ext cx="5181600" cy="663575"/>
            <a:chOff x="816" y="1200"/>
            <a:chExt cx="3264" cy="418"/>
          </a:xfrm>
        </p:grpSpPr>
        <p:sp>
          <p:nvSpPr>
            <p:cNvPr id="35846" name="Line 6"/>
            <p:cNvSpPr>
              <a:spLocks noChangeShapeType="1"/>
            </p:cNvSpPr>
            <p:nvPr/>
          </p:nvSpPr>
          <p:spPr bwMode="auto">
            <a:xfrm>
              <a:off x="1073" y="1474"/>
              <a:ext cx="2711"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2"/>
                </a:solidFill>
              </a:endParaRPr>
            </a:p>
          </p:txBody>
        </p:sp>
        <p:sp>
          <p:nvSpPr>
            <p:cNvPr id="35847" name="Rectangle 7"/>
            <p:cNvSpPr>
              <a:spLocks noChangeArrowheads="1"/>
            </p:cNvSpPr>
            <p:nvPr/>
          </p:nvSpPr>
          <p:spPr bwMode="auto">
            <a:xfrm>
              <a:off x="1418" y="1330"/>
              <a:ext cx="394" cy="288"/>
            </a:xfrm>
            <a:prstGeom prst="rect">
              <a:avLst/>
            </a:prstGeom>
            <a:solidFill>
              <a:srgbClr val="CCFFCC"/>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chemeClr val="bg2"/>
                </a:solidFill>
              </a:endParaRPr>
            </a:p>
          </p:txBody>
        </p:sp>
        <p:sp>
          <p:nvSpPr>
            <p:cNvPr id="35848" name="Rectangle 8"/>
            <p:cNvSpPr>
              <a:spLocks noChangeArrowheads="1"/>
            </p:cNvSpPr>
            <p:nvPr/>
          </p:nvSpPr>
          <p:spPr bwMode="auto">
            <a:xfrm>
              <a:off x="2256" y="1330"/>
              <a:ext cx="394" cy="288"/>
            </a:xfrm>
            <a:prstGeom prst="rect">
              <a:avLst/>
            </a:prstGeom>
            <a:solidFill>
              <a:srgbClr val="CCFFCC"/>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chemeClr val="bg2"/>
                </a:solidFill>
              </a:endParaRPr>
            </a:p>
          </p:txBody>
        </p:sp>
        <p:sp>
          <p:nvSpPr>
            <p:cNvPr id="35849" name="Rectangle 9"/>
            <p:cNvSpPr>
              <a:spLocks noChangeArrowheads="1"/>
            </p:cNvSpPr>
            <p:nvPr/>
          </p:nvSpPr>
          <p:spPr bwMode="auto">
            <a:xfrm>
              <a:off x="3094" y="1330"/>
              <a:ext cx="394" cy="288"/>
            </a:xfrm>
            <a:prstGeom prst="rect">
              <a:avLst/>
            </a:prstGeom>
            <a:solidFill>
              <a:srgbClr val="CCFFCC"/>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chemeClr val="bg2"/>
                </a:solidFill>
              </a:endParaRPr>
            </a:p>
          </p:txBody>
        </p:sp>
        <p:sp>
          <p:nvSpPr>
            <p:cNvPr id="35850" name="Text Box 10"/>
            <p:cNvSpPr txBox="1">
              <a:spLocks noChangeArrowheads="1"/>
            </p:cNvSpPr>
            <p:nvPr/>
          </p:nvSpPr>
          <p:spPr bwMode="auto">
            <a:xfrm>
              <a:off x="816" y="1353"/>
              <a:ext cx="26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chemeClr val="bg2"/>
                  </a:solidFill>
                  <a:latin typeface="Arial" panose="020B0604020202020204" pitchFamily="34" charset="0"/>
                </a:rPr>
                <a:t>P</a:t>
              </a:r>
              <a:r>
                <a:rPr lang="en-US" altLang="en-US" sz="1800" baseline="-25000">
                  <a:solidFill>
                    <a:schemeClr val="bg2"/>
                  </a:solidFill>
                  <a:latin typeface="Arial" panose="020B0604020202020204" pitchFamily="34" charset="0"/>
                </a:rPr>
                <a:t>1</a:t>
              </a:r>
            </a:p>
          </p:txBody>
        </p:sp>
        <p:sp>
          <p:nvSpPr>
            <p:cNvPr id="35851" name="Text Box 11"/>
            <p:cNvSpPr txBox="1">
              <a:spLocks noChangeArrowheads="1"/>
            </p:cNvSpPr>
            <p:nvPr/>
          </p:nvSpPr>
          <p:spPr bwMode="auto">
            <a:xfrm>
              <a:off x="1812" y="1206"/>
              <a:ext cx="26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chemeClr val="bg2"/>
                  </a:solidFill>
                  <a:latin typeface="Arial" panose="020B0604020202020204" pitchFamily="34" charset="0"/>
                </a:rPr>
                <a:t>P</a:t>
              </a:r>
              <a:r>
                <a:rPr lang="en-US" altLang="en-US" sz="1800" baseline="-25000">
                  <a:solidFill>
                    <a:schemeClr val="bg2"/>
                  </a:solidFill>
                  <a:latin typeface="Arial" panose="020B0604020202020204" pitchFamily="34" charset="0"/>
                </a:rPr>
                <a:t>2</a:t>
              </a:r>
            </a:p>
          </p:txBody>
        </p:sp>
        <p:sp>
          <p:nvSpPr>
            <p:cNvPr id="35852" name="Text Box 12"/>
            <p:cNvSpPr txBox="1">
              <a:spLocks noChangeArrowheads="1"/>
            </p:cNvSpPr>
            <p:nvPr/>
          </p:nvSpPr>
          <p:spPr bwMode="auto">
            <a:xfrm>
              <a:off x="2650" y="1200"/>
              <a:ext cx="2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chemeClr val="bg2"/>
                  </a:solidFill>
                  <a:latin typeface="Arial" panose="020B0604020202020204" pitchFamily="34" charset="0"/>
                </a:rPr>
                <a:t>P</a:t>
              </a:r>
              <a:r>
                <a:rPr lang="en-US" altLang="en-US" sz="1800" baseline="-25000">
                  <a:solidFill>
                    <a:schemeClr val="bg2"/>
                  </a:solidFill>
                  <a:latin typeface="Arial" panose="020B0604020202020204" pitchFamily="34" charset="0"/>
                </a:rPr>
                <a:t>3</a:t>
              </a:r>
            </a:p>
          </p:txBody>
        </p:sp>
        <p:sp>
          <p:nvSpPr>
            <p:cNvPr id="35853" name="Text Box 13"/>
            <p:cNvSpPr txBox="1">
              <a:spLocks noChangeArrowheads="1"/>
            </p:cNvSpPr>
            <p:nvPr/>
          </p:nvSpPr>
          <p:spPr bwMode="auto">
            <a:xfrm>
              <a:off x="3784" y="1339"/>
              <a:ext cx="2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chemeClr val="bg2"/>
                  </a:solidFill>
                  <a:latin typeface="Arial" panose="020B0604020202020204" pitchFamily="34" charset="0"/>
                </a:rPr>
                <a:t>P</a:t>
              </a:r>
              <a:r>
                <a:rPr lang="en-US" altLang="en-US" sz="1800" baseline="-25000">
                  <a:solidFill>
                    <a:schemeClr val="bg2"/>
                  </a:solidFill>
                  <a:latin typeface="Arial" panose="020B0604020202020204" pitchFamily="34" charset="0"/>
                </a:rPr>
                <a:t>4</a:t>
              </a:r>
            </a:p>
          </p:txBody>
        </p:sp>
      </p:grpSp>
      <p:sp>
        <p:nvSpPr>
          <p:cNvPr id="14" name="Rectangle 3"/>
          <p:cNvSpPr txBox="1">
            <a:spLocks noChangeArrowheads="1"/>
          </p:cNvSpPr>
          <p:nvPr/>
        </p:nvSpPr>
        <p:spPr bwMode="auto">
          <a:xfrm>
            <a:off x="685800" y="1295400"/>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marL="0" marR="0" lvl="0" indent="0" algn="just" defTabSz="914400" rtl="0" eaLnBrk="1" fontAlgn="base" latinLnBrk="0" hangingPunct="1">
              <a:lnSpc>
                <a:spcPct val="120000"/>
              </a:lnSpc>
              <a:spcBef>
                <a:spcPct val="0"/>
              </a:spcBef>
              <a:spcAft>
                <a:spcPct val="0"/>
              </a:spcAft>
              <a:buClr>
                <a:schemeClr val="accent2"/>
              </a:buClr>
              <a:buSzPct val="80000"/>
              <a:buFont typeface="Wingdings" pitchFamily="2" charset="2"/>
              <a:buNone/>
              <a:tabLst/>
              <a:defRPr/>
            </a:pPr>
            <a:r>
              <a:rPr kumimoji="0" lang="en-US" altLang="en-US" sz="2000" b="0" i="0" u="none" strike="noStrike" kern="0" cap="none" spc="0" normalizeH="0" baseline="0" noProof="0" dirty="0">
                <a:ln>
                  <a:noFill/>
                </a:ln>
                <a:solidFill>
                  <a:schemeClr val="bg2"/>
                </a:solidFill>
                <a:effectLst/>
                <a:uLnTx/>
                <a:uFillTx/>
                <a:latin typeface="+mn-lt"/>
                <a:ea typeface="+mn-ea"/>
                <a:cs typeface="+mn-cs"/>
              </a:rPr>
              <a:t>If we consider power</a:t>
            </a:r>
            <a:r>
              <a:rPr kumimoji="0" lang="en-US" altLang="en-US" sz="2000" b="0" i="0" u="none" strike="noStrike" kern="0" cap="none" spc="0" normalizeH="0" noProof="0" dirty="0">
                <a:ln>
                  <a:noFill/>
                </a:ln>
                <a:solidFill>
                  <a:schemeClr val="bg2"/>
                </a:solidFill>
                <a:effectLst/>
                <a:uLnTx/>
                <a:uFillTx/>
                <a:latin typeface="+mn-lt"/>
                <a:ea typeface="+mn-ea"/>
                <a:cs typeface="+mn-cs"/>
              </a:rPr>
              <a:t> levels in a cascaded system of the following figure:</a:t>
            </a:r>
            <a:endParaRPr kumimoji="0" lang="en-US" altLang="en-US" sz="2000" b="0" i="0" u="none" strike="noStrike" kern="0" cap="none" spc="0" normalizeH="0" baseline="0" noProof="0" dirty="0">
              <a:ln>
                <a:noFill/>
              </a:ln>
              <a:solidFill>
                <a:schemeClr val="bg2"/>
              </a:solidFill>
              <a:effectLst/>
              <a:uLnTx/>
              <a:uFillTx/>
              <a:latin typeface="+mn-lt"/>
              <a:ea typeface="+mn-ea"/>
              <a:cs typeface="+mn-cs"/>
            </a:endParaRPr>
          </a:p>
        </p:txBody>
      </p:sp>
      <p:sp>
        <p:nvSpPr>
          <p:cNvPr id="15" name="Rectangle 3"/>
          <p:cNvSpPr txBox="1">
            <a:spLocks noChangeArrowheads="1"/>
          </p:cNvSpPr>
          <p:nvPr/>
        </p:nvSpPr>
        <p:spPr bwMode="auto">
          <a:xfrm>
            <a:off x="762000" y="2743200"/>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marL="0" marR="0" lvl="0" indent="0" algn="just" defTabSz="914400" rtl="0" eaLnBrk="1" fontAlgn="base" latinLnBrk="0" hangingPunct="1">
              <a:lnSpc>
                <a:spcPct val="120000"/>
              </a:lnSpc>
              <a:spcBef>
                <a:spcPct val="0"/>
              </a:spcBef>
              <a:spcAft>
                <a:spcPct val="0"/>
              </a:spcAft>
              <a:buClr>
                <a:schemeClr val="accent2"/>
              </a:buClr>
              <a:buSzPct val="80000"/>
              <a:buFont typeface="Wingdings" pitchFamily="2" charset="2"/>
              <a:buNone/>
              <a:tabLst/>
              <a:defRPr/>
            </a:pPr>
            <a:r>
              <a:rPr kumimoji="0" lang="en-US" altLang="en-US" sz="2000" b="0" i="0" u="none" strike="noStrike" kern="0" cap="none" spc="0" normalizeH="0" baseline="0" noProof="0" dirty="0">
                <a:ln>
                  <a:noFill/>
                </a:ln>
                <a:solidFill>
                  <a:schemeClr val="bg2"/>
                </a:solidFill>
                <a:effectLst/>
                <a:uLnTx/>
                <a:uFillTx/>
                <a:latin typeface="+mn-lt"/>
                <a:ea typeface="+mn-ea"/>
                <a:cs typeface="+mn-cs"/>
              </a:rPr>
              <a:t>The output power is determined by: </a:t>
            </a:r>
          </a:p>
        </p:txBody>
      </p:sp>
      <p:graphicFrame>
        <p:nvGraphicFramePr>
          <p:cNvPr id="16" name="Object 15"/>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3" imgW="114120" imgH="177480" progId="Equation.DSMT4">
                  <p:embed/>
                </p:oleObj>
              </mc:Choice>
              <mc:Fallback>
                <p:oleObj name="Equation" r:id="rId3" imgW="114120" imgH="17748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p:cNvGraphicFramePr>
            <a:graphicFrameLocks noChangeAspect="1"/>
          </p:cNvGraphicFramePr>
          <p:nvPr/>
        </p:nvGraphicFramePr>
        <p:xfrm>
          <a:off x="3352800" y="3276600"/>
          <a:ext cx="2438400" cy="835130"/>
        </p:xfrm>
        <a:graphic>
          <a:graphicData uri="http://schemas.openxmlformats.org/presentationml/2006/ole">
            <mc:AlternateContent xmlns:mc="http://schemas.openxmlformats.org/markup-compatibility/2006">
              <mc:Choice xmlns:v="urn:schemas-microsoft-com:vml" Requires="v">
                <p:oleObj name="Equation" r:id="rId5" imgW="1066680" imgH="431640" progId="Equation.DSMT4">
                  <p:embed/>
                </p:oleObj>
              </mc:Choice>
              <mc:Fallback>
                <p:oleObj name="Equation" r:id="rId5" imgW="1066680" imgH="43164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3276600"/>
                        <a:ext cx="2438400" cy="8351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9" name="Object 5"/>
          <p:cNvGraphicFramePr>
            <a:graphicFrameLocks noChangeAspect="1"/>
          </p:cNvGraphicFramePr>
          <p:nvPr/>
        </p:nvGraphicFramePr>
        <p:xfrm>
          <a:off x="2743200" y="4980992"/>
          <a:ext cx="3962400" cy="1496008"/>
        </p:xfrm>
        <a:graphic>
          <a:graphicData uri="http://schemas.openxmlformats.org/presentationml/2006/ole">
            <mc:AlternateContent xmlns:mc="http://schemas.openxmlformats.org/markup-compatibility/2006">
              <mc:Choice xmlns:v="urn:schemas-microsoft-com:vml" Requires="v">
                <p:oleObj name="Equation" r:id="rId7" imgW="2489040" imgH="939600" progId="Equation.DSMT4">
                  <p:embed/>
                </p:oleObj>
              </mc:Choice>
              <mc:Fallback>
                <p:oleObj name="Equation" r:id="rId7" imgW="2489040" imgH="93960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4980992"/>
                        <a:ext cx="3962400" cy="1496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Rectangle 3"/>
          <p:cNvSpPr txBox="1">
            <a:spLocks noChangeArrowheads="1"/>
          </p:cNvSpPr>
          <p:nvPr/>
        </p:nvSpPr>
        <p:spPr bwMode="auto">
          <a:xfrm>
            <a:off x="533400" y="4191000"/>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marL="0" marR="0" lvl="0" indent="0" algn="just" defTabSz="914400" rtl="0" eaLnBrk="1" fontAlgn="base" latinLnBrk="0" hangingPunct="1">
              <a:lnSpc>
                <a:spcPct val="120000"/>
              </a:lnSpc>
              <a:spcBef>
                <a:spcPct val="0"/>
              </a:spcBef>
              <a:spcAft>
                <a:spcPct val="0"/>
              </a:spcAft>
              <a:buClr>
                <a:schemeClr val="accent2"/>
              </a:buClr>
              <a:buSzPct val="80000"/>
              <a:buFont typeface="Wingdings" pitchFamily="2" charset="2"/>
              <a:buNone/>
              <a:tabLst/>
              <a:defRPr/>
            </a:pPr>
            <a:r>
              <a:rPr kumimoji="0" lang="en-US" altLang="en-US" sz="2000" b="0" i="0" u="none" strike="noStrike" kern="0" cap="none" spc="0" normalizeH="0" baseline="0" noProof="0" dirty="0">
                <a:ln>
                  <a:noFill/>
                </a:ln>
                <a:solidFill>
                  <a:schemeClr val="bg2"/>
                </a:solidFill>
                <a:effectLst/>
                <a:uLnTx/>
                <a:uFillTx/>
                <a:latin typeface="+mn-lt"/>
                <a:ea typeface="+mn-ea"/>
                <a:cs typeface="+mn-cs"/>
              </a:rPr>
              <a:t>The logarithmic scale is used to ease with which total change in power level is found when several elements are cascaded: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3048000" y="381000"/>
            <a:ext cx="2537874"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sz="4400" dirty="0">
                <a:solidFill>
                  <a:schemeClr val="tx2"/>
                </a:solidFill>
                <a:effectLst>
                  <a:outerShdw blurRad="38100" dist="38100" dir="2700000" algn="tl">
                    <a:srgbClr val="000000"/>
                  </a:outerShdw>
                </a:effectLst>
                <a:latin typeface="Arial" charset="0"/>
              </a:rPr>
              <a:t>Example </a:t>
            </a:r>
          </a:p>
        </p:txBody>
      </p:sp>
      <p:grpSp>
        <p:nvGrpSpPr>
          <p:cNvPr id="2" name="Group 5"/>
          <p:cNvGrpSpPr>
            <a:grpSpLocks/>
          </p:cNvGrpSpPr>
          <p:nvPr/>
        </p:nvGrpSpPr>
        <p:grpSpPr bwMode="auto">
          <a:xfrm>
            <a:off x="1752600" y="2079625"/>
            <a:ext cx="5181600" cy="663575"/>
            <a:chOff x="816" y="1200"/>
            <a:chExt cx="3264" cy="418"/>
          </a:xfrm>
        </p:grpSpPr>
        <p:sp>
          <p:nvSpPr>
            <p:cNvPr id="35846" name="Line 6"/>
            <p:cNvSpPr>
              <a:spLocks noChangeShapeType="1"/>
            </p:cNvSpPr>
            <p:nvPr/>
          </p:nvSpPr>
          <p:spPr bwMode="auto">
            <a:xfrm>
              <a:off x="1073" y="1474"/>
              <a:ext cx="2711"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2"/>
                </a:solidFill>
              </a:endParaRPr>
            </a:p>
          </p:txBody>
        </p:sp>
        <p:sp>
          <p:nvSpPr>
            <p:cNvPr id="35847" name="Rectangle 7"/>
            <p:cNvSpPr>
              <a:spLocks noChangeArrowheads="1"/>
            </p:cNvSpPr>
            <p:nvPr/>
          </p:nvSpPr>
          <p:spPr bwMode="auto">
            <a:xfrm>
              <a:off x="1418" y="1330"/>
              <a:ext cx="394" cy="288"/>
            </a:xfrm>
            <a:prstGeom prst="rect">
              <a:avLst/>
            </a:prstGeom>
            <a:solidFill>
              <a:srgbClr val="CCFFCC"/>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chemeClr val="bg2"/>
                </a:solidFill>
              </a:endParaRPr>
            </a:p>
          </p:txBody>
        </p:sp>
        <p:sp>
          <p:nvSpPr>
            <p:cNvPr id="35848" name="Rectangle 8"/>
            <p:cNvSpPr>
              <a:spLocks noChangeArrowheads="1"/>
            </p:cNvSpPr>
            <p:nvPr/>
          </p:nvSpPr>
          <p:spPr bwMode="auto">
            <a:xfrm>
              <a:off x="2256" y="1330"/>
              <a:ext cx="394" cy="288"/>
            </a:xfrm>
            <a:prstGeom prst="rect">
              <a:avLst/>
            </a:prstGeom>
            <a:solidFill>
              <a:srgbClr val="CCFFCC"/>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chemeClr val="bg2"/>
                </a:solidFill>
              </a:endParaRPr>
            </a:p>
          </p:txBody>
        </p:sp>
        <p:sp>
          <p:nvSpPr>
            <p:cNvPr id="35849" name="Rectangle 9"/>
            <p:cNvSpPr>
              <a:spLocks noChangeArrowheads="1"/>
            </p:cNvSpPr>
            <p:nvPr/>
          </p:nvSpPr>
          <p:spPr bwMode="auto">
            <a:xfrm>
              <a:off x="3094" y="1330"/>
              <a:ext cx="394" cy="288"/>
            </a:xfrm>
            <a:prstGeom prst="rect">
              <a:avLst/>
            </a:prstGeom>
            <a:solidFill>
              <a:srgbClr val="CCFFCC"/>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2400">
                <a:solidFill>
                  <a:schemeClr val="bg2"/>
                </a:solidFill>
              </a:endParaRPr>
            </a:p>
          </p:txBody>
        </p:sp>
        <p:sp>
          <p:nvSpPr>
            <p:cNvPr id="35850" name="Text Box 10"/>
            <p:cNvSpPr txBox="1">
              <a:spLocks noChangeArrowheads="1"/>
            </p:cNvSpPr>
            <p:nvPr/>
          </p:nvSpPr>
          <p:spPr bwMode="auto">
            <a:xfrm>
              <a:off x="816" y="1353"/>
              <a:ext cx="26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chemeClr val="bg2"/>
                  </a:solidFill>
                  <a:latin typeface="Arial" panose="020B0604020202020204" pitchFamily="34" charset="0"/>
                </a:rPr>
                <a:t>P</a:t>
              </a:r>
              <a:r>
                <a:rPr lang="en-US" altLang="en-US" sz="1800" baseline="-25000">
                  <a:solidFill>
                    <a:schemeClr val="bg2"/>
                  </a:solidFill>
                  <a:latin typeface="Arial" panose="020B0604020202020204" pitchFamily="34" charset="0"/>
                </a:rPr>
                <a:t>1</a:t>
              </a:r>
            </a:p>
          </p:txBody>
        </p:sp>
        <p:sp>
          <p:nvSpPr>
            <p:cNvPr id="35851" name="Text Box 11"/>
            <p:cNvSpPr txBox="1">
              <a:spLocks noChangeArrowheads="1"/>
            </p:cNvSpPr>
            <p:nvPr/>
          </p:nvSpPr>
          <p:spPr bwMode="auto">
            <a:xfrm>
              <a:off x="1812" y="1206"/>
              <a:ext cx="26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chemeClr val="bg2"/>
                  </a:solidFill>
                  <a:latin typeface="Arial" panose="020B0604020202020204" pitchFamily="34" charset="0"/>
                </a:rPr>
                <a:t>P</a:t>
              </a:r>
              <a:r>
                <a:rPr lang="en-US" altLang="en-US" sz="1800" baseline="-25000">
                  <a:solidFill>
                    <a:schemeClr val="bg2"/>
                  </a:solidFill>
                  <a:latin typeface="Arial" panose="020B0604020202020204" pitchFamily="34" charset="0"/>
                </a:rPr>
                <a:t>2</a:t>
              </a:r>
            </a:p>
          </p:txBody>
        </p:sp>
        <p:sp>
          <p:nvSpPr>
            <p:cNvPr id="35852" name="Text Box 12"/>
            <p:cNvSpPr txBox="1">
              <a:spLocks noChangeArrowheads="1"/>
            </p:cNvSpPr>
            <p:nvPr/>
          </p:nvSpPr>
          <p:spPr bwMode="auto">
            <a:xfrm>
              <a:off x="2650" y="1200"/>
              <a:ext cx="2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chemeClr val="bg2"/>
                  </a:solidFill>
                  <a:latin typeface="Arial" panose="020B0604020202020204" pitchFamily="34" charset="0"/>
                </a:rPr>
                <a:t>P</a:t>
              </a:r>
              <a:r>
                <a:rPr lang="en-US" altLang="en-US" sz="1800" baseline="-25000">
                  <a:solidFill>
                    <a:schemeClr val="bg2"/>
                  </a:solidFill>
                  <a:latin typeface="Arial" panose="020B0604020202020204" pitchFamily="34" charset="0"/>
                </a:rPr>
                <a:t>3</a:t>
              </a:r>
            </a:p>
          </p:txBody>
        </p:sp>
        <p:sp>
          <p:nvSpPr>
            <p:cNvPr id="35853" name="Text Box 13"/>
            <p:cNvSpPr txBox="1">
              <a:spLocks noChangeArrowheads="1"/>
            </p:cNvSpPr>
            <p:nvPr/>
          </p:nvSpPr>
          <p:spPr bwMode="auto">
            <a:xfrm>
              <a:off x="3784" y="1339"/>
              <a:ext cx="2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SzPct val="80000"/>
                <a:buFont typeface="Wingdings" panose="05000000000000000000" pitchFamily="2" charset="2"/>
                <a:buChar char="l"/>
                <a:defRPr sz="3200">
                  <a:solidFill>
                    <a:schemeClr val="tx1"/>
                  </a:solidFill>
                  <a:latin typeface="Times New Roman" panose="02020603050405020304" pitchFamily="18" charset="0"/>
                </a:defRPr>
              </a:lvl1pPr>
              <a:lvl2pPr marL="742950" indent="-285750" eaLnBrk="0" hangingPunct="0">
                <a:spcBef>
                  <a:spcPct val="20000"/>
                </a:spcBef>
                <a:buClr>
                  <a:schemeClr val="tx1"/>
                </a:buClr>
                <a:buSzPct val="90000"/>
                <a:buChar char="–"/>
                <a:defRPr sz="2800">
                  <a:solidFill>
                    <a:schemeClr val="tx1"/>
                  </a:solidFill>
                  <a:latin typeface="Times New Roman" panose="02020603050405020304" pitchFamily="18" charset="0"/>
                </a:defRPr>
              </a:lvl2pPr>
              <a:lvl3pPr marL="1143000" indent="-228600" eaLnBrk="0" hangingPunct="0">
                <a:spcBef>
                  <a:spcPct val="20000"/>
                </a:spcBef>
                <a:buClr>
                  <a:schemeClr val="accent1"/>
                </a:buClr>
                <a:buSzPct val="60000"/>
                <a:buFont typeface="Wingdings" panose="05000000000000000000" pitchFamily="2" charset="2"/>
                <a:buChar char="l"/>
                <a:defRPr sz="24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000">
                  <a:solidFill>
                    <a:schemeClr val="tx1"/>
                  </a:solidFill>
                  <a:latin typeface="Times New Roman" panose="02020603050405020304" pitchFamily="18" charset="0"/>
                </a:defRPr>
              </a:lvl4pPr>
              <a:lvl5pPr marL="2057400" indent="-228600" eaLnBrk="0" hangingPunct="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chemeClr val="bg2"/>
                  </a:solidFill>
                  <a:latin typeface="Arial" panose="020B0604020202020204" pitchFamily="34" charset="0"/>
                </a:rPr>
                <a:t>P</a:t>
              </a:r>
              <a:r>
                <a:rPr lang="en-US" altLang="en-US" sz="1800" baseline="-25000">
                  <a:solidFill>
                    <a:schemeClr val="bg2"/>
                  </a:solidFill>
                  <a:latin typeface="Arial" panose="020B0604020202020204" pitchFamily="34" charset="0"/>
                </a:rPr>
                <a:t>4</a:t>
              </a:r>
            </a:p>
          </p:txBody>
        </p:sp>
      </p:grpSp>
      <p:sp>
        <p:nvSpPr>
          <p:cNvPr id="14" name="Rectangle 3"/>
          <p:cNvSpPr txBox="1">
            <a:spLocks noChangeArrowheads="1"/>
          </p:cNvSpPr>
          <p:nvPr/>
        </p:nvSpPr>
        <p:spPr bwMode="auto">
          <a:xfrm>
            <a:off x="685800" y="1143000"/>
            <a:ext cx="7772400" cy="914400"/>
          </a:xfrm>
          <a:prstGeom prst="rect">
            <a:avLst/>
          </a:prstGeom>
          <a:noFill/>
          <a:ln>
            <a:solidFill>
              <a:srgbClr val="00B05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algn="just"/>
            <a:r>
              <a:rPr lang="en-US" sz="2000" dirty="0">
                <a:solidFill>
                  <a:schemeClr val="bg2"/>
                </a:solidFill>
              </a:rPr>
              <a:t>Suppose that the three elements in the following figure have losses -11,-6 and -3 dB respectively. Find the total loss of the combination. Find the output power if the input power is 5mW.</a:t>
            </a:r>
          </a:p>
        </p:txBody>
      </p:sp>
      <p:graphicFrame>
        <p:nvGraphicFramePr>
          <p:cNvPr id="16" name="Object 15"/>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3" imgW="114120" imgH="177480" progId="Equation.DSMT4">
                  <p:embed/>
                </p:oleObj>
              </mc:Choice>
              <mc:Fallback>
                <p:oleObj name="Equation" r:id="rId3" imgW="114120" imgH="17748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3"/>
          <p:cNvSpPr txBox="1">
            <a:spLocks noChangeArrowheads="1"/>
          </p:cNvSpPr>
          <p:nvPr/>
        </p:nvSpPr>
        <p:spPr bwMode="auto">
          <a:xfrm>
            <a:off x="685800" y="3048000"/>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marL="0" marR="0" lvl="0" indent="0" algn="just" defTabSz="914400" rtl="0" eaLnBrk="1" fontAlgn="base" latinLnBrk="0" hangingPunct="1">
              <a:lnSpc>
                <a:spcPct val="120000"/>
              </a:lnSpc>
              <a:spcBef>
                <a:spcPct val="0"/>
              </a:spcBef>
              <a:spcAft>
                <a:spcPct val="0"/>
              </a:spcAft>
              <a:buClr>
                <a:schemeClr val="accent2"/>
              </a:buClr>
              <a:buSzPct val="80000"/>
              <a:buFont typeface="Wingdings" pitchFamily="2" charset="2"/>
              <a:buNone/>
              <a:tabLst/>
              <a:defRPr/>
            </a:pPr>
            <a:r>
              <a:rPr kumimoji="0" lang="en-US" altLang="en-US" sz="2000" b="0" i="0" u="none" strike="noStrike" kern="0" cap="none" spc="0" normalizeH="0" baseline="0" noProof="0" dirty="0">
                <a:ln>
                  <a:noFill/>
                </a:ln>
                <a:solidFill>
                  <a:schemeClr val="bg2"/>
                </a:solidFill>
                <a:effectLst/>
                <a:uLnTx/>
                <a:uFillTx/>
                <a:latin typeface="+mn-lt"/>
                <a:ea typeface="+mn-ea"/>
                <a:cs typeface="+mn-cs"/>
              </a:rPr>
              <a:t>Solution: </a:t>
            </a:r>
            <a:r>
              <a:rPr kumimoji="0" lang="en-US" altLang="en-US" sz="2000" b="0" i="0" u="none" strike="noStrike" kern="0" cap="none" spc="0" normalizeH="0" noProof="0" dirty="0">
                <a:ln>
                  <a:noFill/>
                </a:ln>
                <a:solidFill>
                  <a:schemeClr val="bg2"/>
                </a:solidFill>
                <a:effectLst/>
                <a:uLnTx/>
                <a:uFillTx/>
                <a:latin typeface="+mn-lt"/>
                <a:ea typeface="+mn-ea"/>
                <a:cs typeface="+mn-cs"/>
              </a:rPr>
              <a:t> The total loss is =-11-6-3=-20dB</a:t>
            </a:r>
          </a:p>
          <a:p>
            <a:pPr marL="0" marR="0" lvl="0" indent="0" algn="just" defTabSz="914400" rtl="0" eaLnBrk="1" fontAlgn="base" latinLnBrk="0" hangingPunct="1">
              <a:lnSpc>
                <a:spcPct val="120000"/>
              </a:lnSpc>
              <a:spcBef>
                <a:spcPct val="0"/>
              </a:spcBef>
              <a:spcAft>
                <a:spcPct val="0"/>
              </a:spcAft>
              <a:buClr>
                <a:schemeClr val="accent2"/>
              </a:buClr>
              <a:buSzPct val="80000"/>
              <a:buFont typeface="Wingdings" pitchFamily="2" charset="2"/>
              <a:buNone/>
              <a:tabLst/>
              <a:defRPr/>
            </a:pPr>
            <a:endParaRPr kumimoji="0" lang="en-US" altLang="en-US" sz="2000" b="0" i="0" u="none" strike="noStrike" kern="0" cap="none" spc="0" normalizeH="0" baseline="0" noProof="0" dirty="0">
              <a:ln>
                <a:noFill/>
              </a:ln>
              <a:solidFill>
                <a:schemeClr val="bg2"/>
              </a:solidFill>
              <a:effectLst/>
              <a:uLnTx/>
              <a:uFillTx/>
              <a:latin typeface="+mn-lt"/>
              <a:ea typeface="+mn-ea"/>
              <a:cs typeface="+mn-cs"/>
            </a:endParaRPr>
          </a:p>
        </p:txBody>
      </p:sp>
      <p:graphicFrame>
        <p:nvGraphicFramePr>
          <p:cNvPr id="2055" name="Object 7"/>
          <p:cNvGraphicFramePr>
            <a:graphicFrameLocks noChangeAspect="1"/>
          </p:cNvGraphicFramePr>
          <p:nvPr/>
        </p:nvGraphicFramePr>
        <p:xfrm>
          <a:off x="3352800" y="3352800"/>
          <a:ext cx="2514600" cy="2961118"/>
        </p:xfrm>
        <a:graphic>
          <a:graphicData uri="http://schemas.openxmlformats.org/presentationml/2006/ole">
            <mc:AlternateContent xmlns:mc="http://schemas.openxmlformats.org/markup-compatibility/2006">
              <mc:Choice xmlns:v="urn:schemas-microsoft-com:vml" Requires="v">
                <p:oleObj name="Equation" r:id="rId5" imgW="1358640" imgH="1600200" progId="Equation.DSMT4">
                  <p:embed/>
                </p:oleObj>
              </mc:Choice>
              <mc:Fallback>
                <p:oleObj name="Equation" r:id="rId5" imgW="1358640" imgH="1600200" progId="Equation.DSMT4">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3352800"/>
                        <a:ext cx="2514600" cy="2961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3048000" y="381000"/>
            <a:ext cx="2537874"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sz="4400" dirty="0">
                <a:solidFill>
                  <a:schemeClr val="tx2"/>
                </a:solidFill>
                <a:effectLst>
                  <a:outerShdw blurRad="38100" dist="38100" dir="2700000" algn="tl">
                    <a:srgbClr val="000000"/>
                  </a:outerShdw>
                </a:effectLst>
                <a:latin typeface="Arial" charset="0"/>
              </a:rPr>
              <a:t>Example </a:t>
            </a:r>
          </a:p>
        </p:txBody>
      </p:sp>
      <p:graphicFrame>
        <p:nvGraphicFramePr>
          <p:cNvPr id="16" name="Object 15"/>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3" imgW="114120" imgH="177480" progId="Equation.DSMT4">
                  <p:embed/>
                </p:oleObj>
              </mc:Choice>
              <mc:Fallback>
                <p:oleObj name="Equation" r:id="rId3" imgW="114120" imgH="17748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6"/>
          <p:cNvSpPr/>
          <p:nvPr/>
        </p:nvSpPr>
        <p:spPr>
          <a:xfrm>
            <a:off x="990600" y="1447800"/>
            <a:ext cx="7239000" cy="461665"/>
          </a:xfrm>
          <a:prstGeom prst="rect">
            <a:avLst/>
          </a:prstGeom>
          <a:ln>
            <a:solidFill>
              <a:srgbClr val="00B050"/>
            </a:solidFill>
          </a:ln>
        </p:spPr>
        <p:txBody>
          <a:bodyPr wrap="square">
            <a:spAutoFit/>
          </a:bodyPr>
          <a:lstStyle/>
          <a:p>
            <a:pPr algn="just"/>
            <a:r>
              <a:rPr lang="en-US" dirty="0">
                <a:solidFill>
                  <a:schemeClr val="bg2"/>
                </a:solidFill>
              </a:rPr>
              <a:t>A system has -23 dB of loss. Compute its efficiency.</a:t>
            </a:r>
          </a:p>
        </p:txBody>
      </p:sp>
      <p:sp>
        <p:nvSpPr>
          <p:cNvPr id="18" name="Rectangle 17"/>
          <p:cNvSpPr/>
          <p:nvPr/>
        </p:nvSpPr>
        <p:spPr>
          <a:xfrm>
            <a:off x="914400" y="2438400"/>
            <a:ext cx="7391400" cy="1569660"/>
          </a:xfrm>
          <a:prstGeom prst="rect">
            <a:avLst/>
          </a:prstGeom>
          <a:ln>
            <a:solidFill>
              <a:srgbClr val="00B050"/>
            </a:solidFill>
          </a:ln>
        </p:spPr>
        <p:txBody>
          <a:bodyPr wrap="square">
            <a:spAutoFit/>
          </a:bodyPr>
          <a:lstStyle/>
          <a:p>
            <a:pPr algn="just"/>
            <a:r>
              <a:rPr lang="en-US" dirty="0">
                <a:solidFill>
                  <a:schemeClr val="bg2"/>
                </a:solidFill>
              </a:rPr>
              <a:t>A light emitting diode radiates 2mW. Compute the </a:t>
            </a:r>
            <a:r>
              <a:rPr lang="en-US" dirty="0" err="1">
                <a:solidFill>
                  <a:schemeClr val="bg2"/>
                </a:solidFill>
              </a:rPr>
              <a:t>dBm</a:t>
            </a:r>
            <a:r>
              <a:rPr lang="en-US" dirty="0">
                <a:solidFill>
                  <a:schemeClr val="bg2"/>
                </a:solidFill>
              </a:rPr>
              <a:t> value of this radiated power. The power travels through a group of components having a combined loss of 23 dB. Compute the output power.</a:t>
            </a:r>
          </a:p>
        </p:txBody>
      </p:sp>
    </p:spTree>
  </p:cSld>
  <p:clrMapOvr>
    <a:masterClrMapping/>
  </p:clrMapOvr>
</p:sld>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Designs\Soaring.pot</Template>
  <TotalTime>27699</TotalTime>
  <Words>4164</Words>
  <Application>Microsoft Office PowerPoint</Application>
  <PresentationFormat>On-screen Show (4:3)</PresentationFormat>
  <Paragraphs>525</Paragraphs>
  <Slides>51</Slides>
  <Notes>40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58" baseType="lpstr">
      <vt:lpstr>Batang</vt:lpstr>
      <vt:lpstr>굴림</vt:lpstr>
      <vt:lpstr>Arial</vt:lpstr>
      <vt:lpstr>Times New Roman</vt:lpstr>
      <vt:lpstr>Wingdings</vt:lpstr>
      <vt:lpstr>Soaring</vt:lpstr>
      <vt:lpstr>Equation</vt:lpstr>
      <vt:lpstr>Fiber Optic Communication Systems</vt:lpstr>
      <vt:lpstr>Introduction</vt:lpstr>
      <vt:lpstr>PowerPoint Presentation</vt:lpstr>
      <vt:lpstr>Objective</vt:lpstr>
      <vt:lpstr>Course Contents</vt:lpstr>
      <vt:lpstr>Course Contents   cont…</vt:lpstr>
      <vt:lpstr>Course Contents   cont…</vt:lpstr>
      <vt:lpstr>Course Contents   cont…</vt:lpstr>
      <vt:lpstr>PowerPoint Presentation</vt:lpstr>
      <vt:lpstr>Tentative Grading Policy </vt:lpstr>
      <vt:lpstr>PowerPoint Presentation</vt:lpstr>
      <vt:lpstr>PowerPoint Presentation</vt:lpstr>
      <vt:lpstr>PowerPoint Presentation</vt:lpstr>
      <vt:lpstr>PowerPoint Presentation</vt:lpstr>
      <vt:lpstr>Constants &amp; Prefixes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NIIT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Kiran Khurshid</dc:creator>
  <cp:lastModifiedBy>Kuldip Saha Mugdha</cp:lastModifiedBy>
  <cp:revision>129</cp:revision>
  <dcterms:created xsi:type="dcterms:W3CDTF">2006-09-13T14:16:58Z</dcterms:created>
  <dcterms:modified xsi:type="dcterms:W3CDTF">2026-07-18T06:42:38Z</dcterms:modified>
</cp:coreProperties>
</file>