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1" r:id="rId1"/>
  </p:sldMasterIdLst>
  <p:notesMasterIdLst>
    <p:notesMasterId r:id="rId31"/>
  </p:notesMasterIdLst>
  <p:handoutMasterIdLst>
    <p:handoutMasterId r:id="rId32"/>
  </p:handoutMasterIdLst>
  <p:sldIdLst>
    <p:sldId id="256" r:id="rId2"/>
    <p:sldId id="400" r:id="rId3"/>
    <p:sldId id="401" r:id="rId4"/>
    <p:sldId id="413" r:id="rId5"/>
    <p:sldId id="416" r:id="rId6"/>
    <p:sldId id="415" r:id="rId7"/>
    <p:sldId id="402" r:id="rId8"/>
    <p:sldId id="417" r:id="rId9"/>
    <p:sldId id="418" r:id="rId10"/>
    <p:sldId id="419" r:id="rId11"/>
    <p:sldId id="423" r:id="rId12"/>
    <p:sldId id="420" r:id="rId13"/>
    <p:sldId id="421" r:id="rId14"/>
    <p:sldId id="422" r:id="rId15"/>
    <p:sldId id="424" r:id="rId16"/>
    <p:sldId id="426" r:id="rId17"/>
    <p:sldId id="431" r:id="rId18"/>
    <p:sldId id="427" r:id="rId19"/>
    <p:sldId id="429" r:id="rId20"/>
    <p:sldId id="430" r:id="rId21"/>
    <p:sldId id="432" r:id="rId22"/>
    <p:sldId id="438" r:id="rId23"/>
    <p:sldId id="437" r:id="rId24"/>
    <p:sldId id="435" r:id="rId25"/>
    <p:sldId id="439" r:id="rId26"/>
    <p:sldId id="440" r:id="rId27"/>
    <p:sldId id="441" r:id="rId28"/>
    <p:sldId id="433" r:id="rId29"/>
    <p:sldId id="294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3" autoAdjust="0"/>
    <p:restoredTop sz="94595" autoAdjust="0"/>
  </p:normalViewPr>
  <p:slideViewPr>
    <p:cSldViewPr>
      <p:cViewPr varScale="1">
        <p:scale>
          <a:sx n="74" d="100"/>
          <a:sy n="74" d="100"/>
        </p:scale>
        <p:origin x="164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-2118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1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11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692FFEB7-1252-4964-B580-6783C63DDD7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4235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70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70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AD229EA3-E11F-4D95-8DC0-6E121465C81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85840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E96886-C1D6-43F5-A139-3D5B2EE0D0F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sv-S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sv-SE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3DA263-3B6E-43AE-A96F-C2477765F86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914400"/>
            <a:ext cx="8686800" cy="2514600"/>
            <a:chOff x="0" y="576"/>
            <a:chExt cx="5472" cy="1584"/>
          </a:xfrm>
        </p:grpSpPr>
        <p:sp>
          <p:nvSpPr>
            <p:cNvPr id="5" name="Oval 7"/>
            <p:cNvSpPr>
              <a:spLocks noChangeArrowheads="1"/>
            </p:cNvSpPr>
            <p:nvPr/>
          </p:nvSpPr>
          <p:spPr bwMode="auto">
            <a:xfrm>
              <a:off x="144" y="576"/>
              <a:ext cx="1584" cy="1584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sv-SE" dirty="0"/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hidden">
            <a:xfrm>
              <a:off x="0" y="1056"/>
              <a:ext cx="2976" cy="72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sv-SE" sz="2400" dirty="0">
                <a:latin typeface="Times New Roman" pitchFamily="18" charset="0"/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hidden">
            <a:xfrm>
              <a:off x="2496" y="1056"/>
              <a:ext cx="2976" cy="720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sv-SE" sz="2400" dirty="0">
                <a:latin typeface="Times New Roman" pitchFamily="18" charset="0"/>
              </a:endParaRPr>
            </a:p>
          </p:txBody>
        </p:sp>
        <p:sp>
          <p:nvSpPr>
            <p:cNvPr id="8" name="Freeform 10"/>
            <p:cNvSpPr>
              <a:spLocks noChangeArrowheads="1"/>
            </p:cNvSpPr>
            <p:nvPr/>
          </p:nvSpPr>
          <p:spPr bwMode="auto">
            <a:xfrm>
              <a:off x="384" y="960"/>
              <a:ext cx="144" cy="913"/>
            </a:xfrm>
            <a:custGeom>
              <a:avLst/>
              <a:gdLst/>
              <a:ahLst/>
              <a:cxnLst>
                <a:cxn ang="0">
                  <a:pos x="1000" y="1000"/>
                </a:cxn>
                <a:cxn ang="0">
                  <a:pos x="0" y="1000"/>
                </a:cxn>
                <a:cxn ang="0">
                  <a:pos x="0" y="0"/>
                </a:cxn>
                <a:cxn ang="0">
                  <a:pos x="1000" y="0"/>
                </a:cxn>
              </a:cxnLst>
              <a:rect l="0" t="0" r="r" b="b"/>
              <a:pathLst>
                <a:path w="1000" h="1000">
                  <a:moveTo>
                    <a:pt x="1000" y="1000"/>
                  </a:moveTo>
                  <a:lnTo>
                    <a:pt x="0" y="1000"/>
                  </a:lnTo>
                  <a:lnTo>
                    <a:pt x="0" y="0"/>
                  </a:lnTo>
                  <a:lnTo>
                    <a:pt x="1000" y="0"/>
                  </a:lnTo>
                </a:path>
              </a:pathLst>
            </a:custGeom>
            <a:noFill/>
            <a:ln w="76200" cmpd="sng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US" dirty="0"/>
            </a:p>
          </p:txBody>
        </p:sp>
        <p:sp>
          <p:nvSpPr>
            <p:cNvPr id="9" name="Freeform 11"/>
            <p:cNvSpPr>
              <a:spLocks noChangeArrowheads="1"/>
            </p:cNvSpPr>
            <p:nvPr/>
          </p:nvSpPr>
          <p:spPr bwMode="auto">
            <a:xfrm>
              <a:off x="4944" y="762"/>
              <a:ext cx="165" cy="8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0" y="0"/>
                </a:cxn>
                <a:cxn ang="0">
                  <a:pos x="1000" y="1000"/>
                </a:cxn>
                <a:cxn ang="0">
                  <a:pos x="0" y="1000"/>
                </a:cxn>
              </a:cxnLst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</a:path>
              </a:pathLst>
            </a:cu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 eaLnBrk="0" hangingPunct="0">
                <a:defRPr/>
              </a:pPr>
              <a:endParaRPr lang="en-US" dirty="0"/>
            </a:p>
          </p:txBody>
        </p:sp>
      </p:grpSp>
      <p:sp>
        <p:nvSpPr>
          <p:cNvPr id="8499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3581400"/>
            <a:ext cx="5638800" cy="19050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50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38200" y="1443038"/>
            <a:ext cx="7086600" cy="16002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45E4AD-9B90-4992-BA5C-A6040410BF5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		                            </a:t>
            </a:r>
            <a:fld id="{C0F860B9-2BB7-41CA-A437-FC0017F568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		                            </a:t>
            </a:r>
            <a:fld id="{34356876-6729-4123-B792-BC6B1CBD09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37544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56163" y="1981200"/>
            <a:ext cx="3754437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		                            </a:t>
            </a:r>
            <a:fld id="{7F1F2CDD-A4D0-4D2D-BC8D-07576BE9E2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		                            </a:t>
            </a:r>
            <a:fld id="{34FE8A42-92C8-4917-A0ED-4050DB77DF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		                            </a:t>
            </a:r>
            <a:fld id="{55C9F8A6-6030-4B06-B7FE-1F710DD80A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		                            </a:t>
            </a:r>
            <a:fld id="{3E8FD708-556C-4F0C-9F0E-C4CE7BEC46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		                            </a:t>
            </a:r>
            <a:fld id="{915D9096-6CE9-451C-B569-8D33236849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		                            </a:t>
            </a:r>
            <a:fld id="{AA7833A5-729A-4E3E-BDFB-BD172FB387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		                            </a:t>
            </a:r>
            <a:fld id="{F8E38337-0BB7-42F7-8FB4-28BBD82F24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1313" y="96838"/>
            <a:ext cx="1919287" cy="5999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31863" y="96838"/>
            <a:ext cx="5607050" cy="5999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		                            </a:t>
            </a:r>
            <a:fld id="{CDCDF93C-CFB4-4973-B7A9-72DDD5E03C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863" y="96838"/>
            <a:ext cx="7158037" cy="14128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49325" y="1981200"/>
            <a:ext cx="7661275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		                            </a:t>
            </a:r>
            <a:fld id="{1A571799-721C-4E03-8DEE-63917AEB80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v-S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ChangeArrowheads="1"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sv-SE" sz="2400" dirty="0">
              <a:latin typeface="Times New Roman" pitchFamily="18" charset="0"/>
            </a:endParaRPr>
          </a:p>
        </p:txBody>
      </p:sp>
      <p:sp>
        <p:nvSpPr>
          <p:cNvPr id="83971" name="Rectangle 3"/>
          <p:cNvSpPr>
            <a:spLocks noChangeArrowheads="1"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sv-SE" sz="2400" dirty="0">
              <a:latin typeface="Times New Roman" pitchFamily="18" charset="0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31863" y="96838"/>
            <a:ext cx="7158037" cy="141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325" y="1981200"/>
            <a:ext cx="76612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397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46150" y="6143625"/>
            <a:ext cx="1905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39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215063"/>
            <a:ext cx="2895600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		                            </a:t>
            </a:r>
            <a:fld id="{161DCC04-63A4-4AAD-908F-0F68B82E96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8397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143625"/>
            <a:ext cx="19050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sv-SE"/>
          </a:p>
        </p:txBody>
      </p:sp>
      <p:sp>
        <p:nvSpPr>
          <p:cNvPr id="83977" name="Freeform 9"/>
          <p:cNvSpPr>
            <a:spLocks noChangeArrowheads="1"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/>
            <a:ahLst/>
            <a:cxnLst>
              <a:cxn ang="0">
                <a:pos x="1000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76200" cmpd="sng">
            <a:solidFill>
              <a:schemeClr val="tx2"/>
            </a:solidFill>
            <a:miter lim="800000"/>
            <a:headEnd/>
            <a:tailEnd/>
          </a:ln>
        </p:spPr>
        <p:txBody>
          <a:bodyPr/>
          <a:lstStyle/>
          <a:p>
            <a:pPr eaLnBrk="0" hangingPunct="0">
              <a:defRPr/>
            </a:pPr>
            <a:endParaRPr lang="en-US" dirty="0"/>
          </a:p>
        </p:txBody>
      </p:sp>
      <p:sp>
        <p:nvSpPr>
          <p:cNvPr id="83978" name="Freeform 10"/>
          <p:cNvSpPr>
            <a:spLocks noChangeArrowheads="1"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0" y="0"/>
              </a:cxn>
              <a:cxn ang="0">
                <a:pos x="1000" y="1000"/>
              </a:cxn>
              <a:cxn ang="0">
                <a:pos x="0" y="1000"/>
              </a:cxn>
            </a:cxnLst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eaLnBrk="0" hangingPunct="0">
              <a:defRPr/>
            </a:pPr>
            <a:endParaRPr lang="en-US" dirty="0"/>
          </a:p>
        </p:txBody>
      </p:sp>
      <p:pic>
        <p:nvPicPr>
          <p:cNvPr id="1035" name="Picture 18" descr="logo-euronf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971550" y="6143625"/>
            <a:ext cx="1223963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2" descr="C:\ApoBackupOldLaptop\apo\courses\newcourse_tcpip\BTH_new_logo.png"/>
          <p:cNvPicPr>
            <a:picLocks noChangeAspect="1" noChangeArrowheads="1"/>
          </p:cNvPicPr>
          <p:nvPr userDrawn="1"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643813" y="6143625"/>
            <a:ext cx="785812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14" r:id="rId1"/>
    <p:sldLayoutId id="2147484203" r:id="rId2"/>
    <p:sldLayoutId id="2147484204" r:id="rId3"/>
    <p:sldLayoutId id="2147484205" r:id="rId4"/>
    <p:sldLayoutId id="2147484206" r:id="rId5"/>
    <p:sldLayoutId id="2147484207" r:id="rId6"/>
    <p:sldLayoutId id="2147484208" r:id="rId7"/>
    <p:sldLayoutId id="2147484209" r:id="rId8"/>
    <p:sldLayoutId id="2147484210" r:id="rId9"/>
    <p:sldLayoutId id="2147484211" r:id="rId10"/>
    <p:sldLayoutId id="2147484212" r:id="rId11"/>
    <p:sldLayoutId id="2147484213" r:id="rId1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447675" indent="-44767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889000" indent="-439738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¡"/>
        <a:defRPr sz="2800">
          <a:solidFill>
            <a:schemeClr val="tx1"/>
          </a:solidFill>
          <a:latin typeface="+mn-lt"/>
        </a:defRPr>
      </a:lvl2pPr>
      <a:lvl3pPr marL="1293813" indent="-4032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81163" indent="-38576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¡"/>
        <a:defRPr sz="2000">
          <a:solidFill>
            <a:schemeClr val="tx1"/>
          </a:solidFill>
          <a:latin typeface="+mn-lt"/>
        </a:defRPr>
      </a:lvl4pPr>
      <a:lvl5pPr marL="2070100" indent="-3873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273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845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417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98900" indent="-3873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ripe.net/" TargetMode="External"/><Relationship Id="rId3" Type="http://schemas.openxmlformats.org/officeDocument/2006/relationships/hyperlink" Target="http://www.isoc.org/internet/stats/" TargetMode="External"/><Relationship Id="rId7" Type="http://schemas.openxmlformats.org/officeDocument/2006/relationships/hyperlink" Target="http://www.nua.ie/surveys/index.html" TargetMode="External"/><Relationship Id="rId2" Type="http://schemas.openxmlformats.org/officeDocument/2006/relationships/hyperlink" Target="http://www.isoc.org/internet/history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news.netcraft.com/" TargetMode="External"/><Relationship Id="rId5" Type="http://schemas.openxmlformats.org/officeDocument/2006/relationships/hyperlink" Target="http://www.domainstats.com/" TargetMode="External"/><Relationship Id="rId4" Type="http://schemas.openxmlformats.org/officeDocument/2006/relationships/hyperlink" Target="https://www.isc.org/" TargetMode="External"/><Relationship Id="rId9" Type="http://schemas.openxmlformats.org/officeDocument/2006/relationships/hyperlink" Target="http://www.ietf.org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internetworldstats.com/stats.htm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42938" y="1643063"/>
            <a:ext cx="7572375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b="1" spc="100" dirty="0"/>
              <a:t>Internetworking with TCP/IP</a:t>
            </a:r>
            <a:endParaRPr lang="en-US" b="1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71563" y="4000500"/>
            <a:ext cx="7748909" cy="207168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GB" sz="2000" dirty="0"/>
              <a:t>Dr. Nazrul Islam </a:t>
            </a:r>
          </a:p>
          <a:p>
            <a:pPr eaLnBrk="1" hangingPunct="1">
              <a:lnSpc>
                <a:spcPct val="80000"/>
              </a:lnSpc>
            </a:pPr>
            <a:r>
              <a:rPr lang="en-GB" sz="2000" dirty="0"/>
              <a:t>Associate Professor </a:t>
            </a:r>
          </a:p>
          <a:p>
            <a:pPr eaLnBrk="1" hangingPunct="1">
              <a:lnSpc>
                <a:spcPct val="80000"/>
              </a:lnSpc>
            </a:pPr>
            <a:r>
              <a:rPr lang="en-GB" sz="2000" dirty="0"/>
              <a:t>Department of Information and Communication Technology (ICT)</a:t>
            </a:r>
          </a:p>
          <a:p>
            <a:pPr eaLnBrk="1" hangingPunct="1">
              <a:lnSpc>
                <a:spcPct val="80000"/>
              </a:lnSpc>
            </a:pPr>
            <a:r>
              <a:rPr lang="en-GB" sz="2000" dirty="0"/>
              <a:t>Mawlana </a:t>
            </a:r>
            <a:r>
              <a:rPr lang="en-GB" sz="2000" dirty="0" err="1"/>
              <a:t>Bhashani</a:t>
            </a:r>
            <a:r>
              <a:rPr lang="en-GB" sz="2000" dirty="0"/>
              <a:t> Science and Technology University</a:t>
            </a:r>
          </a:p>
          <a:p>
            <a:pPr eaLnBrk="1" hangingPunct="1">
              <a:lnSpc>
                <a:spcPct val="80000"/>
              </a:lnSpc>
            </a:pPr>
            <a:r>
              <a:rPr lang="en-GB" sz="2000" dirty="0"/>
              <a:t>Tangail-1902, Bangladesh.</a:t>
            </a:r>
            <a:endParaRPr lang="en-US" sz="200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Outline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949325" y="1981200"/>
            <a:ext cx="7265988" cy="4114800"/>
          </a:xfrm>
        </p:spPr>
        <p:txBody>
          <a:bodyPr/>
          <a:lstStyle/>
          <a:p>
            <a:r>
              <a:rPr lang="en-US" sz="1200"/>
              <a:t>Definitions</a:t>
            </a:r>
          </a:p>
          <a:p>
            <a:r>
              <a:rPr lang="en-US" sz="1200"/>
              <a:t>Autonomous Systems</a:t>
            </a:r>
          </a:p>
          <a:p>
            <a:r>
              <a:rPr lang="en-US" sz="1200"/>
              <a:t>Basic Principles</a:t>
            </a:r>
          </a:p>
          <a:p>
            <a:r>
              <a:rPr lang="en-US" sz="1200"/>
              <a:t>Protocols</a:t>
            </a:r>
          </a:p>
          <a:p>
            <a:r>
              <a:rPr lang="en-US" sz="1200"/>
              <a:t>Protocol Layering and Encapsulation</a:t>
            </a:r>
          </a:p>
          <a:p>
            <a:r>
              <a:rPr lang="en-US" sz="1200"/>
              <a:t>OSI Model</a:t>
            </a:r>
          </a:p>
          <a:p>
            <a:r>
              <a:rPr lang="en-US" sz="1200"/>
              <a:t>TCP/IP Model</a:t>
            </a:r>
          </a:p>
          <a:p>
            <a:r>
              <a:rPr lang="en-US" sz="1200"/>
              <a:t>Network Organization</a:t>
            </a:r>
          </a:p>
          <a:p>
            <a:r>
              <a:rPr lang="en-US" sz="1200"/>
              <a:t>Network Technologies</a:t>
            </a:r>
          </a:p>
          <a:p>
            <a:r>
              <a:rPr lang="en-US" sz="1200"/>
              <a:t>Internet Standards</a:t>
            </a:r>
          </a:p>
          <a:p>
            <a:r>
              <a:rPr lang="en-US" sz="1200"/>
              <a:t>Useful Addresses</a:t>
            </a:r>
          </a:p>
        </p:txBody>
      </p:sp>
      <p:sp>
        <p:nvSpPr>
          <p:cNvPr id="410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D36FFE53-7280-4B8C-B756-D5CDE6767E6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Definitions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949325" y="1981200"/>
            <a:ext cx="7367091" cy="4114800"/>
          </a:xfrm>
        </p:spPr>
        <p:txBody>
          <a:bodyPr/>
          <a:lstStyle/>
          <a:p>
            <a:r>
              <a:rPr lang="en-US" sz="1200" b="1" dirty="0"/>
              <a:t>To connect computers, one needs </a:t>
            </a:r>
          </a:p>
          <a:p>
            <a:pPr lvl="1"/>
            <a:r>
              <a:rPr lang="en-US" sz="1000" dirty="0"/>
              <a:t>Hardware, software and, above all, specifications</a:t>
            </a:r>
          </a:p>
          <a:p>
            <a:pPr lvl="1"/>
            <a:endParaRPr lang="en-US" sz="1200" dirty="0"/>
          </a:p>
          <a:p>
            <a:r>
              <a:rPr lang="en-US" sz="1200" b="1" dirty="0"/>
              <a:t>Internetworking</a:t>
            </a:r>
          </a:p>
          <a:p>
            <a:pPr lvl="1"/>
            <a:r>
              <a:rPr lang="en-US" sz="1000" dirty="0"/>
              <a:t>Hardware and software technology with the help of which multiple and diverse underlying hardware technologies are interconnected by providing a way to interconnect heterogeneous networks and a set of communication conventions (i.e., software) that make them interoperate</a:t>
            </a:r>
          </a:p>
          <a:p>
            <a:endParaRPr lang="en-US" sz="1600" dirty="0"/>
          </a:p>
          <a:p>
            <a:r>
              <a:rPr lang="en-US" sz="1200" b="1" dirty="0"/>
              <a:t>internet</a:t>
            </a:r>
          </a:p>
          <a:p>
            <a:pPr lvl="1"/>
            <a:r>
              <a:rPr lang="en-US" sz="1000" dirty="0"/>
              <a:t>Multiple networks connected together</a:t>
            </a:r>
          </a:p>
          <a:p>
            <a:pPr lvl="1"/>
            <a:r>
              <a:rPr lang="en-US" sz="1000" dirty="0"/>
              <a:t>It hides the details of network hardware and permits computers to communicate irrespective of their physical network connections </a:t>
            </a:r>
          </a:p>
          <a:p>
            <a:endParaRPr lang="en-US" sz="1600" dirty="0"/>
          </a:p>
          <a:p>
            <a:r>
              <a:rPr lang="en-US" sz="1200" b="1" dirty="0"/>
              <a:t>Internet</a:t>
            </a:r>
          </a:p>
          <a:p>
            <a:pPr lvl="1"/>
            <a:r>
              <a:rPr lang="en-US" sz="1000" dirty="0"/>
              <a:t>The worldwide internet</a:t>
            </a:r>
          </a:p>
          <a:p>
            <a:pPr lvl="1"/>
            <a:r>
              <a:rPr lang="en-US" sz="1000" dirty="0"/>
              <a:t>Global virtual network composed by many physical networks</a:t>
            </a:r>
          </a:p>
          <a:p>
            <a:pPr lvl="1"/>
            <a:r>
              <a:rPr lang="en-US" sz="1000" dirty="0"/>
              <a:t>Internet is NOT a physical network like, e.g., Ethernet</a:t>
            </a:r>
          </a:p>
          <a:p>
            <a:endParaRPr lang="en-US" sz="1600" dirty="0"/>
          </a:p>
        </p:txBody>
      </p:sp>
      <p:sp>
        <p:nvSpPr>
          <p:cNvPr id="512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E6189603-07D4-4DE2-B22C-42163C713658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Definitions (cont)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sz="half" idx="1"/>
          </p:nvPr>
        </p:nvSpPr>
        <p:spPr>
          <a:xfrm>
            <a:off x="928688" y="1857375"/>
            <a:ext cx="3754437" cy="4286250"/>
          </a:xfrm>
        </p:spPr>
        <p:txBody>
          <a:bodyPr/>
          <a:lstStyle/>
          <a:p>
            <a:r>
              <a:rPr lang="en-US" sz="1200" b="1"/>
              <a:t>Internet </a:t>
            </a:r>
          </a:p>
          <a:p>
            <a:pPr lvl="1"/>
            <a:r>
              <a:rPr lang="en-US" sz="1000"/>
              <a:t>Global virtual network composed by many physical networks </a:t>
            </a:r>
          </a:p>
          <a:p>
            <a:endParaRPr lang="en-US" sz="1200"/>
          </a:p>
          <a:p>
            <a:r>
              <a:rPr lang="en-US" sz="1200" b="1"/>
              <a:t>Intermediate System (IS), also known as Interworking Unit (IWU)</a:t>
            </a:r>
          </a:p>
          <a:p>
            <a:pPr lvl="1"/>
            <a:r>
              <a:rPr lang="en-US" sz="1000"/>
              <a:t>Machine that performs relaying and (perhaps) route discovery functions</a:t>
            </a:r>
          </a:p>
          <a:p>
            <a:pPr lvl="1"/>
            <a:r>
              <a:rPr lang="en-US" sz="1000"/>
              <a:t>Route discovery: process of finding the best route between two or more networks (or nodes) in the Internet</a:t>
            </a:r>
          </a:p>
          <a:p>
            <a:endParaRPr lang="en-US" sz="1200"/>
          </a:p>
          <a:p>
            <a:r>
              <a:rPr lang="en-US" sz="1200" b="1"/>
              <a:t>IS types</a:t>
            </a:r>
          </a:p>
          <a:p>
            <a:pPr lvl="1"/>
            <a:r>
              <a:rPr lang="en-US" sz="1000"/>
              <a:t>Bridges (Data Link Layer)</a:t>
            </a:r>
          </a:p>
          <a:p>
            <a:pPr lvl="1"/>
            <a:r>
              <a:rPr lang="en-US" sz="1000"/>
              <a:t>Routers (Network Layer)</a:t>
            </a:r>
          </a:p>
          <a:p>
            <a:pPr lvl="1"/>
            <a:r>
              <a:rPr lang="en-US" sz="1000"/>
              <a:t>Gateways (Transport Layer)</a:t>
            </a:r>
          </a:p>
          <a:p>
            <a:endParaRPr lang="en-US" sz="1200"/>
          </a:p>
          <a:p>
            <a:r>
              <a:rPr lang="en-US" sz="1200" b="1"/>
              <a:t>IS functions</a:t>
            </a:r>
          </a:p>
          <a:p>
            <a:pPr lvl="1"/>
            <a:r>
              <a:rPr lang="en-US" sz="1000"/>
              <a:t>Forwarding: using a routing table to make forwarding decisions</a:t>
            </a:r>
          </a:p>
          <a:p>
            <a:pPr lvl="1"/>
            <a:r>
              <a:rPr lang="en-US" sz="1000"/>
              <a:t>Routing: using route advertisements to acquire the knowledge to create the routing table that the forwarding protocol uses</a:t>
            </a:r>
          </a:p>
          <a:p>
            <a:endParaRPr lang="en-US"/>
          </a:p>
        </p:txBody>
      </p:sp>
      <p:sp>
        <p:nvSpPr>
          <p:cNvPr id="6148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839C23BD-F4BF-4FD2-BDD6-029CA278026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149" name="Picture 11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857750" y="2000250"/>
            <a:ext cx="3643313" cy="3878263"/>
          </a:xfrm>
          <a:noFill/>
        </p:spPr>
      </p:pic>
      <p:sp>
        <p:nvSpPr>
          <p:cNvPr id="6150" name="Rectangle 6"/>
          <p:cNvSpPr>
            <a:spLocks noChangeArrowheads="1"/>
          </p:cNvSpPr>
          <p:nvPr/>
        </p:nvSpPr>
        <p:spPr bwMode="auto">
          <a:xfrm>
            <a:off x="6929438" y="5786438"/>
            <a:ext cx="1841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/>
              <a:t>Fig 1.1 – Forouzan 4</a:t>
            </a:r>
            <a:r>
              <a:rPr lang="en-US" sz="1000" baseline="30000"/>
              <a:t>th</a:t>
            </a:r>
            <a:r>
              <a:rPr lang="en-US" sz="1000"/>
              <a:t>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Autonomous System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949325" y="1981200"/>
            <a:ext cx="7623175" cy="4114800"/>
          </a:xfrm>
        </p:spPr>
        <p:txBody>
          <a:bodyPr/>
          <a:lstStyle/>
          <a:p>
            <a:r>
              <a:rPr lang="en-US" sz="1200" b="1"/>
              <a:t>Autonomous System (AS)</a:t>
            </a:r>
          </a:p>
          <a:p>
            <a:pPr lvl="1"/>
            <a:r>
              <a:rPr lang="en-US" sz="1000"/>
              <a:t>Consists of a group of routers connecting several physical networks and exchanging information </a:t>
            </a:r>
            <a:r>
              <a:rPr lang="en-US" sz="1000" b="1"/>
              <a:t>via Interior Routing Protocol (IRP)</a:t>
            </a:r>
          </a:p>
          <a:p>
            <a:pPr lvl="1"/>
            <a:r>
              <a:rPr lang="en-US" sz="1000"/>
              <a:t>The set of routers and networks are managed by a single organization</a:t>
            </a:r>
          </a:p>
          <a:p>
            <a:pPr lvl="1"/>
            <a:r>
              <a:rPr lang="en-US" sz="1000"/>
              <a:t>The protocol used to pass routing information among routers placed in different AS is referred to as </a:t>
            </a:r>
            <a:r>
              <a:rPr lang="en-US" sz="1000" b="1"/>
              <a:t>Exterior Routing Protocol (ERP)</a:t>
            </a:r>
          </a:p>
          <a:p>
            <a:pPr lvl="1"/>
            <a:r>
              <a:rPr lang="en-US" sz="1000" b="1"/>
              <a:t>Three types of AS: Stub AS; Transit AS; Multi-homed AS</a:t>
            </a:r>
          </a:p>
          <a:p>
            <a:endParaRPr lang="en-US" sz="1800"/>
          </a:p>
          <a:p>
            <a:r>
              <a:rPr lang="en-US" sz="1200" b="1"/>
              <a:t>Administrative Domain (AD) </a:t>
            </a:r>
          </a:p>
          <a:p>
            <a:pPr lvl="1"/>
            <a:r>
              <a:rPr lang="en-US" sz="1000"/>
              <a:t>Virtual entity that corresponds to AS</a:t>
            </a:r>
          </a:p>
          <a:p>
            <a:pPr lvl="1"/>
            <a:r>
              <a:rPr lang="en-US" sz="1000"/>
              <a:t>Administrative entity determined by network administrator (e.g., ISP)</a:t>
            </a:r>
          </a:p>
          <a:p>
            <a:pPr lvl="1"/>
            <a:r>
              <a:rPr lang="en-US" sz="1000"/>
              <a:t>Functions: to partition the network; security administration; to provide accounting, billing and revenue services; etc. </a:t>
            </a:r>
          </a:p>
          <a:p>
            <a:pPr lvl="1"/>
            <a:r>
              <a:rPr lang="en-US" sz="1000"/>
              <a:t>Same class of addresses</a:t>
            </a:r>
          </a:p>
          <a:p>
            <a:endParaRPr lang="en-US" sz="1200"/>
          </a:p>
        </p:txBody>
      </p:sp>
      <p:sp>
        <p:nvSpPr>
          <p:cNvPr id="717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14C01B75-CAEE-4438-9DBD-D8F29A8B473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Content Placeholder 2"/>
          <p:cNvSpPr>
            <a:spLocks noGrp="1"/>
          </p:cNvSpPr>
          <p:nvPr>
            <p:ph idx="1"/>
          </p:nvPr>
        </p:nvSpPr>
        <p:spPr>
          <a:xfrm>
            <a:off x="500063" y="2143125"/>
            <a:ext cx="7731125" cy="3929063"/>
          </a:xfrm>
        </p:spPr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81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Autonomous System (cont)</a:t>
            </a:r>
          </a:p>
        </p:txBody>
      </p:sp>
      <p:sp>
        <p:nvSpPr>
          <p:cNvPr id="819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E9793997-0409-4FC6-9796-87CAF87E2073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85" name="Group 84"/>
          <p:cNvGrpSpPr/>
          <p:nvPr/>
        </p:nvGrpSpPr>
        <p:grpSpPr>
          <a:xfrm>
            <a:off x="357188" y="1643063"/>
            <a:ext cx="8286750" cy="4276725"/>
            <a:chOff x="357188" y="1643063"/>
            <a:chExt cx="8286750" cy="4276725"/>
          </a:xfrm>
        </p:grpSpPr>
        <p:sp>
          <p:nvSpPr>
            <p:cNvPr id="8194" name="Oval 114"/>
            <p:cNvSpPr>
              <a:spLocks noChangeArrowheads="1"/>
            </p:cNvSpPr>
            <p:nvPr/>
          </p:nvSpPr>
          <p:spPr bwMode="auto">
            <a:xfrm>
              <a:off x="357188" y="1785938"/>
              <a:ext cx="3924300" cy="3751262"/>
            </a:xfrm>
            <a:prstGeom prst="ellipse">
              <a:avLst/>
            </a:prstGeom>
            <a:solidFill>
              <a:srgbClr val="C00000">
                <a:alpha val="5098"/>
              </a:srgbClr>
            </a:solidFill>
            <a:ln w="63500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eaLnBrk="0" hangingPunct="0"/>
              <a:endParaRPr lang="sv-SE"/>
            </a:p>
          </p:txBody>
        </p:sp>
        <p:sp>
          <p:nvSpPr>
            <p:cNvPr id="116" name="Oval 115"/>
            <p:cNvSpPr/>
            <p:nvPr/>
          </p:nvSpPr>
          <p:spPr bwMode="auto">
            <a:xfrm>
              <a:off x="4786313" y="1643063"/>
              <a:ext cx="3857625" cy="4092575"/>
            </a:xfrm>
            <a:prstGeom prst="ellipse">
              <a:avLst/>
            </a:prstGeom>
            <a:solidFill>
              <a:srgbClr val="FFFF00">
                <a:alpha val="5000"/>
              </a:srgbClr>
            </a:solidFill>
            <a:ln w="635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schemeClr val="bg1">
                  <a:lumMod val="85000"/>
                  <a:alpha val="40000"/>
                </a:schemeClr>
              </a:outerShdw>
            </a:effectLst>
          </p:spPr>
          <p:txBody>
            <a:bodyPr/>
            <a:lstStyle/>
            <a:p>
              <a:pPr eaLnBrk="0" hangingPunct="0">
                <a:defRPr/>
              </a:pPr>
              <a:endParaRPr lang="en-US"/>
            </a:p>
          </p:txBody>
        </p:sp>
        <p:sp>
          <p:nvSpPr>
            <p:cNvPr id="6" name="Cloud"/>
            <p:cNvSpPr>
              <a:spLocks noChangeAspect="1" noEditPoints="1" noChangeArrowheads="1"/>
            </p:cNvSpPr>
            <p:nvPr/>
          </p:nvSpPr>
          <p:spPr bwMode="auto">
            <a:xfrm>
              <a:off x="428625" y="3429000"/>
              <a:ext cx="1063625" cy="614363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F4FD7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Cloud"/>
            <p:cNvSpPr>
              <a:spLocks noChangeAspect="1" noEditPoints="1" noChangeArrowheads="1"/>
            </p:cNvSpPr>
            <p:nvPr/>
          </p:nvSpPr>
          <p:spPr bwMode="auto">
            <a:xfrm>
              <a:off x="1785938" y="1928813"/>
              <a:ext cx="1063625" cy="614362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F4FD7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Cloud"/>
            <p:cNvSpPr>
              <a:spLocks noChangeAspect="1" noEditPoints="1" noChangeArrowheads="1"/>
            </p:cNvSpPr>
            <p:nvPr/>
          </p:nvSpPr>
          <p:spPr bwMode="auto">
            <a:xfrm>
              <a:off x="1928813" y="4929188"/>
              <a:ext cx="1063625" cy="614362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F4FD7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Cloud"/>
            <p:cNvSpPr>
              <a:spLocks noChangeAspect="1" noEditPoints="1" noChangeArrowheads="1"/>
            </p:cNvSpPr>
            <p:nvPr/>
          </p:nvSpPr>
          <p:spPr bwMode="auto">
            <a:xfrm>
              <a:off x="3357563" y="3357563"/>
              <a:ext cx="1000125" cy="614362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F4FD7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" name="Cloud"/>
            <p:cNvSpPr>
              <a:spLocks noChangeAspect="1" noEditPoints="1" noChangeArrowheads="1"/>
            </p:cNvSpPr>
            <p:nvPr/>
          </p:nvSpPr>
          <p:spPr bwMode="auto">
            <a:xfrm>
              <a:off x="6500813" y="1785938"/>
              <a:ext cx="1063625" cy="614362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F4FD7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Cloud"/>
            <p:cNvSpPr>
              <a:spLocks noChangeAspect="1" noEditPoints="1" noChangeArrowheads="1"/>
            </p:cNvSpPr>
            <p:nvPr/>
          </p:nvSpPr>
          <p:spPr bwMode="auto">
            <a:xfrm>
              <a:off x="5786438" y="3286125"/>
              <a:ext cx="1063625" cy="614363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F4FD7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Cloud"/>
            <p:cNvSpPr>
              <a:spLocks noChangeAspect="1" noEditPoints="1" noChangeArrowheads="1"/>
            </p:cNvSpPr>
            <p:nvPr/>
          </p:nvSpPr>
          <p:spPr bwMode="auto">
            <a:xfrm>
              <a:off x="5643563" y="4929188"/>
              <a:ext cx="1063625" cy="614362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F4FD7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Cloud"/>
            <p:cNvSpPr>
              <a:spLocks noChangeAspect="1" noEditPoints="1" noChangeArrowheads="1"/>
            </p:cNvSpPr>
            <p:nvPr/>
          </p:nvSpPr>
          <p:spPr bwMode="auto">
            <a:xfrm>
              <a:off x="7358063" y="4500563"/>
              <a:ext cx="1063625" cy="614362"/>
            </a:xfrm>
            <a:custGeom>
              <a:avLst/>
              <a:gdLst>
                <a:gd name="T0" fmla="*/ 67 w 21600"/>
                <a:gd name="T1" fmla="*/ 10800 h 21600"/>
                <a:gd name="T2" fmla="*/ 10800 w 21600"/>
                <a:gd name="T3" fmla="*/ 21577 h 21600"/>
                <a:gd name="T4" fmla="*/ 21582 w 21600"/>
                <a:gd name="T5" fmla="*/ 10800 h 21600"/>
                <a:gd name="T6" fmla="*/ 10800 w 21600"/>
                <a:gd name="T7" fmla="*/ 1235 h 21600"/>
                <a:gd name="T8" fmla="*/ 2977 w 21600"/>
                <a:gd name="T9" fmla="*/ 3262 h 21600"/>
                <a:gd name="T10" fmla="*/ 17087 w 21600"/>
                <a:gd name="T11" fmla="*/ 173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 extrusionOk="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close/>
                </a:path>
                <a:path w="21600" h="21600" fill="none" extrusionOk="0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 extrusionOk="0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 extrusionOk="0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 extrusionOk="0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 extrusionOk="0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 extrusionOk="0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 extrusionOk="0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 extrusionOk="0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 extrusionOk="0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 extrusionOk="0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 extrusionOk="0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F4FD7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>
              <a:outerShdw dist="107763" dir="2700000" algn="ctr" rotWithShape="0">
                <a:srgbClr val="808080"/>
              </a:outerShdw>
            </a:effectLst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Rounded Rectangle 13"/>
            <p:cNvSpPr/>
            <p:nvPr/>
          </p:nvSpPr>
          <p:spPr bwMode="auto">
            <a:xfrm>
              <a:off x="1500188" y="2786063"/>
              <a:ext cx="398462" cy="341312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/>
            </a:p>
          </p:txBody>
        </p:sp>
        <p:sp>
          <p:nvSpPr>
            <p:cNvPr id="15" name="Rounded Rectangle 14"/>
            <p:cNvSpPr/>
            <p:nvPr/>
          </p:nvSpPr>
          <p:spPr bwMode="auto">
            <a:xfrm>
              <a:off x="1500188" y="4357688"/>
              <a:ext cx="398462" cy="341312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/>
            </a:p>
          </p:txBody>
        </p:sp>
        <p:sp>
          <p:nvSpPr>
            <p:cNvPr id="16" name="Rounded Rectangle 15"/>
            <p:cNvSpPr/>
            <p:nvPr/>
          </p:nvSpPr>
          <p:spPr bwMode="auto">
            <a:xfrm>
              <a:off x="3000375" y="2786063"/>
              <a:ext cx="398463" cy="341312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/>
            </a:p>
          </p:txBody>
        </p:sp>
        <p:sp>
          <p:nvSpPr>
            <p:cNvPr id="17" name="Rounded Rectangle 16"/>
            <p:cNvSpPr/>
            <p:nvPr/>
          </p:nvSpPr>
          <p:spPr bwMode="auto">
            <a:xfrm>
              <a:off x="3071813" y="4429125"/>
              <a:ext cx="398462" cy="34131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/>
            </a:p>
          </p:txBody>
        </p:sp>
        <p:sp>
          <p:nvSpPr>
            <p:cNvPr id="18" name="Rounded Rectangle 17"/>
            <p:cNvSpPr/>
            <p:nvPr/>
          </p:nvSpPr>
          <p:spPr bwMode="auto">
            <a:xfrm>
              <a:off x="6858000" y="2643188"/>
              <a:ext cx="398463" cy="341312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/>
            </a:p>
          </p:txBody>
        </p:sp>
        <p:sp>
          <p:nvSpPr>
            <p:cNvPr id="19" name="Rounded Rectangle 18"/>
            <p:cNvSpPr/>
            <p:nvPr/>
          </p:nvSpPr>
          <p:spPr bwMode="auto">
            <a:xfrm>
              <a:off x="7286625" y="3786188"/>
              <a:ext cx="398463" cy="341312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/>
            </a:p>
          </p:txBody>
        </p:sp>
        <p:sp>
          <p:nvSpPr>
            <p:cNvPr id="20" name="Rounded Rectangle 19"/>
            <p:cNvSpPr/>
            <p:nvPr/>
          </p:nvSpPr>
          <p:spPr bwMode="auto">
            <a:xfrm>
              <a:off x="5857875" y="4357688"/>
              <a:ext cx="398463" cy="341312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/>
            </a:p>
          </p:txBody>
        </p:sp>
        <p:sp>
          <p:nvSpPr>
            <p:cNvPr id="21" name="Rounded Rectangle 20"/>
            <p:cNvSpPr/>
            <p:nvPr/>
          </p:nvSpPr>
          <p:spPr bwMode="auto">
            <a:xfrm>
              <a:off x="4929188" y="3429000"/>
              <a:ext cx="398462" cy="341313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0" hangingPunct="0">
                <a:defRPr/>
              </a:pPr>
              <a:endParaRPr lang="en-US"/>
            </a:p>
          </p:txBody>
        </p:sp>
        <p:cxnSp>
          <p:nvCxnSpPr>
            <p:cNvPr id="8215" name="Straight Arrow Connector 22"/>
            <p:cNvCxnSpPr>
              <a:cxnSpLocks noChangeShapeType="1"/>
              <a:stCxn id="14" idx="3"/>
              <a:endCxn id="16" idx="1"/>
            </p:cNvCxnSpPr>
            <p:nvPr/>
          </p:nvCxnSpPr>
          <p:spPr bwMode="auto">
            <a:xfrm>
              <a:off x="1898650" y="2955925"/>
              <a:ext cx="1101725" cy="1588"/>
            </a:xfrm>
            <a:prstGeom prst="straightConnector1">
              <a:avLst/>
            </a:prstGeom>
            <a:noFill/>
            <a:ln w="19050" algn="ctr">
              <a:solidFill>
                <a:srgbClr val="0070C0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8216" name="Straight Arrow Connector 26"/>
            <p:cNvCxnSpPr>
              <a:cxnSpLocks noChangeShapeType="1"/>
              <a:stCxn id="14" idx="2"/>
              <a:endCxn id="15" idx="0"/>
            </p:cNvCxnSpPr>
            <p:nvPr/>
          </p:nvCxnSpPr>
          <p:spPr bwMode="auto">
            <a:xfrm rot="5400000">
              <a:off x="1084262" y="3741738"/>
              <a:ext cx="1230313" cy="1588"/>
            </a:xfrm>
            <a:prstGeom prst="straightConnector1">
              <a:avLst/>
            </a:prstGeom>
            <a:noFill/>
            <a:ln w="19050" algn="ctr">
              <a:solidFill>
                <a:srgbClr val="0070C0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8217" name="Straight Arrow Connector 28"/>
            <p:cNvCxnSpPr>
              <a:cxnSpLocks noChangeShapeType="1"/>
              <a:stCxn id="16" idx="2"/>
              <a:endCxn id="17" idx="0"/>
            </p:cNvCxnSpPr>
            <p:nvPr/>
          </p:nvCxnSpPr>
          <p:spPr bwMode="auto">
            <a:xfrm rot="16200000" flipH="1">
              <a:off x="2585244" y="3742531"/>
              <a:ext cx="1301750" cy="71438"/>
            </a:xfrm>
            <a:prstGeom prst="straightConnector1">
              <a:avLst/>
            </a:prstGeom>
            <a:noFill/>
            <a:ln w="19050" algn="ctr">
              <a:solidFill>
                <a:srgbClr val="0070C0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8218" name="Straight Arrow Connector 30"/>
            <p:cNvCxnSpPr>
              <a:cxnSpLocks noChangeShapeType="1"/>
              <a:stCxn id="15" idx="3"/>
              <a:endCxn id="17" idx="1"/>
            </p:cNvCxnSpPr>
            <p:nvPr/>
          </p:nvCxnSpPr>
          <p:spPr bwMode="auto">
            <a:xfrm>
              <a:off x="1898650" y="4527550"/>
              <a:ext cx="1173163" cy="71438"/>
            </a:xfrm>
            <a:prstGeom prst="straightConnector1">
              <a:avLst/>
            </a:prstGeom>
            <a:noFill/>
            <a:ln w="19050" algn="ctr">
              <a:solidFill>
                <a:srgbClr val="0070C0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8219" name="Straight Arrow Connector 32"/>
            <p:cNvCxnSpPr>
              <a:cxnSpLocks noChangeShapeType="1"/>
              <a:stCxn id="17" idx="3"/>
            </p:cNvCxnSpPr>
            <p:nvPr/>
          </p:nvCxnSpPr>
          <p:spPr bwMode="auto">
            <a:xfrm flipV="1">
              <a:off x="3470275" y="3786188"/>
              <a:ext cx="1530350" cy="812800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8220" name="Straight Arrow Connector 38"/>
            <p:cNvCxnSpPr>
              <a:cxnSpLocks noChangeShapeType="1"/>
              <a:stCxn id="21" idx="2"/>
              <a:endCxn id="20" idx="1"/>
            </p:cNvCxnSpPr>
            <p:nvPr/>
          </p:nvCxnSpPr>
          <p:spPr bwMode="auto">
            <a:xfrm rot="16200000" flipH="1">
              <a:off x="5114925" y="3784601"/>
              <a:ext cx="757237" cy="728662"/>
            </a:xfrm>
            <a:prstGeom prst="straightConnector1">
              <a:avLst/>
            </a:prstGeom>
            <a:noFill/>
            <a:ln w="19050" algn="ctr">
              <a:solidFill>
                <a:srgbClr val="0070C0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8221" name="Straight Arrow Connector 40"/>
            <p:cNvCxnSpPr>
              <a:cxnSpLocks noChangeShapeType="1"/>
              <a:stCxn id="20" idx="3"/>
              <a:endCxn id="19" idx="1"/>
            </p:cNvCxnSpPr>
            <p:nvPr/>
          </p:nvCxnSpPr>
          <p:spPr bwMode="auto">
            <a:xfrm flipV="1">
              <a:off x="6256338" y="3956050"/>
              <a:ext cx="1030287" cy="571500"/>
            </a:xfrm>
            <a:prstGeom prst="straightConnector1">
              <a:avLst/>
            </a:prstGeom>
            <a:noFill/>
            <a:ln w="19050" algn="ctr">
              <a:solidFill>
                <a:srgbClr val="0070C0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8222" name="Straight Arrow Connector 42"/>
            <p:cNvCxnSpPr>
              <a:cxnSpLocks noChangeShapeType="1"/>
              <a:stCxn id="21" idx="0"/>
              <a:endCxn id="18" idx="1"/>
            </p:cNvCxnSpPr>
            <p:nvPr/>
          </p:nvCxnSpPr>
          <p:spPr bwMode="auto">
            <a:xfrm rot="5400000" flipH="1" flipV="1">
              <a:off x="5685632" y="2256631"/>
              <a:ext cx="615950" cy="1728787"/>
            </a:xfrm>
            <a:prstGeom prst="straightConnector1">
              <a:avLst/>
            </a:prstGeom>
            <a:noFill/>
            <a:ln w="19050" algn="ctr">
              <a:solidFill>
                <a:srgbClr val="0070C0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8223" name="Straight Arrow Connector 45"/>
            <p:cNvCxnSpPr>
              <a:cxnSpLocks noChangeShapeType="1"/>
              <a:stCxn id="18" idx="2"/>
              <a:endCxn id="19" idx="0"/>
            </p:cNvCxnSpPr>
            <p:nvPr/>
          </p:nvCxnSpPr>
          <p:spPr bwMode="auto">
            <a:xfrm rot="16200000" flipH="1">
              <a:off x="6871494" y="3171031"/>
              <a:ext cx="801688" cy="428625"/>
            </a:xfrm>
            <a:prstGeom prst="straightConnector1">
              <a:avLst/>
            </a:prstGeom>
            <a:noFill/>
            <a:ln w="19050" algn="ctr">
              <a:solidFill>
                <a:srgbClr val="0070C0"/>
              </a:solidFill>
              <a:round/>
              <a:headEnd type="arrow" w="med" len="med"/>
              <a:tailEnd type="arrow" w="med" len="med"/>
            </a:ln>
          </p:spPr>
        </p:cxnSp>
        <p:cxnSp>
          <p:nvCxnSpPr>
            <p:cNvPr id="8224" name="Straight Connector 47"/>
            <p:cNvCxnSpPr>
              <a:cxnSpLocks noChangeShapeType="1"/>
              <a:endCxn id="16" idx="0"/>
            </p:cNvCxnSpPr>
            <p:nvPr/>
          </p:nvCxnSpPr>
          <p:spPr bwMode="auto">
            <a:xfrm>
              <a:off x="2714625" y="2357438"/>
              <a:ext cx="485775" cy="428625"/>
            </a:xfrm>
            <a:prstGeom prst="lin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225" name="Straight Connector 49"/>
            <p:cNvCxnSpPr>
              <a:cxnSpLocks noChangeShapeType="1"/>
              <a:stCxn id="8248" idx="3"/>
            </p:cNvCxnSpPr>
            <p:nvPr/>
          </p:nvCxnSpPr>
          <p:spPr bwMode="auto">
            <a:xfrm>
              <a:off x="3395663" y="3057525"/>
              <a:ext cx="319087" cy="371475"/>
            </a:xfrm>
            <a:prstGeom prst="lin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226" name="Straight Connector 51"/>
            <p:cNvCxnSpPr>
              <a:cxnSpLocks noChangeShapeType="1"/>
              <a:endCxn id="14" idx="0"/>
            </p:cNvCxnSpPr>
            <p:nvPr/>
          </p:nvCxnSpPr>
          <p:spPr bwMode="auto">
            <a:xfrm rot="10800000" flipV="1">
              <a:off x="1700213" y="2500313"/>
              <a:ext cx="300037" cy="285750"/>
            </a:xfrm>
            <a:prstGeom prst="lin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227" name="Straight Connector 53"/>
            <p:cNvCxnSpPr>
              <a:cxnSpLocks noChangeShapeType="1"/>
              <a:stCxn id="14" idx="1"/>
              <a:endCxn id="6" idx="3"/>
            </p:cNvCxnSpPr>
            <p:nvPr/>
          </p:nvCxnSpPr>
          <p:spPr bwMode="auto">
            <a:xfrm rot="10800000" flipV="1">
              <a:off x="960438" y="2955925"/>
              <a:ext cx="539750" cy="508000"/>
            </a:xfrm>
            <a:prstGeom prst="lin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228" name="Straight Connector 55"/>
            <p:cNvCxnSpPr>
              <a:cxnSpLocks noChangeShapeType="1"/>
              <a:stCxn id="6" idx="1"/>
              <a:endCxn id="15" idx="1"/>
            </p:cNvCxnSpPr>
            <p:nvPr/>
          </p:nvCxnSpPr>
          <p:spPr bwMode="auto">
            <a:xfrm>
              <a:off x="960438" y="4041775"/>
              <a:ext cx="539750" cy="485775"/>
            </a:xfrm>
            <a:prstGeom prst="lin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229" name="Straight Connector 57"/>
            <p:cNvCxnSpPr>
              <a:cxnSpLocks noChangeShapeType="1"/>
              <a:stCxn id="15" idx="2"/>
            </p:cNvCxnSpPr>
            <p:nvPr/>
          </p:nvCxnSpPr>
          <p:spPr bwMode="auto">
            <a:xfrm rot="16200000" flipH="1">
              <a:off x="1770856" y="4628357"/>
              <a:ext cx="301625" cy="442912"/>
            </a:xfrm>
            <a:prstGeom prst="lin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230" name="Straight Connector 59"/>
            <p:cNvCxnSpPr>
              <a:cxnSpLocks noChangeShapeType="1"/>
            </p:cNvCxnSpPr>
            <p:nvPr/>
          </p:nvCxnSpPr>
          <p:spPr bwMode="auto">
            <a:xfrm rot="5400000">
              <a:off x="2893219" y="4822032"/>
              <a:ext cx="285750" cy="214312"/>
            </a:xfrm>
            <a:prstGeom prst="lin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231" name="Straight Connector 61"/>
            <p:cNvCxnSpPr>
              <a:cxnSpLocks noChangeShapeType="1"/>
              <a:stCxn id="9" idx="1"/>
            </p:cNvCxnSpPr>
            <p:nvPr/>
          </p:nvCxnSpPr>
          <p:spPr bwMode="auto">
            <a:xfrm flipH="1">
              <a:off x="3429000" y="3971925"/>
              <a:ext cx="428625" cy="457200"/>
            </a:xfrm>
            <a:prstGeom prst="lin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232" name="Straight Connector 63"/>
            <p:cNvCxnSpPr>
              <a:cxnSpLocks noChangeShapeType="1"/>
              <a:stCxn id="10" idx="1"/>
              <a:endCxn id="18" idx="0"/>
            </p:cNvCxnSpPr>
            <p:nvPr/>
          </p:nvCxnSpPr>
          <p:spPr bwMode="auto">
            <a:xfrm>
              <a:off x="7032625" y="2398713"/>
              <a:ext cx="25400" cy="244475"/>
            </a:xfrm>
            <a:prstGeom prst="lin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233" name="Straight Connector 65"/>
            <p:cNvCxnSpPr>
              <a:cxnSpLocks noChangeShapeType="1"/>
            </p:cNvCxnSpPr>
            <p:nvPr/>
          </p:nvCxnSpPr>
          <p:spPr bwMode="auto">
            <a:xfrm rot="5400000">
              <a:off x="6643688" y="3000375"/>
              <a:ext cx="285750" cy="285750"/>
            </a:xfrm>
            <a:prstGeom prst="lin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234" name="Straight Connector 67"/>
            <p:cNvCxnSpPr>
              <a:cxnSpLocks noChangeShapeType="1"/>
              <a:stCxn id="21" idx="3"/>
              <a:endCxn id="11" idx="0"/>
            </p:cNvCxnSpPr>
            <p:nvPr/>
          </p:nvCxnSpPr>
          <p:spPr bwMode="auto">
            <a:xfrm flipV="1">
              <a:off x="5327650" y="3592513"/>
              <a:ext cx="461963" cy="6350"/>
            </a:xfrm>
            <a:prstGeom prst="lin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235" name="Straight Connector 69"/>
            <p:cNvCxnSpPr>
              <a:cxnSpLocks noChangeShapeType="1"/>
              <a:endCxn id="20" idx="0"/>
            </p:cNvCxnSpPr>
            <p:nvPr/>
          </p:nvCxnSpPr>
          <p:spPr bwMode="auto">
            <a:xfrm rot="5400000">
              <a:off x="5850731" y="4064794"/>
              <a:ext cx="500063" cy="85725"/>
            </a:xfrm>
            <a:prstGeom prst="lin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236" name="Straight Connector 71"/>
            <p:cNvCxnSpPr>
              <a:cxnSpLocks noChangeShapeType="1"/>
              <a:stCxn id="11" idx="2"/>
            </p:cNvCxnSpPr>
            <p:nvPr/>
          </p:nvCxnSpPr>
          <p:spPr bwMode="auto">
            <a:xfrm>
              <a:off x="6850063" y="3592513"/>
              <a:ext cx="436562" cy="193675"/>
            </a:xfrm>
            <a:prstGeom prst="lin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237" name="Straight Connector 73"/>
            <p:cNvCxnSpPr>
              <a:cxnSpLocks noChangeShapeType="1"/>
              <a:stCxn id="20" idx="2"/>
              <a:endCxn id="12" idx="3"/>
            </p:cNvCxnSpPr>
            <p:nvPr/>
          </p:nvCxnSpPr>
          <p:spPr bwMode="auto">
            <a:xfrm rot="16200000" flipH="1">
              <a:off x="5984081" y="4772819"/>
              <a:ext cx="265113" cy="117475"/>
            </a:xfrm>
            <a:prstGeom prst="lin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8238" name="Straight Connector 76"/>
            <p:cNvCxnSpPr>
              <a:cxnSpLocks noChangeShapeType="1"/>
              <a:stCxn id="19" idx="2"/>
            </p:cNvCxnSpPr>
            <p:nvPr/>
          </p:nvCxnSpPr>
          <p:spPr bwMode="auto">
            <a:xfrm rot="16200000" flipH="1">
              <a:off x="7414419" y="4199731"/>
              <a:ext cx="444500" cy="300038"/>
            </a:xfrm>
            <a:prstGeom prst="lin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8239" name="Rectangle 77"/>
            <p:cNvSpPr>
              <a:spLocks noChangeArrowheads="1"/>
            </p:cNvSpPr>
            <p:nvPr/>
          </p:nvSpPr>
          <p:spPr bwMode="auto">
            <a:xfrm>
              <a:off x="1785938" y="2071688"/>
              <a:ext cx="1071562" cy="246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Subnetwork 1.2</a:t>
              </a:r>
            </a:p>
          </p:txBody>
        </p:sp>
        <p:sp>
          <p:nvSpPr>
            <p:cNvPr id="8240" name="Rectangle 78"/>
            <p:cNvSpPr>
              <a:spLocks noChangeArrowheads="1"/>
            </p:cNvSpPr>
            <p:nvPr/>
          </p:nvSpPr>
          <p:spPr bwMode="auto">
            <a:xfrm>
              <a:off x="428625" y="3571875"/>
              <a:ext cx="1071563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Subnetwork 1.3</a:t>
              </a:r>
            </a:p>
          </p:txBody>
        </p:sp>
        <p:sp>
          <p:nvSpPr>
            <p:cNvPr id="8241" name="Rectangle 79"/>
            <p:cNvSpPr>
              <a:spLocks noChangeArrowheads="1"/>
            </p:cNvSpPr>
            <p:nvPr/>
          </p:nvSpPr>
          <p:spPr bwMode="auto">
            <a:xfrm>
              <a:off x="3357563" y="3500438"/>
              <a:ext cx="1071562" cy="246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Subnetwork 1.1</a:t>
              </a:r>
            </a:p>
          </p:txBody>
        </p:sp>
        <p:sp>
          <p:nvSpPr>
            <p:cNvPr id="8242" name="Rectangle 80"/>
            <p:cNvSpPr>
              <a:spLocks noChangeArrowheads="1"/>
            </p:cNvSpPr>
            <p:nvPr/>
          </p:nvSpPr>
          <p:spPr bwMode="auto">
            <a:xfrm>
              <a:off x="1928813" y="5072063"/>
              <a:ext cx="1143000" cy="246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Subnetwork 1.4</a:t>
              </a:r>
            </a:p>
          </p:txBody>
        </p:sp>
        <p:sp>
          <p:nvSpPr>
            <p:cNvPr id="8243" name="Rectangle 81"/>
            <p:cNvSpPr>
              <a:spLocks noChangeArrowheads="1"/>
            </p:cNvSpPr>
            <p:nvPr/>
          </p:nvSpPr>
          <p:spPr bwMode="auto">
            <a:xfrm>
              <a:off x="6500813" y="1928813"/>
              <a:ext cx="1071562" cy="246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Subnetwork 2.1</a:t>
              </a:r>
            </a:p>
          </p:txBody>
        </p:sp>
        <p:sp>
          <p:nvSpPr>
            <p:cNvPr id="8244" name="Rectangle 82"/>
            <p:cNvSpPr>
              <a:spLocks noChangeArrowheads="1"/>
            </p:cNvSpPr>
            <p:nvPr/>
          </p:nvSpPr>
          <p:spPr bwMode="auto">
            <a:xfrm>
              <a:off x="5786438" y="3429000"/>
              <a:ext cx="1214437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 dirty="0" err="1"/>
                <a:t>Subnetwork</a:t>
              </a:r>
              <a:r>
                <a:rPr lang="en-US" sz="1000" dirty="0"/>
                <a:t> 2.2</a:t>
              </a:r>
            </a:p>
          </p:txBody>
        </p:sp>
        <p:sp>
          <p:nvSpPr>
            <p:cNvPr id="8245" name="Rectangle 83"/>
            <p:cNvSpPr>
              <a:spLocks noChangeArrowheads="1"/>
            </p:cNvSpPr>
            <p:nvPr/>
          </p:nvSpPr>
          <p:spPr bwMode="auto">
            <a:xfrm>
              <a:off x="5643563" y="5072063"/>
              <a:ext cx="1071562" cy="246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Subnetwork 2.3</a:t>
              </a:r>
            </a:p>
          </p:txBody>
        </p:sp>
        <p:sp>
          <p:nvSpPr>
            <p:cNvPr id="8246" name="Rectangle 84"/>
            <p:cNvSpPr>
              <a:spLocks noChangeArrowheads="1"/>
            </p:cNvSpPr>
            <p:nvPr/>
          </p:nvSpPr>
          <p:spPr bwMode="auto">
            <a:xfrm>
              <a:off x="7358063" y="4643438"/>
              <a:ext cx="1071562" cy="246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Subnetwork 2.4</a:t>
              </a:r>
            </a:p>
          </p:txBody>
        </p:sp>
        <p:sp>
          <p:nvSpPr>
            <p:cNvPr id="8247" name="Rectangle 85"/>
            <p:cNvSpPr>
              <a:spLocks noChangeArrowheads="1"/>
            </p:cNvSpPr>
            <p:nvPr/>
          </p:nvSpPr>
          <p:spPr bwMode="auto">
            <a:xfrm>
              <a:off x="3143250" y="4500563"/>
              <a:ext cx="323850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R1</a:t>
              </a:r>
            </a:p>
          </p:txBody>
        </p:sp>
        <p:sp>
          <p:nvSpPr>
            <p:cNvPr id="8248" name="Rectangle 86"/>
            <p:cNvSpPr>
              <a:spLocks noChangeArrowheads="1"/>
            </p:cNvSpPr>
            <p:nvPr/>
          </p:nvSpPr>
          <p:spPr bwMode="auto">
            <a:xfrm>
              <a:off x="3071813" y="2857500"/>
              <a:ext cx="323850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R2</a:t>
              </a:r>
            </a:p>
          </p:txBody>
        </p:sp>
        <p:sp>
          <p:nvSpPr>
            <p:cNvPr id="8249" name="Rectangle 87"/>
            <p:cNvSpPr>
              <a:spLocks noChangeArrowheads="1"/>
            </p:cNvSpPr>
            <p:nvPr/>
          </p:nvSpPr>
          <p:spPr bwMode="auto">
            <a:xfrm>
              <a:off x="1571625" y="2857500"/>
              <a:ext cx="323850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R3</a:t>
              </a:r>
            </a:p>
          </p:txBody>
        </p:sp>
        <p:sp>
          <p:nvSpPr>
            <p:cNvPr id="8250" name="Rectangle 88"/>
            <p:cNvSpPr>
              <a:spLocks noChangeArrowheads="1"/>
            </p:cNvSpPr>
            <p:nvPr/>
          </p:nvSpPr>
          <p:spPr bwMode="auto">
            <a:xfrm>
              <a:off x="1571625" y="4429125"/>
              <a:ext cx="323850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R4</a:t>
              </a:r>
            </a:p>
          </p:txBody>
        </p:sp>
        <p:sp>
          <p:nvSpPr>
            <p:cNvPr id="8251" name="Rectangle 89"/>
            <p:cNvSpPr>
              <a:spLocks noChangeArrowheads="1"/>
            </p:cNvSpPr>
            <p:nvPr/>
          </p:nvSpPr>
          <p:spPr bwMode="auto">
            <a:xfrm>
              <a:off x="6929438" y="2714625"/>
              <a:ext cx="323850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R6</a:t>
              </a:r>
            </a:p>
          </p:txBody>
        </p:sp>
        <p:sp>
          <p:nvSpPr>
            <p:cNvPr id="8252" name="Rectangle 90"/>
            <p:cNvSpPr>
              <a:spLocks noChangeArrowheads="1"/>
            </p:cNvSpPr>
            <p:nvPr/>
          </p:nvSpPr>
          <p:spPr bwMode="auto">
            <a:xfrm>
              <a:off x="5000625" y="3500438"/>
              <a:ext cx="323850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R5</a:t>
              </a:r>
            </a:p>
          </p:txBody>
        </p:sp>
        <p:sp>
          <p:nvSpPr>
            <p:cNvPr id="8253" name="Rectangle 91"/>
            <p:cNvSpPr>
              <a:spLocks noChangeArrowheads="1"/>
            </p:cNvSpPr>
            <p:nvPr/>
          </p:nvSpPr>
          <p:spPr bwMode="auto">
            <a:xfrm>
              <a:off x="7358063" y="3857625"/>
              <a:ext cx="323850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R7</a:t>
              </a:r>
            </a:p>
          </p:txBody>
        </p:sp>
        <p:sp>
          <p:nvSpPr>
            <p:cNvPr id="8254" name="Rectangle 92"/>
            <p:cNvSpPr>
              <a:spLocks noChangeArrowheads="1"/>
            </p:cNvSpPr>
            <p:nvPr/>
          </p:nvSpPr>
          <p:spPr bwMode="auto">
            <a:xfrm>
              <a:off x="5929313" y="4429125"/>
              <a:ext cx="323850" cy="400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R8</a:t>
              </a:r>
            </a:p>
          </p:txBody>
        </p:sp>
        <p:cxnSp>
          <p:nvCxnSpPr>
            <p:cNvPr id="8255" name="Straight Connector 94"/>
            <p:cNvCxnSpPr>
              <a:cxnSpLocks noChangeShapeType="1"/>
              <a:stCxn id="9" idx="2"/>
              <a:endCxn id="21" idx="1"/>
            </p:cNvCxnSpPr>
            <p:nvPr/>
          </p:nvCxnSpPr>
          <p:spPr bwMode="auto">
            <a:xfrm flipV="1">
              <a:off x="4356100" y="3600450"/>
              <a:ext cx="573088" cy="65088"/>
            </a:xfrm>
            <a:prstGeom prst="line">
              <a:avLst/>
            </a:prstGeom>
            <a:noFill/>
            <a:ln w="50800" algn="ctr">
              <a:solidFill>
                <a:schemeClr val="tx1"/>
              </a:solidFill>
              <a:round/>
              <a:headEnd/>
              <a:tailEnd/>
            </a:ln>
          </p:spPr>
        </p:cxnSp>
        <p:sp>
          <p:nvSpPr>
            <p:cNvPr id="8256" name="Rectangle 95"/>
            <p:cNvSpPr>
              <a:spLocks noChangeArrowheads="1"/>
            </p:cNvSpPr>
            <p:nvPr/>
          </p:nvSpPr>
          <p:spPr bwMode="auto">
            <a:xfrm>
              <a:off x="1928813" y="3000375"/>
              <a:ext cx="1071562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Advertisements</a:t>
              </a:r>
            </a:p>
          </p:txBody>
        </p:sp>
        <p:sp>
          <p:nvSpPr>
            <p:cNvPr id="8257" name="Rectangle 96"/>
            <p:cNvSpPr>
              <a:spLocks noChangeArrowheads="1"/>
            </p:cNvSpPr>
            <p:nvPr/>
          </p:nvSpPr>
          <p:spPr bwMode="auto">
            <a:xfrm>
              <a:off x="2000250" y="4357688"/>
              <a:ext cx="1071563" cy="246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Advertisements</a:t>
              </a:r>
            </a:p>
          </p:txBody>
        </p:sp>
        <p:sp>
          <p:nvSpPr>
            <p:cNvPr id="8258" name="Rectangle 97"/>
            <p:cNvSpPr>
              <a:spLocks noChangeArrowheads="1"/>
            </p:cNvSpPr>
            <p:nvPr/>
          </p:nvSpPr>
          <p:spPr bwMode="auto">
            <a:xfrm>
              <a:off x="1643063" y="3429000"/>
              <a:ext cx="1071562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Advertisements</a:t>
              </a:r>
            </a:p>
          </p:txBody>
        </p:sp>
        <p:sp>
          <p:nvSpPr>
            <p:cNvPr id="8259" name="Rectangle 98"/>
            <p:cNvSpPr>
              <a:spLocks noChangeArrowheads="1"/>
            </p:cNvSpPr>
            <p:nvPr/>
          </p:nvSpPr>
          <p:spPr bwMode="auto">
            <a:xfrm>
              <a:off x="2214563" y="3857625"/>
              <a:ext cx="1063625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Advertisements</a:t>
              </a:r>
            </a:p>
          </p:txBody>
        </p:sp>
        <p:sp>
          <p:nvSpPr>
            <p:cNvPr id="8260" name="Rectangle 99"/>
            <p:cNvSpPr>
              <a:spLocks noChangeArrowheads="1"/>
            </p:cNvSpPr>
            <p:nvPr/>
          </p:nvSpPr>
          <p:spPr bwMode="auto">
            <a:xfrm>
              <a:off x="3571875" y="4286250"/>
              <a:ext cx="1071563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Advertisements</a:t>
              </a:r>
            </a:p>
          </p:txBody>
        </p:sp>
        <p:sp>
          <p:nvSpPr>
            <p:cNvPr id="8261" name="Rectangle 100"/>
            <p:cNvSpPr>
              <a:spLocks noChangeArrowheads="1"/>
            </p:cNvSpPr>
            <p:nvPr/>
          </p:nvSpPr>
          <p:spPr bwMode="auto">
            <a:xfrm>
              <a:off x="5214938" y="2857500"/>
              <a:ext cx="1071562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 dirty="0"/>
                <a:t>Advertisements</a:t>
              </a:r>
            </a:p>
          </p:txBody>
        </p:sp>
        <p:sp>
          <p:nvSpPr>
            <p:cNvPr id="8262" name="Rectangle 101"/>
            <p:cNvSpPr>
              <a:spLocks noChangeArrowheads="1"/>
            </p:cNvSpPr>
            <p:nvPr/>
          </p:nvSpPr>
          <p:spPr bwMode="auto">
            <a:xfrm>
              <a:off x="4786313" y="4071938"/>
              <a:ext cx="1143000" cy="246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Advertisements</a:t>
              </a:r>
            </a:p>
          </p:txBody>
        </p:sp>
        <p:sp>
          <p:nvSpPr>
            <p:cNvPr id="8263" name="Rectangle 102"/>
            <p:cNvSpPr>
              <a:spLocks noChangeArrowheads="1"/>
            </p:cNvSpPr>
            <p:nvPr/>
          </p:nvSpPr>
          <p:spPr bwMode="auto">
            <a:xfrm>
              <a:off x="7215188" y="3214688"/>
              <a:ext cx="1143000" cy="246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Advertisements</a:t>
              </a:r>
            </a:p>
          </p:txBody>
        </p:sp>
        <p:sp>
          <p:nvSpPr>
            <p:cNvPr id="8264" name="Rectangle 103"/>
            <p:cNvSpPr>
              <a:spLocks noChangeArrowheads="1"/>
            </p:cNvSpPr>
            <p:nvPr/>
          </p:nvSpPr>
          <p:spPr bwMode="auto">
            <a:xfrm>
              <a:off x="6429375" y="4286250"/>
              <a:ext cx="1143000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Advertisements</a:t>
              </a:r>
            </a:p>
          </p:txBody>
        </p:sp>
        <p:sp>
          <p:nvSpPr>
            <p:cNvPr id="8265" name="Rectangle 105"/>
            <p:cNvSpPr>
              <a:spLocks noChangeArrowheads="1"/>
            </p:cNvSpPr>
            <p:nvPr/>
          </p:nvSpPr>
          <p:spPr bwMode="auto">
            <a:xfrm>
              <a:off x="3571875" y="4429125"/>
              <a:ext cx="500063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ERP</a:t>
              </a:r>
            </a:p>
          </p:txBody>
        </p:sp>
        <p:sp>
          <p:nvSpPr>
            <p:cNvPr id="8266" name="Rectangle 106"/>
            <p:cNvSpPr>
              <a:spLocks noChangeArrowheads="1"/>
            </p:cNvSpPr>
            <p:nvPr/>
          </p:nvSpPr>
          <p:spPr bwMode="auto">
            <a:xfrm>
              <a:off x="2071688" y="3143250"/>
              <a:ext cx="500062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IRP</a:t>
              </a:r>
            </a:p>
          </p:txBody>
        </p:sp>
        <p:sp>
          <p:nvSpPr>
            <p:cNvPr id="8267" name="Rectangle 107"/>
            <p:cNvSpPr>
              <a:spLocks noChangeArrowheads="1"/>
            </p:cNvSpPr>
            <p:nvPr/>
          </p:nvSpPr>
          <p:spPr bwMode="auto">
            <a:xfrm>
              <a:off x="1785938" y="3571875"/>
              <a:ext cx="500062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IRP</a:t>
              </a:r>
            </a:p>
          </p:txBody>
        </p:sp>
        <p:sp>
          <p:nvSpPr>
            <p:cNvPr id="8268" name="Rectangle 108"/>
            <p:cNvSpPr>
              <a:spLocks noChangeArrowheads="1"/>
            </p:cNvSpPr>
            <p:nvPr/>
          </p:nvSpPr>
          <p:spPr bwMode="auto">
            <a:xfrm>
              <a:off x="2500313" y="4000500"/>
              <a:ext cx="442912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IRP</a:t>
              </a:r>
            </a:p>
          </p:txBody>
        </p:sp>
        <p:sp>
          <p:nvSpPr>
            <p:cNvPr id="8269" name="Rectangle 109"/>
            <p:cNvSpPr>
              <a:spLocks noChangeArrowheads="1"/>
            </p:cNvSpPr>
            <p:nvPr/>
          </p:nvSpPr>
          <p:spPr bwMode="auto">
            <a:xfrm>
              <a:off x="2071688" y="4500563"/>
              <a:ext cx="500062" cy="246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IRP</a:t>
              </a:r>
            </a:p>
          </p:txBody>
        </p:sp>
        <p:sp>
          <p:nvSpPr>
            <p:cNvPr id="8270" name="Rectangle 110"/>
            <p:cNvSpPr>
              <a:spLocks noChangeArrowheads="1"/>
            </p:cNvSpPr>
            <p:nvPr/>
          </p:nvSpPr>
          <p:spPr bwMode="auto">
            <a:xfrm>
              <a:off x="5357813" y="3000375"/>
              <a:ext cx="500062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IRP</a:t>
              </a:r>
            </a:p>
          </p:txBody>
        </p:sp>
        <p:sp>
          <p:nvSpPr>
            <p:cNvPr id="8271" name="Rectangle 111"/>
            <p:cNvSpPr>
              <a:spLocks noChangeArrowheads="1"/>
            </p:cNvSpPr>
            <p:nvPr/>
          </p:nvSpPr>
          <p:spPr bwMode="auto">
            <a:xfrm>
              <a:off x="7358063" y="3357563"/>
              <a:ext cx="500062" cy="246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IRP</a:t>
              </a:r>
            </a:p>
          </p:txBody>
        </p:sp>
        <p:sp>
          <p:nvSpPr>
            <p:cNvPr id="8272" name="Rectangle 112"/>
            <p:cNvSpPr>
              <a:spLocks noChangeArrowheads="1"/>
            </p:cNvSpPr>
            <p:nvPr/>
          </p:nvSpPr>
          <p:spPr bwMode="auto">
            <a:xfrm>
              <a:off x="6572250" y="4429125"/>
              <a:ext cx="500063" cy="2460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IRP</a:t>
              </a:r>
            </a:p>
          </p:txBody>
        </p:sp>
        <p:sp>
          <p:nvSpPr>
            <p:cNvPr id="8273" name="Rectangle 113"/>
            <p:cNvSpPr>
              <a:spLocks noChangeArrowheads="1"/>
            </p:cNvSpPr>
            <p:nvPr/>
          </p:nvSpPr>
          <p:spPr bwMode="auto">
            <a:xfrm>
              <a:off x="4929188" y="4214813"/>
              <a:ext cx="500062" cy="246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000"/>
                <a:t>IRP</a:t>
              </a:r>
            </a:p>
          </p:txBody>
        </p:sp>
        <p:sp>
          <p:nvSpPr>
            <p:cNvPr id="8274" name="Rectangle 118"/>
            <p:cNvSpPr>
              <a:spLocks noChangeArrowheads="1"/>
            </p:cNvSpPr>
            <p:nvPr/>
          </p:nvSpPr>
          <p:spPr bwMode="auto">
            <a:xfrm>
              <a:off x="1643063" y="5643563"/>
              <a:ext cx="185737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200" b="1" dirty="0"/>
                <a:t>Autonomous System 1</a:t>
              </a:r>
            </a:p>
          </p:txBody>
        </p:sp>
      </p:grpSp>
      <p:sp>
        <p:nvSpPr>
          <p:cNvPr id="8275" name="Rectangle 119"/>
          <p:cNvSpPr>
            <a:spLocks noChangeArrowheads="1"/>
          </p:cNvSpPr>
          <p:nvPr/>
        </p:nvSpPr>
        <p:spPr bwMode="auto">
          <a:xfrm>
            <a:off x="5857875" y="5786438"/>
            <a:ext cx="19288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 b="1"/>
              <a:t>Autonomous System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Basic Principles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949325" y="1981200"/>
            <a:ext cx="7551738" cy="4114800"/>
          </a:xfrm>
        </p:spPr>
        <p:txBody>
          <a:bodyPr/>
          <a:lstStyle/>
          <a:p>
            <a:r>
              <a:rPr lang="en-US" sz="1200" b="1"/>
              <a:t>End-to-end principle (David Clark and others)</a:t>
            </a:r>
          </a:p>
          <a:p>
            <a:pPr lvl="1"/>
            <a:r>
              <a:rPr lang="en-US" sz="1000"/>
              <a:t>Final decisions should always be made by the users</a:t>
            </a:r>
          </a:p>
          <a:p>
            <a:pPr lvl="1"/>
            <a:r>
              <a:rPr lang="en-US" sz="1000"/>
              <a:t>Trying to implement these decisions by intelligence inside the network is redundant</a:t>
            </a:r>
          </a:p>
          <a:p>
            <a:pPr lvl="1"/>
            <a:r>
              <a:rPr lang="en-US" sz="1000"/>
              <a:t>Control functions should thus by delegated as much as possible outside the network</a:t>
            </a:r>
          </a:p>
          <a:p>
            <a:pPr lvl="1"/>
            <a:r>
              <a:rPr lang="en-US" sz="1000"/>
              <a:t>In other words, </a:t>
            </a:r>
            <a:r>
              <a:rPr lang="en-US" sz="1000" b="1"/>
              <a:t>the network does the routing and the end-system does the control</a:t>
            </a:r>
          </a:p>
          <a:p>
            <a:endParaRPr lang="en-US" sz="1600"/>
          </a:p>
          <a:p>
            <a:r>
              <a:rPr lang="en-US" sz="1200" b="1"/>
              <a:t>IP over everything (Vint Cerf)</a:t>
            </a:r>
          </a:p>
          <a:p>
            <a:pPr lvl="1"/>
            <a:r>
              <a:rPr lang="en-US" sz="1000"/>
              <a:t>Internet is build by layering a unique “Internetworking protocol” on top of various network technologies</a:t>
            </a:r>
          </a:p>
          <a:p>
            <a:pPr lvl="1"/>
            <a:r>
              <a:rPr lang="en-US" sz="1000"/>
              <a:t>Consequence: very simple to adopt new technologies in the Internet</a:t>
            </a:r>
          </a:p>
          <a:p>
            <a:pPr lvl="1"/>
            <a:r>
              <a:rPr lang="en-US" sz="1000"/>
              <a:t>Another advantage: worldwide addressing</a:t>
            </a:r>
          </a:p>
          <a:p>
            <a:endParaRPr lang="en-US" sz="1600"/>
          </a:p>
          <a:p>
            <a:r>
              <a:rPr lang="en-US" sz="1200" b="1"/>
              <a:t>Connectivity is its own reward</a:t>
            </a:r>
          </a:p>
          <a:p>
            <a:pPr lvl="1"/>
            <a:r>
              <a:rPr lang="en-US" sz="1000"/>
              <a:t>Connectedness is beneficial to all Internet users</a:t>
            </a:r>
          </a:p>
          <a:p>
            <a:pPr lvl="1"/>
            <a:r>
              <a:rPr lang="en-US" sz="1000"/>
              <a:t>Exponential grow</a:t>
            </a:r>
          </a:p>
          <a:p>
            <a:pPr lvl="1"/>
            <a:r>
              <a:rPr lang="en-US" sz="1000"/>
              <a:t>New applications</a:t>
            </a:r>
          </a:p>
        </p:txBody>
      </p:sp>
      <p:sp>
        <p:nvSpPr>
          <p:cNvPr id="9220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79EDE1A7-CEBA-4BBE-BF13-99C852B75704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Protocols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928688" y="1785938"/>
            <a:ext cx="7661275" cy="4357687"/>
          </a:xfrm>
        </p:spPr>
        <p:txBody>
          <a:bodyPr/>
          <a:lstStyle/>
          <a:p>
            <a:r>
              <a:rPr lang="en-US" sz="1200" b="1"/>
              <a:t>Protocol</a:t>
            </a:r>
          </a:p>
          <a:p>
            <a:pPr lvl="1"/>
            <a:r>
              <a:rPr lang="en-US" sz="1000"/>
              <a:t>Set of rules and conventions used for communication of entities in different systems</a:t>
            </a:r>
          </a:p>
          <a:p>
            <a:pPr lvl="1"/>
            <a:r>
              <a:rPr lang="en-US" sz="1000"/>
              <a:t>Entity: anything capable of sending or receiving information</a:t>
            </a:r>
          </a:p>
          <a:p>
            <a:pPr lvl="1"/>
            <a:r>
              <a:rPr lang="en-US" sz="1000"/>
              <a:t>System: object that contains several entities</a:t>
            </a:r>
          </a:p>
          <a:p>
            <a:endParaRPr lang="en-US" sz="1600"/>
          </a:p>
          <a:p>
            <a:r>
              <a:rPr lang="en-US" sz="1200" b="1"/>
              <a:t>Key elements</a:t>
            </a:r>
          </a:p>
          <a:p>
            <a:pPr lvl="1"/>
            <a:r>
              <a:rPr lang="en-US" sz="1000"/>
              <a:t>Syntax (data format, coding), e.g., ASCII, EBCDIC, ANS1</a:t>
            </a:r>
          </a:p>
          <a:p>
            <a:pPr lvl="1"/>
            <a:r>
              <a:rPr lang="en-US" sz="1000"/>
              <a:t>Semantics (meaning, control information)</a:t>
            </a:r>
          </a:p>
          <a:p>
            <a:pPr lvl="1"/>
            <a:r>
              <a:rPr lang="en-US" sz="1000"/>
              <a:t>Timing (sequencing, synch/speed matching)</a:t>
            </a:r>
          </a:p>
          <a:p>
            <a:endParaRPr lang="en-US" sz="1600"/>
          </a:p>
          <a:p>
            <a:r>
              <a:rPr lang="en-US" sz="1200" b="1"/>
              <a:t>A protocol specification defines</a:t>
            </a:r>
          </a:p>
          <a:p>
            <a:pPr lvl="1"/>
            <a:r>
              <a:rPr lang="en-US" sz="1000"/>
              <a:t>Service interface: service offered to users</a:t>
            </a:r>
          </a:p>
          <a:p>
            <a:pPr lvl="1"/>
            <a:r>
              <a:rPr lang="en-US" sz="1000"/>
              <a:t>Peer interface: how it communicates with other nodes to implement the service interface</a:t>
            </a:r>
          </a:p>
          <a:p>
            <a:endParaRPr lang="en-US" sz="1600"/>
          </a:p>
          <a:p>
            <a:r>
              <a:rPr lang="en-US" sz="1200" b="1"/>
              <a:t>Communication architecture</a:t>
            </a:r>
          </a:p>
          <a:p>
            <a:pPr lvl="1"/>
            <a:r>
              <a:rPr lang="en-US" sz="1000"/>
              <a:t>Structured set of protocols that implement the information exchange</a:t>
            </a:r>
          </a:p>
          <a:p>
            <a:pPr lvl="1"/>
            <a:r>
              <a:rPr lang="en-US" sz="1000"/>
              <a:t>Most of communication architectures are layered</a:t>
            </a:r>
          </a:p>
          <a:p>
            <a:endParaRPr lang="en-US" sz="1600"/>
          </a:p>
        </p:txBody>
      </p:sp>
      <p:sp>
        <p:nvSpPr>
          <p:cNvPr id="1024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D18E9152-4F64-4E6F-9E10-9D6D911FCB8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Protocol Layering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>
          <a:xfrm>
            <a:off x="949325" y="1981200"/>
            <a:ext cx="7367091" cy="4114800"/>
          </a:xfrm>
        </p:spPr>
        <p:txBody>
          <a:bodyPr/>
          <a:lstStyle/>
          <a:p>
            <a:r>
              <a:rPr lang="en-US" sz="1200" b="1" dirty="0"/>
              <a:t>Protocol layering</a:t>
            </a:r>
          </a:p>
          <a:p>
            <a:pPr lvl="1"/>
            <a:r>
              <a:rPr lang="en-US" sz="1000" dirty="0"/>
              <a:t>Technique used to partition the tasks of networking into functional layers and assigning protocols to perform each layer’s task</a:t>
            </a:r>
          </a:p>
          <a:p>
            <a:pPr lvl="1"/>
            <a:r>
              <a:rPr lang="en-US" sz="1000" dirty="0"/>
              <a:t>Protocol layering produces simple protocols, each with well-defined tasks</a:t>
            </a:r>
          </a:p>
          <a:p>
            <a:pPr lvl="1"/>
            <a:r>
              <a:rPr lang="en-US" sz="1000" dirty="0"/>
              <a:t>The protocols can be assembled into a useful entity</a:t>
            </a:r>
          </a:p>
          <a:p>
            <a:pPr lvl="1"/>
            <a:r>
              <a:rPr lang="en-US" sz="1000" dirty="0"/>
              <a:t>Individual protocols can be removed or replaced as requested for specific applications</a:t>
            </a:r>
          </a:p>
          <a:p>
            <a:pPr lvl="1"/>
            <a:r>
              <a:rPr lang="en-US" sz="1000" dirty="0"/>
              <a:t>Protocol layering relies on encapsulation and multiplexing/</a:t>
            </a:r>
            <a:r>
              <a:rPr lang="en-US" sz="1000" dirty="0" err="1"/>
              <a:t>demultiplexing</a:t>
            </a:r>
            <a:endParaRPr lang="en-US" sz="1000" dirty="0"/>
          </a:p>
          <a:p>
            <a:endParaRPr lang="en-US" sz="1600" dirty="0"/>
          </a:p>
          <a:p>
            <a:r>
              <a:rPr lang="en-US" sz="1200" b="1" dirty="0"/>
              <a:t>Most important layer protocol designs</a:t>
            </a:r>
          </a:p>
          <a:p>
            <a:pPr lvl="1"/>
            <a:r>
              <a:rPr lang="en-US" sz="1000" dirty="0"/>
              <a:t>OSI model (seven layers)</a:t>
            </a:r>
          </a:p>
          <a:p>
            <a:pPr lvl="1"/>
            <a:r>
              <a:rPr lang="en-US" sz="1000" dirty="0" err="1"/>
              <a:t>DoD</a:t>
            </a:r>
            <a:r>
              <a:rPr lang="en-US" sz="1000" dirty="0"/>
              <a:t> (Department of Defense) model (four layers)</a:t>
            </a:r>
          </a:p>
          <a:p>
            <a:pPr lvl="1"/>
            <a:r>
              <a:rPr lang="en-US" sz="1000" b="1" dirty="0"/>
              <a:t>TCP/IP model (five layers): actual Internet model</a:t>
            </a:r>
          </a:p>
          <a:p>
            <a:pPr lvl="2"/>
            <a:r>
              <a:rPr lang="en-US" sz="1000" dirty="0"/>
              <a:t>Application layer: application specific protocols</a:t>
            </a:r>
          </a:p>
          <a:p>
            <a:pPr lvl="2"/>
            <a:r>
              <a:rPr lang="en-US" sz="1000" dirty="0"/>
              <a:t>Transport layer: process to process communication</a:t>
            </a:r>
          </a:p>
          <a:p>
            <a:pPr lvl="2"/>
            <a:r>
              <a:rPr lang="en-US" sz="1000" dirty="0"/>
              <a:t>Internet layer: host to host communication</a:t>
            </a:r>
          </a:p>
          <a:p>
            <a:pPr lvl="2"/>
            <a:r>
              <a:rPr lang="en-US" sz="1000" dirty="0"/>
              <a:t>Network Interface layer: transmitting IP packets over whatever network technology</a:t>
            </a:r>
          </a:p>
          <a:p>
            <a:pPr lvl="2"/>
            <a:r>
              <a:rPr lang="en-US" sz="1000" dirty="0"/>
              <a:t>Hardware: not an official layer</a:t>
            </a:r>
          </a:p>
          <a:p>
            <a:pPr lvl="2"/>
            <a:endParaRPr lang="en-US" sz="1000" dirty="0"/>
          </a:p>
        </p:txBody>
      </p:sp>
      <p:sp>
        <p:nvSpPr>
          <p:cNvPr id="1126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47F5C4F4-25EF-4886-A6AB-16DCDE6D580F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Protocol Encapsulation</a:t>
            </a:r>
            <a:endParaRPr lang="en-US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949325" y="1857375"/>
            <a:ext cx="7661275" cy="4238625"/>
          </a:xfrm>
        </p:spPr>
        <p:txBody>
          <a:bodyPr/>
          <a:lstStyle/>
          <a:p>
            <a:r>
              <a:rPr lang="en-US" sz="1200" b="1"/>
              <a:t>Protocol encapsulation</a:t>
            </a:r>
          </a:p>
          <a:p>
            <a:pPr lvl="1"/>
            <a:r>
              <a:rPr lang="en-US" sz="1000"/>
              <a:t>Practice of enclosing data using a specific protocol with messages of another protocol</a:t>
            </a:r>
          </a:p>
          <a:p>
            <a:endParaRPr lang="en-US" sz="1600"/>
          </a:p>
          <a:p>
            <a:endParaRPr lang="en-US" sz="1600"/>
          </a:p>
          <a:p>
            <a:endParaRPr lang="en-US" sz="1600"/>
          </a:p>
          <a:p>
            <a:endParaRPr lang="en-US" sz="1600"/>
          </a:p>
          <a:p>
            <a:endParaRPr lang="en-US" sz="1600"/>
          </a:p>
          <a:p>
            <a:endParaRPr lang="en-US" sz="1600"/>
          </a:p>
          <a:p>
            <a:endParaRPr lang="en-US" sz="1600"/>
          </a:p>
          <a:p>
            <a:endParaRPr lang="en-US" sz="1600"/>
          </a:p>
          <a:p>
            <a:endParaRPr lang="en-US" sz="1600"/>
          </a:p>
          <a:p>
            <a:r>
              <a:rPr lang="en-US" sz="1200" b="1"/>
              <a:t>Multiplexing/demultiplexing</a:t>
            </a:r>
          </a:p>
          <a:p>
            <a:pPr lvl="1"/>
            <a:r>
              <a:rPr lang="en-US" sz="1000"/>
              <a:t>Different techniques of multiplexing and demultiplexing are used throughout the layered hierarchy</a:t>
            </a:r>
          </a:p>
          <a:p>
            <a:pPr lvl="1"/>
            <a:r>
              <a:rPr lang="en-US" sz="1000"/>
              <a:t>Examples: </a:t>
            </a:r>
            <a:r>
              <a:rPr lang="en-US" sz="1000" i="1"/>
              <a:t>destination port number</a:t>
            </a:r>
            <a:r>
              <a:rPr lang="en-US" sz="1000"/>
              <a:t> (application) in TCP/UDP header; </a:t>
            </a:r>
            <a:r>
              <a:rPr lang="en-US" sz="1000" i="1"/>
              <a:t>protocol value</a:t>
            </a:r>
            <a:r>
              <a:rPr lang="en-US" sz="1000"/>
              <a:t> (TCP/UDP/ICMP/IGMP) in IP header; </a:t>
            </a:r>
            <a:r>
              <a:rPr lang="en-US" sz="1000" i="1"/>
              <a:t>frame type</a:t>
            </a:r>
            <a:r>
              <a:rPr lang="en-US" sz="1000"/>
              <a:t> (IP/ARP/RARP) in Ethernet header </a:t>
            </a:r>
          </a:p>
          <a:p>
            <a:endParaRPr lang="en-US" sz="1600"/>
          </a:p>
          <a:p>
            <a:endParaRPr lang="en-US" sz="1600"/>
          </a:p>
        </p:txBody>
      </p:sp>
      <p:sp>
        <p:nvSpPr>
          <p:cNvPr id="1229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849B05BE-F6CB-4362-B4A5-4B6C95B0AD8C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85938" y="2500313"/>
            <a:ext cx="5929312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OSI Model</a:t>
            </a:r>
          </a:p>
        </p:txBody>
      </p:sp>
      <p:sp>
        <p:nvSpPr>
          <p:cNvPr id="13315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AB725A11-3341-4D2B-AE27-08980DB94F79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3316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500313" y="2214563"/>
            <a:ext cx="4286250" cy="3357562"/>
          </a:xfrm>
          <a:noFill/>
        </p:spPr>
      </p:pic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4000500" y="5857875"/>
            <a:ext cx="1846263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/>
              <a:t>Fig 2.3 – Forouzan 3</a:t>
            </a:r>
            <a:r>
              <a:rPr lang="en-US" sz="1000" baseline="30000"/>
              <a:t>rd</a:t>
            </a:r>
            <a:r>
              <a:rPr lang="en-US" sz="1000"/>
              <a:t> edition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OSI Model (cont)</a:t>
            </a:r>
          </a:p>
        </p:txBody>
      </p:sp>
      <p:sp>
        <p:nvSpPr>
          <p:cNvPr id="14339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D563551E-22D2-433C-9845-D43BE8BAB5EE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4340" name="Picture 10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714500" y="1857375"/>
            <a:ext cx="5922963" cy="3857625"/>
          </a:xfrm>
          <a:noFill/>
        </p:spPr>
      </p:pic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3786188" y="5929313"/>
            <a:ext cx="1841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/>
              <a:t>Fig 2.4 – Forouzan 4</a:t>
            </a:r>
            <a:r>
              <a:rPr lang="en-US" sz="1000" baseline="30000"/>
              <a:t>th</a:t>
            </a:r>
            <a:r>
              <a:rPr lang="en-US" sz="1000"/>
              <a:t> edition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OSI Model (cont)</a:t>
            </a:r>
          </a:p>
        </p:txBody>
      </p:sp>
      <p:sp>
        <p:nvSpPr>
          <p:cNvPr id="15363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FC2A29DA-E0FD-417B-9E6A-57AD5CD92480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5364" name="Picture 10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357313" y="2000250"/>
            <a:ext cx="6357937" cy="3643313"/>
          </a:xfrm>
          <a:noFill/>
        </p:spPr>
      </p:pic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3571875" y="5857875"/>
            <a:ext cx="1841500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/>
              <a:t>Fig 2.5 – Forouzan 4</a:t>
            </a:r>
            <a:r>
              <a:rPr lang="en-US" sz="1000" baseline="30000"/>
              <a:t>th</a:t>
            </a:r>
            <a:r>
              <a:rPr lang="en-US" sz="1000"/>
              <a:t> edition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OSI Model (cont)</a:t>
            </a:r>
            <a:endParaRPr lang="en-US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899592" y="1916832"/>
            <a:ext cx="7439099" cy="4162425"/>
          </a:xfrm>
        </p:spPr>
        <p:txBody>
          <a:bodyPr/>
          <a:lstStyle/>
          <a:p>
            <a:r>
              <a:rPr lang="en-US" sz="1200" b="1" dirty="0"/>
              <a:t>Application layer</a:t>
            </a:r>
          </a:p>
          <a:p>
            <a:pPr lvl="1"/>
            <a:r>
              <a:rPr lang="en-US" sz="1000" b="1" i="1" dirty="0"/>
              <a:t>Service</a:t>
            </a:r>
            <a:r>
              <a:rPr lang="en-US" sz="1000" dirty="0"/>
              <a:t>: responsible for the communication management according to the specific service</a:t>
            </a:r>
          </a:p>
          <a:p>
            <a:pPr lvl="1"/>
            <a:r>
              <a:rPr lang="en-US" sz="1000" b="1" i="1" dirty="0"/>
              <a:t>Functions</a:t>
            </a:r>
            <a:r>
              <a:rPr lang="en-US" sz="1000" dirty="0"/>
              <a:t>: everything is application specific</a:t>
            </a:r>
          </a:p>
          <a:p>
            <a:pPr lvl="1"/>
            <a:r>
              <a:rPr lang="en-US" sz="1000" b="1" i="1" dirty="0"/>
              <a:t>Examples</a:t>
            </a:r>
            <a:r>
              <a:rPr lang="en-US" sz="1000" dirty="0"/>
              <a:t>: VT (Virtual Terminal); FTAM (File Transfer, Access and Management); MOTIS (Message Oriented Text Interchange Standard); ASE (Application Specific Service Elements); CASE (Common Application Service Elements); etc</a:t>
            </a:r>
          </a:p>
          <a:p>
            <a:pPr lvl="1"/>
            <a:r>
              <a:rPr lang="en-US" sz="1000" b="1" i="1" dirty="0"/>
              <a:t>Presence at TCP/IP</a:t>
            </a:r>
            <a:r>
              <a:rPr lang="en-US" sz="1000" dirty="0"/>
              <a:t>: yes</a:t>
            </a:r>
          </a:p>
          <a:p>
            <a:endParaRPr lang="en-US" sz="1600" dirty="0"/>
          </a:p>
          <a:p>
            <a:r>
              <a:rPr lang="en-US" sz="1200" b="1" dirty="0"/>
              <a:t>Presentation layer</a:t>
            </a:r>
          </a:p>
          <a:p>
            <a:pPr lvl="1"/>
            <a:r>
              <a:rPr lang="en-US" sz="1000" b="1" i="1" dirty="0"/>
              <a:t>Service</a:t>
            </a:r>
            <a:r>
              <a:rPr lang="en-US" sz="1000" dirty="0"/>
              <a:t>: provision of common operations on the data structures being exchanged (i.e., freedom from compatibility problems)</a:t>
            </a:r>
          </a:p>
          <a:p>
            <a:pPr lvl="1"/>
            <a:r>
              <a:rPr lang="en-US" sz="1000" b="1" i="1" dirty="0"/>
              <a:t>Functions</a:t>
            </a:r>
            <a:r>
              <a:rPr lang="en-US" sz="1000" dirty="0"/>
              <a:t>: VT support; syntax conversion; cryptography; compression</a:t>
            </a:r>
          </a:p>
          <a:p>
            <a:pPr lvl="1"/>
            <a:r>
              <a:rPr lang="en-US" sz="1000" b="1" i="1" dirty="0"/>
              <a:t>Examples</a:t>
            </a:r>
            <a:r>
              <a:rPr lang="en-US" sz="1000" dirty="0"/>
              <a:t>: ISO presentation protocols; ASN1 (Abstract Syntax Notation 1; universal, for both OSI and TCP/IP)</a:t>
            </a:r>
          </a:p>
          <a:p>
            <a:pPr lvl="1"/>
            <a:r>
              <a:rPr lang="en-US" sz="1000" b="1" i="1" dirty="0"/>
              <a:t>Presence at TCP/IP</a:t>
            </a:r>
            <a:r>
              <a:rPr lang="en-US" sz="1000" dirty="0"/>
              <a:t>: no, it disappears; moved to the Operating System (OS)</a:t>
            </a:r>
          </a:p>
          <a:p>
            <a:endParaRPr lang="en-US" sz="1200" dirty="0"/>
          </a:p>
          <a:p>
            <a:r>
              <a:rPr lang="en-US" sz="1200" b="1" dirty="0"/>
              <a:t>Session Layer</a:t>
            </a:r>
          </a:p>
          <a:p>
            <a:pPr lvl="1"/>
            <a:r>
              <a:rPr lang="en-US" sz="1000" b="1" i="1" dirty="0"/>
              <a:t>Service</a:t>
            </a:r>
            <a:r>
              <a:rPr lang="en-US" sz="1000" dirty="0"/>
              <a:t>: provision of proper control structure for the specific service, i.e., supports the dialog between cooperating application programs</a:t>
            </a:r>
          </a:p>
          <a:p>
            <a:pPr lvl="1"/>
            <a:r>
              <a:rPr lang="en-US" sz="1000" b="1" i="1" dirty="0"/>
              <a:t>Functions</a:t>
            </a:r>
            <a:r>
              <a:rPr lang="en-US" sz="1000" dirty="0"/>
              <a:t>: session establishment, management and termination (moved to TCP at TCP/IP); synchronization (moved to application at TCP/IP); recovery (moved to OS at TCP/IP)</a:t>
            </a:r>
          </a:p>
          <a:p>
            <a:pPr lvl="1"/>
            <a:r>
              <a:rPr lang="en-US" sz="1000" b="1" i="1" dirty="0"/>
              <a:t>Examples</a:t>
            </a:r>
            <a:r>
              <a:rPr lang="en-US" sz="1000" dirty="0"/>
              <a:t>: RPC (Remote Procedure Call); ISO session protocol</a:t>
            </a:r>
          </a:p>
          <a:p>
            <a:pPr lvl="1"/>
            <a:r>
              <a:rPr lang="en-US" sz="1000" b="1" i="1" dirty="0"/>
              <a:t>Presence at TCP/IP</a:t>
            </a:r>
            <a:r>
              <a:rPr lang="en-US" sz="1000" dirty="0"/>
              <a:t>: no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317EA927-43F9-4A8C-AF97-0E164DC73996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OSI Model (cont)</a:t>
            </a:r>
            <a:endParaRPr lang="en-US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200" b="1" dirty="0"/>
              <a:t>Transport layer</a:t>
            </a:r>
          </a:p>
          <a:p>
            <a:pPr lvl="1"/>
            <a:r>
              <a:rPr lang="en-US" sz="1000" b="1" i="1" dirty="0"/>
              <a:t>Service</a:t>
            </a:r>
            <a:r>
              <a:rPr lang="en-US" sz="1000" dirty="0"/>
              <a:t>: responsible for the provision of a reliable and transparent data transfer between end users</a:t>
            </a:r>
          </a:p>
          <a:p>
            <a:pPr lvl="1"/>
            <a:r>
              <a:rPr lang="en-US" sz="1000" b="1" i="1" dirty="0"/>
              <a:t>Functions</a:t>
            </a:r>
            <a:r>
              <a:rPr lang="en-US" sz="1000" dirty="0"/>
              <a:t>: connection establishment, management and termination; error control; flow control; message delivery; multiplexing</a:t>
            </a:r>
          </a:p>
          <a:p>
            <a:pPr lvl="1"/>
            <a:r>
              <a:rPr lang="en-US" sz="1000" b="1" i="1" dirty="0"/>
              <a:t>Examples</a:t>
            </a:r>
            <a:r>
              <a:rPr lang="en-US" sz="1000" dirty="0"/>
              <a:t>: ISO TP0-TP4</a:t>
            </a:r>
          </a:p>
          <a:p>
            <a:pPr lvl="1"/>
            <a:r>
              <a:rPr lang="en-US" sz="1000" b="1" i="1" dirty="0"/>
              <a:t>Presence at TCP/IP</a:t>
            </a:r>
            <a:r>
              <a:rPr lang="en-US" sz="1000" dirty="0"/>
              <a:t>: yes</a:t>
            </a:r>
          </a:p>
          <a:p>
            <a:pPr lvl="1"/>
            <a:endParaRPr lang="en-US" sz="1200" b="1" dirty="0"/>
          </a:p>
          <a:p>
            <a:r>
              <a:rPr lang="en-US" sz="1200" b="1" dirty="0"/>
              <a:t>Network layer</a:t>
            </a:r>
          </a:p>
          <a:p>
            <a:pPr lvl="1"/>
            <a:r>
              <a:rPr lang="en-US" sz="1000" b="1" i="1" dirty="0"/>
              <a:t>Service</a:t>
            </a:r>
            <a:r>
              <a:rPr lang="en-US" sz="1000" dirty="0"/>
              <a:t>: to make the upper layers independent of the topology, data transmission, routing and switching considerations</a:t>
            </a:r>
          </a:p>
          <a:p>
            <a:pPr lvl="1"/>
            <a:r>
              <a:rPr lang="en-US" sz="1000" b="1" i="1" dirty="0"/>
              <a:t>Functions</a:t>
            </a:r>
            <a:r>
              <a:rPr lang="en-US" sz="1000" dirty="0"/>
              <a:t>: routing and switching functions needed to establish, maintain and terminate switched connections and transfer data between hosts, i.e., routing, addressing, switching and congestion control</a:t>
            </a:r>
          </a:p>
          <a:p>
            <a:pPr lvl="1"/>
            <a:r>
              <a:rPr lang="en-US" sz="1000" b="1" i="1" dirty="0"/>
              <a:t>Examples</a:t>
            </a:r>
            <a:r>
              <a:rPr lang="en-US" sz="1000" dirty="0"/>
              <a:t>: X.25; CLNP (corresponds to IP)</a:t>
            </a:r>
          </a:p>
          <a:p>
            <a:pPr lvl="1"/>
            <a:r>
              <a:rPr lang="en-US" sz="1000" b="1" i="1" dirty="0"/>
              <a:t>Presence at TCP/IP</a:t>
            </a:r>
            <a:r>
              <a:rPr lang="en-US" sz="1000" dirty="0"/>
              <a:t>: yes</a:t>
            </a:r>
          </a:p>
          <a:p>
            <a:endParaRPr lang="en-US" sz="1200" b="1" dirty="0"/>
          </a:p>
          <a:p>
            <a:r>
              <a:rPr lang="en-US" sz="1200" b="1" dirty="0"/>
              <a:t>Data link layer</a:t>
            </a:r>
          </a:p>
          <a:p>
            <a:pPr lvl="1"/>
            <a:r>
              <a:rPr lang="en-US" sz="1000" b="1" i="1" dirty="0"/>
              <a:t>Service</a:t>
            </a:r>
            <a:r>
              <a:rPr lang="en-US" sz="1000" dirty="0"/>
              <a:t>: responsible for the reliable transfer of data across the links</a:t>
            </a:r>
          </a:p>
          <a:p>
            <a:pPr lvl="1"/>
            <a:r>
              <a:rPr lang="en-US" sz="1000" b="1" i="1" dirty="0"/>
              <a:t>Functions</a:t>
            </a:r>
            <a:r>
              <a:rPr lang="en-US" sz="1000" dirty="0"/>
              <a:t>: synchronization/framing; error control; flow control</a:t>
            </a:r>
          </a:p>
          <a:p>
            <a:pPr lvl="1"/>
            <a:r>
              <a:rPr lang="en-US" sz="1000" b="1" i="1" dirty="0"/>
              <a:t>Examples</a:t>
            </a:r>
            <a:r>
              <a:rPr lang="en-US" sz="1000" dirty="0"/>
              <a:t>: HDLC; LAP-B; LAP-D</a:t>
            </a:r>
          </a:p>
          <a:p>
            <a:pPr lvl="1"/>
            <a:r>
              <a:rPr lang="en-US" sz="1000" b="1" i="1" dirty="0"/>
              <a:t>Presence at TCP/IP</a:t>
            </a:r>
            <a:r>
              <a:rPr lang="en-US" sz="1000" dirty="0"/>
              <a:t>: yes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9DD2F443-D132-4F14-B7C7-C554B68398F9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OSI Model (cont)</a:t>
            </a:r>
            <a:endParaRPr lang="en-US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200" b="1" dirty="0"/>
              <a:t>Physical layer</a:t>
            </a:r>
          </a:p>
          <a:p>
            <a:pPr lvl="1"/>
            <a:r>
              <a:rPr lang="en-US" sz="1000" b="1" i="1" dirty="0"/>
              <a:t>Service</a:t>
            </a:r>
            <a:r>
              <a:rPr lang="en-US" sz="1000" dirty="0"/>
              <a:t>: responsible for the transmission of bits across the physical medium ensuring reliable delivery of 0`s and 1`s</a:t>
            </a:r>
          </a:p>
          <a:p>
            <a:pPr lvl="1"/>
            <a:r>
              <a:rPr lang="en-US" sz="1000" b="1" i="1" dirty="0"/>
              <a:t>Functions</a:t>
            </a:r>
            <a:r>
              <a:rPr lang="en-US" sz="1000" dirty="0"/>
              <a:t>: conversion of bits into electrical or optical signals; data transmission</a:t>
            </a:r>
          </a:p>
          <a:p>
            <a:pPr lvl="1"/>
            <a:r>
              <a:rPr lang="en-US" sz="1000" b="1" i="1" dirty="0"/>
              <a:t>Examples</a:t>
            </a:r>
            <a:r>
              <a:rPr lang="en-US" sz="1000" dirty="0"/>
              <a:t>: X.21; RS-232</a:t>
            </a:r>
          </a:p>
          <a:p>
            <a:pPr lvl="1"/>
            <a:r>
              <a:rPr lang="en-US" sz="1000" b="1" i="1" dirty="0"/>
              <a:t>Presence at TCP/IP</a:t>
            </a:r>
            <a:r>
              <a:rPr lang="en-US" sz="1000" dirty="0"/>
              <a:t>: yes</a:t>
            </a:r>
          </a:p>
          <a:p>
            <a:endParaRPr lang="en-US" sz="1200" dirty="0"/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E7000979-3F36-407E-B116-2026114ADA94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OSI Model (cont)</a:t>
            </a:r>
            <a:endParaRPr lang="en-US"/>
          </a:p>
        </p:txBody>
      </p:sp>
      <p:sp>
        <p:nvSpPr>
          <p:cNvPr id="19459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9D84D7FA-2E3F-4518-A49B-D5711D6FF13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9460" name="Picture 10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643063" y="2071688"/>
            <a:ext cx="5929312" cy="3043237"/>
          </a:xfrm>
          <a:noFill/>
        </p:spPr>
      </p:pic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3643313" y="5786438"/>
            <a:ext cx="1841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/>
              <a:t>Fig 2.6 – Forouzan 4</a:t>
            </a:r>
            <a:r>
              <a:rPr lang="en-US" sz="1000" baseline="30000"/>
              <a:t>th</a:t>
            </a:r>
            <a:r>
              <a:rPr lang="en-US" sz="1000"/>
              <a:t> edition</a:t>
            </a:r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3643313" y="5357813"/>
            <a:ext cx="1868487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b="1"/>
              <a:t>Summary of OSI layers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TCP/IP Model</a:t>
            </a:r>
            <a:endParaRPr lang="en-US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949324" y="1981200"/>
            <a:ext cx="7871147" cy="4114800"/>
          </a:xfrm>
        </p:spPr>
        <p:txBody>
          <a:bodyPr/>
          <a:lstStyle/>
          <a:p>
            <a:r>
              <a:rPr lang="en-US" sz="1200" b="1" dirty="0"/>
              <a:t>Two models</a:t>
            </a:r>
          </a:p>
          <a:p>
            <a:pPr lvl="1"/>
            <a:r>
              <a:rPr lang="en-US" sz="1000" b="1" i="1" dirty="0" err="1"/>
              <a:t>DoD</a:t>
            </a:r>
            <a:r>
              <a:rPr lang="en-US" sz="1000" b="1" i="1" dirty="0"/>
              <a:t> model</a:t>
            </a:r>
            <a:r>
              <a:rPr lang="en-US" sz="1000" dirty="0"/>
              <a:t>: four-layers model developed in the 1970s for the DARPA Internetwork project that grew into the Internet</a:t>
            </a:r>
          </a:p>
          <a:p>
            <a:pPr lvl="1"/>
            <a:r>
              <a:rPr lang="en-US" sz="1000" b="1" i="1" dirty="0"/>
              <a:t>TCP/IP model</a:t>
            </a:r>
            <a:r>
              <a:rPr lang="en-US" sz="1000" dirty="0"/>
              <a:t>: five-layers model that adhere to </a:t>
            </a:r>
            <a:r>
              <a:rPr lang="en-US" sz="1000" dirty="0" err="1"/>
              <a:t>DoD</a:t>
            </a:r>
            <a:r>
              <a:rPr lang="en-US" sz="1000" dirty="0"/>
              <a:t>, although OSI is sometimes preferred for new designs</a:t>
            </a:r>
          </a:p>
          <a:p>
            <a:endParaRPr lang="en-US" sz="1200" dirty="0"/>
          </a:p>
          <a:p>
            <a:r>
              <a:rPr lang="en-US" sz="1200" b="1" dirty="0" err="1"/>
              <a:t>DoD</a:t>
            </a:r>
            <a:r>
              <a:rPr lang="en-US" sz="1200" b="1" dirty="0"/>
              <a:t> (Department of Defense) model</a:t>
            </a:r>
          </a:p>
          <a:p>
            <a:pPr lvl="1"/>
            <a:r>
              <a:rPr lang="en-US" sz="1000" b="1" i="1" dirty="0"/>
              <a:t>Process layer</a:t>
            </a:r>
            <a:r>
              <a:rPr lang="en-US" sz="1000" dirty="0"/>
              <a:t>: protocols implementing user-level functions (corresponds to Application layer in TCP/IP)</a:t>
            </a:r>
          </a:p>
          <a:p>
            <a:pPr lvl="1"/>
            <a:r>
              <a:rPr lang="en-US" sz="1000" b="1" i="1" dirty="0"/>
              <a:t>Host-to-host layer</a:t>
            </a:r>
            <a:r>
              <a:rPr lang="en-US" sz="1000" dirty="0"/>
              <a:t>: handles connection rendezvous, flow control, error control and other generic data flow management (corresponds to TCP in TCP/IP)</a:t>
            </a:r>
          </a:p>
          <a:p>
            <a:pPr lvl="1"/>
            <a:r>
              <a:rPr lang="en-US" sz="1000" b="1" i="1" dirty="0"/>
              <a:t>Internet layer</a:t>
            </a:r>
            <a:r>
              <a:rPr lang="en-US" sz="1000" dirty="0"/>
              <a:t>: responsible for data delivering to destination (routing protocols, corresponds to IP in TCP/IP)</a:t>
            </a:r>
          </a:p>
          <a:p>
            <a:pPr lvl="1"/>
            <a:r>
              <a:rPr lang="en-US" sz="1000" b="1" i="1" dirty="0"/>
              <a:t>Network access layer</a:t>
            </a:r>
            <a:r>
              <a:rPr lang="en-US" sz="1000" dirty="0"/>
              <a:t>: responsible for data delivering over a particular media (corresponds to DLL and PHY in TCP/IP)</a:t>
            </a:r>
          </a:p>
          <a:p>
            <a:pPr lvl="1"/>
            <a:endParaRPr lang="en-US" sz="1200" dirty="0"/>
          </a:p>
          <a:p>
            <a:r>
              <a:rPr lang="en-US" sz="1200" b="1" dirty="0"/>
              <a:t>TCP/IP model</a:t>
            </a:r>
          </a:p>
          <a:p>
            <a:pPr lvl="1"/>
            <a:r>
              <a:rPr lang="en-US" sz="1000" b="1" i="1" dirty="0"/>
              <a:t>Application layer</a:t>
            </a:r>
            <a:r>
              <a:rPr lang="en-US" sz="1000" dirty="0"/>
              <a:t>: HTTP; FTP; Telnet; SMTP; DNS; BGP; DHCP; etc</a:t>
            </a:r>
          </a:p>
          <a:p>
            <a:pPr lvl="1"/>
            <a:r>
              <a:rPr lang="en-US" sz="1000" b="1" i="1" dirty="0"/>
              <a:t>Transport layer</a:t>
            </a:r>
            <a:r>
              <a:rPr lang="en-US" sz="1000" dirty="0"/>
              <a:t>: TCP; UDP</a:t>
            </a:r>
          </a:p>
          <a:p>
            <a:pPr lvl="1"/>
            <a:r>
              <a:rPr lang="en-US" sz="1000" b="1" i="1" dirty="0"/>
              <a:t>Internet layer</a:t>
            </a:r>
            <a:r>
              <a:rPr lang="en-US" sz="1000" dirty="0"/>
              <a:t>: IP</a:t>
            </a:r>
          </a:p>
          <a:p>
            <a:pPr lvl="1"/>
            <a:r>
              <a:rPr lang="en-US" sz="1000" b="1" i="1" dirty="0"/>
              <a:t>Network Interface layer</a:t>
            </a:r>
            <a:r>
              <a:rPr lang="en-US" sz="1000" dirty="0"/>
              <a:t>: CSMA/CD; HDLC; LAP-B; LAP-D; </a:t>
            </a:r>
          </a:p>
          <a:p>
            <a:pPr lvl="1"/>
            <a:r>
              <a:rPr lang="en-US" sz="1000" b="1" i="1" dirty="0"/>
              <a:t>Media/Hardware layer</a:t>
            </a:r>
            <a:r>
              <a:rPr lang="en-US" sz="1000" dirty="0"/>
              <a:t>: Ethernet (twisted pair; broadband coaxial; optical fiber); radio; infrared; etc</a:t>
            </a:r>
          </a:p>
          <a:p>
            <a:endParaRPr lang="en-US" sz="1600" dirty="0"/>
          </a:p>
          <a:p>
            <a:pPr lvl="1"/>
            <a:endParaRPr lang="en-US" sz="12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75753D06-7CD8-4012-B077-035E369B4B49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TCP/IP Model (cont)</a:t>
            </a:r>
            <a:endParaRPr lang="en-US"/>
          </a:p>
        </p:txBody>
      </p:sp>
      <p:sp>
        <p:nvSpPr>
          <p:cNvPr id="21507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31FBDAA3-7D4F-4BCF-ABEB-C0DFF2454A0E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21508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214563" y="1857375"/>
            <a:ext cx="4714875" cy="3500438"/>
          </a:xfrm>
          <a:noFill/>
        </p:spPr>
      </p:pic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3714750" y="5572125"/>
            <a:ext cx="18018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b="1"/>
              <a:t>TCP/IP and OSI model</a:t>
            </a: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3643313" y="6000750"/>
            <a:ext cx="1917700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/>
              <a:t>Fig 2.15 – Forouzan 3</a:t>
            </a:r>
            <a:r>
              <a:rPr lang="en-US" sz="1000" baseline="30000"/>
              <a:t>rd</a:t>
            </a:r>
            <a:r>
              <a:rPr lang="en-US" sz="1000"/>
              <a:t> edition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TCP/IP Model (cont)</a:t>
            </a:r>
            <a:endParaRPr lang="en-US"/>
          </a:p>
        </p:txBody>
      </p:sp>
      <p:sp>
        <p:nvSpPr>
          <p:cNvPr id="22531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CEE6F7A3-7886-4AC9-A815-CA3D78B584C7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22532" name="Picture 10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2571750" y="2000250"/>
            <a:ext cx="4433888" cy="3429000"/>
          </a:xfrm>
          <a:noFill/>
        </p:spPr>
      </p:pic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2643188" y="5643563"/>
            <a:ext cx="3624262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b="1"/>
              <a:t>Relationship of layers and addresses in TCP/IP</a:t>
            </a:r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3500438" y="6000750"/>
            <a:ext cx="1917700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/>
              <a:t>Fig 2.17 – Forouzan 3</a:t>
            </a:r>
            <a:r>
              <a:rPr lang="en-US" sz="1000" baseline="30000"/>
              <a:t>rd</a:t>
            </a:r>
            <a:r>
              <a:rPr lang="en-US" sz="1000"/>
              <a:t> edition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Network Organization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928688" y="1785938"/>
            <a:ext cx="7837487" cy="4162425"/>
          </a:xfrm>
        </p:spPr>
        <p:txBody>
          <a:bodyPr/>
          <a:lstStyle/>
          <a:p>
            <a:r>
              <a:rPr lang="sv-SE" sz="1200" b="1"/>
              <a:t>Highest level: continental backbone network (continental ingress/egress routers)</a:t>
            </a:r>
          </a:p>
          <a:p>
            <a:pPr lvl="1"/>
            <a:r>
              <a:rPr lang="sv-SE" sz="1000"/>
              <a:t>Geographically distributed set of very high throughput routers interconnected by very high bit rate lines leased from one or more network providers</a:t>
            </a:r>
          </a:p>
          <a:p>
            <a:pPr lvl="1"/>
            <a:endParaRPr lang="sv-SE" sz="1000"/>
          </a:p>
          <a:p>
            <a:r>
              <a:rPr lang="sv-SE" sz="1200" b="1"/>
              <a:t>Same level: core backbone network (continental routers)</a:t>
            </a:r>
          </a:p>
          <a:p>
            <a:pPr lvl="1"/>
            <a:r>
              <a:rPr lang="sv-SE" sz="1000"/>
              <a:t>The </a:t>
            </a:r>
            <a:r>
              <a:rPr lang="en-US" sz="1000"/>
              <a:t>continental</a:t>
            </a:r>
            <a:r>
              <a:rPr lang="sv-SE" sz="1000"/>
              <a:t> backbones are interconnected by means of a core backbone network consisting of a small number of very high throughput (intercontinental) routers and leased lines</a:t>
            </a:r>
          </a:p>
          <a:p>
            <a:pPr lvl="1"/>
            <a:endParaRPr lang="sv-SE" sz="1000"/>
          </a:p>
          <a:p>
            <a:r>
              <a:rPr lang="sv-SE" sz="1200" b="1"/>
              <a:t>Second level: regional and/or national networks (national routers)</a:t>
            </a:r>
          </a:p>
          <a:p>
            <a:pPr lvl="1"/>
            <a:r>
              <a:rPr lang="sv-SE" sz="1000"/>
              <a:t>Geographically distributed set of high throughput routers interconnected by high bit rate leased lines; also, some legacy networks operating a different protocol stack from TCP/IP</a:t>
            </a:r>
          </a:p>
          <a:p>
            <a:pPr lvl="1"/>
            <a:endParaRPr lang="sv-SE" sz="1000"/>
          </a:p>
          <a:p>
            <a:r>
              <a:rPr lang="sv-SE" sz="1200" b="1"/>
              <a:t>Next level: access networks (national ingress/egress routers)</a:t>
            </a:r>
          </a:p>
          <a:p>
            <a:pPr lvl="1"/>
            <a:r>
              <a:rPr lang="sv-SE" sz="1000"/>
              <a:t>Networks attached to one of the regional/national networks/internetworks by means of either an IP access network gateway or the so-called multiprotocol gateway (to access networks with protocol stacks different from TCP/IP), e.g., LAN, diverse ISP networks, enterprise networks</a:t>
            </a:r>
          </a:p>
          <a:p>
            <a:pPr lvl="1"/>
            <a:endParaRPr lang="sv-SE" sz="1000"/>
          </a:p>
          <a:p>
            <a:r>
              <a:rPr lang="sv-SE" sz="1200" b="1"/>
              <a:t>Lowest level: hosts</a:t>
            </a:r>
          </a:p>
          <a:p>
            <a:endParaRPr lang="sv-SE" sz="1600"/>
          </a:p>
          <a:p>
            <a:endParaRPr lang="sv-SE" sz="1600"/>
          </a:p>
          <a:p>
            <a:endParaRPr lang="sv-SE" sz="1200"/>
          </a:p>
          <a:p>
            <a:endParaRPr lang="sv-SE" sz="1600"/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F32281DE-86C7-4A23-8DD0-D89B5190E81D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Network Technologies</a:t>
            </a:r>
            <a:endParaRPr lang="en-US"/>
          </a:p>
        </p:txBody>
      </p:sp>
      <p:sp>
        <p:nvSpPr>
          <p:cNvPr id="24579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988840"/>
            <a:ext cx="4320480" cy="4162425"/>
          </a:xfrm>
        </p:spPr>
        <p:txBody>
          <a:bodyPr/>
          <a:lstStyle/>
          <a:p>
            <a:r>
              <a:rPr lang="en-US" sz="1200" b="1" dirty="0"/>
              <a:t>Types of communication networks</a:t>
            </a:r>
          </a:p>
          <a:p>
            <a:pPr lvl="1"/>
            <a:r>
              <a:rPr lang="en-US" sz="1000" dirty="0"/>
              <a:t>Telephone Networks (PSTN)</a:t>
            </a:r>
          </a:p>
          <a:p>
            <a:pPr lvl="1"/>
            <a:r>
              <a:rPr lang="en-US" sz="1000" dirty="0"/>
              <a:t>Local Area Networks (LAN): IEEE 802.3 (CSMA/CD)</a:t>
            </a:r>
          </a:p>
          <a:p>
            <a:pPr lvl="1"/>
            <a:r>
              <a:rPr lang="en-US" sz="1000" dirty="0"/>
              <a:t>Wireless Local Area Networks (WLAN): IEEE 802.11</a:t>
            </a:r>
          </a:p>
          <a:p>
            <a:pPr lvl="1"/>
            <a:r>
              <a:rPr lang="en-US" sz="1000" dirty="0"/>
              <a:t>Wide Area Networks (WAN): ADSL; CATV; SONET; FTTH; PPP; X.25; FR; ATM</a:t>
            </a:r>
          </a:p>
          <a:p>
            <a:pPr lvl="1"/>
            <a:r>
              <a:rPr lang="en-US" sz="1000" dirty="0"/>
              <a:t>Metropolitan Area Networks (MAN)</a:t>
            </a:r>
          </a:p>
          <a:p>
            <a:pPr lvl="1"/>
            <a:r>
              <a:rPr lang="en-US" sz="1000" dirty="0"/>
              <a:t>Radio Networks (RN): single-hop; multi-hop</a:t>
            </a:r>
          </a:p>
          <a:p>
            <a:pPr lvl="1"/>
            <a:r>
              <a:rPr lang="en-US" sz="1000" dirty="0"/>
              <a:t>Mobile Communication Networks (MCN): GSM; UMTS </a:t>
            </a:r>
          </a:p>
          <a:p>
            <a:pPr lvl="1"/>
            <a:r>
              <a:rPr lang="en-US" sz="1000" dirty="0"/>
              <a:t>Satellite Networks (SN)</a:t>
            </a:r>
          </a:p>
          <a:p>
            <a:pPr lvl="1"/>
            <a:r>
              <a:rPr lang="en-US" sz="1000" dirty="0"/>
              <a:t>Cable Television (CT)</a:t>
            </a:r>
          </a:p>
          <a:p>
            <a:pPr lvl="1"/>
            <a:r>
              <a:rPr lang="en-US" sz="1000" dirty="0"/>
              <a:t>…..</a:t>
            </a:r>
          </a:p>
          <a:p>
            <a:pPr lvl="1"/>
            <a:endParaRPr lang="en-US" sz="1000" dirty="0"/>
          </a:p>
          <a:p>
            <a:r>
              <a:rPr lang="en-US" sz="1200" b="1" dirty="0"/>
              <a:t>Ethernet implementations</a:t>
            </a:r>
          </a:p>
          <a:p>
            <a:pPr lvl="1"/>
            <a:r>
              <a:rPr lang="en-US" sz="1000" dirty="0"/>
              <a:t>10BASE5; 10BASE2; 10BASE-T; 10BASE-FL; </a:t>
            </a:r>
          </a:p>
          <a:p>
            <a:pPr lvl="1"/>
            <a:r>
              <a:rPr lang="en-US" sz="1000" dirty="0"/>
              <a:t>Fast Ethernet: 100BASE-TX; 100BASE-FX; 100BASE-T4;</a:t>
            </a:r>
          </a:p>
          <a:p>
            <a:pPr lvl="1"/>
            <a:r>
              <a:rPr lang="en-US" sz="1000" dirty="0"/>
              <a:t>Gigabit Ethernet: 1000BASE-SX/LX; 1000BASE-T;</a:t>
            </a:r>
          </a:p>
          <a:p>
            <a:pPr lvl="1"/>
            <a:endParaRPr lang="en-US" sz="1000" dirty="0"/>
          </a:p>
          <a:p>
            <a:r>
              <a:rPr lang="en-US" sz="1200" b="1" dirty="0"/>
              <a:t>Different standards for PHY and DLL</a:t>
            </a:r>
          </a:p>
        </p:txBody>
      </p:sp>
      <p:sp>
        <p:nvSpPr>
          <p:cNvPr id="24580" name="Content Placeholder 3"/>
          <p:cNvSpPr>
            <a:spLocks noGrp="1"/>
          </p:cNvSpPr>
          <p:nvPr>
            <p:ph sz="half" idx="2"/>
          </p:nvPr>
        </p:nvSpPr>
        <p:spPr>
          <a:xfrm>
            <a:off x="4857750" y="1785938"/>
            <a:ext cx="3643313" cy="4286250"/>
          </a:xfrm>
        </p:spPr>
        <p:txBody>
          <a:bodyPr/>
          <a:lstStyle/>
          <a:p>
            <a:r>
              <a:rPr lang="en-US" sz="1100" dirty="0"/>
              <a:t>Important parameter related to network: </a:t>
            </a:r>
            <a:r>
              <a:rPr lang="en-US" sz="1100" b="1" i="1" dirty="0"/>
              <a:t>Maximum Transmission Unit (MTU)</a:t>
            </a:r>
          </a:p>
          <a:p>
            <a:pPr lvl="1"/>
            <a:r>
              <a:rPr lang="en-US" sz="1000" dirty="0"/>
              <a:t>MTU depends upon the underlying network</a:t>
            </a:r>
          </a:p>
          <a:p>
            <a:pPr lvl="1"/>
            <a:r>
              <a:rPr lang="en-US" sz="1000" dirty="0"/>
              <a:t>Expressed in bytes</a:t>
            </a:r>
          </a:p>
          <a:p>
            <a:pPr lvl="1"/>
            <a:endParaRPr lang="en-US" sz="1000" i="1" dirty="0"/>
          </a:p>
          <a:p>
            <a:r>
              <a:rPr lang="en-US" sz="1100" dirty="0"/>
              <a:t>Examples of MTU:</a:t>
            </a:r>
          </a:p>
          <a:p>
            <a:pPr lvl="1"/>
            <a:r>
              <a:rPr lang="en-US" sz="1000" dirty="0"/>
              <a:t>1500 (Ethernet IEEE 802.3)</a:t>
            </a:r>
          </a:p>
          <a:p>
            <a:pPr lvl="1"/>
            <a:r>
              <a:rPr lang="en-US" sz="1000" dirty="0"/>
              <a:t>8191 (Token Bus IEEE 802.4)</a:t>
            </a:r>
          </a:p>
          <a:p>
            <a:pPr lvl="1"/>
            <a:r>
              <a:rPr lang="en-US" sz="1000" dirty="0"/>
              <a:t>4464 (Token Ring IEEE 802.5)</a:t>
            </a:r>
          </a:p>
          <a:p>
            <a:pPr lvl="1"/>
            <a:r>
              <a:rPr lang="en-US" sz="1000" dirty="0"/>
              <a:t>4352 (FDDI)</a:t>
            </a:r>
          </a:p>
          <a:p>
            <a:pPr lvl="1"/>
            <a:r>
              <a:rPr lang="en-US" sz="1000" dirty="0"/>
              <a:t>576 (X.25)</a:t>
            </a:r>
          </a:p>
          <a:p>
            <a:pPr lvl="1"/>
            <a:r>
              <a:rPr lang="en-US" sz="1000" dirty="0"/>
              <a:t>53 (ATM)</a:t>
            </a:r>
          </a:p>
          <a:p>
            <a:pPr lvl="1"/>
            <a:r>
              <a:rPr lang="en-US" sz="1000" dirty="0"/>
              <a:t>….</a:t>
            </a:r>
          </a:p>
          <a:p>
            <a:pPr lvl="1"/>
            <a:endParaRPr lang="en-US" sz="1000" dirty="0"/>
          </a:p>
          <a:p>
            <a:r>
              <a:rPr lang="en-US" sz="1100" dirty="0"/>
              <a:t>In order to avoid segmentation, one needs to know the so-called </a:t>
            </a:r>
            <a:r>
              <a:rPr lang="en-US" sz="1100" b="1" i="1" dirty="0"/>
              <a:t>Path MTU</a:t>
            </a:r>
            <a:r>
              <a:rPr lang="en-US" sz="1100" dirty="0"/>
              <a:t>, which is the smallest MTU of the e2e path</a:t>
            </a:r>
          </a:p>
          <a:p>
            <a:endParaRPr lang="en-US" sz="1100" dirty="0"/>
          </a:p>
          <a:p>
            <a:r>
              <a:rPr lang="en-US" sz="1100" dirty="0"/>
              <a:t>Besides MTU, there is also a minimum transmission unit, e.g., 64 bytes (Ethernet)</a:t>
            </a:r>
          </a:p>
          <a:p>
            <a:endParaRPr lang="en-US" sz="1100" dirty="0"/>
          </a:p>
          <a:p>
            <a:r>
              <a:rPr lang="en-US" sz="1100" dirty="0"/>
              <a:t>IP has also a maximum datagram length (header plus data) of 65,536 bytes</a:t>
            </a:r>
          </a:p>
        </p:txBody>
      </p:sp>
      <p:sp>
        <p:nvSpPr>
          <p:cNvPr id="2458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B25944F4-D4A0-4206-9968-9BB0350A9680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Network Technologies (cont)</a:t>
            </a:r>
            <a:endParaRPr lang="en-US"/>
          </a:p>
        </p:txBody>
      </p:sp>
      <p:sp>
        <p:nvSpPr>
          <p:cNvPr id="25603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DA122631-86A7-47CE-8B7B-223F0FC62657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25604" name="Picture 10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785938" y="2000250"/>
            <a:ext cx="5715000" cy="3214688"/>
          </a:xfrm>
          <a:noFill/>
        </p:spPr>
      </p:pic>
      <p:sp>
        <p:nvSpPr>
          <p:cNvPr id="25605" name="Rectangle 6"/>
          <p:cNvSpPr>
            <a:spLocks noChangeArrowheads="1"/>
          </p:cNvSpPr>
          <p:nvPr/>
        </p:nvSpPr>
        <p:spPr bwMode="auto">
          <a:xfrm>
            <a:off x="3714750" y="5929313"/>
            <a:ext cx="1846263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/>
              <a:t>Fig 3.1 – Forouzan 3</a:t>
            </a:r>
            <a:r>
              <a:rPr lang="en-US" sz="1000" baseline="30000"/>
              <a:t>rd</a:t>
            </a:r>
            <a:r>
              <a:rPr lang="en-US" sz="1000"/>
              <a:t> edition</a:t>
            </a:r>
          </a:p>
        </p:txBody>
      </p:sp>
      <p:sp>
        <p:nvSpPr>
          <p:cNvPr id="25606" name="Rectangle 5"/>
          <p:cNvSpPr>
            <a:spLocks noChangeArrowheads="1"/>
          </p:cNvSpPr>
          <p:nvPr/>
        </p:nvSpPr>
        <p:spPr bwMode="auto">
          <a:xfrm>
            <a:off x="4071938" y="5429250"/>
            <a:ext cx="1246187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b="1"/>
              <a:t>Internet model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Network Technologies (cont)</a:t>
            </a:r>
            <a:endParaRPr lang="en-US"/>
          </a:p>
        </p:txBody>
      </p:sp>
      <p:sp>
        <p:nvSpPr>
          <p:cNvPr id="26627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9772FD66-75DC-4CE7-9DD8-9F05BF0F7BD6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26628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71563" y="4286250"/>
            <a:ext cx="5214937" cy="112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6715125" y="2643188"/>
            <a:ext cx="1293813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b="1"/>
              <a:t>Ethernet layers</a:t>
            </a:r>
          </a:p>
        </p:txBody>
      </p:sp>
      <p:sp>
        <p:nvSpPr>
          <p:cNvPr id="26630" name="Rectangle 5"/>
          <p:cNvSpPr>
            <a:spLocks noChangeArrowheads="1"/>
          </p:cNvSpPr>
          <p:nvPr/>
        </p:nvSpPr>
        <p:spPr bwMode="auto">
          <a:xfrm>
            <a:off x="6786563" y="4643438"/>
            <a:ext cx="1268412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b="1"/>
              <a:t>Ethernet frame</a:t>
            </a:r>
          </a:p>
        </p:txBody>
      </p:sp>
      <p:sp>
        <p:nvSpPr>
          <p:cNvPr id="26631" name="Rectangle 6"/>
          <p:cNvSpPr>
            <a:spLocks noChangeArrowheads="1"/>
          </p:cNvSpPr>
          <p:nvPr/>
        </p:nvSpPr>
        <p:spPr bwMode="auto">
          <a:xfrm>
            <a:off x="6429375" y="3071813"/>
            <a:ext cx="1841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/>
              <a:t>Fig 3.1 – Forouzan 4</a:t>
            </a:r>
            <a:r>
              <a:rPr lang="en-US" sz="1000" baseline="30000"/>
              <a:t>th</a:t>
            </a:r>
            <a:r>
              <a:rPr lang="en-US" sz="1000"/>
              <a:t> edition</a:t>
            </a:r>
          </a:p>
        </p:txBody>
      </p:sp>
      <p:sp>
        <p:nvSpPr>
          <p:cNvPr id="26632" name="Rectangle 6"/>
          <p:cNvSpPr>
            <a:spLocks noChangeArrowheads="1"/>
          </p:cNvSpPr>
          <p:nvPr/>
        </p:nvSpPr>
        <p:spPr bwMode="auto">
          <a:xfrm>
            <a:off x="6500813" y="5072063"/>
            <a:ext cx="1841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/>
              <a:t>Fig 3.2 – Forouzan 4</a:t>
            </a:r>
            <a:r>
              <a:rPr lang="en-US" sz="1000" baseline="30000"/>
              <a:t>th</a:t>
            </a:r>
            <a:r>
              <a:rPr lang="en-US" sz="1000"/>
              <a:t> edition</a:t>
            </a:r>
          </a:p>
        </p:txBody>
      </p:sp>
      <p:pic>
        <p:nvPicPr>
          <p:cNvPr id="26633" name="Picture 11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071563" y="2286000"/>
            <a:ext cx="5194300" cy="1571625"/>
          </a:xfr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Internet Standards</a:t>
            </a:r>
            <a:endParaRPr lang="en-US"/>
          </a:p>
        </p:txBody>
      </p:sp>
      <p:sp>
        <p:nvSpPr>
          <p:cNvPr id="27651" name="Content Placeholder 2"/>
          <p:cNvSpPr>
            <a:spLocks noGrp="1"/>
          </p:cNvSpPr>
          <p:nvPr>
            <p:ph sz="half" idx="1"/>
          </p:nvPr>
        </p:nvSpPr>
        <p:spPr>
          <a:xfrm>
            <a:off x="642938" y="2286000"/>
            <a:ext cx="4071937" cy="3429000"/>
          </a:xfrm>
        </p:spPr>
        <p:txBody>
          <a:bodyPr/>
          <a:lstStyle/>
          <a:p>
            <a:r>
              <a:rPr lang="en-US" sz="1200" b="1"/>
              <a:t>Groups that coordinate diverse Internet issues</a:t>
            </a:r>
          </a:p>
          <a:p>
            <a:pPr lvl="1"/>
            <a:endParaRPr lang="en-US" sz="1000"/>
          </a:p>
          <a:p>
            <a:pPr lvl="1"/>
            <a:r>
              <a:rPr lang="en-US" sz="1000"/>
              <a:t>Internet Society (ISOC)</a:t>
            </a:r>
          </a:p>
          <a:p>
            <a:pPr lvl="1"/>
            <a:r>
              <a:rPr lang="en-US" sz="1000"/>
              <a:t>Internet Architecture Board (IAB)</a:t>
            </a:r>
          </a:p>
          <a:p>
            <a:pPr lvl="1"/>
            <a:r>
              <a:rPr lang="en-US" sz="1000" b="1"/>
              <a:t>Internet Engineering Task Force (IETF)</a:t>
            </a:r>
          </a:p>
          <a:p>
            <a:pPr lvl="1"/>
            <a:r>
              <a:rPr lang="en-US" sz="1000"/>
              <a:t>Internet Research Task Force (IRTF)</a:t>
            </a:r>
          </a:p>
          <a:p>
            <a:pPr lvl="1"/>
            <a:r>
              <a:rPr lang="en-US" sz="1000"/>
              <a:t>Internet Engineering Steering Group (IESG)</a:t>
            </a:r>
          </a:p>
          <a:p>
            <a:pPr lvl="1"/>
            <a:r>
              <a:rPr lang="en-US" sz="1000"/>
              <a:t>Internet Research Steering Group (IRSG)</a:t>
            </a:r>
          </a:p>
          <a:p>
            <a:pPr lvl="1"/>
            <a:r>
              <a:rPr lang="en-US" sz="1000" b="1"/>
              <a:t>Internet Assigned Numbers Authority (IANA)</a:t>
            </a:r>
          </a:p>
          <a:p>
            <a:pPr lvl="1"/>
            <a:r>
              <a:rPr lang="en-US" sz="1000" b="1"/>
              <a:t>Internet Cooperation for Assigned Names and Numbers (ICANN)</a:t>
            </a:r>
          </a:p>
          <a:p>
            <a:pPr lvl="1"/>
            <a:r>
              <a:rPr lang="en-US" sz="1000"/>
              <a:t>Network Information Center (NIC)</a:t>
            </a:r>
          </a:p>
          <a:p>
            <a:endParaRPr lang="en-US" sz="1600"/>
          </a:p>
        </p:txBody>
      </p:sp>
      <p:sp>
        <p:nvSpPr>
          <p:cNvPr id="27652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F64A3915-9AFE-41B0-ACB8-C3780311760C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27653" name="Picture 11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5000625" y="2357438"/>
            <a:ext cx="3500438" cy="2643187"/>
          </a:xfrm>
          <a:noFill/>
        </p:spPr>
      </p:pic>
      <p:sp>
        <p:nvSpPr>
          <p:cNvPr id="27654" name="Rectangle 5"/>
          <p:cNvSpPr>
            <a:spLocks noChangeArrowheads="1"/>
          </p:cNvSpPr>
          <p:nvPr/>
        </p:nvSpPr>
        <p:spPr bwMode="auto">
          <a:xfrm>
            <a:off x="5929313" y="5143500"/>
            <a:ext cx="1852612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 b="1"/>
              <a:t>Internet administration</a:t>
            </a:r>
          </a:p>
        </p:txBody>
      </p:sp>
      <p:sp>
        <p:nvSpPr>
          <p:cNvPr id="27655" name="Rectangle 6"/>
          <p:cNvSpPr>
            <a:spLocks noChangeArrowheads="1"/>
          </p:cNvSpPr>
          <p:nvPr/>
        </p:nvSpPr>
        <p:spPr bwMode="auto">
          <a:xfrm>
            <a:off x="5857875" y="5500688"/>
            <a:ext cx="1841500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000"/>
              <a:t>Fig 1.4 – Forouzan 4</a:t>
            </a:r>
            <a:r>
              <a:rPr lang="en-US" sz="1000" baseline="30000"/>
              <a:t>th</a:t>
            </a:r>
            <a:r>
              <a:rPr lang="en-US" sz="1000"/>
              <a:t> edition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Useful Addresses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200" b="1"/>
              <a:t>Internet history</a:t>
            </a:r>
          </a:p>
          <a:p>
            <a:pPr lvl="1"/>
            <a:r>
              <a:rPr lang="en-US" sz="1000">
                <a:hlinkClick r:id="rId2"/>
              </a:rPr>
              <a:t>http://www.isoc.org/internet/history/</a:t>
            </a:r>
            <a:endParaRPr lang="en-US" sz="1000"/>
          </a:p>
          <a:p>
            <a:pPr lvl="1"/>
            <a:endParaRPr lang="en-US" sz="1200"/>
          </a:p>
          <a:p>
            <a:r>
              <a:rPr lang="en-US" sz="1200" b="1"/>
              <a:t>Internet trends and surveys</a:t>
            </a:r>
          </a:p>
          <a:p>
            <a:pPr lvl="1"/>
            <a:r>
              <a:rPr lang="en-US" sz="1000">
                <a:hlinkClick r:id="rId3"/>
              </a:rPr>
              <a:t>http://www.isoc.org/internet/stats/</a:t>
            </a:r>
            <a:endParaRPr lang="en-US" sz="1000"/>
          </a:p>
          <a:p>
            <a:pPr lvl="1"/>
            <a:r>
              <a:rPr lang="en-US" sz="1000">
                <a:hlinkClick r:id="rId4"/>
              </a:rPr>
              <a:t>https://www.isc.org/</a:t>
            </a:r>
            <a:endParaRPr lang="en-US" sz="1000"/>
          </a:p>
          <a:p>
            <a:pPr lvl="1"/>
            <a:r>
              <a:rPr lang="en-US" sz="1000">
                <a:hlinkClick r:id="rId5"/>
              </a:rPr>
              <a:t>http://www.domainstats.com/</a:t>
            </a:r>
            <a:endParaRPr lang="en-US" sz="1000"/>
          </a:p>
          <a:p>
            <a:pPr lvl="1"/>
            <a:r>
              <a:rPr lang="en-US" sz="1000">
                <a:hlinkClick r:id="rId6"/>
              </a:rPr>
              <a:t>http://news.netcraft.com/</a:t>
            </a:r>
            <a:endParaRPr lang="en-US" sz="1000"/>
          </a:p>
          <a:p>
            <a:pPr lvl="1"/>
            <a:r>
              <a:rPr lang="en-US" sz="1000">
                <a:hlinkClick r:id="rId7"/>
              </a:rPr>
              <a:t>http://www.nua.ie/surveys/index.html</a:t>
            </a:r>
            <a:endParaRPr lang="en-US" sz="1000"/>
          </a:p>
          <a:p>
            <a:pPr lvl="1"/>
            <a:r>
              <a:rPr lang="en-US" sz="1000">
                <a:hlinkClick r:id="rId8"/>
              </a:rPr>
              <a:t>http://www.ripe.net/</a:t>
            </a:r>
            <a:endParaRPr lang="en-US" sz="1000"/>
          </a:p>
          <a:p>
            <a:pPr lvl="1"/>
            <a:endParaRPr lang="en-US" sz="1200"/>
          </a:p>
          <a:p>
            <a:r>
              <a:rPr lang="en-US" sz="1200" b="1"/>
              <a:t>IETF: Internet specifications</a:t>
            </a:r>
          </a:p>
          <a:p>
            <a:pPr lvl="1"/>
            <a:r>
              <a:rPr lang="en-US" sz="1000">
                <a:hlinkClick r:id="rId9"/>
              </a:rPr>
              <a:t>http://www.ietf.org</a:t>
            </a:r>
            <a:endParaRPr lang="en-US" sz="1000"/>
          </a:p>
          <a:p>
            <a:pPr lvl="1"/>
            <a:endParaRPr lang="en-US" sz="1200"/>
          </a:p>
          <a:p>
            <a:endParaRPr lang="en-US" sz="1600"/>
          </a:p>
          <a:p>
            <a:endParaRPr lang="en-US" sz="1600"/>
          </a:p>
        </p:txBody>
      </p:sp>
      <p:sp>
        <p:nvSpPr>
          <p:cNvPr id="28676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7BFFBD69-633E-4016-A2E2-CF49C2D11A4D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Internet Users</a:t>
            </a:r>
          </a:p>
        </p:txBody>
      </p:sp>
      <p:sp>
        <p:nvSpPr>
          <p:cNvPr id="29699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184B6A5F-8EB2-4320-A650-E45D8B61A1A7}" type="slidenum">
              <a:rPr lang="en-US" smtClean="0"/>
              <a:pPr/>
              <a:t>27</a:t>
            </a:fld>
            <a:endParaRPr lang="en-US"/>
          </a:p>
        </p:txBody>
      </p:sp>
      <p:pic>
        <p:nvPicPr>
          <p:cNvPr id="2970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857250" y="2071688"/>
            <a:ext cx="3643313" cy="3000375"/>
          </a:xfrm>
          <a:noFill/>
        </p:spPr>
      </p:pic>
      <p:pic>
        <p:nvPicPr>
          <p:cNvPr id="2970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3500" y="2357438"/>
            <a:ext cx="3309938" cy="2443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2" name="Rectangle 6"/>
          <p:cNvSpPr>
            <a:spLocks noChangeArrowheads="1"/>
          </p:cNvSpPr>
          <p:nvPr/>
        </p:nvSpPr>
        <p:spPr bwMode="auto">
          <a:xfrm>
            <a:off x="2643188" y="5357813"/>
            <a:ext cx="41433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200"/>
              <a:t>Source: </a:t>
            </a:r>
            <a:r>
              <a:rPr lang="en-US" sz="1200">
                <a:hlinkClick r:id="rId4"/>
              </a:rPr>
              <a:t>http://www.internetworldstats.com/stats.htm</a:t>
            </a:r>
            <a:r>
              <a:rPr lang="en-US" sz="1200"/>
              <a:t> August 2009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b="1"/>
              <a:t>References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949325" y="1981200"/>
            <a:ext cx="6980238" cy="4114800"/>
          </a:xfrm>
        </p:spPr>
        <p:txBody>
          <a:bodyPr/>
          <a:lstStyle/>
          <a:p>
            <a:r>
              <a:rPr lang="sv-SE" sz="1200"/>
              <a:t>Forouzan B.F,”TCP/IP Protocol Suite”, 4</a:t>
            </a:r>
            <a:r>
              <a:rPr lang="sv-SE" sz="1200" baseline="30000"/>
              <a:t>th</a:t>
            </a:r>
            <a:r>
              <a:rPr lang="sv-SE" sz="1200"/>
              <a:t> edition, McGraw-Hill, chapters 1, 2, 3</a:t>
            </a:r>
          </a:p>
          <a:p>
            <a:endParaRPr lang="sv-SE" sz="1200"/>
          </a:p>
          <a:p>
            <a:r>
              <a:rPr lang="sv-SE" sz="1200"/>
              <a:t>Other useful addresses </a:t>
            </a:r>
          </a:p>
        </p:txBody>
      </p:sp>
      <p:sp>
        <p:nvSpPr>
          <p:cNvPr id="30724" name="Footer Placeholder 3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AE596640-9B0F-4C32-82CA-78BB385B8DB8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		                            </a:t>
            </a:r>
            <a:fld id="{B1A371FF-7FBD-43D9-B6C3-AA1F162D7510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1748" name="Rectangle 8"/>
          <p:cNvSpPr>
            <a:spLocks noChangeArrowheads="1"/>
          </p:cNvSpPr>
          <p:nvPr/>
        </p:nvSpPr>
        <p:spPr bwMode="auto">
          <a:xfrm>
            <a:off x="0" y="188913"/>
            <a:ext cx="8999538" cy="15113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/>
            <a:endParaRPr lang="sv-SE"/>
          </a:p>
        </p:txBody>
      </p:sp>
      <p:sp>
        <p:nvSpPr>
          <p:cNvPr id="31749" name="Rectangle 6"/>
          <p:cNvSpPr>
            <a:spLocks noChangeArrowheads="1"/>
          </p:cNvSpPr>
          <p:nvPr/>
        </p:nvSpPr>
        <p:spPr bwMode="auto">
          <a:xfrm>
            <a:off x="2916238" y="1484313"/>
            <a:ext cx="4410075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None/>
            </a:pPr>
            <a:r>
              <a:rPr lang="sv-SE" sz="4400" b="1"/>
              <a:t>THANK YOU!</a:t>
            </a:r>
            <a:endParaRPr lang="en-US" sz="4400" b="1"/>
          </a:p>
        </p:txBody>
      </p:sp>
      <p:pic>
        <p:nvPicPr>
          <p:cNvPr id="10" name="Picture 7" descr="orc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1800" y="2708920"/>
            <a:ext cx="3960440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Ax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5192</TotalTime>
  <Words>2411</Words>
  <Application>Microsoft Office PowerPoint</Application>
  <PresentationFormat>On-screen Show (4:3)</PresentationFormat>
  <Paragraphs>374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Times New Roman</vt:lpstr>
      <vt:lpstr>Wingdings</vt:lpstr>
      <vt:lpstr>Axis</vt:lpstr>
      <vt:lpstr>Internetworking with TCP/IP</vt:lpstr>
      <vt:lpstr>Outline</vt:lpstr>
      <vt:lpstr>Definitions</vt:lpstr>
      <vt:lpstr>Definitions (cont)</vt:lpstr>
      <vt:lpstr>Autonomous System</vt:lpstr>
      <vt:lpstr>Autonomous System (cont)</vt:lpstr>
      <vt:lpstr>Basic Principles</vt:lpstr>
      <vt:lpstr>Protocols</vt:lpstr>
      <vt:lpstr>Protocol Layering</vt:lpstr>
      <vt:lpstr>Protocol Encapsulation</vt:lpstr>
      <vt:lpstr>OSI Model</vt:lpstr>
      <vt:lpstr>OSI Model (cont)</vt:lpstr>
      <vt:lpstr>OSI Model (cont)</vt:lpstr>
      <vt:lpstr>OSI Model (cont)</vt:lpstr>
      <vt:lpstr>OSI Model (cont)</vt:lpstr>
      <vt:lpstr>OSI Model (cont)</vt:lpstr>
      <vt:lpstr>OSI Model (cont)</vt:lpstr>
      <vt:lpstr>TCP/IP Model</vt:lpstr>
      <vt:lpstr>TCP/IP Model (cont)</vt:lpstr>
      <vt:lpstr>TCP/IP Model (cont)</vt:lpstr>
      <vt:lpstr>Network Organization</vt:lpstr>
      <vt:lpstr>Network Technologies</vt:lpstr>
      <vt:lpstr>Network Technologies (cont)</vt:lpstr>
      <vt:lpstr>Network Technologies (cont)</vt:lpstr>
      <vt:lpstr>Internet Standards</vt:lpstr>
      <vt:lpstr>Useful Addresses</vt:lpstr>
      <vt:lpstr>Internet Users</vt:lpstr>
      <vt:lpstr>References</vt:lpstr>
      <vt:lpstr>PowerPoint Presentation</vt:lpstr>
    </vt:vector>
  </TitlesOfParts>
  <Company>Blekinge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 Package 5 – Technical Enablers for Service Continuity</dc:title>
  <dc:creator>Adrian Popescu</dc:creator>
  <cp:lastModifiedBy>Islam Nazrul</cp:lastModifiedBy>
  <cp:revision>891</cp:revision>
  <dcterms:created xsi:type="dcterms:W3CDTF">2008-01-14T14:00:39Z</dcterms:created>
  <dcterms:modified xsi:type="dcterms:W3CDTF">2025-09-17T05:40:31Z</dcterms:modified>
</cp:coreProperties>
</file>