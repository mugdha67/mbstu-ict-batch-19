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93" r:id="rId2"/>
    <p:sldMasterId id="2147483799" r:id="rId3"/>
  </p:sldMasterIdLst>
  <p:notesMasterIdLst>
    <p:notesMasterId r:id="rId75"/>
  </p:notesMasterIdLst>
  <p:sldIdLst>
    <p:sldId id="420" r:id="rId4"/>
    <p:sldId id="259" r:id="rId5"/>
    <p:sldId id="306" r:id="rId6"/>
    <p:sldId id="260" r:id="rId7"/>
    <p:sldId id="262" r:id="rId8"/>
    <p:sldId id="263" r:id="rId9"/>
    <p:sldId id="264" r:id="rId10"/>
    <p:sldId id="265" r:id="rId11"/>
    <p:sldId id="298" r:id="rId12"/>
    <p:sldId id="267" r:id="rId13"/>
    <p:sldId id="268" r:id="rId14"/>
    <p:sldId id="375" r:id="rId15"/>
    <p:sldId id="376" r:id="rId16"/>
    <p:sldId id="377" r:id="rId17"/>
    <p:sldId id="269" r:id="rId18"/>
    <p:sldId id="270" r:id="rId19"/>
    <p:sldId id="272" r:id="rId20"/>
    <p:sldId id="273" r:id="rId21"/>
    <p:sldId id="378" r:id="rId22"/>
    <p:sldId id="299" r:id="rId23"/>
    <p:sldId id="360" r:id="rId24"/>
    <p:sldId id="361" r:id="rId25"/>
    <p:sldId id="362" r:id="rId26"/>
    <p:sldId id="363" r:id="rId27"/>
    <p:sldId id="364" r:id="rId28"/>
    <p:sldId id="365" r:id="rId29"/>
    <p:sldId id="367" r:id="rId30"/>
    <p:sldId id="369" r:id="rId31"/>
    <p:sldId id="370" r:id="rId32"/>
    <p:sldId id="371" r:id="rId33"/>
    <p:sldId id="373" r:id="rId34"/>
    <p:sldId id="374" r:id="rId35"/>
    <p:sldId id="258" r:id="rId36"/>
    <p:sldId id="399" r:id="rId37"/>
    <p:sldId id="400" r:id="rId38"/>
    <p:sldId id="261" r:id="rId39"/>
    <p:sldId id="401" r:id="rId40"/>
    <p:sldId id="402" r:id="rId41"/>
    <p:sldId id="403" r:id="rId42"/>
    <p:sldId id="266" r:id="rId43"/>
    <p:sldId id="404" r:id="rId44"/>
    <p:sldId id="405" r:id="rId45"/>
    <p:sldId id="406" r:id="rId46"/>
    <p:sldId id="407" r:id="rId47"/>
    <p:sldId id="271" r:id="rId48"/>
    <p:sldId id="408" r:id="rId49"/>
    <p:sldId id="409" r:id="rId50"/>
    <p:sldId id="274" r:id="rId51"/>
    <p:sldId id="275" r:id="rId52"/>
    <p:sldId id="276" r:id="rId53"/>
    <p:sldId id="277" r:id="rId54"/>
    <p:sldId id="278" r:id="rId55"/>
    <p:sldId id="279" r:id="rId56"/>
    <p:sldId id="280" r:id="rId57"/>
    <p:sldId id="257" r:id="rId58"/>
    <p:sldId id="410" r:id="rId59"/>
    <p:sldId id="411" r:id="rId60"/>
    <p:sldId id="412" r:id="rId61"/>
    <p:sldId id="413" r:id="rId62"/>
    <p:sldId id="414" r:id="rId63"/>
    <p:sldId id="415" r:id="rId64"/>
    <p:sldId id="416" r:id="rId65"/>
    <p:sldId id="417" r:id="rId66"/>
    <p:sldId id="418" r:id="rId67"/>
    <p:sldId id="419" r:id="rId68"/>
    <p:sldId id="368" r:id="rId69"/>
    <p:sldId id="372" r:id="rId70"/>
    <p:sldId id="338" r:id="rId71"/>
    <p:sldId id="395" r:id="rId72"/>
    <p:sldId id="397" r:id="rId73"/>
    <p:sldId id="398" r:id="rId7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CC00"/>
    <a:srgbClr val="99CC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>
      <p:cViewPr varScale="1">
        <p:scale>
          <a:sx n="65" d="100"/>
          <a:sy n="65" d="100"/>
        </p:scale>
        <p:origin x="145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3CFDD53-B082-4968-AF44-7B381F22F2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47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694800-D7C8-4C05-A7CF-8CDA16787F85}" type="slidenum">
              <a:rPr lang="en-US" altLang="en-US"/>
              <a:pPr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60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694800-D7C8-4C05-A7CF-8CDA16787F85}" type="slidenum">
              <a:rPr lang="en-US" altLang="en-US"/>
              <a:pPr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602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694800-D7C8-4C05-A7CF-8CDA16787F85}" type="slidenum">
              <a:rPr lang="en-US" altLang="en-US"/>
              <a:pPr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602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694800-D7C8-4C05-A7CF-8CDA16787F85}" type="slidenum">
              <a:rPr lang="en-US" altLang="en-US"/>
              <a:pPr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602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672EE76-75FA-48E8-B1F3-FB3684B7FC7D}" type="slidenum">
              <a:rPr lang="en-US" altLang="en-US"/>
              <a:pPr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204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46F4571-080B-4E4B-B76C-7954871A8A1B}" type="slidenum">
              <a:rPr lang="en-US" altLang="en-US"/>
              <a:pPr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71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0490649-9AF4-4C3C-8344-4F16DAA20B03}" type="slidenum">
              <a:rPr lang="en-US" altLang="en-US"/>
              <a:pPr eaLnBrk="1" hangingPunct="1"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0490649-9AF4-4C3C-8344-4F16DAA20B03}" type="slidenum">
              <a:rPr lang="en-US" altLang="en-US"/>
              <a:pPr eaLnBrk="1" hangingPunct="1"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1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274674-DE07-4E9F-8BF4-0423B59D2EA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253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F06D3D-C36C-41D0-892B-A2BBE622D8A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16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F06D3D-C36C-41D0-892B-A2BBE622D8A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16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F06D3D-C36C-41D0-892B-A2BBE622D8A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1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893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6210DE-2A81-4E49-B530-624AA9B196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17E985-AC86-42CD-8822-36544C5A3E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0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601F07-D877-4235-98C4-186DF4CD1FE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51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C1D645-E252-4A43-BAD9-A0CC871E41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06D040-785E-4EE5-BF64-4E6174D6B0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9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9BFDFC-1A62-4646-8A11-3F9599A32E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73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D5D5A9-9BAB-41CD-9525-0DF655D3D4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8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0BBE09-559A-4FCC-B705-74CD17285B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4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309522-8F98-4564-8E61-429ED51F840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0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17F402-10E6-4881-A2B0-A41264DCBC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A303B5-A91B-474D-AA7B-BB1C0F2815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8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00AFE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084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0AFE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1538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0AFE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96897" y="1393235"/>
            <a:ext cx="2453640" cy="4586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14925" y="1854530"/>
            <a:ext cx="3554729" cy="444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237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00AFE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3798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5004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1"/>
            <a:ext cx="77724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8604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4630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759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256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647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6867" name="Freeform 3"/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" name="Arc 4"/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6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7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B5E607-4E71-4BD5-BE3F-2E2B8F0641E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2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506" y="0"/>
                </a:lnTo>
                <a:lnTo>
                  <a:pt x="0" y="819404"/>
                </a:lnTo>
                <a:lnTo>
                  <a:pt x="48653" y="818012"/>
                </a:lnTo>
                <a:lnTo>
                  <a:pt x="96069" y="813890"/>
                </a:lnTo>
                <a:lnTo>
                  <a:pt x="142676" y="807114"/>
                </a:lnTo>
                <a:lnTo>
                  <a:pt x="188396" y="797760"/>
                </a:lnTo>
                <a:lnTo>
                  <a:pt x="233153" y="785906"/>
                </a:lnTo>
                <a:lnTo>
                  <a:pt x="276870" y="771629"/>
                </a:lnTo>
                <a:lnTo>
                  <a:pt x="319469" y="755005"/>
                </a:lnTo>
                <a:lnTo>
                  <a:pt x="360876" y="736111"/>
                </a:lnTo>
                <a:lnTo>
                  <a:pt x="401011" y="715024"/>
                </a:lnTo>
                <a:lnTo>
                  <a:pt x="439799" y="691821"/>
                </a:lnTo>
                <a:lnTo>
                  <a:pt x="477163" y="666580"/>
                </a:lnTo>
                <a:lnTo>
                  <a:pt x="513025" y="639376"/>
                </a:lnTo>
                <a:lnTo>
                  <a:pt x="547310" y="610287"/>
                </a:lnTo>
                <a:lnTo>
                  <a:pt x="579939" y="579389"/>
                </a:lnTo>
                <a:lnTo>
                  <a:pt x="610837" y="546760"/>
                </a:lnTo>
                <a:lnTo>
                  <a:pt x="639926" y="512477"/>
                </a:lnTo>
                <a:lnTo>
                  <a:pt x="667130" y="476615"/>
                </a:lnTo>
                <a:lnTo>
                  <a:pt x="692371" y="439253"/>
                </a:lnTo>
                <a:lnTo>
                  <a:pt x="715574" y="400467"/>
                </a:lnTo>
                <a:lnTo>
                  <a:pt x="736660" y="360334"/>
                </a:lnTo>
                <a:lnTo>
                  <a:pt x="755553" y="318930"/>
                </a:lnTo>
                <a:lnTo>
                  <a:pt x="772177" y="276333"/>
                </a:lnTo>
                <a:lnTo>
                  <a:pt x="786453" y="232620"/>
                </a:lnTo>
                <a:lnTo>
                  <a:pt x="798307" y="187868"/>
                </a:lnTo>
                <a:lnTo>
                  <a:pt x="807660" y="142152"/>
                </a:lnTo>
                <a:lnTo>
                  <a:pt x="814436" y="95551"/>
                </a:lnTo>
                <a:lnTo>
                  <a:pt x="818558" y="48141"/>
                </a:lnTo>
                <a:lnTo>
                  <a:pt x="819949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818558" y="48141"/>
                </a:lnTo>
                <a:lnTo>
                  <a:pt x="814436" y="95551"/>
                </a:lnTo>
                <a:lnTo>
                  <a:pt x="807660" y="142152"/>
                </a:lnTo>
                <a:lnTo>
                  <a:pt x="798307" y="187868"/>
                </a:lnTo>
                <a:lnTo>
                  <a:pt x="786453" y="232620"/>
                </a:lnTo>
                <a:lnTo>
                  <a:pt x="772177" y="276333"/>
                </a:lnTo>
                <a:lnTo>
                  <a:pt x="755553" y="318930"/>
                </a:lnTo>
                <a:lnTo>
                  <a:pt x="736660" y="360334"/>
                </a:lnTo>
                <a:lnTo>
                  <a:pt x="715574" y="400467"/>
                </a:lnTo>
                <a:lnTo>
                  <a:pt x="692371" y="439253"/>
                </a:lnTo>
                <a:lnTo>
                  <a:pt x="667130" y="476615"/>
                </a:lnTo>
                <a:lnTo>
                  <a:pt x="639926" y="512477"/>
                </a:lnTo>
                <a:lnTo>
                  <a:pt x="610837" y="546760"/>
                </a:lnTo>
                <a:lnTo>
                  <a:pt x="579939" y="579389"/>
                </a:lnTo>
                <a:lnTo>
                  <a:pt x="547310" y="610287"/>
                </a:lnTo>
                <a:lnTo>
                  <a:pt x="513025" y="639376"/>
                </a:lnTo>
                <a:lnTo>
                  <a:pt x="477163" y="666580"/>
                </a:lnTo>
                <a:lnTo>
                  <a:pt x="439799" y="691821"/>
                </a:lnTo>
                <a:lnTo>
                  <a:pt x="401011" y="715024"/>
                </a:lnTo>
                <a:lnTo>
                  <a:pt x="360876" y="736111"/>
                </a:lnTo>
                <a:lnTo>
                  <a:pt x="319469" y="755005"/>
                </a:lnTo>
                <a:lnTo>
                  <a:pt x="276870" y="771629"/>
                </a:lnTo>
                <a:lnTo>
                  <a:pt x="233153" y="785906"/>
                </a:lnTo>
                <a:lnTo>
                  <a:pt x="188396" y="797760"/>
                </a:lnTo>
                <a:lnTo>
                  <a:pt x="142676" y="807114"/>
                </a:lnTo>
                <a:lnTo>
                  <a:pt x="96069" y="813890"/>
                </a:lnTo>
                <a:lnTo>
                  <a:pt x="48653" y="818012"/>
                </a:lnTo>
                <a:lnTo>
                  <a:pt x="505" y="819404"/>
                </a:lnTo>
                <a:lnTo>
                  <a:pt x="336" y="819404"/>
                </a:lnTo>
                <a:lnTo>
                  <a:pt x="168" y="819404"/>
                </a:lnTo>
                <a:lnTo>
                  <a:pt x="0" y="819404"/>
                </a:lnTo>
                <a:lnTo>
                  <a:pt x="506" y="0"/>
                </a:lnTo>
                <a:lnTo>
                  <a:pt x="819949" y="0"/>
                </a:lnTo>
                <a:close/>
              </a:path>
            </a:pathLst>
          </a:custGeom>
          <a:ln w="3175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015" y="6095"/>
            <a:ext cx="1784604" cy="17830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8821" y="21081"/>
            <a:ext cx="1702435" cy="1702435"/>
          </a:xfrm>
          <a:custGeom>
            <a:avLst/>
            <a:gdLst/>
            <a:ahLst/>
            <a:cxnLst/>
            <a:rect l="l" t="t" r="r" b="b"/>
            <a:pathLst>
              <a:path w="1702435" h="1702435">
                <a:moveTo>
                  <a:pt x="0" y="851154"/>
                </a:moveTo>
                <a:lnTo>
                  <a:pt x="1347" y="802859"/>
                </a:lnTo>
                <a:lnTo>
                  <a:pt x="5341" y="755271"/>
                </a:lnTo>
                <a:lnTo>
                  <a:pt x="11909" y="708461"/>
                </a:lnTo>
                <a:lnTo>
                  <a:pt x="20981" y="662500"/>
                </a:lnTo>
                <a:lnTo>
                  <a:pt x="32484" y="617462"/>
                </a:lnTo>
                <a:lnTo>
                  <a:pt x="46346" y="573417"/>
                </a:lnTo>
                <a:lnTo>
                  <a:pt x="62495" y="530438"/>
                </a:lnTo>
                <a:lnTo>
                  <a:pt x="80860" y="488596"/>
                </a:lnTo>
                <a:lnTo>
                  <a:pt x="101369" y="447964"/>
                </a:lnTo>
                <a:lnTo>
                  <a:pt x="123949" y="408613"/>
                </a:lnTo>
                <a:lnTo>
                  <a:pt x="148530" y="370615"/>
                </a:lnTo>
                <a:lnTo>
                  <a:pt x="175039" y="334042"/>
                </a:lnTo>
                <a:lnTo>
                  <a:pt x="203404" y="298966"/>
                </a:lnTo>
                <a:lnTo>
                  <a:pt x="233553" y="265459"/>
                </a:lnTo>
                <a:lnTo>
                  <a:pt x="265416" y="233593"/>
                </a:lnTo>
                <a:lnTo>
                  <a:pt x="298919" y="203439"/>
                </a:lnTo>
                <a:lnTo>
                  <a:pt x="333991" y="175070"/>
                </a:lnTo>
                <a:lnTo>
                  <a:pt x="370561" y="148557"/>
                </a:lnTo>
                <a:lnTo>
                  <a:pt x="408556" y="123973"/>
                </a:lnTo>
                <a:lnTo>
                  <a:pt x="447904" y="101388"/>
                </a:lnTo>
                <a:lnTo>
                  <a:pt x="488534" y="80876"/>
                </a:lnTo>
                <a:lnTo>
                  <a:pt x="530373" y="62508"/>
                </a:lnTo>
                <a:lnTo>
                  <a:pt x="573351" y="46355"/>
                </a:lnTo>
                <a:lnTo>
                  <a:pt x="617394" y="32490"/>
                </a:lnTo>
                <a:lnTo>
                  <a:pt x="662432" y="20985"/>
                </a:lnTo>
                <a:lnTo>
                  <a:pt x="708393" y="11912"/>
                </a:lnTo>
                <a:lnTo>
                  <a:pt x="755204" y="5342"/>
                </a:lnTo>
                <a:lnTo>
                  <a:pt x="802793" y="1347"/>
                </a:lnTo>
                <a:lnTo>
                  <a:pt x="851090" y="0"/>
                </a:lnTo>
                <a:lnTo>
                  <a:pt x="899386" y="1347"/>
                </a:lnTo>
                <a:lnTo>
                  <a:pt x="946976" y="5342"/>
                </a:lnTo>
                <a:lnTo>
                  <a:pt x="993786" y="11912"/>
                </a:lnTo>
                <a:lnTo>
                  <a:pt x="1039746" y="20985"/>
                </a:lnTo>
                <a:lnTo>
                  <a:pt x="1084783" y="32490"/>
                </a:lnTo>
                <a:lnTo>
                  <a:pt x="1128825" y="46355"/>
                </a:lnTo>
                <a:lnTo>
                  <a:pt x="1171801" y="62508"/>
                </a:lnTo>
                <a:lnTo>
                  <a:pt x="1213639" y="80876"/>
                </a:lnTo>
                <a:lnTo>
                  <a:pt x="1254268" y="101388"/>
                </a:lnTo>
                <a:lnTo>
                  <a:pt x="1293614" y="123973"/>
                </a:lnTo>
                <a:lnTo>
                  <a:pt x="1331607" y="148557"/>
                </a:lnTo>
                <a:lnTo>
                  <a:pt x="1368174" y="175070"/>
                </a:lnTo>
                <a:lnTo>
                  <a:pt x="1403245" y="203439"/>
                </a:lnTo>
                <a:lnTo>
                  <a:pt x="1436746" y="233593"/>
                </a:lnTo>
                <a:lnTo>
                  <a:pt x="1468606" y="265459"/>
                </a:lnTo>
                <a:lnTo>
                  <a:pt x="1498754" y="298966"/>
                </a:lnTo>
                <a:lnTo>
                  <a:pt x="1527117" y="334042"/>
                </a:lnTo>
                <a:lnTo>
                  <a:pt x="1553624" y="370615"/>
                </a:lnTo>
                <a:lnTo>
                  <a:pt x="1578203" y="408613"/>
                </a:lnTo>
                <a:lnTo>
                  <a:pt x="1600782" y="447964"/>
                </a:lnTo>
                <a:lnTo>
                  <a:pt x="1621289" y="488596"/>
                </a:lnTo>
                <a:lnTo>
                  <a:pt x="1639653" y="530438"/>
                </a:lnTo>
                <a:lnTo>
                  <a:pt x="1655801" y="573417"/>
                </a:lnTo>
                <a:lnTo>
                  <a:pt x="1669661" y="617462"/>
                </a:lnTo>
                <a:lnTo>
                  <a:pt x="1681163" y="662500"/>
                </a:lnTo>
                <a:lnTo>
                  <a:pt x="1690234" y="708461"/>
                </a:lnTo>
                <a:lnTo>
                  <a:pt x="1696802" y="755271"/>
                </a:lnTo>
                <a:lnTo>
                  <a:pt x="1700795" y="802859"/>
                </a:lnTo>
                <a:lnTo>
                  <a:pt x="1702142" y="851154"/>
                </a:lnTo>
                <a:lnTo>
                  <a:pt x="1700795" y="899447"/>
                </a:lnTo>
                <a:lnTo>
                  <a:pt x="1696802" y="947034"/>
                </a:lnTo>
                <a:lnTo>
                  <a:pt x="1690234" y="993843"/>
                </a:lnTo>
                <a:lnTo>
                  <a:pt x="1681163" y="1039800"/>
                </a:lnTo>
                <a:lnTo>
                  <a:pt x="1669661" y="1084835"/>
                </a:lnTo>
                <a:lnTo>
                  <a:pt x="1655801" y="1128876"/>
                </a:lnTo>
                <a:lnTo>
                  <a:pt x="1639653" y="1171850"/>
                </a:lnTo>
                <a:lnTo>
                  <a:pt x="1621289" y="1213687"/>
                </a:lnTo>
                <a:lnTo>
                  <a:pt x="1600782" y="1254314"/>
                </a:lnTo>
                <a:lnTo>
                  <a:pt x="1578203" y="1293659"/>
                </a:lnTo>
                <a:lnTo>
                  <a:pt x="1553624" y="1331651"/>
                </a:lnTo>
                <a:lnTo>
                  <a:pt x="1527117" y="1368218"/>
                </a:lnTo>
                <a:lnTo>
                  <a:pt x="1498754" y="1403287"/>
                </a:lnTo>
                <a:lnTo>
                  <a:pt x="1468606" y="1436788"/>
                </a:lnTo>
                <a:lnTo>
                  <a:pt x="1436746" y="1468647"/>
                </a:lnTo>
                <a:lnTo>
                  <a:pt x="1403245" y="1498795"/>
                </a:lnTo>
                <a:lnTo>
                  <a:pt x="1368174" y="1527157"/>
                </a:lnTo>
                <a:lnTo>
                  <a:pt x="1331607" y="1553664"/>
                </a:lnTo>
                <a:lnTo>
                  <a:pt x="1293614" y="1578242"/>
                </a:lnTo>
                <a:lnTo>
                  <a:pt x="1254268" y="1600821"/>
                </a:lnTo>
                <a:lnTo>
                  <a:pt x="1213639" y="1621328"/>
                </a:lnTo>
                <a:lnTo>
                  <a:pt x="1171801" y="1639691"/>
                </a:lnTo>
                <a:lnTo>
                  <a:pt x="1128825" y="1655839"/>
                </a:lnTo>
                <a:lnTo>
                  <a:pt x="1084783" y="1669700"/>
                </a:lnTo>
                <a:lnTo>
                  <a:pt x="1039746" y="1681201"/>
                </a:lnTo>
                <a:lnTo>
                  <a:pt x="993786" y="1690272"/>
                </a:lnTo>
                <a:lnTo>
                  <a:pt x="946976" y="1696840"/>
                </a:lnTo>
                <a:lnTo>
                  <a:pt x="899386" y="1700833"/>
                </a:lnTo>
                <a:lnTo>
                  <a:pt x="851090" y="1702181"/>
                </a:lnTo>
                <a:lnTo>
                  <a:pt x="802793" y="1700833"/>
                </a:lnTo>
                <a:lnTo>
                  <a:pt x="755204" y="1696840"/>
                </a:lnTo>
                <a:lnTo>
                  <a:pt x="708393" y="1690272"/>
                </a:lnTo>
                <a:lnTo>
                  <a:pt x="662432" y="1681201"/>
                </a:lnTo>
                <a:lnTo>
                  <a:pt x="617394" y="1669700"/>
                </a:lnTo>
                <a:lnTo>
                  <a:pt x="573351" y="1655839"/>
                </a:lnTo>
                <a:lnTo>
                  <a:pt x="530373" y="1639691"/>
                </a:lnTo>
                <a:lnTo>
                  <a:pt x="488534" y="1621328"/>
                </a:lnTo>
                <a:lnTo>
                  <a:pt x="447904" y="1600821"/>
                </a:lnTo>
                <a:lnTo>
                  <a:pt x="408556" y="1578242"/>
                </a:lnTo>
                <a:lnTo>
                  <a:pt x="370561" y="1553664"/>
                </a:lnTo>
                <a:lnTo>
                  <a:pt x="333991" y="1527157"/>
                </a:lnTo>
                <a:lnTo>
                  <a:pt x="298919" y="1498795"/>
                </a:lnTo>
                <a:lnTo>
                  <a:pt x="265416" y="1468647"/>
                </a:lnTo>
                <a:lnTo>
                  <a:pt x="233553" y="1436788"/>
                </a:lnTo>
                <a:lnTo>
                  <a:pt x="203404" y="1403287"/>
                </a:lnTo>
                <a:lnTo>
                  <a:pt x="175039" y="1368218"/>
                </a:lnTo>
                <a:lnTo>
                  <a:pt x="148530" y="1331651"/>
                </a:lnTo>
                <a:lnTo>
                  <a:pt x="123949" y="1293659"/>
                </a:lnTo>
                <a:lnTo>
                  <a:pt x="101369" y="1254314"/>
                </a:lnTo>
                <a:lnTo>
                  <a:pt x="80860" y="1213687"/>
                </a:lnTo>
                <a:lnTo>
                  <a:pt x="62495" y="1171850"/>
                </a:lnTo>
                <a:lnTo>
                  <a:pt x="46346" y="1128876"/>
                </a:lnTo>
                <a:lnTo>
                  <a:pt x="32484" y="1084835"/>
                </a:lnTo>
                <a:lnTo>
                  <a:pt x="20981" y="1039800"/>
                </a:lnTo>
                <a:lnTo>
                  <a:pt x="11909" y="993843"/>
                </a:lnTo>
                <a:lnTo>
                  <a:pt x="5341" y="947034"/>
                </a:lnTo>
                <a:lnTo>
                  <a:pt x="1347" y="899447"/>
                </a:lnTo>
                <a:lnTo>
                  <a:pt x="0" y="851154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2212" y="1045464"/>
            <a:ext cx="1155192" cy="115061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7319" y="1050633"/>
            <a:ext cx="1116813" cy="111147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87319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6" y="204634"/>
                </a:moveTo>
                <a:lnTo>
                  <a:pt x="149785" y="168741"/>
                </a:lnTo>
                <a:lnTo>
                  <a:pt x="183515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5" y="40547"/>
                </a:lnTo>
                <a:lnTo>
                  <a:pt x="380538" y="25331"/>
                </a:lnTo>
                <a:lnTo>
                  <a:pt x="423971" y="13644"/>
                </a:lnTo>
                <a:lnTo>
                  <a:pt x="468196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7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7" y="50083"/>
                </a:lnTo>
                <a:lnTo>
                  <a:pt x="822330" y="71238"/>
                </a:lnTo>
                <a:lnTo>
                  <a:pt x="863108" y="96162"/>
                </a:lnTo>
                <a:lnTo>
                  <a:pt x="902327" y="124878"/>
                </a:lnTo>
                <a:lnTo>
                  <a:pt x="939023" y="156757"/>
                </a:lnTo>
                <a:lnTo>
                  <a:pt x="972365" y="190998"/>
                </a:lnTo>
                <a:lnTo>
                  <a:pt x="1002325" y="227366"/>
                </a:lnTo>
                <a:lnTo>
                  <a:pt x="1028874" y="265625"/>
                </a:lnTo>
                <a:lnTo>
                  <a:pt x="1051985" y="305541"/>
                </a:lnTo>
                <a:lnTo>
                  <a:pt x="1071626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4" y="611617"/>
                </a:lnTo>
                <a:lnTo>
                  <a:pt x="1109608" y="656333"/>
                </a:lnTo>
                <a:lnTo>
                  <a:pt x="1100473" y="700593"/>
                </a:lnTo>
                <a:lnTo>
                  <a:pt x="1087613" y="744160"/>
                </a:lnTo>
                <a:lnTo>
                  <a:pt x="1070998" y="786801"/>
                </a:lnTo>
                <a:lnTo>
                  <a:pt x="1050600" y="828281"/>
                </a:lnTo>
                <a:lnTo>
                  <a:pt x="1026390" y="868365"/>
                </a:lnTo>
                <a:lnTo>
                  <a:pt x="998339" y="906817"/>
                </a:lnTo>
                <a:lnTo>
                  <a:pt x="967050" y="942710"/>
                </a:lnTo>
                <a:lnTo>
                  <a:pt x="933320" y="975218"/>
                </a:lnTo>
                <a:lnTo>
                  <a:pt x="897385" y="1004315"/>
                </a:lnTo>
                <a:lnTo>
                  <a:pt x="859481" y="1029978"/>
                </a:lnTo>
                <a:lnTo>
                  <a:pt x="819841" y="1052184"/>
                </a:lnTo>
                <a:lnTo>
                  <a:pt x="778703" y="1070908"/>
                </a:lnTo>
                <a:lnTo>
                  <a:pt x="736300" y="1086127"/>
                </a:lnTo>
                <a:lnTo>
                  <a:pt x="692869" y="1097817"/>
                </a:lnTo>
                <a:lnTo>
                  <a:pt x="648644" y="1105954"/>
                </a:lnTo>
                <a:lnTo>
                  <a:pt x="603860" y="1110515"/>
                </a:lnTo>
                <a:lnTo>
                  <a:pt x="558754" y="1111476"/>
                </a:lnTo>
                <a:lnTo>
                  <a:pt x="513560" y="1108813"/>
                </a:lnTo>
                <a:lnTo>
                  <a:pt x="468514" y="1102502"/>
                </a:lnTo>
                <a:lnTo>
                  <a:pt x="423850" y="1092519"/>
                </a:lnTo>
                <a:lnTo>
                  <a:pt x="379804" y="1078841"/>
                </a:lnTo>
                <a:lnTo>
                  <a:pt x="336612" y="1061444"/>
                </a:lnTo>
                <a:lnTo>
                  <a:pt x="294508" y="1040304"/>
                </a:lnTo>
                <a:lnTo>
                  <a:pt x="253729" y="1015397"/>
                </a:lnTo>
                <a:lnTo>
                  <a:pt x="214508" y="986700"/>
                </a:lnTo>
                <a:lnTo>
                  <a:pt x="177812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2" y="806035"/>
                </a:lnTo>
                <a:lnTo>
                  <a:pt x="45198" y="764695"/>
                </a:lnTo>
                <a:lnTo>
                  <a:pt x="29049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0" y="367355"/>
                </a:lnTo>
                <a:lnTo>
                  <a:pt x="45818" y="324701"/>
                </a:lnTo>
                <a:lnTo>
                  <a:pt x="66221" y="283206"/>
                </a:lnTo>
                <a:lnTo>
                  <a:pt x="90437" y="243105"/>
                </a:lnTo>
                <a:lnTo>
                  <a:pt x="118496" y="204634"/>
                </a:lnTo>
                <a:close/>
              </a:path>
              <a:path w="1116965" h="1111885">
                <a:moveTo>
                  <a:pt x="220477" y="286041"/>
                </a:moveTo>
                <a:lnTo>
                  <a:pt x="193856" y="323455"/>
                </a:lnTo>
                <a:lnTo>
                  <a:pt x="171955" y="362810"/>
                </a:lnTo>
                <a:lnTo>
                  <a:pt x="154729" y="403741"/>
                </a:lnTo>
                <a:lnTo>
                  <a:pt x="142131" y="445881"/>
                </a:lnTo>
                <a:lnTo>
                  <a:pt x="134116" y="488865"/>
                </a:lnTo>
                <a:lnTo>
                  <a:pt x="130638" y="532328"/>
                </a:lnTo>
                <a:lnTo>
                  <a:pt x="131651" y="575903"/>
                </a:lnTo>
                <a:lnTo>
                  <a:pt x="137108" y="619227"/>
                </a:lnTo>
                <a:lnTo>
                  <a:pt x="146964" y="661933"/>
                </a:lnTo>
                <a:lnTo>
                  <a:pt x="161173" y="703655"/>
                </a:lnTo>
                <a:lnTo>
                  <a:pt x="179689" y="744028"/>
                </a:lnTo>
                <a:lnTo>
                  <a:pt x="202465" y="782686"/>
                </a:lnTo>
                <a:lnTo>
                  <a:pt x="229457" y="819265"/>
                </a:lnTo>
                <a:lnTo>
                  <a:pt x="260618" y="853397"/>
                </a:lnTo>
                <a:lnTo>
                  <a:pt x="295902" y="884719"/>
                </a:lnTo>
                <a:lnTo>
                  <a:pt x="334265" y="912179"/>
                </a:lnTo>
                <a:lnTo>
                  <a:pt x="374453" y="934995"/>
                </a:lnTo>
                <a:lnTo>
                  <a:pt x="416101" y="953204"/>
                </a:lnTo>
                <a:lnTo>
                  <a:pt x="458841" y="966841"/>
                </a:lnTo>
                <a:lnTo>
                  <a:pt x="502308" y="975943"/>
                </a:lnTo>
                <a:lnTo>
                  <a:pt x="546136" y="980546"/>
                </a:lnTo>
                <a:lnTo>
                  <a:pt x="589957" y="980687"/>
                </a:lnTo>
                <a:lnTo>
                  <a:pt x="633406" y="976403"/>
                </a:lnTo>
                <a:lnTo>
                  <a:pt x="676117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8" y="889862"/>
                </a:lnTo>
                <a:lnTo>
                  <a:pt x="865771" y="859785"/>
                </a:lnTo>
                <a:lnTo>
                  <a:pt x="896358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1" y="707789"/>
                </a:lnTo>
                <a:lnTo>
                  <a:pt x="974709" y="665643"/>
                </a:lnTo>
                <a:lnTo>
                  <a:pt x="982725" y="622657"/>
                </a:lnTo>
                <a:lnTo>
                  <a:pt x="986203" y="579196"/>
                </a:lnTo>
                <a:lnTo>
                  <a:pt x="985191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69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0" y="176583"/>
                </a:lnTo>
                <a:lnTo>
                  <a:pt x="700741" y="158375"/>
                </a:lnTo>
                <a:lnTo>
                  <a:pt x="657999" y="144737"/>
                </a:lnTo>
                <a:lnTo>
                  <a:pt x="614531" y="135635"/>
                </a:lnTo>
                <a:lnTo>
                  <a:pt x="570702" y="131032"/>
                </a:lnTo>
                <a:lnTo>
                  <a:pt x="526880" y="130891"/>
                </a:lnTo>
                <a:lnTo>
                  <a:pt x="483430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8" y="174222"/>
                </a:lnTo>
                <a:lnTo>
                  <a:pt x="320681" y="195847"/>
                </a:lnTo>
                <a:lnTo>
                  <a:pt x="284587" y="221716"/>
                </a:lnTo>
                <a:lnTo>
                  <a:pt x="251064" y="251793"/>
                </a:lnTo>
                <a:lnTo>
                  <a:pt x="220477" y="286041"/>
                </a:lnTo>
                <a:close/>
              </a:path>
            </a:pathLst>
          </a:custGeom>
          <a:ln w="7349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2875" y="0"/>
            <a:ext cx="8131175" cy="6858000"/>
          </a:xfrm>
          <a:custGeom>
            <a:avLst/>
            <a:gdLst/>
            <a:ahLst/>
            <a:cxnLst/>
            <a:rect l="l" t="t" r="r" b="b"/>
            <a:pathLst>
              <a:path w="8131175" h="6858000">
                <a:moveTo>
                  <a:pt x="8131175" y="0"/>
                </a:moveTo>
                <a:lnTo>
                  <a:pt x="0" y="0"/>
                </a:lnTo>
                <a:lnTo>
                  <a:pt x="0" y="6858000"/>
                </a:lnTo>
                <a:lnTo>
                  <a:pt x="8131175" y="6858000"/>
                </a:lnTo>
                <a:lnTo>
                  <a:pt x="8131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35736" y="0"/>
            <a:ext cx="155447" cy="685799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014983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0962" y="-87121"/>
            <a:ext cx="6942074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00AFE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96897" y="1389634"/>
            <a:ext cx="7245984" cy="4693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330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1048173"/>
          </a:xfrm>
          <a:custGeom>
            <a:avLst/>
            <a:gdLst/>
            <a:ahLst/>
            <a:cxnLst/>
            <a:rect l="l" t="t" r="r" b="b"/>
            <a:pathLst>
              <a:path w="9144000" h="786130">
                <a:moveTo>
                  <a:pt x="0" y="785749"/>
                </a:moveTo>
                <a:lnTo>
                  <a:pt x="9144000" y="785749"/>
                </a:lnTo>
                <a:lnTo>
                  <a:pt x="9144000" y="0"/>
                </a:lnTo>
                <a:lnTo>
                  <a:pt x="0" y="0"/>
                </a:lnTo>
                <a:lnTo>
                  <a:pt x="0" y="78574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bg object 17"/>
          <p:cNvSpPr/>
          <p:nvPr/>
        </p:nvSpPr>
        <p:spPr>
          <a:xfrm>
            <a:off x="0" y="1030731"/>
            <a:ext cx="9144000" cy="33867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0" y="25400"/>
                </a:moveTo>
                <a:lnTo>
                  <a:pt x="9144000" y="25400"/>
                </a:lnTo>
                <a:lnTo>
                  <a:pt x="9144000" y="0"/>
                </a:lnTo>
                <a:lnTo>
                  <a:pt x="0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260587"/>
            <a:ext cx="2771775" cy="6174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7791" y="3221736"/>
            <a:ext cx="680841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616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EA-ME-WE_4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jpg"/><Relationship Id="rId5" Type="http://schemas.openxmlformats.org/officeDocument/2006/relationships/image" Target="../media/image39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7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5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100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6.jp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9.jp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1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4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Fiber Optic Communication Systems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5075238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/>
              <a:t>Lec # 01</a:t>
            </a:r>
          </a:p>
        </p:txBody>
      </p:sp>
      <p:pic>
        <p:nvPicPr>
          <p:cNvPr id="307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8" y="2133600"/>
            <a:ext cx="9067800" cy="4077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bg2"/>
                </a:solidFill>
              </a:rPr>
              <a:t>Introduction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84927"/>
            <a:ext cx="82296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Title:  Fiber Optic Communication Systems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Credit Hours: 3+1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Semester: 7</a:t>
            </a:r>
            <a:r>
              <a:rPr lang="en-US" altLang="ko-KR" sz="2800" baseline="30000" dirty="0">
                <a:solidFill>
                  <a:schemeClr val="bg2"/>
                </a:solidFill>
                <a:ea typeface="Batang" panose="02030600000101010101" pitchFamily="18" charset="-127"/>
              </a:rPr>
              <a:t>th</a:t>
            </a: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 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Course Teacher</a:t>
            </a: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: Professor Dr. Monir Morshed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ko-KR" sz="2000" dirty="0">
                <a:ea typeface="Batang" panose="02030600000101010101" pitchFamily="18" charset="-127"/>
              </a:rPr>
              <a:t>			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7772400" cy="4114800"/>
          </a:xfrm>
        </p:spPr>
        <p:txBody>
          <a:bodyPr/>
          <a:lstStyle/>
          <a:p>
            <a:pPr algn="just"/>
            <a:r>
              <a:rPr lang="en-US" altLang="en-US" b="1" dirty="0">
                <a:solidFill>
                  <a:schemeClr val="bg2"/>
                </a:solidFill>
              </a:rPr>
              <a:t>Recommended Book:</a:t>
            </a:r>
            <a:endParaRPr lang="en-US" altLang="en-US" dirty="0">
              <a:solidFill>
                <a:schemeClr val="bg2"/>
              </a:solidFill>
            </a:endParaRPr>
          </a:p>
          <a:p>
            <a:pPr lvl="1" algn="just"/>
            <a:r>
              <a:rPr lang="en-US" altLang="en-US" i="1" dirty="0">
                <a:solidFill>
                  <a:schemeClr val="bg2"/>
                </a:solidFill>
              </a:rPr>
              <a:t>Fiber  Optic Communications by Joseph C. </a:t>
            </a:r>
            <a:r>
              <a:rPr lang="en-US" altLang="en-US" i="1" dirty="0" err="1">
                <a:solidFill>
                  <a:schemeClr val="bg2"/>
                </a:solidFill>
              </a:rPr>
              <a:t>Palais</a:t>
            </a:r>
            <a:r>
              <a:rPr lang="en-US" altLang="en-US" i="1" dirty="0">
                <a:solidFill>
                  <a:schemeClr val="bg2"/>
                </a:solidFill>
              </a:rPr>
              <a:t>, Latest Edition.</a:t>
            </a:r>
          </a:p>
          <a:p>
            <a:pPr lvl="1" algn="just"/>
            <a:endParaRPr lang="en-US" altLang="en-US" dirty="0">
              <a:solidFill>
                <a:schemeClr val="bg2"/>
              </a:solidFill>
            </a:endParaRPr>
          </a:p>
          <a:p>
            <a:pPr algn="just"/>
            <a:r>
              <a:rPr lang="en-US" altLang="en-US" b="1" dirty="0">
                <a:solidFill>
                  <a:schemeClr val="bg2"/>
                </a:solidFill>
              </a:rPr>
              <a:t>Reference Books:</a:t>
            </a:r>
            <a:endParaRPr lang="en-US" altLang="en-US" dirty="0">
              <a:solidFill>
                <a:schemeClr val="bg2"/>
              </a:solidFill>
            </a:endParaRPr>
          </a:p>
          <a:p>
            <a:pPr lvl="1" algn="just"/>
            <a:r>
              <a:rPr lang="en-US" altLang="en-US" i="1" dirty="0">
                <a:solidFill>
                  <a:schemeClr val="bg2"/>
                </a:solidFill>
              </a:rPr>
              <a:t>Optical Fiber Communications: Principles and Practice by John M. Senior, Latest Edition, Prentice Hall.</a:t>
            </a:r>
            <a:endParaRPr lang="en-US" altLang="en-US" dirty="0">
              <a:solidFill>
                <a:schemeClr val="bg2"/>
              </a:solidFill>
            </a:endParaRPr>
          </a:p>
          <a:p>
            <a:pPr lvl="1" algn="just"/>
            <a:r>
              <a:rPr lang="en-US" altLang="en-US" i="1" dirty="0">
                <a:solidFill>
                  <a:schemeClr val="bg2"/>
                </a:solidFill>
              </a:rPr>
              <a:t> Optical Fiber Communications by </a:t>
            </a:r>
            <a:r>
              <a:rPr lang="en-US" altLang="en-US" i="1" dirty="0" err="1">
                <a:solidFill>
                  <a:schemeClr val="bg2"/>
                </a:solidFill>
              </a:rPr>
              <a:t>Gerd</a:t>
            </a:r>
            <a:r>
              <a:rPr lang="en-US" altLang="en-US" i="1" dirty="0">
                <a:solidFill>
                  <a:schemeClr val="bg2"/>
                </a:solidFill>
              </a:rPr>
              <a:t> Keiser, Latest Edition, McGraw Hill.</a:t>
            </a:r>
            <a:endParaRPr lang="en-US" altLang="en-US" dirty="0">
              <a:solidFill>
                <a:schemeClr val="bg2"/>
              </a:solidFill>
            </a:endParaRPr>
          </a:p>
          <a:p>
            <a:pPr lvl="1" algn="just"/>
            <a:r>
              <a:rPr lang="en-US" altLang="en-US" i="1" dirty="0">
                <a:solidFill>
                  <a:schemeClr val="bg2"/>
                </a:solidFill>
              </a:rPr>
              <a:t>Fiber-Optic Communication Systems by </a:t>
            </a:r>
            <a:r>
              <a:rPr lang="en-US" altLang="en-US" i="1" dirty="0" err="1">
                <a:solidFill>
                  <a:schemeClr val="bg2"/>
                </a:solidFill>
              </a:rPr>
              <a:t>Govind</a:t>
            </a:r>
            <a:r>
              <a:rPr lang="en-US" altLang="en-US" i="1" dirty="0">
                <a:solidFill>
                  <a:schemeClr val="bg2"/>
                </a:solidFill>
              </a:rPr>
              <a:t> P. Agrawal</a:t>
            </a:r>
            <a:endParaRPr lang="en-US" altLang="en-US" dirty="0">
              <a:solidFill>
                <a:schemeClr val="bg2"/>
              </a:solidFill>
            </a:endParaRPr>
          </a:p>
          <a:p>
            <a:pPr algn="just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30961-C63F-40B7-82D7-A627139F8809}"/>
              </a:ext>
            </a:extLst>
          </p:cNvPr>
          <p:cNvSpPr txBox="1"/>
          <p:nvPr/>
        </p:nvSpPr>
        <p:spPr>
          <a:xfrm>
            <a:off x="762000" y="1447800"/>
            <a:ext cx="7620000" cy="33547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To realize the significance of optical fiber communications.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To understand the construction and characteristics of optical fiber cable.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To develop the knowledge of optical signal sources and power launching.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To identify and understand the operation of various optical detectors.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To under the design of optical systems and WDM.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bg2"/>
                </a:solidFill>
              </a:rPr>
              <a:t>Course Contents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848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Overview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Historical perspectives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The basic communication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Nature of light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Advantages of light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Application of fiber optic communications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 Optics Review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Ray theory and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Lenses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Imaging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Numerical aperture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Diffraction</a:t>
            </a:r>
            <a:endParaRPr lang="en-US" altLang="en-US" sz="2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81000"/>
            <a:ext cx="7772400" cy="6477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800" dirty="0" err="1">
                <a:solidFill>
                  <a:schemeClr val="bg2"/>
                </a:solidFill>
                <a:ea typeface="Batang" panose="02030600000101010101" pitchFamily="18" charset="-127"/>
              </a:rPr>
              <a:t>Lightwave</a:t>
            </a: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 Fundamentals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Electromagnetic waves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Dispersion, pulse dispersion and information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Polarization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Critical angle Reflections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Optic Fiber Waveguide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Step-index Fiber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Graded-index fiber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Attenuation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Pulse distortion and information rate in optic fiber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Construction of optic fiber</a:t>
            </a:r>
          </a:p>
          <a:p>
            <a:pPr lvl="1" eaLnBrk="1" hangingPunct="1"/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Optic fiber cables</a:t>
            </a:r>
            <a:endParaRPr lang="en-US" altLang="en-US" sz="2400" dirty="0">
              <a:solidFill>
                <a:schemeClr val="bg2"/>
              </a:solidFill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xfrm>
            <a:off x="5638800" y="304800"/>
            <a:ext cx="3200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bg2"/>
                </a:solidFill>
              </a:rPr>
              <a:t>Course Contents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		cont…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304800"/>
            <a:ext cx="7772400" cy="6553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Light Sources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Light emitting diodes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Light emitting diodes operating characteristics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Laser principles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Laser diodes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Laser diodes operating characteristics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Distributed Feed-back Laser diodes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Optical Amplifiers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Vertical-Cavity Surface-Emitting Laser (VCSEL) Diodes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 dirty="0">
                <a:solidFill>
                  <a:schemeClr val="bg2"/>
                </a:solidFill>
                <a:ea typeface="Batang" panose="02030600000101010101" pitchFamily="18" charset="-127"/>
              </a:rPr>
              <a:t>Light Detectors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Principles of photo-detection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Semiconductor photo diodes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PIN photodiodes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chemeClr val="bg2"/>
                </a:solidFill>
                <a:ea typeface="Batang" panose="02030600000101010101" pitchFamily="18" charset="-127"/>
              </a:rPr>
              <a:t>Avalanche Photodiodes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title"/>
          </p:nvPr>
        </p:nvSpPr>
        <p:spPr>
          <a:xfrm>
            <a:off x="5638800" y="304800"/>
            <a:ext cx="3200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bg2"/>
                </a:solidFill>
              </a:rPr>
              <a:t>Course Contents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		cont</a:t>
            </a:r>
            <a:r>
              <a:rPr lang="en-US" sz="2400" dirty="0"/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888" y="182563"/>
            <a:ext cx="7772400" cy="6324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2400" dirty="0">
                <a:solidFill>
                  <a:schemeClr val="bg2"/>
                </a:solidFill>
                <a:ea typeface="Batang" pitchFamily="18" charset="-127"/>
              </a:rPr>
              <a:t>Couplers and Connectors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Connector Principles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Splices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Connectors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Source Coupling 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2400" dirty="0">
                <a:solidFill>
                  <a:schemeClr val="bg2"/>
                </a:solidFill>
                <a:ea typeface="Batang" pitchFamily="18" charset="-127"/>
              </a:rPr>
              <a:t>Distributed Networks and fiber components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chemeClr val="bg2"/>
                </a:solidFill>
              </a:rPr>
              <a:t>FDDI, SONET, ATM,SDH,WDM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bg2"/>
                </a:solidFill>
                <a:ea typeface="+mn-ea"/>
                <a:cs typeface="+mn-cs"/>
              </a:rPr>
              <a:t>Fiber Bragg Gratings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bg2"/>
                </a:solidFill>
                <a:ea typeface="+mn-ea"/>
                <a:cs typeface="+mn-cs"/>
              </a:rPr>
              <a:t>Other components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chemeClr val="bg2"/>
                </a:solidFill>
              </a:rPr>
              <a:t>PON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2400" dirty="0">
                <a:solidFill>
                  <a:schemeClr val="bg2"/>
                </a:solidFill>
                <a:ea typeface="Batang" pitchFamily="18" charset="-127"/>
              </a:rPr>
              <a:t>Noise and Detection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Thermal and shot noise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Signal to noise ratio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Error rates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Mode-noise, Mode partition noise, Amplifier noise, Laser noise and jitter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Additional noise contributor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Receiver circuit design 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ko-KR" sz="2000" dirty="0">
              <a:ea typeface="Batang" pitchFamily="18" charset="-127"/>
            </a:endParaRPr>
          </a:p>
          <a:p>
            <a:pPr eaLnBrk="1" hangingPunct="1">
              <a:defRPr/>
            </a:pPr>
            <a:endParaRPr lang="en-US" altLang="ko-KR" sz="2400" dirty="0">
              <a:solidFill>
                <a:schemeClr val="folHlink"/>
              </a:solidFill>
              <a:ea typeface="Batang" pitchFamily="18" charset="-127"/>
            </a:endParaRP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title"/>
          </p:nvPr>
        </p:nvSpPr>
        <p:spPr>
          <a:xfrm>
            <a:off x="5638800" y="304800"/>
            <a:ext cx="3200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bg2"/>
                </a:solidFill>
              </a:rPr>
              <a:t>Course Contents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		</a:t>
            </a:r>
            <a:r>
              <a:rPr lang="en-US" sz="2400" dirty="0" err="1">
                <a:solidFill>
                  <a:schemeClr val="bg2"/>
                </a:solidFill>
              </a:rPr>
              <a:t>cont</a:t>
            </a:r>
            <a:r>
              <a:rPr lang="en-US" sz="2400" dirty="0">
                <a:solidFill>
                  <a:schemeClr val="bg2"/>
                </a:solidFill>
              </a:rPr>
              <a:t>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2400" dirty="0">
                <a:solidFill>
                  <a:schemeClr val="bg2"/>
                </a:solidFill>
                <a:ea typeface="Batang" pitchFamily="18" charset="-127"/>
              </a:rPr>
              <a:t>Systems Design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Analog Systems design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chemeClr val="bg2"/>
                </a:solidFill>
                <a:ea typeface="Batang" pitchFamily="18" charset="-127"/>
              </a:rPr>
              <a:t>Digital systems design</a:t>
            </a:r>
            <a:r>
              <a:rPr lang="en-US" altLang="ko-KR" sz="2000" dirty="0">
                <a:solidFill>
                  <a:schemeClr val="bg2"/>
                </a:solidFill>
                <a:ea typeface="굴림" charset="-127"/>
              </a:rPr>
              <a:t> 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chemeClr val="bg2"/>
                </a:solidFill>
              </a:rPr>
              <a:t>DWDM Filters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bg2"/>
                </a:solidFill>
                <a:ea typeface="+mn-ea"/>
                <a:cs typeface="+mn-cs"/>
              </a:rPr>
              <a:t>Fiber Grating Filters</a:t>
            </a:r>
          </a:p>
          <a:p>
            <a:pPr lvl="1" eaLnBrk="1" hangingPunct="1">
              <a:defRPr/>
            </a:pPr>
            <a:r>
              <a:rPr lang="en-US" sz="2000" dirty="0" err="1">
                <a:solidFill>
                  <a:schemeClr val="bg2"/>
                </a:solidFill>
                <a:ea typeface="+mn-ea"/>
                <a:cs typeface="+mn-cs"/>
              </a:rPr>
              <a:t>Fabry</a:t>
            </a:r>
            <a:r>
              <a:rPr lang="en-US" sz="2000" dirty="0">
                <a:solidFill>
                  <a:schemeClr val="bg2"/>
                </a:solidFill>
                <a:ea typeface="+mn-ea"/>
                <a:cs typeface="+mn-cs"/>
              </a:rPr>
              <a:t> Perot Filters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bg2"/>
                </a:solidFill>
                <a:ea typeface="+mn-ea"/>
                <a:cs typeface="+mn-cs"/>
              </a:rPr>
              <a:t>Multilayer Dielectric Thin-Film Filters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bg2"/>
                </a:solidFill>
                <a:ea typeface="+mn-ea"/>
                <a:cs typeface="+mn-cs"/>
              </a:rPr>
              <a:t>Mach-</a:t>
            </a:r>
            <a:r>
              <a:rPr lang="en-US" sz="2000" dirty="0" err="1">
                <a:solidFill>
                  <a:schemeClr val="bg2"/>
                </a:solidFill>
                <a:ea typeface="+mn-ea"/>
                <a:cs typeface="+mn-cs"/>
              </a:rPr>
              <a:t>Zehnder</a:t>
            </a:r>
            <a:r>
              <a:rPr lang="en-US" sz="2000" dirty="0">
                <a:solidFill>
                  <a:schemeClr val="bg2"/>
                </a:solidFill>
                <a:ea typeface="+mn-ea"/>
                <a:cs typeface="+mn-cs"/>
              </a:rPr>
              <a:t> Interferometers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sz="2400" b="1" dirty="0">
                <a:solidFill>
                  <a:schemeClr val="bg2"/>
                </a:solidFill>
              </a:rPr>
              <a:t>Photonic Networks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5638800" y="304800"/>
            <a:ext cx="3200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chemeClr val="bg2"/>
                </a:solidFill>
              </a:rPr>
              <a:t>Course Contents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		cont…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solidFill>
                  <a:schemeClr val="bg2"/>
                </a:solidFill>
                <a:ea typeface="굴림" charset="-127"/>
              </a:rPr>
              <a:t>Tentative Grading Policy</a:t>
            </a:r>
            <a:br>
              <a:rPr lang="en-US" altLang="ko-KR" dirty="0">
                <a:ea typeface="Batang" pitchFamily="18" charset="-127"/>
              </a:rPr>
            </a:br>
            <a:endParaRPr lang="en-US" dirty="0">
              <a:ea typeface="Batang" pitchFamily="18" charset="-127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ea typeface="Batang" panose="02030600000101010101" pitchFamily="18" charset="-127"/>
              </a:rPr>
              <a:t>	</a:t>
            </a:r>
            <a:r>
              <a:rPr lang="en-US" altLang="ko-KR" dirty="0">
                <a:solidFill>
                  <a:schemeClr val="bg2"/>
                </a:solidFill>
                <a:ea typeface="Batang" panose="02030600000101010101" pitchFamily="18" charset="-127"/>
              </a:rPr>
              <a:t>Attendance		10%</a:t>
            </a:r>
          </a:p>
          <a:p>
            <a:pPr eaLnBrk="1" hangingPunct="1"/>
            <a:r>
              <a:rPr lang="en-US" altLang="ko-KR" dirty="0">
                <a:solidFill>
                  <a:schemeClr val="bg2"/>
                </a:solidFill>
                <a:ea typeface="Batang" panose="02030600000101010101" pitchFamily="18" charset="-127"/>
              </a:rPr>
              <a:t>	CT    			20%</a:t>
            </a:r>
          </a:p>
          <a:p>
            <a:pPr eaLnBrk="1" hangingPunct="1"/>
            <a:r>
              <a:rPr lang="en-US" altLang="ko-KR" dirty="0">
                <a:solidFill>
                  <a:schemeClr val="bg2"/>
                </a:solidFill>
                <a:ea typeface="Batang" panose="02030600000101010101" pitchFamily="18" charset="-127"/>
              </a:rPr>
              <a:t>	Final Paper		70%	</a:t>
            </a:r>
            <a:r>
              <a:rPr lang="en-US" altLang="ko-KR" dirty="0">
                <a:solidFill>
                  <a:schemeClr val="bg2"/>
                </a:solidFill>
                <a:ea typeface="굴림" panose="020B0600000101010101" pitchFamily="34" charset="-127"/>
              </a:rPr>
              <a:t> </a:t>
            </a:r>
          </a:p>
          <a:p>
            <a:pPr eaLnBrk="1" hangingPunct="1"/>
            <a:r>
              <a:rPr lang="en-US" altLang="en-US" dirty="0">
                <a:solidFill>
                  <a:schemeClr val="bg2"/>
                </a:solidFill>
                <a:ea typeface="굴림" panose="020B0600000101010101" pitchFamily="34" charset="-127"/>
              </a:rPr>
              <a:t>      Lab Report		20%</a:t>
            </a:r>
          </a:p>
          <a:p>
            <a:pPr eaLnBrk="1" hangingPunct="1"/>
            <a:r>
              <a:rPr lang="en-US" altLang="en-US" dirty="0">
                <a:solidFill>
                  <a:schemeClr val="bg2"/>
                </a:solidFill>
                <a:ea typeface="굴림" panose="020B0600000101010101" pitchFamily="34" charset="-127"/>
              </a:rPr>
              <a:t>      Lab Attendance		10%</a:t>
            </a:r>
          </a:p>
          <a:p>
            <a:pPr eaLnBrk="1" hangingPunct="1"/>
            <a:r>
              <a:rPr lang="en-US" altLang="ko-KR" dirty="0">
                <a:solidFill>
                  <a:schemeClr val="bg2"/>
                </a:solidFill>
                <a:ea typeface="Batang" panose="02030600000101010101" pitchFamily="18" charset="-127"/>
              </a:rPr>
              <a:t>      Quiz				20%</a:t>
            </a:r>
          </a:p>
          <a:p>
            <a:pPr eaLnBrk="1" hangingPunct="1"/>
            <a:r>
              <a:rPr lang="en-US" altLang="ko-KR" dirty="0">
                <a:solidFill>
                  <a:schemeClr val="bg2"/>
                </a:solidFill>
                <a:ea typeface="Batang" panose="02030600000101010101" pitchFamily="18" charset="-127"/>
              </a:rPr>
              <a:t>      Lab Final                    	50%</a:t>
            </a:r>
            <a:endParaRPr lang="en-US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4800600"/>
            <a:ext cx="8382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Perhaps the most obvious answer is to consider the social impact   of optical communications.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 In 1966, two engineers at Standard Telecommunication Laboratories in England wrote a paper which in essence started the race to develop optical fiber for communications: </a:t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81000" y="212725"/>
            <a:ext cx="838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Why is this course useful to you?</a:t>
            </a:r>
          </a:p>
        </p:txBody>
      </p:sp>
      <p:pic>
        <p:nvPicPr>
          <p:cNvPr id="13319" name="Picture 7" descr="Bangladesh submar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219200"/>
            <a:ext cx="6629400" cy="350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4114800"/>
            <a:ext cx="8382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One year later, the </a:t>
            </a:r>
            <a:r>
              <a:rPr lang="en-US" sz="2400" dirty="0" err="1">
                <a:solidFill>
                  <a:schemeClr val="bg2"/>
                </a:solidFill>
              </a:rPr>
              <a:t>Philco</a:t>
            </a:r>
            <a:r>
              <a:rPr lang="en-US" sz="2400" dirty="0">
                <a:solidFill>
                  <a:schemeClr val="bg2"/>
                </a:solidFill>
              </a:rPr>
              <a:t>-Ford company tried to predict the future; they were in many ways very close to what we have. (https://www.youtube.com/watch?v=rpq5ZmANp0k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81000" y="212725"/>
            <a:ext cx="838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Why is this course useful to you?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295400"/>
            <a:ext cx="3200400" cy="1853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1676400"/>
            <a:ext cx="438626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4724400"/>
            <a:ext cx="8382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All of this is made possible by a global infrastructure of optical cables</a:t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81000" y="212725"/>
            <a:ext cx="838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What happens in an 2021 INTERNET MINITUE?</a:t>
            </a:r>
          </a:p>
        </p:txBody>
      </p:sp>
      <p:pic>
        <p:nvPicPr>
          <p:cNvPr id="96260" name="Picture 4" descr="https://mloapwwtsct7.i.optimole.com/A6Igeow.l1xK~43710/w:auto/h:auto/q:75/https:/www.bondhighplus.com/wp-content/uploads/2020/05/Internet-Minute-202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838200"/>
            <a:ext cx="3810000" cy="3810000"/>
          </a:xfrm>
          <a:prstGeom prst="rect">
            <a:avLst/>
          </a:prstGeom>
          <a:noFill/>
        </p:spPr>
      </p:pic>
      <p:pic>
        <p:nvPicPr>
          <p:cNvPr id="96262" name="Picture 6" descr="SEA-ME-WE History - SEA-ME-W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5181600"/>
            <a:ext cx="4724400" cy="152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57200" y="1143000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Some basic Units that may appear frequently in this course are listed in following table for convenient reference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914400" y="212725"/>
            <a:ext cx="7010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Numbers</a:t>
            </a:r>
          </a:p>
        </p:txBody>
      </p:sp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3" cstate="print"/>
          <a:srcRect t="7149"/>
          <a:stretch>
            <a:fillRect/>
          </a:stretch>
        </p:blipFill>
        <p:spPr bwMode="auto">
          <a:xfrm>
            <a:off x="2971800" y="2209800"/>
            <a:ext cx="4329716" cy="411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Constants &amp; Prefixes</a:t>
            </a: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 cstate="print"/>
          <a:srcRect t="19753"/>
          <a:stretch>
            <a:fillRect/>
          </a:stretch>
        </p:blipFill>
        <p:spPr bwMode="auto">
          <a:xfrm>
            <a:off x="1143000" y="2590800"/>
            <a:ext cx="328612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3" cstate="print"/>
          <a:srcRect t="9677"/>
          <a:stretch>
            <a:fillRect/>
          </a:stretch>
        </p:blipFill>
        <p:spPr bwMode="auto">
          <a:xfrm>
            <a:off x="5105400" y="2362200"/>
            <a:ext cx="31623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57200" y="1143000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A few important constants and prefixes that will need to study our course.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762000" y="152400"/>
            <a:ext cx="7848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Frequency &amp; Period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04800" y="1066800"/>
            <a:ext cx="85407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The frequency unit, the hertz, is equivalent to one cycle of oscillation per second 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The time between successive peaks of an oscillation is called the period.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If </a:t>
            </a:r>
            <a:r>
              <a:rPr lang="en-US" altLang="en-US" sz="2400" i="1" dirty="0">
                <a:solidFill>
                  <a:schemeClr val="bg2"/>
                </a:solidFill>
                <a:latin typeface="Arial" panose="020B0604020202020204" pitchFamily="34" charset="0"/>
              </a:rPr>
              <a:t>f </a:t>
            </a: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is the wave frequency and </a:t>
            </a:r>
            <a:r>
              <a:rPr lang="en-US" altLang="en-US" sz="2400" i="1" dirty="0">
                <a:solidFill>
                  <a:schemeClr val="bg2"/>
                </a:solidFill>
                <a:latin typeface="Arial" panose="020B0604020202020204" pitchFamily="34" charset="0"/>
              </a:rPr>
              <a:t>T </a:t>
            </a: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is its period then T=1/</a:t>
            </a:r>
            <a:r>
              <a:rPr lang="en-US" altLang="en-US" sz="2400" i="1" dirty="0">
                <a:solidFill>
                  <a:schemeClr val="bg2"/>
                </a:solidFill>
                <a:latin typeface="Arial" panose="020B0604020202020204" pitchFamily="34" charset="0"/>
              </a:rPr>
              <a:t>f</a:t>
            </a: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0962" name="Picture 2" descr="http://www.sengpielaudio.com/calculator-period.ht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429000"/>
            <a:ext cx="3438525" cy="2667000"/>
          </a:xfrm>
          <a:prstGeom prst="rect">
            <a:avLst/>
          </a:prstGeom>
          <a:noFill/>
        </p:spPr>
      </p:pic>
      <p:pic>
        <p:nvPicPr>
          <p:cNvPr id="40964" name="Picture 4" descr="https://study.com/academy/lesson/wave-period-definition-formula-quiz.htm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3429000"/>
            <a:ext cx="4038600" cy="266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533400" y="1066800"/>
            <a:ext cx="8077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1800" dirty="0">
                <a:solidFill>
                  <a:schemeClr val="bg2"/>
                </a:solidFill>
                <a:latin typeface="Arial" panose="020B0604020202020204" pitchFamily="34" charset="0"/>
              </a:rPr>
              <a:t>Following Table, summarizes the bandwidth requirements of several analog systems</a:t>
            </a: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533400" y="152400"/>
            <a:ext cx="8229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Bandwidth requirement for Common Analog Systems</a:t>
            </a:r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981200"/>
            <a:ext cx="3564693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505200" y="4191000"/>
            <a:ext cx="16962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Bandwidth: </a:t>
            </a:r>
          </a:p>
        </p:txBody>
      </p:sp>
      <p:pic>
        <p:nvPicPr>
          <p:cNvPr id="17419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1676400"/>
            <a:ext cx="3439500" cy="2045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685800" y="4648200"/>
            <a:ext cx="8305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Bandwidth is a maximum transmission rate of a communications channel.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Measure in bits per second (bps)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Kbps, Mbps, </a:t>
            </a:r>
            <a:r>
              <a:rPr lang="en-US" dirty="0" err="1">
                <a:solidFill>
                  <a:schemeClr val="bg2"/>
                </a:solidFill>
              </a:rPr>
              <a:t>Gbps</a:t>
            </a:r>
            <a:endParaRPr lang="en-US" dirty="0">
              <a:solidFill>
                <a:schemeClr val="bg2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A measure of the capacity of communication channel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533400" y="914400"/>
            <a:ext cx="807720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When analog signals are transmitted digitally, the bit rate depends on the 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rate at which the analog signal is sampled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the coding scheme. 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838200" y="152400"/>
            <a:ext cx="7391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Sampling</a:t>
            </a:r>
            <a:r>
              <a:rPr lang="en-US" sz="4400" b="1" dirty="0">
                <a:latin typeface="Arial" charset="0"/>
              </a:rPr>
              <a:t> </a:t>
            </a:r>
            <a:endParaRPr lang="en-US" sz="6000" b="1" dirty="0">
              <a:latin typeface="Arial" charset="0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457200" y="2514600"/>
            <a:ext cx="7848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300" b="1" dirty="0">
                <a:solidFill>
                  <a:schemeClr val="bg2"/>
                </a:solidFill>
                <a:latin typeface="Arial" panose="020B0604020202020204" pitchFamily="34" charset="0"/>
              </a:rPr>
              <a:t>Why the standard 4-kHz telephone channel is sampled 8000 times a second?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300" dirty="0">
                <a:solidFill>
                  <a:schemeClr val="bg2"/>
                </a:solidFill>
                <a:latin typeface="Arial" panose="020B0604020202020204" pitchFamily="34" charset="0"/>
              </a:rPr>
              <a:t>To transmit the signal accurately, the signal should be sampled at a rate of at least twice the highest frequency contained in that signal.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300" dirty="0">
                <a:solidFill>
                  <a:schemeClr val="bg2"/>
                </a:solidFill>
                <a:latin typeface="Arial" panose="020B0604020202020204" pitchFamily="34" charset="0"/>
              </a:rPr>
              <a:t>For this reason the standard 4-kHz telephone channel is sampled 8000 times a second.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300" dirty="0">
                <a:solidFill>
                  <a:schemeClr val="bg2"/>
                </a:solidFill>
                <a:latin typeface="Arial" panose="020B0604020202020204" pitchFamily="34" charset="0"/>
              </a:rPr>
              <a:t>The coding procedure uses 8 bit to present amplitude of each sample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300" dirty="0">
                <a:solidFill>
                  <a:schemeClr val="bg2"/>
                </a:solidFill>
                <a:latin typeface="Arial" panose="020B0604020202020204" pitchFamily="34" charset="0"/>
              </a:rPr>
              <a:t>So a single telephone message needs 64,000 bps.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endParaRPr lang="en-US" altLang="en-US" sz="24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838200" y="152400"/>
            <a:ext cx="77724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Data Rates of the Telephone Systems in the USA</a:t>
            </a:r>
            <a:r>
              <a:rPr lang="en-US" sz="4400" b="1" dirty="0">
                <a:latin typeface="Arial" charset="0"/>
              </a:rPr>
              <a:t> </a:t>
            </a:r>
            <a:endParaRPr lang="en-US" sz="6000" b="1" dirty="0">
              <a:latin typeface="Arial" charset="0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09600" y="4038600"/>
            <a:ext cx="78486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A single voice channel needs 64 Kbps.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A T1 line can carry 24 voice channels or digital data rate of 1.544 Mbps.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Traditional T1 line use 2 twisted pair copper wires.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A T1 line can transmit data at a speed of 1.544 Mbps</a:t>
            </a:r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752600"/>
            <a:ext cx="6305550" cy="2361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5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649C1-4306-40E1-AB04-34E5628F2336}"/>
              </a:ext>
            </a:extLst>
          </p:cNvPr>
          <p:cNvSpPr txBox="1"/>
          <p:nvPr/>
        </p:nvSpPr>
        <p:spPr>
          <a:xfrm>
            <a:off x="609600" y="990600"/>
            <a:ext cx="807720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2"/>
                </a:solidFill>
              </a:rPr>
              <a:t>Fiber-optic communication: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It is a method of transmitting information from one place to another by sending pulses of light through transparent waveguides.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The transparent waveguides are made of plastic or glass.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i="0" dirty="0">
                <a:solidFill>
                  <a:schemeClr val="bg2"/>
                </a:solidFill>
                <a:effectLst/>
                <a:latin typeface="+mn-lt"/>
              </a:rPr>
              <a:t>An optical fiber is a very thin strand of plastic or glass that is used to transmit messages via light</a:t>
            </a:r>
            <a:endParaRPr lang="en-US" sz="2000" dirty="0">
              <a:solidFill>
                <a:schemeClr val="bg2"/>
              </a:solidFill>
              <a:latin typeface="+mn-lt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The light forms an electromagnetic carrier wave that is modulated to carry information.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F71020-D81C-4523-909F-F4B7236FFE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14532" b="6650"/>
          <a:stretch/>
        </p:blipFill>
        <p:spPr>
          <a:xfrm>
            <a:off x="1600200" y="3886200"/>
            <a:ext cx="5486400" cy="23408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5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D1F69-895B-4384-8910-2A8FC8B4592D}"/>
              </a:ext>
            </a:extLst>
          </p:cNvPr>
          <p:cNvSpPr txBox="1"/>
          <p:nvPr/>
        </p:nvSpPr>
        <p:spPr>
          <a:xfrm>
            <a:off x="591127" y="838200"/>
            <a:ext cx="807720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Why optical fiber is preferred :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High bandwidth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Long distance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Immunity to electromagnetic interference required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It can transmit voice, video, and telemetry through LAN, computer networks, or across long distances.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E98C8B-F418-444C-AF5D-05C75A7583F2}"/>
              </a:ext>
            </a:extLst>
          </p:cNvPr>
          <p:cNvSpPr txBox="1"/>
          <p:nvPr/>
        </p:nvSpPr>
        <p:spPr>
          <a:xfrm>
            <a:off x="609600" y="3276600"/>
            <a:ext cx="807720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Application of optical fiber: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Medical: imaging tools, as laser for surgeries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Defense/Government: Used as hydrophones for seismic waves and SONAR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Data storage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Telecommunications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Networking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Broadcast/CATV</a:t>
            </a:r>
          </a:p>
        </p:txBody>
      </p:sp>
    </p:spTree>
    <p:extLst>
      <p:ext uri="{BB962C8B-B14F-4D97-AF65-F5344CB8AC3E}">
        <p14:creationId xmlns:p14="http://schemas.microsoft.com/office/powerpoint/2010/main" val="981000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28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Historical Development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D1F69-895B-4384-8910-2A8FC8B4592D}"/>
              </a:ext>
            </a:extLst>
          </p:cNvPr>
          <p:cNvSpPr txBox="1"/>
          <p:nvPr/>
        </p:nvSpPr>
        <p:spPr>
          <a:xfrm>
            <a:off x="577272" y="878298"/>
            <a:ext cx="80772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First generation (Graded-index fibers):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Year implemented: 1980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Bit rate: 45 Mb/s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Repeater spacing: 10 km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Operating wavelength: 0.8 um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Semiconductor: GaAs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6D457-801B-43F0-AE88-4181082A986C}"/>
              </a:ext>
            </a:extLst>
          </p:cNvPr>
          <p:cNvSpPr txBox="1"/>
          <p:nvPr/>
        </p:nvSpPr>
        <p:spPr>
          <a:xfrm>
            <a:off x="609600" y="3559076"/>
            <a:ext cx="8077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Second generation (Single-mode fibers): 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Year implemented: 1985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Bit rate: 100 Mb/s to 1.7 Gb/s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Repeater spacing: 50 km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Operating wavelength: 1.3 um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Semiconductor: In GaAsP</a:t>
            </a:r>
          </a:p>
        </p:txBody>
      </p:sp>
    </p:spTree>
    <p:extLst>
      <p:ext uri="{BB962C8B-B14F-4D97-AF65-F5344CB8AC3E}">
        <p14:creationId xmlns:p14="http://schemas.microsoft.com/office/powerpoint/2010/main" val="3100827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28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Historical Development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D1F69-895B-4384-8910-2A8FC8B4592D}"/>
              </a:ext>
            </a:extLst>
          </p:cNvPr>
          <p:cNvSpPr txBox="1"/>
          <p:nvPr/>
        </p:nvSpPr>
        <p:spPr>
          <a:xfrm>
            <a:off x="577272" y="685800"/>
            <a:ext cx="80772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Third generation (Single-mode lasers): 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Year implemented: 1990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Bit rate: 10 Gb/s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Repeater spacing: 100 km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Operating wavelength: 1.55 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6D457-801B-43F0-AE88-4181082A986C}"/>
              </a:ext>
            </a:extLst>
          </p:cNvPr>
          <p:cNvSpPr txBox="1"/>
          <p:nvPr/>
        </p:nvSpPr>
        <p:spPr>
          <a:xfrm>
            <a:off x="577272" y="2743200"/>
            <a:ext cx="8077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Fourth generation (Optical amplifiers):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Year implemented: 1996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Bit rate: 10 Tb/s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Repeater spacing: &gt; 10,000 km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Operating wavelength: 1.45 um to 1.62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3E828-7043-4F76-9A98-DCEE9E6E1D8E}"/>
              </a:ext>
            </a:extLst>
          </p:cNvPr>
          <p:cNvSpPr txBox="1"/>
          <p:nvPr/>
        </p:nvSpPr>
        <p:spPr>
          <a:xfrm>
            <a:off x="533400" y="4572000"/>
            <a:ext cx="8077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Fifth generation (Raman amplification):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- Year implemented: 2002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- Bit rate: 40 Gb/s to 160 Gb/s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- Repeater spacing: 24,000 km to 35,000 km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- Operating wavelength: 1.53 um to 1.57 um</a:t>
            </a:r>
          </a:p>
        </p:txBody>
      </p:sp>
    </p:spTree>
    <p:extLst>
      <p:ext uri="{BB962C8B-B14F-4D97-AF65-F5344CB8AC3E}">
        <p14:creationId xmlns:p14="http://schemas.microsoft.com/office/powerpoint/2010/main" val="815773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Progress in Lightwave Communication Technology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C384A4-F51E-4B5C-910B-AF7100D9552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3044" t="21759" r="10867" b="12347"/>
          <a:stretch/>
        </p:blipFill>
        <p:spPr>
          <a:xfrm>
            <a:off x="1371600" y="1295400"/>
            <a:ext cx="6400800" cy="515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24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Transmission loss of silica fiber and optical communication wavelength bands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4253F-5B07-4AA7-A9C3-AE7A3300B2C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00" y="1562100"/>
            <a:ext cx="745426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90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Electromagnetic spectrum &amp; optical communication wavelength bands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99DBC-5EF4-4B4A-9792-D4C04C1A72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17677"/>
          <a:stretch/>
        </p:blipFill>
        <p:spPr>
          <a:xfrm>
            <a:off x="1676398" y="3996836"/>
            <a:ext cx="6372225" cy="2328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2C012D-80C0-4141-BA7D-836A762C71A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398" y="1447800"/>
            <a:ext cx="6124578" cy="247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56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28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General OFC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3E828-7043-4F76-9A98-DCEE9E6E1D8E}"/>
              </a:ext>
            </a:extLst>
          </p:cNvPr>
          <p:cNvSpPr txBox="1"/>
          <p:nvPr/>
        </p:nvSpPr>
        <p:spPr>
          <a:xfrm>
            <a:off x="838200" y="725775"/>
            <a:ext cx="80772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Basic block diagram of optical fiber communication system consists of following important blocks: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Transmitter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Information channel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2"/>
                </a:solidFill>
                <a:effectLst/>
                <a:latin typeface="+mn-lt"/>
              </a:rPr>
              <a:t>Receiver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AF3E58-CD58-4E86-9FDE-BE26085D458E}"/>
              </a:ext>
            </a:extLst>
          </p:cNvPr>
          <p:cNvSpPr txBox="1"/>
          <p:nvPr/>
        </p:nvSpPr>
        <p:spPr>
          <a:xfrm>
            <a:off x="4141300" y="4051756"/>
            <a:ext cx="9892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Optical fiber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3413535-7178-43B1-AD3C-D1B67ABDDDF8}"/>
              </a:ext>
            </a:extLst>
          </p:cNvPr>
          <p:cNvGrpSpPr/>
          <p:nvPr/>
        </p:nvGrpSpPr>
        <p:grpSpPr>
          <a:xfrm>
            <a:off x="743528" y="2819400"/>
            <a:ext cx="7614934" cy="3429498"/>
            <a:chOff x="743528" y="2763687"/>
            <a:chExt cx="7614934" cy="3429498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9536763-8DD2-45C8-A3EB-CA2003C2C14A}"/>
                </a:ext>
              </a:extLst>
            </p:cNvPr>
            <p:cNvGrpSpPr/>
            <p:nvPr/>
          </p:nvGrpSpPr>
          <p:grpSpPr>
            <a:xfrm>
              <a:off x="743528" y="3063240"/>
              <a:ext cx="7614934" cy="3129945"/>
              <a:chOff x="743528" y="3063240"/>
              <a:chExt cx="7614934" cy="312994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6F7330F-2793-4622-A052-179A30804404}"/>
                  </a:ext>
                </a:extLst>
              </p:cNvPr>
              <p:cNvGrpSpPr/>
              <p:nvPr/>
            </p:nvGrpSpPr>
            <p:grpSpPr>
              <a:xfrm>
                <a:off x="743528" y="3084225"/>
                <a:ext cx="2914072" cy="3108960"/>
                <a:chOff x="743528" y="3084225"/>
                <a:chExt cx="2914072" cy="3108960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00A8303-AB11-4BFC-9B93-E4F1943F5FF3}"/>
                    </a:ext>
                  </a:extLst>
                </p:cNvPr>
                <p:cNvSpPr txBox="1"/>
                <p:nvPr/>
              </p:nvSpPr>
              <p:spPr>
                <a:xfrm>
                  <a:off x="2057400" y="3084225"/>
                  <a:ext cx="1600200" cy="3108960"/>
                </a:xfrm>
                <a:prstGeom prst="rect">
                  <a:avLst/>
                </a:prstGeom>
                <a:noFill/>
                <a:ln>
                  <a:solidFill>
                    <a:srgbClr val="0070C0"/>
                  </a:solidFill>
                  <a:prstDash val="dashDot"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8A20B-F37C-45B2-A570-55165B374B0F}"/>
                    </a:ext>
                  </a:extLst>
                </p:cNvPr>
                <p:cNvSpPr txBox="1"/>
                <p:nvPr/>
              </p:nvSpPr>
              <p:spPr>
                <a:xfrm>
                  <a:off x="743528" y="5297269"/>
                  <a:ext cx="1043262" cy="646331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28575"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Message origin (Text/Video)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B3CFD67-1C6C-4E29-995F-3C1A67E1B255}"/>
                    </a:ext>
                  </a:extLst>
                </p:cNvPr>
                <p:cNvSpPr txBox="1"/>
                <p:nvPr/>
              </p:nvSpPr>
              <p:spPr>
                <a:xfrm>
                  <a:off x="2317836" y="5297269"/>
                  <a:ext cx="1145354" cy="646331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endParaRPr lang="en-US" sz="1400" dirty="0">
                    <a:solidFill>
                      <a:schemeClr val="bg2"/>
                    </a:solidFill>
                  </a:endParaRPr>
                </a:p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Modulator </a:t>
                  </a:r>
                </a:p>
                <a:p>
                  <a:pPr algn="ctr"/>
                  <a:endParaRPr lang="en-US" sz="140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DD0B7E2-5888-4D66-9F28-7CBECE87C5B1}"/>
                    </a:ext>
                  </a:extLst>
                </p:cNvPr>
                <p:cNvSpPr txBox="1"/>
                <p:nvPr/>
              </p:nvSpPr>
              <p:spPr>
                <a:xfrm>
                  <a:off x="2317834" y="4267200"/>
                  <a:ext cx="1097280" cy="64008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41275"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Carrier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Source </a:t>
                  </a:r>
                </a:p>
              </p:txBody>
            </p: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9D49CA09-D192-497D-B643-46F3BB73312A}"/>
                    </a:ext>
                  </a:extLst>
                </p:cNvPr>
                <p:cNvCxnSpPr/>
                <p:nvPr/>
              </p:nvCxnSpPr>
              <p:spPr bwMode="auto">
                <a:xfrm rot="16200000">
                  <a:off x="2707633" y="5120640"/>
                  <a:ext cx="365760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38F9638-0A85-4B4B-BF05-CF5AA3033945}"/>
                    </a:ext>
                  </a:extLst>
                </p:cNvPr>
                <p:cNvSpPr txBox="1"/>
                <p:nvPr/>
              </p:nvSpPr>
              <p:spPr>
                <a:xfrm>
                  <a:off x="2317835" y="3350715"/>
                  <a:ext cx="1111164" cy="5486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28575"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Channel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Coupler</a:t>
                  </a:r>
                </a:p>
              </p:txBody>
            </p: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3CBB8A53-D672-44E8-B60D-452D46A068C6}"/>
                    </a:ext>
                  </a:extLst>
                </p:cNvPr>
                <p:cNvCxnSpPr/>
                <p:nvPr/>
              </p:nvCxnSpPr>
              <p:spPr bwMode="auto">
                <a:xfrm rot="16200000">
                  <a:off x="2712720" y="4069080"/>
                  <a:ext cx="365760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D14772D8-79CB-4967-817B-A7B355BED239}"/>
                    </a:ext>
                  </a:extLst>
                </p:cNvPr>
                <p:cNvCxnSpPr/>
                <p:nvPr/>
              </p:nvCxnSpPr>
              <p:spPr bwMode="auto">
                <a:xfrm>
                  <a:off x="1752600" y="5638800"/>
                  <a:ext cx="539496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094A0147-1739-485C-B71D-716B8C903590}"/>
                  </a:ext>
                </a:extLst>
              </p:cNvPr>
              <p:cNvGrpSpPr/>
              <p:nvPr/>
            </p:nvGrpSpPr>
            <p:grpSpPr>
              <a:xfrm>
                <a:off x="5422788" y="3063240"/>
                <a:ext cx="2935674" cy="3108960"/>
                <a:chOff x="5422788" y="3063240"/>
                <a:chExt cx="2935674" cy="3108960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5A26EC4-A6B0-4CEE-8E50-49C37EEF2F01}"/>
                    </a:ext>
                  </a:extLst>
                </p:cNvPr>
                <p:cNvSpPr txBox="1"/>
                <p:nvPr/>
              </p:nvSpPr>
              <p:spPr>
                <a:xfrm>
                  <a:off x="7315200" y="5227320"/>
                  <a:ext cx="1043262" cy="64008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28575"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Message Output </a:t>
                  </a:r>
                </a:p>
              </p:txBody>
            </p: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63595BF6-91C9-415C-9833-FDEB5C953CC1}"/>
                    </a:ext>
                  </a:extLst>
                </p:cNvPr>
                <p:cNvGrpSpPr/>
                <p:nvPr/>
              </p:nvGrpSpPr>
              <p:grpSpPr>
                <a:xfrm>
                  <a:off x="5422788" y="3063240"/>
                  <a:ext cx="1600200" cy="3108960"/>
                  <a:chOff x="5993908" y="3007141"/>
                  <a:chExt cx="1600200" cy="3108960"/>
                </a:xfrm>
              </p:grpSpPr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AE2934B4-E726-4A41-99CB-2DDAFF3CD8E4}"/>
                      </a:ext>
                    </a:extLst>
                  </p:cNvPr>
                  <p:cNvSpPr txBox="1"/>
                  <p:nvPr/>
                </p:nvSpPr>
                <p:spPr>
                  <a:xfrm>
                    <a:off x="5993908" y="3007141"/>
                    <a:ext cx="1600200" cy="3108960"/>
                  </a:xfrm>
                  <a:prstGeom prst="rect">
                    <a:avLst/>
                  </a:prstGeom>
                  <a:noFill/>
                  <a:ln>
                    <a:solidFill>
                      <a:srgbClr val="0070C0"/>
                    </a:solidFill>
                    <a:prstDash val="dashDot"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3A0BB621-E732-4CD2-884E-0CAFC37DF848}"/>
                      </a:ext>
                    </a:extLst>
                  </p:cNvPr>
                  <p:cNvSpPr txBox="1"/>
                  <p:nvPr/>
                </p:nvSpPr>
                <p:spPr>
                  <a:xfrm>
                    <a:off x="6254344" y="5125501"/>
                    <a:ext cx="1145354" cy="646331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38100">
                    <a:solidFill>
                      <a:schemeClr val="accent5">
                        <a:lumMod val="75000"/>
                      </a:schemeClr>
                    </a:solidFill>
                  </a:ln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endParaRPr lang="en-US" sz="1400" dirty="0">
                      <a:solidFill>
                        <a:schemeClr val="bg2"/>
                      </a:solidFill>
                    </a:endParaRPr>
                  </a:p>
                  <a:p>
                    <a:pPr algn="ctr"/>
                    <a:r>
                      <a:rPr lang="en-US" sz="1400" dirty="0">
                        <a:solidFill>
                          <a:schemeClr val="bg2"/>
                        </a:solidFill>
                      </a:rPr>
                      <a:t>Processing  </a:t>
                    </a:r>
                  </a:p>
                  <a:p>
                    <a:pPr algn="ctr"/>
                    <a:endParaRPr lang="en-US" sz="1400" dirty="0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B9C6395-7C65-4DC7-89B3-C04395D6E9CF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120" y="4134901"/>
                    <a:ext cx="1097280" cy="640080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41275">
                    <a:solidFill>
                      <a:schemeClr val="accent5">
                        <a:lumMod val="75000"/>
                      </a:schemeClr>
                    </a:solidFill>
                  </a:ln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2"/>
                        </a:solidFill>
                      </a:rPr>
                      <a:t>Amplifier</a:t>
                    </a:r>
                  </a:p>
                </p:txBody>
              </p: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679985C4-8705-418F-A012-01A2EEF902AE}"/>
                      </a:ext>
                    </a:extLst>
                  </p:cNvPr>
                  <p:cNvCxnSpPr/>
                  <p:nvPr/>
                </p:nvCxnSpPr>
                <p:spPr bwMode="auto">
                  <a:xfrm rot="5400000" flipV="1">
                    <a:off x="6644141" y="4927381"/>
                    <a:ext cx="365760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5CC05C00-1237-4FC3-8F43-247AE1A1ADDC}"/>
                      </a:ext>
                    </a:extLst>
                  </p:cNvPr>
                  <p:cNvSpPr txBox="1"/>
                  <p:nvPr/>
                </p:nvSpPr>
                <p:spPr>
                  <a:xfrm>
                    <a:off x="6254343" y="3144301"/>
                    <a:ext cx="1111164" cy="640080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28575">
                    <a:solidFill>
                      <a:schemeClr val="accent5">
                        <a:lumMod val="75000"/>
                      </a:schemeClr>
                    </a:solidFill>
                  </a:ln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2"/>
                        </a:solidFill>
                      </a:rPr>
                      <a:t>Optical</a:t>
                    </a:r>
                  </a:p>
                  <a:p>
                    <a:pPr algn="ctr"/>
                    <a:r>
                      <a:rPr lang="en-US" sz="1400" dirty="0">
                        <a:solidFill>
                          <a:schemeClr val="bg2"/>
                        </a:solidFill>
                      </a:rPr>
                      <a:t>Detector</a:t>
                    </a:r>
                  </a:p>
                </p:txBody>
              </p:sp>
              <p:cxnSp>
                <p:nvCxnSpPr>
                  <p:cNvPr id="50" name="Straight Arrow Connector 49">
                    <a:extLst>
                      <a:ext uri="{FF2B5EF4-FFF2-40B4-BE49-F238E27FC236}">
                        <a16:creationId xmlns:a16="http://schemas.microsoft.com/office/drawing/2014/main" id="{C9ACD5FD-EE96-4CFF-856F-484524F83ECE}"/>
                      </a:ext>
                    </a:extLst>
                  </p:cNvPr>
                  <p:cNvCxnSpPr/>
                  <p:nvPr/>
                </p:nvCxnSpPr>
                <p:spPr bwMode="auto">
                  <a:xfrm rot="5400000" flipV="1">
                    <a:off x="6649228" y="3991996"/>
                    <a:ext cx="365760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6A62DB4A-B0B5-4019-B2F5-1E9E13FCD44E}"/>
                    </a:ext>
                  </a:extLst>
                </p:cNvPr>
                <p:cNvCxnSpPr/>
                <p:nvPr/>
              </p:nvCxnSpPr>
              <p:spPr bwMode="auto">
                <a:xfrm>
                  <a:off x="6781800" y="5543350"/>
                  <a:ext cx="539496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19E835B-5DD2-42EF-B5B9-892F38F3BC65}"/>
                  </a:ext>
                </a:extLst>
              </p:cNvPr>
              <p:cNvSpPr txBox="1"/>
              <p:nvPr/>
            </p:nvSpPr>
            <p:spPr>
              <a:xfrm>
                <a:off x="4062138" y="3246120"/>
                <a:ext cx="1043262" cy="64008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Repeater </a:t>
                </a:r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B5CFD36-9C75-4A4F-8054-87131FCF4FC2}"/>
                  </a:ext>
                </a:extLst>
              </p:cNvPr>
              <p:cNvCxnSpPr>
                <a:stCxn id="33" idx="3"/>
                <a:endCxn id="53" idx="1"/>
              </p:cNvCxnSpPr>
              <p:nvPr/>
            </p:nvCxnSpPr>
            <p:spPr bwMode="auto">
              <a:xfrm flipV="1">
                <a:off x="3428999" y="3566160"/>
                <a:ext cx="633139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E430186-6FD1-4D79-8DB3-50A96E6CAF7D}"/>
                  </a:ext>
                </a:extLst>
              </p:cNvPr>
              <p:cNvCxnSpPr/>
              <p:nvPr/>
            </p:nvCxnSpPr>
            <p:spPr bwMode="auto">
              <a:xfrm>
                <a:off x="5081861" y="3581400"/>
                <a:ext cx="633139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2" name="Connector: Elbow 61">
                <a:extLst>
                  <a:ext uri="{FF2B5EF4-FFF2-40B4-BE49-F238E27FC236}">
                    <a16:creationId xmlns:a16="http://schemas.microsoft.com/office/drawing/2014/main" id="{6F2CF1BE-4A97-4B58-A15A-8CACDCFC2E17}"/>
                  </a:ext>
                </a:extLst>
              </p:cNvPr>
              <p:cNvCxnSpPr/>
              <p:nvPr/>
            </p:nvCxnSpPr>
            <p:spPr bwMode="auto">
              <a:xfrm rot="16200000" flipV="1">
                <a:off x="3627120" y="3733800"/>
                <a:ext cx="640080" cy="274320"/>
              </a:xfrm>
              <a:prstGeom prst="bentConnector3">
                <a:avLst>
                  <a:gd name="adj1" fmla="val 442"/>
                </a:avLst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7" name="Connector: Elbow 66">
                <a:extLst>
                  <a:ext uri="{FF2B5EF4-FFF2-40B4-BE49-F238E27FC236}">
                    <a16:creationId xmlns:a16="http://schemas.microsoft.com/office/drawing/2014/main" id="{17310A82-EA9B-4681-AE93-7AE428E9004C}"/>
                  </a:ext>
                </a:extLst>
              </p:cNvPr>
              <p:cNvCxnSpPr/>
              <p:nvPr/>
            </p:nvCxnSpPr>
            <p:spPr bwMode="auto">
              <a:xfrm rot="5400000" flipH="1" flipV="1">
                <a:off x="4876800" y="3733800"/>
                <a:ext cx="640080" cy="274320"/>
              </a:xfrm>
              <a:prstGeom prst="bentConnector3">
                <a:avLst>
                  <a:gd name="adj1" fmla="val 442"/>
                </a:avLst>
              </a:prstGeom>
              <a:solidFill>
                <a:schemeClr val="accent1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18CC990-F79D-4768-AA61-F6F9E0D6E57E}"/>
                </a:ext>
              </a:extLst>
            </p:cNvPr>
            <p:cNvSpPr txBox="1"/>
            <p:nvPr/>
          </p:nvSpPr>
          <p:spPr>
            <a:xfrm>
              <a:off x="4128050" y="2763687"/>
              <a:ext cx="887899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Information Channel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66CE573-AA54-4C7C-90D3-A4D1CACCE99B}"/>
                </a:ext>
              </a:extLst>
            </p:cNvPr>
            <p:cNvCxnSpPr/>
            <p:nvPr/>
          </p:nvCxnSpPr>
          <p:spPr bwMode="auto">
            <a:xfrm flipV="1">
              <a:off x="3657599" y="2795499"/>
              <a:ext cx="0" cy="26774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E39964E-FB89-4B15-9616-6987FDDB1266}"/>
                </a:ext>
              </a:extLst>
            </p:cNvPr>
            <p:cNvCxnSpPr/>
            <p:nvPr/>
          </p:nvCxnSpPr>
          <p:spPr bwMode="auto">
            <a:xfrm flipV="1">
              <a:off x="5422788" y="2795498"/>
              <a:ext cx="0" cy="26774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C968B2F-5828-4087-97D2-0500DCFA3472}"/>
                </a:ext>
              </a:extLst>
            </p:cNvPr>
            <p:cNvCxnSpPr/>
            <p:nvPr/>
          </p:nvCxnSpPr>
          <p:spPr bwMode="auto">
            <a:xfrm flipH="1">
              <a:off x="3657599" y="2929369"/>
              <a:ext cx="47045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6193759-3D7B-484D-AA77-CAC6224A174F}"/>
                </a:ext>
              </a:extLst>
            </p:cNvPr>
            <p:cNvCxnSpPr/>
            <p:nvPr/>
          </p:nvCxnSpPr>
          <p:spPr bwMode="auto">
            <a:xfrm>
              <a:off x="5015949" y="2895600"/>
              <a:ext cx="47045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D4B037B4-772E-4F52-AE60-4CA8E1F8CBFC}"/>
              </a:ext>
            </a:extLst>
          </p:cNvPr>
          <p:cNvSpPr txBox="1"/>
          <p:nvPr/>
        </p:nvSpPr>
        <p:spPr>
          <a:xfrm>
            <a:off x="2590800" y="6248400"/>
            <a:ext cx="472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Fig. Block diagram of OFC systems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F04F17-1A05-4E86-847A-01CC4A2E3079}"/>
              </a:ext>
            </a:extLst>
          </p:cNvPr>
          <p:cNvSpPr txBox="1"/>
          <p:nvPr/>
        </p:nvSpPr>
        <p:spPr>
          <a:xfrm>
            <a:off x="2362862" y="2879996"/>
            <a:ext cx="9892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Transmitter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40D482E-AB8D-45F0-8E8C-C841C3E79F08}"/>
              </a:ext>
            </a:extLst>
          </p:cNvPr>
          <p:cNvSpPr txBox="1"/>
          <p:nvPr/>
        </p:nvSpPr>
        <p:spPr>
          <a:xfrm>
            <a:off x="5839302" y="2857246"/>
            <a:ext cx="9892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1077194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28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General OFC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3E828-7043-4F76-9A98-DCEE9E6E1D8E}"/>
              </a:ext>
            </a:extLst>
          </p:cNvPr>
          <p:cNvSpPr txBox="1"/>
          <p:nvPr/>
        </p:nvSpPr>
        <p:spPr>
          <a:xfrm>
            <a:off x="838200" y="725775"/>
            <a:ext cx="80772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dirty="0">
                <a:solidFill>
                  <a:srgbClr val="7030A0"/>
                </a:solidFill>
              </a:rPr>
              <a:t>Message origin: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It is transducer convert non-electrical message to electrical signal.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 e.g., microphone, video camera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51C335-17CD-424C-A178-13F9DDFE02D0}"/>
              </a:ext>
            </a:extLst>
          </p:cNvPr>
          <p:cNvSpPr txBox="1"/>
          <p:nvPr/>
        </p:nvSpPr>
        <p:spPr>
          <a:xfrm>
            <a:off x="863353" y="2362200"/>
            <a:ext cx="807720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dirty="0">
                <a:solidFill>
                  <a:srgbClr val="7030A0"/>
                </a:solidFill>
              </a:rPr>
              <a:t>Modulator: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It converts the electrical message into proper format.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 It impresses this signal onto the wave generated by the carrier source.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Two distinct categories of modulation are used i.e. analog modulation and digital modulation.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247846-A3D7-4205-92E7-F1F8B89D1126}"/>
              </a:ext>
            </a:extLst>
          </p:cNvPr>
          <p:cNvSpPr txBox="1"/>
          <p:nvPr/>
        </p:nvSpPr>
        <p:spPr>
          <a:xfrm>
            <a:off x="863353" y="4688919"/>
            <a:ext cx="80772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Carrier source: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Carrier source generates the wave on which the information is transmitted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For fiber optic system, a laser diode (LD) or a light emitting diode (LED) is used. </a:t>
            </a:r>
          </a:p>
        </p:txBody>
      </p:sp>
    </p:spTree>
    <p:extLst>
      <p:ext uri="{BB962C8B-B14F-4D97-AF65-F5344CB8AC3E}">
        <p14:creationId xmlns:p14="http://schemas.microsoft.com/office/powerpoint/2010/main" val="3990199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28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General OFC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3E828-7043-4F76-9A98-DCEE9E6E1D8E}"/>
              </a:ext>
            </a:extLst>
          </p:cNvPr>
          <p:cNvSpPr txBox="1"/>
          <p:nvPr/>
        </p:nvSpPr>
        <p:spPr>
          <a:xfrm>
            <a:off x="838200" y="725775"/>
            <a:ext cx="80772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dirty="0">
                <a:solidFill>
                  <a:srgbClr val="7030A0"/>
                </a:solidFill>
              </a:rPr>
              <a:t>Channel coupler: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Coupler feeds the power into the information channel 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Generally, lens are used as a channel coupler.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The lens collimates the light emitted by the source and directing this light towards the receiver through fiber.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51C335-17CD-424C-A178-13F9DDFE02D0}"/>
              </a:ext>
            </a:extLst>
          </p:cNvPr>
          <p:cNvSpPr txBox="1"/>
          <p:nvPr/>
        </p:nvSpPr>
        <p:spPr>
          <a:xfrm>
            <a:off x="857435" y="2769766"/>
            <a:ext cx="8077200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dirty="0">
                <a:solidFill>
                  <a:srgbClr val="7030A0"/>
                </a:solidFill>
              </a:rPr>
              <a:t>Information channel: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The information channel is the path between the transmitter and receiver.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A glass or plastic fiber is used as a information channel.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The channel attenuation should be low and large light acceptance angle.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Repeater are used to regenerate weak and distorted signal.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Another property of channel is propagation time. The signal in a channel contains different optic frequencies and divide its power along several ray paths, that cause pulse spreading.</a:t>
            </a:r>
          </a:p>
        </p:txBody>
      </p:sp>
    </p:spTree>
    <p:extLst>
      <p:ext uri="{BB962C8B-B14F-4D97-AF65-F5344CB8AC3E}">
        <p14:creationId xmlns:p14="http://schemas.microsoft.com/office/powerpoint/2010/main" val="4078020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28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General OFC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3E828-7043-4F76-9A98-DCEE9E6E1D8E}"/>
              </a:ext>
            </a:extLst>
          </p:cNvPr>
          <p:cNvSpPr txBox="1"/>
          <p:nvPr/>
        </p:nvSpPr>
        <p:spPr>
          <a:xfrm>
            <a:off x="838200" y="725775"/>
            <a:ext cx="807720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dirty="0">
                <a:solidFill>
                  <a:srgbClr val="7030A0"/>
                </a:solidFill>
              </a:rPr>
              <a:t>Optical detector: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In the fiber system the optic wave is converted into an electric current by a photodetector. 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The important properties of photodetectors are small size, economy, long life, low power consumption, high sensitivity to optic signals and fast response to quick variations in the optic power.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51C335-17CD-424C-A178-13F9DDFE02D0}"/>
              </a:ext>
            </a:extLst>
          </p:cNvPr>
          <p:cNvSpPr txBox="1"/>
          <p:nvPr/>
        </p:nvSpPr>
        <p:spPr>
          <a:xfrm>
            <a:off x="821924" y="2828915"/>
            <a:ext cx="80772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dirty="0">
                <a:solidFill>
                  <a:srgbClr val="7030A0"/>
                </a:solidFill>
              </a:rPr>
              <a:t>Signal processing: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Signal processing includes filtering, amplification.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Proper filtering maximizes the ratio of signal to unwanted power.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For a digital system, the BER should be small.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7F3BB-48BA-41D9-BC8D-59F2098BE0AD}"/>
              </a:ext>
            </a:extLst>
          </p:cNvPr>
          <p:cNvSpPr txBox="1"/>
          <p:nvPr/>
        </p:nvSpPr>
        <p:spPr>
          <a:xfrm>
            <a:off x="838200" y="4410750"/>
            <a:ext cx="807720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dirty="0">
                <a:solidFill>
                  <a:srgbClr val="7030A0"/>
                </a:solidFill>
              </a:rPr>
              <a:t>Message output: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The electrical form of the message emerging from the signal processor is transformed into a sound wave or visual image.</a:t>
            </a:r>
          </a:p>
          <a:p>
            <a:pPr marL="342900" indent="-342900" algn="just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2"/>
                </a:solidFill>
              </a:rPr>
              <a:t>Sometimes these signals are directly usable when computers or other machines are connected through a fiber system.</a:t>
            </a:r>
          </a:p>
        </p:txBody>
      </p:sp>
    </p:spTree>
    <p:extLst>
      <p:ext uri="{BB962C8B-B14F-4D97-AF65-F5344CB8AC3E}">
        <p14:creationId xmlns:p14="http://schemas.microsoft.com/office/powerpoint/2010/main" val="3203553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7620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066800"/>
            <a:ext cx="8504238" cy="503237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Source &amp; Modulators</a:t>
            </a:r>
          </a:p>
          <a:p>
            <a:pPr marL="736600" indent="177800"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LED, LD etc</a:t>
            </a: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Multiplexers &amp; </a:t>
            </a:r>
            <a:r>
              <a:rPr lang="en-US" dirty="0" err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Demultiplexers</a:t>
            </a:r>
            <a:endParaRPr lang="en-US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  <a:p>
            <a:pPr marL="736600" indent="177800"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WDM, DWDM etc.</a:t>
            </a:r>
          </a:p>
          <a:p>
            <a:pPr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Amplifiers or Repeaters</a:t>
            </a:r>
          </a:p>
          <a:p>
            <a:pPr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Connectors, Couplers, Isolators, etc.</a:t>
            </a:r>
          </a:p>
          <a:p>
            <a:pPr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Detectors &amp; Demodulators</a:t>
            </a:r>
          </a:p>
          <a:p>
            <a:pPr marL="736600" indent="177800"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PD, APD, PIN etc.</a:t>
            </a:r>
          </a:p>
          <a:p>
            <a:pPr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End Mile Networks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31C2CA6-EFD7-47DB-A25C-57F615382774}" type="datetime1">
              <a:rPr lang="en-US" smtClean="0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1BAFE8-1EFD-41C7-AEA5-2D67569EB26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6713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ICT, MBSTU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SEA-ME-WE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31C2CA6-EFD7-47DB-A25C-57F615382774}" type="datetime1">
              <a:rPr lang="en-US" smtClean="0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7A1300-A99D-418E-A8A8-77690E2CD14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39942" name="Picture 5" descr="map_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1000" y="3352801"/>
            <a:ext cx="8305799" cy="2743200"/>
          </a:xfrm>
          <a:noFill/>
        </p:spPr>
      </p:pic>
      <p:sp>
        <p:nvSpPr>
          <p:cNvPr id="7" name="Rectangle 6"/>
          <p:cNvSpPr/>
          <p:nvPr/>
        </p:nvSpPr>
        <p:spPr>
          <a:xfrm>
            <a:off x="381000" y="1295400"/>
            <a:ext cx="8305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South East Asia–Middle East–Western Europe 4</a:t>
            </a: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SEA-ME-WE 4</a:t>
            </a: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) is an optical </a:t>
            </a:r>
            <a:r>
              <a:rPr lang="en-US" sz="1600" dirty="0" err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fibre</a:t>
            </a: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submarine communications cable system that carries telecommunications between Singapore, Malaysia, Thailand, Bangladesh, India, Sri Lanka, Pakistan, United Arab Emirates, Saudi Arabia, Sudan, Egypt, Italy, Tunisia, Algeria and France.</a:t>
            </a:r>
            <a:r>
              <a:rPr lang="en-US" sz="1600" baseline="300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[1]</a:t>
            </a: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It is intended to be a complement to, rather than a replacement for, the SEA-ME-WE 3 cable. The cable is approximately 18,800 </a:t>
            </a:r>
            <a:r>
              <a:rPr lang="en-US" sz="1600" dirty="0" err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kilometres</a:t>
            </a: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long, and provides the primary Internet backbone between South East Asia, the Indian subcontinent, the Middle East and Europe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6713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ICT, MBSTU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811" y="339851"/>
              <a:ext cx="4280916" cy="1219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5255" y="339851"/>
              <a:ext cx="909827" cy="121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6611" y="339851"/>
              <a:ext cx="1546860" cy="121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0" y="339851"/>
              <a:ext cx="909827" cy="1219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6355" y="339851"/>
              <a:ext cx="1607820" cy="12192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736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95"/>
              </a:spcBef>
            </a:pPr>
            <a:r>
              <a:rPr dirty="0"/>
              <a:t>History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SEA-</a:t>
            </a:r>
            <a:r>
              <a:rPr spc="-35" dirty="0"/>
              <a:t>ME-</a:t>
            </a:r>
            <a:r>
              <a:rPr spc="-25" dirty="0"/>
              <a:t>WE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0489" y="1389634"/>
            <a:ext cx="7415530" cy="535178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5910" marR="1000760" lvl="0" indent="-283845" defTabSz="914400" eaLnBrk="1" fontAlgn="auto" latinLnBrk="0" hangingPunct="1">
              <a:lnSpc>
                <a:spcPct val="80000"/>
              </a:lnSpc>
              <a:spcBef>
                <a:spcPts val="745"/>
              </a:spcBef>
              <a:spcAft>
                <a:spcPts val="0"/>
              </a:spcAft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South-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27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Asia</a:t>
            </a:r>
            <a:r>
              <a:rPr kumimoji="0" sz="2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Middle</a:t>
            </a:r>
            <a:r>
              <a:rPr kumimoji="0" sz="2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2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Western Europe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80010" lvl="0" indent="-283845" defTabSz="914400" eaLnBrk="1" fontAlgn="auto" latinLnBrk="0" hangingPunct="1">
              <a:lnSpc>
                <a:spcPct val="80000"/>
              </a:lnSpc>
              <a:spcBef>
                <a:spcPts val="605"/>
              </a:spcBef>
              <a:spcAft>
                <a:spcPts val="0"/>
              </a:spcAft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1986,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first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ME-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series (SEA-ME-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1)</a:t>
            </a:r>
            <a:r>
              <a:rPr kumimoji="0" sz="2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 constructed</a:t>
            </a:r>
            <a:r>
              <a:rPr kumimoji="0" sz="2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using</a:t>
            </a:r>
            <a:r>
              <a:rPr kumimoji="0" sz="2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coaxial</a:t>
            </a:r>
            <a:r>
              <a:rPr kumimoji="0" sz="2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designed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transmit</a:t>
            </a:r>
            <a:r>
              <a:rPr kumimoji="0" sz="2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telephone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signals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Europe,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Middle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Southeast</a:t>
            </a:r>
            <a:r>
              <a:rPr kumimoji="0" sz="27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Asia.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4640" marR="43180" lvl="0" indent="-282575" algn="just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longest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telephone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world 	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spanning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13,585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km,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first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	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laid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Indian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Ocean.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711835" lvl="0" indent="-283845" defTabSz="914400" eaLnBrk="1" fontAlgn="auto" latinLnBrk="0" hangingPunct="1">
              <a:lnSpc>
                <a:spcPct val="80000"/>
              </a:lnSpc>
              <a:spcBef>
                <a:spcPts val="605"/>
              </a:spcBef>
              <a:spcAft>
                <a:spcPts val="0"/>
              </a:spcAft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maximum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bandwidth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calculated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25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MHz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5080" lvl="0" indent="-283845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Due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higher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demands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broadband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data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transfer,</a:t>
            </a:r>
            <a:r>
              <a:rPr kumimoji="0" sz="27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leading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construction</a:t>
            </a:r>
            <a:r>
              <a:rPr kumimoji="0" sz="27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0" defTabSz="914400" eaLnBrk="1" fontAlgn="auto" latinLnBrk="0" hangingPunct="1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SEA-ME-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 2,</a:t>
            </a:r>
            <a:r>
              <a:rPr kumimoji="0" sz="2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4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projects.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1435" y="1413764"/>
              <a:ext cx="210312" cy="2103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435" y="1338706"/>
              <a:ext cx="307095" cy="2863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403" y="2726436"/>
              <a:ext cx="1821180" cy="121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9111" y="2726436"/>
              <a:ext cx="909827" cy="1219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20467" y="2726436"/>
              <a:ext cx="1546859" cy="1219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8855" y="2726436"/>
              <a:ext cx="909828" cy="1219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20211" y="2726436"/>
              <a:ext cx="2065019" cy="12192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98194" y="2877438"/>
            <a:ext cx="363601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SEA-</a:t>
            </a:r>
            <a:r>
              <a:rPr spc="-35" dirty="0"/>
              <a:t>ME-</a:t>
            </a:r>
            <a:r>
              <a:rPr dirty="0"/>
              <a:t>WE</a:t>
            </a:r>
            <a:r>
              <a:rPr spc="-15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811" y="339851"/>
              <a:ext cx="1821180" cy="1219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5520" y="339851"/>
              <a:ext cx="909828" cy="121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6876" y="339851"/>
              <a:ext cx="1546860" cy="121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5264" y="339851"/>
              <a:ext cx="909827" cy="1219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6620" y="339851"/>
              <a:ext cx="2065020" cy="12192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736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SEA-</a:t>
            </a:r>
            <a:r>
              <a:rPr spc="-35" dirty="0"/>
              <a:t>ME-</a:t>
            </a:r>
            <a:r>
              <a:rPr dirty="0"/>
              <a:t>WE</a:t>
            </a:r>
            <a:r>
              <a:rPr spc="-35" dirty="0"/>
              <a:t> </a:t>
            </a:r>
            <a:r>
              <a:rPr spc="-50" dirty="0"/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28140" y="1958162"/>
            <a:ext cx="7417434" cy="441579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95910" marR="324485" lvl="0" indent="-283845" defTabSz="914400" eaLnBrk="1" fontAlgn="auto" latinLnBrk="0" hangingPunct="1">
              <a:lnSpc>
                <a:spcPts val="3240"/>
              </a:lnSpc>
              <a:spcBef>
                <a:spcPts val="509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South-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3000" b="0" i="0" u="none" strike="noStrike" kern="0" cap="none" spc="-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Asia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Middle</a:t>
            </a:r>
            <a:r>
              <a:rPr kumimoji="0" sz="3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Western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Europe</a:t>
            </a:r>
            <a:r>
              <a:rPr kumimoji="0" sz="3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2.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295275" lvl="0" indent="-283845" defTabSz="914400" eaLnBrk="1" fontAlgn="auto" latinLnBrk="0" hangingPunct="1">
              <a:lnSpc>
                <a:spcPts val="3240"/>
              </a:lnSpc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SEA-ME-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 was</a:t>
            </a:r>
            <a:r>
              <a:rPr kumimoji="0" sz="3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installed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3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October</a:t>
            </a:r>
            <a:r>
              <a:rPr kumimoji="0" sz="3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18th,</a:t>
            </a:r>
            <a:r>
              <a:rPr kumimoji="0" sz="3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1994.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156210" lvl="0" indent="-283845" defTabSz="914400" eaLnBrk="1" fontAlgn="auto" latinLnBrk="0" hangingPunct="1">
              <a:lnSpc>
                <a:spcPts val="3240"/>
              </a:lnSpc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  <a:tab pos="741045" algn="l"/>
              </a:tabLst>
              <a:defRPr/>
            </a:pPr>
            <a:r>
              <a:rPr kumimoji="0" sz="3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	fiber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optic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3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system,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spanning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18,751</a:t>
            </a:r>
            <a:r>
              <a:rPr kumimoji="0" sz="3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km,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linking</a:t>
            </a:r>
            <a:r>
              <a:rPr kumimoji="0" sz="3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13</a:t>
            </a:r>
            <a:r>
              <a:rPr kumimoji="0" sz="3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countries</a:t>
            </a:r>
            <a:r>
              <a:rPr kumimoji="0" sz="3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3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three continents.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5080" lvl="0" indent="-283845" defTabSz="914400" eaLnBrk="1" fontAlgn="auto" latinLnBrk="0" hangingPunct="1">
              <a:lnSpc>
                <a:spcPts val="3240"/>
              </a:lnSpc>
              <a:spcBef>
                <a:spcPts val="605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Peak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r>
              <a:rPr kumimoji="0" sz="3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3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560</a:t>
            </a:r>
            <a:r>
              <a:rPr kumimoji="0" sz="3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Mbps,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3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3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approximately</a:t>
            </a:r>
            <a:r>
              <a:rPr kumimoji="0" sz="3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equal</a:t>
            </a:r>
            <a:r>
              <a:rPr kumimoji="0" sz="3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</a:t>
            </a:r>
            <a:r>
              <a:rPr kumimoji="0" sz="3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r>
              <a:rPr kumimoji="0" sz="3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fifteen</a:t>
            </a:r>
            <a:r>
              <a:rPr kumimoji="0" sz="3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ME-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3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</a:t>
            </a:r>
            <a:r>
              <a:rPr kumimoji="0" sz="3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cables.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811" y="339851"/>
              <a:ext cx="1821180" cy="1219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5520" y="339851"/>
              <a:ext cx="909828" cy="121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6876" y="339851"/>
              <a:ext cx="1546860" cy="121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5264" y="339851"/>
              <a:ext cx="909827" cy="1219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6620" y="339851"/>
              <a:ext cx="3672839" cy="12192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736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SEA-</a:t>
            </a:r>
            <a:r>
              <a:rPr spc="-35" dirty="0"/>
              <a:t>ME-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spc="-10" dirty="0"/>
              <a:t>Route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46701" y="6537452"/>
            <a:ext cx="78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 MT"/>
                <a:cs typeface="Arial MT"/>
              </a:rPr>
              <a:t>13/12/2009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7510" y="653745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 MT"/>
                <a:cs typeface="Arial MT"/>
              </a:rPr>
              <a:t>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52600" y="1600200"/>
            <a:ext cx="60557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1435" y="1413764"/>
              <a:ext cx="210312" cy="2103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435" y="1338706"/>
              <a:ext cx="307095" cy="2863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004" y="836675"/>
              <a:ext cx="5544312" cy="121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9844" y="836675"/>
              <a:ext cx="909827" cy="1219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91200" y="836675"/>
              <a:ext cx="1546859" cy="1219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9588" y="836675"/>
              <a:ext cx="909827" cy="1219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90943" y="836675"/>
              <a:ext cx="2217420" cy="12192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45844" y="988313"/>
            <a:ext cx="73596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  <a:r>
              <a:rPr spc="-155" dirty="0"/>
              <a:t> </a:t>
            </a:r>
            <a:r>
              <a:rPr spc="-190" dirty="0"/>
              <a:t>To</a:t>
            </a:r>
            <a:r>
              <a:rPr spc="-110" dirty="0"/>
              <a:t> </a:t>
            </a:r>
            <a:r>
              <a:rPr dirty="0"/>
              <a:t>SEA-</a:t>
            </a:r>
            <a:r>
              <a:rPr spc="-35" dirty="0"/>
              <a:t>ME-</a:t>
            </a:r>
            <a:r>
              <a:rPr dirty="0"/>
              <a:t>WE</a:t>
            </a:r>
            <a:r>
              <a:rPr spc="-90" dirty="0"/>
              <a:t> </a:t>
            </a:r>
            <a:r>
              <a:rPr spc="-50" dirty="0"/>
              <a:t>3</a:t>
            </a:r>
          </a:p>
        </p:txBody>
      </p:sp>
      <p:sp>
        <p:nvSpPr>
          <p:cNvPr id="11" name="object 11"/>
          <p:cNvSpPr/>
          <p:nvPr/>
        </p:nvSpPr>
        <p:spPr>
          <a:xfrm>
            <a:off x="1219200" y="2154808"/>
            <a:ext cx="7406640" cy="4017645"/>
          </a:xfrm>
          <a:custGeom>
            <a:avLst/>
            <a:gdLst/>
            <a:ahLst/>
            <a:cxnLst/>
            <a:rect l="l" t="t" r="r" b="b"/>
            <a:pathLst>
              <a:path w="7406640" h="4017645">
                <a:moveTo>
                  <a:pt x="0" y="4017391"/>
                </a:moveTo>
                <a:lnTo>
                  <a:pt x="7406640" y="4017391"/>
                </a:lnTo>
                <a:lnTo>
                  <a:pt x="7406640" y="0"/>
                </a:lnTo>
                <a:lnTo>
                  <a:pt x="0" y="0"/>
                </a:lnTo>
                <a:lnTo>
                  <a:pt x="0" y="401739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5625" y="2057374"/>
            <a:ext cx="7169150" cy="40506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0" cap="none" spc="-1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"/>
                <a:cs typeface="Arial"/>
              </a:rPr>
              <a:t>SEA-</a:t>
            </a:r>
            <a:r>
              <a:rPr kumimoji="0" sz="2600" b="1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"/>
                <a:cs typeface="Arial"/>
              </a:rPr>
              <a:t>ME-WE </a:t>
            </a:r>
            <a:r>
              <a:rPr kumimoji="0" sz="2600" b="1" i="0" u="none" strike="noStrike" kern="0" cap="none" spc="-5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91440" defTabSz="91440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South-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2600" b="0" i="0" u="none" strike="noStrike" kern="0" cap="none" spc="-16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Asia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Middle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Western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Europe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3.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69900" marR="310515" lvl="0" indent="-4572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8846"/>
              <a:buFontTx/>
              <a:buChar char="•"/>
              <a:tabLst>
                <a:tab pos="469900" algn="l"/>
                <a:tab pos="47244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891A7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optical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submarine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telecommunication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cable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link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longest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world</a:t>
            </a:r>
            <a:r>
              <a:rPr kumimoji="0" sz="2600" b="0" i="0" u="none" strike="noStrike" kern="0" cap="none" spc="63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stretches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North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Germany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Australia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Japan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35"/>
              </a:spcBef>
              <a:spcAft>
                <a:spcPts val="0"/>
              </a:spcAft>
              <a:buClr>
                <a:srgbClr val="3891A7"/>
              </a:buClr>
              <a:buSzTx/>
              <a:buFont typeface="Arial MT"/>
              <a:buChar char="•"/>
              <a:tabLst/>
              <a:defRPr/>
            </a:pP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69265" marR="0" lvl="0" indent="-45656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8846"/>
              <a:buFontTx/>
              <a:buChar char="•"/>
              <a:tabLst>
                <a:tab pos="46926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completed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late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310D04"/>
                </a:solidFill>
                <a:effectLst/>
                <a:uLnTx/>
                <a:uFillTx/>
                <a:latin typeface="Arial MT"/>
                <a:cs typeface="Arial MT"/>
              </a:rPr>
              <a:t>2000.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803" y="979931"/>
            <a:ext cx="4279392" cy="1219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0594" y="1130554"/>
            <a:ext cx="357568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Introduction</a:t>
            </a:r>
            <a:r>
              <a:rPr spc="-254" dirty="0"/>
              <a:t> </a:t>
            </a:r>
            <a:r>
              <a:rPr spc="-50" dirty="0"/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8140" y="2497963"/>
            <a:ext cx="5815330" cy="37052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95910" marR="412750" lvl="0" indent="-283845" defTabSz="914400" eaLnBrk="1" fontAlgn="auto" latinLnBrk="0" hangingPunct="1">
              <a:lnSpc>
                <a:spcPts val="2920"/>
              </a:lnSpc>
              <a:spcBef>
                <a:spcPts val="459"/>
              </a:spcBef>
              <a:spcAft>
                <a:spcPts val="0"/>
              </a:spcAft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led</a:t>
            </a:r>
            <a:r>
              <a:rPr kumimoji="0" sz="27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2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France</a:t>
            </a:r>
            <a:r>
              <a:rPr kumimoji="0" sz="27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Telecom</a:t>
            </a:r>
            <a:r>
              <a:rPr kumimoji="0" sz="2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2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China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Telecom,</a:t>
            </a:r>
            <a:r>
              <a:rPr kumimoji="0" sz="2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27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2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administered</a:t>
            </a:r>
            <a:r>
              <a:rPr kumimoji="0" sz="2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SingTel.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3891A7"/>
              </a:buClr>
              <a:buSzTx/>
              <a:buFont typeface="Segoe UI Symbol"/>
              <a:buChar char="⚫"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5080" lvl="0" indent="-283845" defTabSz="914400" eaLnBrk="1" fontAlgn="auto" latinLnBrk="0" hangingPunct="1">
              <a:lnSpc>
                <a:spcPts val="292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telecommunications</a:t>
            </a:r>
            <a:r>
              <a:rPr kumimoji="0" sz="2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operator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owned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Government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Singapore.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3891A7"/>
              </a:buClr>
              <a:buSzTx/>
              <a:buFont typeface="Segoe UI Symbol"/>
              <a:buChar char="⚫"/>
              <a:tabLst/>
              <a:defRPr/>
            </a:pP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957580" lvl="0" indent="-283845" defTabSz="914400" eaLnBrk="1" fontAlgn="auto" latinLnBrk="0" hangingPunct="1">
              <a:lnSpc>
                <a:spcPts val="292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Total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length</a:t>
            </a:r>
            <a:r>
              <a:rPr kumimoji="0" sz="2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39,000</a:t>
            </a:r>
            <a:r>
              <a:rPr kumimoji="0" sz="27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kilometers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(24,000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mi).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004" y="42671"/>
              <a:ext cx="6643116" cy="1219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8647" y="42671"/>
              <a:ext cx="909827" cy="121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0004" y="42671"/>
              <a:ext cx="1546859" cy="121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08392" y="42671"/>
              <a:ext cx="909827" cy="1219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4004" y="697992"/>
              <a:ext cx="2063495" cy="12192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45844" y="192735"/>
            <a:ext cx="7122795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Technology</a:t>
            </a:r>
            <a:r>
              <a:rPr spc="-80" dirty="0"/>
              <a:t> </a:t>
            </a:r>
            <a:r>
              <a:rPr dirty="0"/>
              <a:t>used</a:t>
            </a:r>
            <a:r>
              <a:rPr spc="-6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SEA-</a:t>
            </a:r>
            <a:r>
              <a:rPr spc="-25" dirty="0"/>
              <a:t>ME- </a:t>
            </a:r>
            <a:r>
              <a:rPr dirty="0"/>
              <a:t>WE</a:t>
            </a:r>
            <a:r>
              <a:rPr spc="-75" dirty="0"/>
              <a:t> </a:t>
            </a:r>
            <a:r>
              <a:rPr spc="-50" dirty="0"/>
              <a:t>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0489" y="1700529"/>
            <a:ext cx="6855459" cy="4018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marR="24765" lvl="0" indent="-28194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3891A7"/>
              </a:buClr>
              <a:buSzPct val="8035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Wavelength</a:t>
            </a:r>
            <a:r>
              <a:rPr kumimoji="0" sz="28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Division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Multiplexing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</a:t>
            </a:r>
            <a:r>
              <a:rPr kumimoji="0" sz="2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WDM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)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transmission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increase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enhance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quality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signal,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especially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long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distances.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3891A7"/>
              </a:buClr>
              <a:buSzTx/>
              <a:buFont typeface="Segoe UI Symbol"/>
              <a:buChar char="⚫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4005" marR="5080" lvl="0" indent="-28194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8035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WDM</a:t>
            </a:r>
            <a:r>
              <a:rPr kumimoji="0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multiplexes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number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optical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carrier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signals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onto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single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optical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fiber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using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different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wavelengths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(i.e.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colors)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laser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light.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19" y="118872"/>
              <a:ext cx="2125980" cy="11094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118872"/>
              <a:ext cx="3369564" cy="11094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1935" y="118872"/>
              <a:ext cx="3119627" cy="11094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77100" y="118872"/>
              <a:ext cx="829055" cy="11094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41692" y="118872"/>
              <a:ext cx="1408176" cy="11094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85404" y="118872"/>
              <a:ext cx="829055" cy="11094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319" y="713232"/>
              <a:ext cx="1876044" cy="110947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75156" y="255473"/>
            <a:ext cx="7722234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900" dirty="0"/>
              <a:t>Route</a:t>
            </a:r>
            <a:r>
              <a:rPr sz="3900" spc="-100" dirty="0"/>
              <a:t> </a:t>
            </a:r>
            <a:r>
              <a:rPr sz="3900" dirty="0"/>
              <a:t>and</a:t>
            </a:r>
            <a:r>
              <a:rPr sz="3900" spc="-90" dirty="0"/>
              <a:t> </a:t>
            </a:r>
            <a:r>
              <a:rPr sz="3900" dirty="0"/>
              <a:t>landing</a:t>
            </a:r>
            <a:r>
              <a:rPr sz="3900" spc="-85" dirty="0"/>
              <a:t> </a:t>
            </a:r>
            <a:r>
              <a:rPr sz="3900" dirty="0"/>
              <a:t>points</a:t>
            </a:r>
            <a:r>
              <a:rPr sz="3900" spc="-90" dirty="0"/>
              <a:t> </a:t>
            </a:r>
            <a:r>
              <a:rPr sz="3900" spc="-10" dirty="0"/>
              <a:t>SEA-</a:t>
            </a:r>
            <a:r>
              <a:rPr sz="3900" spc="-25" dirty="0"/>
              <a:t>ME- </a:t>
            </a:r>
            <a:r>
              <a:rPr sz="3900" dirty="0"/>
              <a:t>WE </a:t>
            </a:r>
            <a:r>
              <a:rPr sz="3900" spc="-50" dirty="0"/>
              <a:t>3</a:t>
            </a:r>
            <a:endParaRPr sz="3900"/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0200" y="1447800"/>
            <a:ext cx="6669151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4816" y="88392"/>
              <a:ext cx="5576316" cy="110947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6667" y="88392"/>
              <a:ext cx="829056" cy="11094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1259" y="88392"/>
              <a:ext cx="1408176" cy="11094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4971" y="88392"/>
              <a:ext cx="829055" cy="11094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9564" y="88392"/>
              <a:ext cx="1874520" cy="110947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14602" y="225374"/>
            <a:ext cx="722122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dirty="0"/>
              <a:t>Landing</a:t>
            </a:r>
            <a:r>
              <a:rPr sz="3900" spc="-40" dirty="0"/>
              <a:t> </a:t>
            </a:r>
            <a:r>
              <a:rPr sz="3900" dirty="0"/>
              <a:t>points</a:t>
            </a:r>
            <a:r>
              <a:rPr sz="3900" spc="-60" dirty="0"/>
              <a:t> </a:t>
            </a:r>
            <a:r>
              <a:rPr sz="3900" dirty="0"/>
              <a:t>of</a:t>
            </a:r>
            <a:r>
              <a:rPr sz="3900" spc="-55" dirty="0"/>
              <a:t> </a:t>
            </a:r>
            <a:r>
              <a:rPr sz="3900" spc="-10" dirty="0"/>
              <a:t>SEA-ME-</a:t>
            </a:r>
            <a:r>
              <a:rPr sz="3900" dirty="0"/>
              <a:t>WE</a:t>
            </a:r>
            <a:r>
              <a:rPr sz="3900" spc="-75" dirty="0"/>
              <a:t> </a:t>
            </a:r>
            <a:r>
              <a:rPr sz="3900" spc="-50" dirty="0"/>
              <a:t>3</a:t>
            </a:r>
            <a:endParaRPr sz="3900"/>
          </a:p>
        </p:txBody>
      </p:sp>
      <p:sp>
        <p:nvSpPr>
          <p:cNvPr id="9" name="object 9"/>
          <p:cNvSpPr txBox="1"/>
          <p:nvPr/>
        </p:nvSpPr>
        <p:spPr>
          <a:xfrm>
            <a:off x="1456689" y="1092454"/>
            <a:ext cx="3279775" cy="520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marR="0" lvl="0" indent="-28321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39</a:t>
            </a:r>
            <a:r>
              <a:rPr kumimoji="0" sz="2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landing</a:t>
            </a:r>
            <a:r>
              <a:rPr kumimoji="0" sz="2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points: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Norden,</a:t>
            </a:r>
            <a:r>
              <a:rPr kumimoji="0" sz="2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Germany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Oostende,</a:t>
            </a:r>
            <a:r>
              <a:rPr kumimoji="0" sz="25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Belgium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14604" lvl="0" indent="-515620" defTabSz="914400" eaLnBrk="1" fontAlgn="auto" latinLnBrk="0" hangingPunct="1">
              <a:lnSpc>
                <a:spcPts val="2400"/>
              </a:lnSpc>
              <a:spcBef>
                <a:spcPts val="580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Goonhilly,</a:t>
            </a:r>
            <a:r>
              <a:rPr kumimoji="0" sz="25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England, </a:t>
            </a:r>
            <a:r>
              <a:rPr kumimoji="0" sz="2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UK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Penmarch,</a:t>
            </a:r>
            <a:r>
              <a:rPr kumimoji="0" sz="2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France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Sesimbra,</a:t>
            </a:r>
            <a:r>
              <a:rPr kumimoji="0" sz="25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Portugal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Tetuan,</a:t>
            </a:r>
            <a:r>
              <a:rPr kumimoji="0" sz="25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Morocco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312420" lvl="0" indent="-515620" defTabSz="914400" eaLnBrk="1" fontAlgn="auto" latinLnBrk="0" hangingPunct="1">
              <a:lnSpc>
                <a:spcPts val="2400"/>
              </a:lnSpc>
              <a:spcBef>
                <a:spcPts val="580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Mazara</a:t>
            </a:r>
            <a:r>
              <a:rPr kumimoji="0" sz="2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</a:t>
            </a:r>
            <a:r>
              <a:rPr kumimoji="0" sz="25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Vallo,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Italy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Chania,</a:t>
            </a:r>
            <a:r>
              <a:rPr kumimoji="0" sz="2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Greece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Marmaris,</a:t>
            </a:r>
            <a:r>
              <a:rPr kumimoji="0" sz="25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Turkey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80000"/>
              <a:buFontTx/>
              <a:buAutoNum type="arabicPeriod"/>
              <a:tabLst>
                <a:tab pos="527685" algn="l"/>
              </a:tabLst>
              <a:defRPr/>
            </a:pPr>
            <a:r>
              <a:rPr kumimoji="0" sz="2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Yeroskipou,</a:t>
            </a:r>
            <a:r>
              <a:rPr kumimoji="0" sz="25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Cyprus</a:t>
            </a:r>
            <a:endParaRPr kumimoji="0" sz="2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Alexandria,</a:t>
            </a:r>
            <a:r>
              <a:rPr spc="-65" dirty="0"/>
              <a:t> </a:t>
            </a:r>
            <a:r>
              <a:rPr spc="-10" dirty="0"/>
              <a:t>Egypt</a:t>
            </a:r>
          </a:p>
          <a:p>
            <a:pPr marL="527685" indent="-514984">
              <a:lnSpc>
                <a:spcPct val="100000"/>
              </a:lnSpc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Suez,</a:t>
            </a:r>
            <a:r>
              <a:rPr spc="-30" dirty="0"/>
              <a:t> </a:t>
            </a:r>
            <a:r>
              <a:rPr spc="-10" dirty="0"/>
              <a:t>Egypt</a:t>
            </a:r>
          </a:p>
          <a:p>
            <a:pPr marL="527685" indent="-514984">
              <a:lnSpc>
                <a:spcPct val="100000"/>
              </a:lnSpc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Jeddah,</a:t>
            </a:r>
            <a:r>
              <a:rPr spc="-80" dirty="0"/>
              <a:t> </a:t>
            </a:r>
            <a:r>
              <a:rPr dirty="0"/>
              <a:t>Saudi</a:t>
            </a:r>
            <a:r>
              <a:rPr spc="-175" dirty="0"/>
              <a:t> </a:t>
            </a:r>
            <a:r>
              <a:rPr spc="-10" dirty="0"/>
              <a:t>Arabia</a:t>
            </a:r>
          </a:p>
          <a:p>
            <a:pPr marL="527685" indent="-514984">
              <a:lnSpc>
                <a:spcPct val="100000"/>
              </a:lnSpc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Djibouti,</a:t>
            </a:r>
            <a:r>
              <a:rPr spc="-25" dirty="0"/>
              <a:t> </a:t>
            </a:r>
            <a:r>
              <a:rPr spc="-10" dirty="0"/>
              <a:t>Djibouti</a:t>
            </a:r>
          </a:p>
          <a:p>
            <a:pPr marL="527685" indent="-514984">
              <a:lnSpc>
                <a:spcPct val="100000"/>
              </a:lnSpc>
              <a:spcBef>
                <a:spcPts val="5"/>
              </a:spcBef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Muscat,</a:t>
            </a:r>
            <a:r>
              <a:rPr spc="-65" dirty="0"/>
              <a:t> </a:t>
            </a:r>
            <a:r>
              <a:rPr spc="-20" dirty="0"/>
              <a:t>Oman</a:t>
            </a:r>
          </a:p>
          <a:p>
            <a:pPr marL="527685" marR="40005" indent="-515620">
              <a:lnSpc>
                <a:spcPts val="2400"/>
              </a:lnSpc>
              <a:spcBef>
                <a:spcPts val="580"/>
              </a:spcBef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Fujairah,</a:t>
            </a:r>
            <a:r>
              <a:rPr spc="-40" dirty="0"/>
              <a:t> </a:t>
            </a:r>
            <a:r>
              <a:rPr dirty="0"/>
              <a:t>United</a:t>
            </a:r>
            <a:r>
              <a:rPr spc="-165" dirty="0"/>
              <a:t> </a:t>
            </a:r>
            <a:r>
              <a:rPr spc="-20" dirty="0"/>
              <a:t>Arab </a:t>
            </a:r>
            <a:r>
              <a:rPr spc="-10" dirty="0"/>
              <a:t>Emirates</a:t>
            </a:r>
          </a:p>
          <a:p>
            <a:pPr marL="527685" indent="-514984">
              <a:lnSpc>
                <a:spcPct val="100000"/>
              </a:lnSpc>
              <a:spcBef>
                <a:spcPts val="20"/>
              </a:spcBef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Karachi,</a:t>
            </a:r>
            <a:r>
              <a:rPr spc="-114" dirty="0"/>
              <a:t> </a:t>
            </a:r>
            <a:r>
              <a:rPr spc="-10" dirty="0"/>
              <a:t>Pakistan</a:t>
            </a:r>
          </a:p>
          <a:p>
            <a:pPr marL="527685" indent="-514984">
              <a:lnSpc>
                <a:spcPct val="100000"/>
              </a:lnSpc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Mumbai,</a:t>
            </a:r>
            <a:r>
              <a:rPr spc="-95" dirty="0"/>
              <a:t> </a:t>
            </a:r>
            <a:r>
              <a:rPr spc="-10" dirty="0"/>
              <a:t>India</a:t>
            </a:r>
          </a:p>
          <a:p>
            <a:pPr marL="527685" indent="-514984">
              <a:lnSpc>
                <a:spcPct val="100000"/>
              </a:lnSpc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Cochin,</a:t>
            </a:r>
            <a:r>
              <a:rPr spc="-40" dirty="0"/>
              <a:t> </a:t>
            </a:r>
            <a:r>
              <a:rPr spc="-10" dirty="0"/>
              <a:t>India</a:t>
            </a:r>
          </a:p>
          <a:p>
            <a:pPr marL="527685" marR="478155" indent="-515620">
              <a:lnSpc>
                <a:spcPts val="2400"/>
              </a:lnSpc>
              <a:spcBef>
                <a:spcPts val="580"/>
              </a:spcBef>
              <a:buClr>
                <a:srgbClr val="3891A7"/>
              </a:buClr>
              <a:buSzPct val="80000"/>
              <a:buAutoNum type="arabicPeriod" startAt="11"/>
              <a:tabLst>
                <a:tab pos="527685" algn="l"/>
              </a:tabLst>
            </a:pPr>
            <a:r>
              <a:rPr dirty="0"/>
              <a:t>Mount</a:t>
            </a:r>
            <a:r>
              <a:rPr spc="-50" dirty="0"/>
              <a:t> </a:t>
            </a:r>
            <a:r>
              <a:rPr dirty="0"/>
              <a:t>Lavinia,</a:t>
            </a:r>
            <a:r>
              <a:rPr spc="-60" dirty="0"/>
              <a:t> </a:t>
            </a:r>
            <a:r>
              <a:rPr spc="-25" dirty="0"/>
              <a:t>Sri </a:t>
            </a:r>
            <a:r>
              <a:rPr spc="-10" dirty="0"/>
              <a:t>Lanka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811" y="339851"/>
            <a:ext cx="4821936" cy="1219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736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95"/>
              </a:spcBef>
            </a:pPr>
            <a:r>
              <a:rPr dirty="0"/>
              <a:t>Landing</a:t>
            </a:r>
            <a:r>
              <a:rPr spc="-45" dirty="0"/>
              <a:t> </a:t>
            </a:r>
            <a:r>
              <a:rPr spc="-10" dirty="0"/>
              <a:t>points…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96897" y="1389634"/>
            <a:ext cx="3321685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0" lvl="0" indent="-514984" defTabSz="914400" eaLnBrk="1" fontAlgn="auto" latinLnBrk="0" hangingPunct="1">
              <a:lnSpc>
                <a:spcPts val="3215"/>
              </a:lnSpc>
              <a:spcBef>
                <a:spcPts val="10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21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Pyapon,</a:t>
            </a:r>
            <a:r>
              <a:rPr kumimoji="0" sz="2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Myanmar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215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21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Satun,</a:t>
            </a:r>
            <a:r>
              <a:rPr kumimoji="0" sz="27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Thailand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6897" y="2200783"/>
            <a:ext cx="32658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7685" algn="l"/>
              </a:tabLst>
              <a:defRPr/>
            </a:pPr>
            <a:r>
              <a:rPr kumimoji="0" sz="2150" b="0" i="0" u="none" strike="noStrike" kern="0" cap="none" spc="-25" normalizeH="0" baseline="0" noProof="0" dirty="0">
                <a:ln>
                  <a:noFill/>
                </a:ln>
                <a:solidFill>
                  <a:srgbClr val="3891A7"/>
                </a:solidFill>
                <a:effectLst/>
                <a:uLnTx/>
                <a:uFillTx/>
                <a:latin typeface="Arial MT"/>
                <a:cs typeface="Arial MT"/>
              </a:rPr>
              <a:t>23.</a:t>
            </a:r>
            <a:r>
              <a:rPr kumimoji="0" sz="2150" b="0" i="0" u="none" strike="noStrike" kern="0" cap="none" spc="0" normalizeH="0" baseline="0" noProof="0" dirty="0">
                <a:ln>
                  <a:noFill/>
                </a:ln>
                <a:solidFill>
                  <a:srgbClr val="3891A7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Penang,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Malaysia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6897" y="2859151"/>
            <a:ext cx="3340735" cy="31991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527685" marR="612140" lvl="0" indent="0" defTabSz="914400" eaLnBrk="1" fontAlgn="auto" latinLnBrk="0" hangingPunct="1">
              <a:lnSpc>
                <a:spcPct val="8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SAFE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2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FLAG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cables.)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24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Medan,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Indonesia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24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Tuas,</a:t>
            </a:r>
            <a:r>
              <a:rPr kumimoji="0" sz="27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Singapore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95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24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Jakarta,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Indonesia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95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24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Perth,</a:t>
            </a:r>
            <a:r>
              <a:rPr kumimoji="0" sz="270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Australia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24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Mersing,</a:t>
            </a: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Malaysia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215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24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Tungku,</a:t>
            </a:r>
            <a:r>
              <a:rPr kumimoji="0" sz="27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Brunei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55133" y="1389634"/>
            <a:ext cx="3335020" cy="1172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0" lvl="0" indent="-514984" defTabSz="914400" eaLnBrk="1" fontAlgn="auto" latinLnBrk="0" hangingPunct="1">
              <a:lnSpc>
                <a:spcPts val="3215"/>
              </a:lnSpc>
              <a:spcBef>
                <a:spcPts val="10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0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Nang,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Vietnam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1140460" lvl="0" indent="-515620" defTabSz="914400" eaLnBrk="1" fontAlgn="auto" latinLnBrk="0" hangingPunct="1">
              <a:lnSpc>
                <a:spcPts val="2600"/>
              </a:lnSpc>
              <a:spcBef>
                <a:spcPts val="595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0"/>
              <a:tabLst>
                <a:tab pos="527685" algn="l"/>
              </a:tabLst>
              <a:defRPr/>
            </a:pP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Batangas, Philippines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2010" y="2529966"/>
            <a:ext cx="57232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155315" algn="l"/>
                <a:tab pos="3670300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(Where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meets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2150" b="0" i="0" u="none" strike="noStrike" kern="0" cap="none" spc="-25" normalizeH="0" baseline="0" noProof="0" dirty="0">
                <a:ln>
                  <a:noFill/>
                </a:ln>
                <a:solidFill>
                  <a:srgbClr val="3891A7"/>
                </a:solidFill>
                <a:effectLst/>
                <a:uLnTx/>
                <a:uFillTx/>
                <a:latin typeface="Arial MT"/>
                <a:cs typeface="Arial MT"/>
              </a:rPr>
              <a:t>32.</a:t>
            </a:r>
            <a:r>
              <a:rPr kumimoji="0" sz="2150" b="0" i="0" u="none" strike="noStrike" kern="0" cap="none" spc="0" normalizeH="0" baseline="0" noProof="0" dirty="0">
                <a:ln>
                  <a:noFill/>
                </a:ln>
                <a:solidFill>
                  <a:srgbClr val="3891A7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2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Taipa,</a:t>
            </a:r>
            <a:r>
              <a:rPr kumimoji="0" sz="27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Macau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5133" y="2935351"/>
            <a:ext cx="3512820" cy="31991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527685" marR="405130" lvl="0" indent="-515620" defTabSz="914400" eaLnBrk="1" fontAlgn="auto" latinLnBrk="0" hangingPunct="1">
              <a:lnSpc>
                <a:spcPct val="80000"/>
              </a:lnSpc>
              <a:spcBef>
                <a:spcPts val="745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3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Deep</a:t>
            </a:r>
            <a:r>
              <a:rPr kumimoji="0" sz="27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Water</a:t>
            </a:r>
            <a:r>
              <a:rPr kumimoji="0" sz="27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Bay,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Hong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Kong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3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Shantou,</a:t>
            </a:r>
            <a:r>
              <a:rPr kumimoji="0" sz="2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China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3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Fangshan,</a:t>
            </a:r>
            <a:r>
              <a:rPr kumimoji="0" sz="27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Taiwan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95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3"/>
              <a:tabLst>
                <a:tab pos="527685" algn="l"/>
              </a:tabLst>
              <a:defRPr/>
            </a:pPr>
            <a:r>
              <a:rPr kumimoji="0" sz="2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Toucheng,</a:t>
            </a:r>
            <a:r>
              <a:rPr kumimoji="0" sz="270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Taiwan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95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3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Shanghai,</a:t>
            </a:r>
            <a:r>
              <a:rPr kumimoji="0" sz="2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China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3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Keoje,</a:t>
            </a:r>
            <a:r>
              <a:rPr kumimoji="0" sz="2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South</a:t>
            </a:r>
            <a:r>
              <a:rPr kumimoji="0" sz="2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Korea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527685" marR="0" lvl="0" indent="-514984" defTabSz="914400" eaLnBrk="1" fontAlgn="auto" latinLnBrk="0" hangingPunct="1">
              <a:lnSpc>
                <a:spcPts val="3215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629"/>
              <a:buFontTx/>
              <a:buAutoNum type="arabicPeriod" startAt="33"/>
              <a:tabLst>
                <a:tab pos="527685" algn="l"/>
              </a:tabLst>
              <a:defRPr/>
            </a:pPr>
            <a:r>
              <a:rPr kumimoji="0" sz="2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Okinawa, </a:t>
            </a:r>
            <a:r>
              <a:rPr kumimoji="0" sz="2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Japan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1435" y="1413764"/>
              <a:ext cx="210312" cy="2103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435" y="1338706"/>
              <a:ext cx="307095" cy="2863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5003" y="2497836"/>
              <a:ext cx="1821180" cy="121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7711" y="2497836"/>
              <a:ext cx="909827" cy="1219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9067" y="2497836"/>
              <a:ext cx="1546859" cy="1219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7455" y="2497836"/>
              <a:ext cx="909827" cy="1219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48811" y="2497836"/>
              <a:ext cx="2065019" cy="12192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26794" y="2648838"/>
            <a:ext cx="363601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SEA-</a:t>
            </a:r>
            <a:r>
              <a:rPr spc="-35" dirty="0"/>
              <a:t>ME-</a:t>
            </a:r>
            <a:r>
              <a:rPr dirty="0"/>
              <a:t>WE</a:t>
            </a:r>
            <a:r>
              <a:rPr spc="-15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811" y="339851"/>
              <a:ext cx="1821180" cy="1219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5520" y="339851"/>
              <a:ext cx="909828" cy="121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6876" y="339851"/>
              <a:ext cx="1546860" cy="121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5264" y="339851"/>
              <a:ext cx="909827" cy="1219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6620" y="339851"/>
              <a:ext cx="2065020" cy="12192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736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SEA-</a:t>
            </a:r>
            <a:r>
              <a:rPr spc="-35" dirty="0"/>
              <a:t>ME-</a:t>
            </a:r>
            <a:r>
              <a:rPr dirty="0"/>
              <a:t>WE</a:t>
            </a:r>
            <a:r>
              <a:rPr spc="-35" dirty="0"/>
              <a:t> </a:t>
            </a:r>
            <a:r>
              <a:rPr spc="-50" dirty="0"/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96897" y="2032838"/>
            <a:ext cx="7009765" cy="318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25145" lvl="0" indent="-286385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South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3200" b="0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Asia-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Middle</a:t>
            </a:r>
            <a:r>
              <a:rPr kumimoji="0" sz="3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East-</a:t>
            </a:r>
            <a:r>
              <a:rPr kumimoji="0" sz="3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West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Europe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(SEA-ME-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4)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Tx/>
              <a:buFont typeface="Segoe UI Symbol"/>
              <a:buChar char="⚫"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20"/>
              </a:spcBef>
              <a:spcAft>
                <a:spcPts val="0"/>
              </a:spcAft>
              <a:buClr>
                <a:srgbClr val="3891A7"/>
              </a:buClr>
              <a:buSzTx/>
              <a:buFont typeface="Segoe UI Symbol"/>
              <a:buChar char="⚫"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5080" lvl="0" indent="-28638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3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3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fourth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SEA-ME-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series.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27th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March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2004.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183" y="443483"/>
              <a:ext cx="1863852" cy="1246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1323" y="443483"/>
              <a:ext cx="929639" cy="12466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7251" y="443483"/>
              <a:ext cx="1583436" cy="12466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6976" y="443483"/>
              <a:ext cx="929639" cy="12466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2903" y="443483"/>
              <a:ext cx="2822448" cy="124663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50594" y="596849"/>
            <a:ext cx="44373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SEA-ME-</a:t>
            </a:r>
            <a:r>
              <a:rPr sz="4400" dirty="0"/>
              <a:t>WE</a:t>
            </a:r>
            <a:r>
              <a:rPr sz="4400" spc="-15" dirty="0"/>
              <a:t> </a:t>
            </a:r>
            <a:r>
              <a:rPr sz="4400" dirty="0"/>
              <a:t>4</a:t>
            </a:r>
            <a:r>
              <a:rPr sz="4400" spc="35" dirty="0"/>
              <a:t> </a:t>
            </a:r>
            <a:r>
              <a:rPr sz="4400" spc="-50" dirty="0"/>
              <a:t>…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1380489" y="1621282"/>
            <a:ext cx="7453630" cy="4004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2501900" lvl="0" indent="-286385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optical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fiber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submarine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communications</a:t>
            </a:r>
            <a:r>
              <a:rPr kumimoji="0" sz="32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5080" lvl="0" indent="-28638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carries</a:t>
            </a:r>
            <a:r>
              <a:rPr kumimoji="0" sz="3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telecommunications</a:t>
            </a:r>
            <a:r>
              <a:rPr kumimoji="0" sz="3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Singapore,</a:t>
            </a:r>
            <a:r>
              <a:rPr kumimoji="0" sz="3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Malaysia,</a:t>
            </a:r>
            <a:r>
              <a:rPr kumimoji="0" sz="32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Thailand,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Bangladesh,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India,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Sri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Lanka,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Pakistan, United</a:t>
            </a:r>
            <a:r>
              <a:rPr kumimoji="0" sz="3200" b="0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Arab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Emirates,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Saudi</a:t>
            </a:r>
            <a:r>
              <a:rPr kumimoji="0" sz="3200" b="0" i="0" u="none" strike="noStrike" kern="0" cap="none" spc="-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Arabia,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Sudan,</a:t>
            </a:r>
            <a:r>
              <a:rPr kumimoji="0" sz="3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Egypt,</a:t>
            </a:r>
            <a:r>
              <a:rPr kumimoji="0" sz="3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Italy,</a:t>
            </a:r>
            <a:r>
              <a:rPr kumimoji="0" sz="32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Tunisia,</a:t>
            </a:r>
            <a:r>
              <a:rPr kumimoji="0" sz="3200" b="0" i="0" u="none" strike="noStrike" kern="0" cap="none" spc="-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Algeria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France.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811" y="345947"/>
              <a:ext cx="3188208" cy="1219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4928" y="329183"/>
              <a:ext cx="1863852" cy="12466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5067" y="329183"/>
              <a:ext cx="929639" cy="12466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0996" y="329183"/>
              <a:ext cx="1583436" cy="12466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0720" y="329183"/>
              <a:ext cx="929640" cy="12466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6647" y="329183"/>
              <a:ext cx="2106168" cy="124663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3387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05"/>
              </a:spcBef>
            </a:pPr>
            <a:r>
              <a:rPr dirty="0"/>
              <a:t>History</a:t>
            </a:r>
            <a:r>
              <a:rPr spc="-4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z="4400" spc="-10" dirty="0"/>
              <a:t>SEA-ME-</a:t>
            </a:r>
            <a:r>
              <a:rPr sz="4400" dirty="0"/>
              <a:t>WE</a:t>
            </a:r>
            <a:r>
              <a:rPr sz="4400" spc="-80" dirty="0"/>
              <a:t> </a:t>
            </a:r>
            <a:r>
              <a:rPr sz="4400" spc="-50" dirty="0"/>
              <a:t>4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1596897" y="1420113"/>
            <a:ext cx="7124700" cy="50565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5910" marR="5080" lvl="0" indent="-286385" defTabSz="914400" eaLnBrk="1" fontAlgn="auto" latinLnBrk="0" hangingPunct="1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ME-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3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developed</a:t>
            </a:r>
            <a:r>
              <a:rPr kumimoji="0" sz="3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consortium</a:t>
            </a:r>
            <a:r>
              <a:rPr kumimoji="0" sz="3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16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telecommunications</a:t>
            </a:r>
            <a:r>
              <a:rPr kumimoji="0" sz="32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companies</a:t>
            </a:r>
            <a:r>
              <a:rPr kumimoji="0" sz="32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agreed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construct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27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March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2004.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976630" lvl="0" indent="-286385" defTabSz="914400" eaLnBrk="1" fontAlgn="auto" latinLnBrk="0" hangingPunct="1">
              <a:lnSpc>
                <a:spcPts val="3460"/>
              </a:lnSpc>
              <a:spcBef>
                <a:spcPts val="650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Construction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carried</a:t>
            </a:r>
            <a:r>
              <a:rPr kumimoji="0" sz="3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3200" b="0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Alcatel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Submarine Networks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254635" lvl="0" indent="-286385" defTabSz="914400" eaLnBrk="1" fontAlgn="auto" latinLnBrk="0" hangingPunct="1">
              <a:lnSpc>
                <a:spcPts val="3460"/>
              </a:lnSpc>
              <a:spcBef>
                <a:spcPts val="590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completed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13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December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2005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cost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estimate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US$500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million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383" y="108204"/>
              <a:ext cx="7178040" cy="12466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383" y="778764"/>
              <a:ext cx="1863852" cy="1246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6523" y="778764"/>
              <a:ext cx="929639" cy="12466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92451" y="778764"/>
              <a:ext cx="1583436" cy="12466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2176" y="778764"/>
              <a:ext cx="929639" cy="12466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8104" y="778764"/>
              <a:ext cx="2263140" cy="124663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45844" y="261569"/>
            <a:ext cx="630491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Network</a:t>
            </a:r>
            <a:r>
              <a:rPr sz="4400" spc="-30" dirty="0"/>
              <a:t> </a:t>
            </a:r>
            <a:r>
              <a:rPr sz="4400" dirty="0"/>
              <a:t>topology</a:t>
            </a:r>
            <a:r>
              <a:rPr sz="4400" spc="-10" dirty="0"/>
              <a:t> </a:t>
            </a:r>
            <a:r>
              <a:rPr sz="4400" dirty="0"/>
              <a:t>used</a:t>
            </a:r>
            <a:r>
              <a:rPr sz="4400" spc="-5" dirty="0"/>
              <a:t> </a:t>
            </a:r>
            <a:r>
              <a:rPr sz="4400" spc="-25" dirty="0"/>
              <a:t>in </a:t>
            </a:r>
            <a:r>
              <a:rPr sz="4400" spc="-30" dirty="0"/>
              <a:t>SEA-</a:t>
            </a:r>
            <a:r>
              <a:rPr sz="4400" dirty="0"/>
              <a:t>ME-WE </a:t>
            </a:r>
            <a:r>
              <a:rPr sz="4400" spc="-50" dirty="0"/>
              <a:t>4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1596897" y="1868550"/>
            <a:ext cx="6851015" cy="382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marR="5080" lvl="0" indent="-28194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3891A7"/>
              </a:buClr>
              <a:buSzPct val="8035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divided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into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four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segments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seventeen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landing 	points: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Segments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3508375" lvl="0" indent="0" algn="just" defTabSz="914400" eaLnBrk="1" fontAlgn="auto" latinLnBrk="0" hangingPunct="1">
              <a:lnSpc>
                <a:spcPct val="117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S1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28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Tuas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Mumbai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S2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Mumbai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Suez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S3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Suez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Cairo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S4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Cairo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Marseille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7008" y="42671"/>
              <a:ext cx="6181344" cy="11094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388" y="632460"/>
              <a:ext cx="1694688" cy="1136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4372" y="632460"/>
              <a:ext cx="848868" cy="11369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3535" y="632460"/>
              <a:ext cx="1440180" cy="11369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4011" y="632460"/>
              <a:ext cx="848867" cy="11369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3176" y="632460"/>
              <a:ext cx="2065020" cy="113690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26794" y="179323"/>
            <a:ext cx="5398135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80"/>
              </a:lnSpc>
              <a:spcBef>
                <a:spcPts val="100"/>
              </a:spcBef>
            </a:pPr>
            <a:r>
              <a:rPr sz="3900" dirty="0"/>
              <a:t>Countries</a:t>
            </a:r>
            <a:r>
              <a:rPr sz="3900" spc="-105" dirty="0"/>
              <a:t> </a:t>
            </a:r>
            <a:r>
              <a:rPr sz="3900" dirty="0"/>
              <a:t>linked</a:t>
            </a:r>
            <a:r>
              <a:rPr sz="3900" spc="-100" dirty="0"/>
              <a:t> </a:t>
            </a:r>
            <a:r>
              <a:rPr sz="3900" spc="-10" dirty="0"/>
              <a:t>through</a:t>
            </a:r>
            <a:endParaRPr sz="3900"/>
          </a:p>
          <a:p>
            <a:pPr marL="12700">
              <a:lnSpc>
                <a:spcPts val="4800"/>
              </a:lnSpc>
            </a:pPr>
            <a:r>
              <a:rPr sz="4000" spc="-10" dirty="0"/>
              <a:t>SEA-</a:t>
            </a:r>
            <a:r>
              <a:rPr sz="4000" spc="-35" dirty="0"/>
              <a:t>ME-</a:t>
            </a:r>
            <a:r>
              <a:rPr sz="4000" dirty="0"/>
              <a:t>WE</a:t>
            </a:r>
            <a:r>
              <a:rPr sz="4000" spc="45" dirty="0"/>
              <a:t> </a:t>
            </a:r>
            <a:r>
              <a:rPr sz="4000" spc="-50" dirty="0"/>
              <a:t>4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596897" y="1393235"/>
            <a:ext cx="2453640" cy="45866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Bangladesh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India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Pakistan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Sri-Lanka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Thailand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Malaysia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Singapore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25400" lvl="0" indent="-286385" defTabSz="914400" eaLnBrk="1" fontAlgn="auto" latinLnBrk="0" hangingPunct="1">
              <a:lnSpc>
                <a:spcPts val="3460"/>
              </a:lnSpc>
              <a:spcBef>
                <a:spcPts val="650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United</a:t>
            </a:r>
            <a:r>
              <a:rPr kumimoji="0" sz="3200" b="0" i="0" u="none" strike="noStrike" kern="0" cap="none" spc="-2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Arab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Emirates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55133" y="1393235"/>
            <a:ext cx="2611120" cy="36322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Sudan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Egypt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Italy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Tunisia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Algeria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France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0" lvl="0" indent="-28575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Saudi</a:t>
            </a:r>
            <a:r>
              <a:rPr kumimoji="0" sz="320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Arabia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4816" y="0"/>
              <a:ext cx="3313176" cy="8976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3528" y="0"/>
              <a:ext cx="2484120" cy="8976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5564" y="0"/>
              <a:ext cx="1694688" cy="9083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0547" y="0"/>
              <a:ext cx="848868" cy="9083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39711" y="0"/>
              <a:ext cx="1440179" cy="9083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0188" y="0"/>
              <a:ext cx="848868" cy="9083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7196" y="380999"/>
              <a:ext cx="2061972" cy="1136903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14602" y="-87121"/>
            <a:ext cx="66090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900" dirty="0"/>
              <a:t>Connecting</a:t>
            </a:r>
            <a:r>
              <a:rPr sz="3900" spc="-80" dirty="0"/>
              <a:t> </a:t>
            </a:r>
            <a:r>
              <a:rPr sz="3900" dirty="0"/>
              <a:t>Point</a:t>
            </a:r>
            <a:r>
              <a:rPr sz="3900" spc="-105" dirty="0"/>
              <a:t> </a:t>
            </a:r>
            <a:r>
              <a:rPr sz="3900" dirty="0"/>
              <a:t>of</a:t>
            </a:r>
            <a:r>
              <a:rPr sz="3900" spc="-105" dirty="0"/>
              <a:t> </a:t>
            </a:r>
            <a:r>
              <a:rPr sz="4000" spc="-10" dirty="0"/>
              <a:t>SEA-</a:t>
            </a:r>
            <a:r>
              <a:rPr sz="4000" spc="-25" dirty="0"/>
              <a:t>ME- </a:t>
            </a:r>
            <a:r>
              <a:rPr sz="4000" dirty="0"/>
              <a:t>WE </a:t>
            </a:r>
            <a:r>
              <a:rPr sz="4000" spc="-50" dirty="0"/>
              <a:t>4</a:t>
            </a:r>
            <a:endParaRPr sz="4000"/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8600" y="990600"/>
            <a:ext cx="870585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811" y="345947"/>
              <a:ext cx="3157728" cy="1219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4447" y="329183"/>
              <a:ext cx="1863852" cy="12466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4588" y="329183"/>
              <a:ext cx="929639" cy="12466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0515" y="329183"/>
              <a:ext cx="1583436" cy="12466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0240" y="329183"/>
              <a:ext cx="929639" cy="12466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6167" y="329183"/>
              <a:ext cx="2107691" cy="124663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3387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05"/>
              </a:spcBef>
            </a:pPr>
            <a:r>
              <a:rPr dirty="0"/>
              <a:t>Length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z="4400" spc="-10" dirty="0"/>
              <a:t>SEA-ME-</a:t>
            </a:r>
            <a:r>
              <a:rPr sz="4400" dirty="0"/>
              <a:t>WE</a:t>
            </a:r>
            <a:r>
              <a:rPr sz="4400" spc="-30" dirty="0"/>
              <a:t> </a:t>
            </a:r>
            <a:r>
              <a:rPr sz="4400" spc="-50" dirty="0"/>
              <a:t>4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1596897" y="1468882"/>
            <a:ext cx="6809105" cy="3028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323215" lvl="0" indent="-286385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approximately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18,800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kilometers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long.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5080" lvl="0" indent="-28638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provides</a:t>
            </a:r>
            <a:r>
              <a:rPr kumimoji="0" sz="3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primary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Internet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backbone</a:t>
            </a:r>
            <a:r>
              <a:rPr kumimoji="0" sz="3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South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3200" b="0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Asia,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Indian</a:t>
            </a:r>
            <a:r>
              <a:rPr kumimoji="0" sz="3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subcontinent,</a:t>
            </a:r>
            <a:r>
              <a:rPr kumimoji="0" sz="3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Middle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East</a:t>
            </a:r>
            <a:r>
              <a:rPr kumimoji="0" sz="3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Europe.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4816" y="0"/>
              <a:ext cx="5052060" cy="8976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4791" y="0"/>
              <a:ext cx="1694688" cy="9083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9776" y="0"/>
              <a:ext cx="848868" cy="9083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58940" y="0"/>
              <a:ext cx="1440179" cy="9083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9416" y="0"/>
              <a:ext cx="848868" cy="9083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7196" y="380999"/>
              <a:ext cx="2061972" cy="113690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6084" marR="5080">
              <a:lnSpc>
                <a:spcPct val="100000"/>
              </a:lnSpc>
              <a:spcBef>
                <a:spcPts val="95"/>
              </a:spcBef>
              <a:tabLst>
                <a:tab pos="4285615" algn="l"/>
              </a:tabLst>
            </a:pPr>
            <a:r>
              <a:rPr sz="3900" spc="-45" dirty="0"/>
              <a:t>Technology</a:t>
            </a:r>
            <a:r>
              <a:rPr sz="3900" spc="-175" dirty="0"/>
              <a:t> </a:t>
            </a:r>
            <a:r>
              <a:rPr sz="3900" spc="-20" dirty="0"/>
              <a:t>used</a:t>
            </a:r>
            <a:r>
              <a:rPr sz="3900" dirty="0"/>
              <a:t>	in</a:t>
            </a:r>
            <a:r>
              <a:rPr sz="3900" spc="20" dirty="0"/>
              <a:t> </a:t>
            </a:r>
            <a:r>
              <a:rPr sz="4000" spc="-10" dirty="0"/>
              <a:t>SEA-</a:t>
            </a:r>
            <a:r>
              <a:rPr sz="4000" spc="-25" dirty="0"/>
              <a:t>ME- </a:t>
            </a:r>
            <a:r>
              <a:rPr sz="4000" dirty="0"/>
              <a:t>WE </a:t>
            </a:r>
            <a:r>
              <a:rPr sz="4000" spc="-50" dirty="0"/>
              <a:t>4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596897" y="1468882"/>
            <a:ext cx="7145655" cy="310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lvl="0" indent="-286385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Uses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wavelength-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division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multiplexing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WDM,</a:t>
            </a:r>
            <a:r>
              <a:rPr kumimoji="0" sz="3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allowing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increased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communications</a:t>
            </a:r>
            <a:r>
              <a:rPr kumimoji="0" sz="3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r>
              <a:rPr kumimoji="0" sz="3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</a:t>
            </a:r>
            <a:r>
              <a:rPr kumimoji="0" sz="3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fiber.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3891A7"/>
              </a:buClr>
              <a:buSzTx/>
              <a:buFont typeface="Segoe UI Symbol"/>
              <a:buChar char="⚫"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295910" marR="457834" lvl="0" indent="-28638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891A7"/>
              </a:buClr>
              <a:buSzPct val="79687"/>
              <a:buFont typeface="Segoe UI Symbol"/>
              <a:buChar char="⚫"/>
              <a:tabLst>
                <a:tab pos="295910" algn="l"/>
              </a:tabLst>
              <a:defRPr/>
            </a:pP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also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facilitates</a:t>
            </a:r>
            <a:r>
              <a:rPr kumimoji="0" sz="3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bidirectional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communication</a:t>
            </a:r>
            <a:r>
              <a:rPr kumimoji="0" sz="3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within</a:t>
            </a:r>
            <a:r>
              <a:rPr kumimoji="0" sz="3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3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single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fiber.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4816" y="92963"/>
              <a:ext cx="3976116" cy="110947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8847" y="76200"/>
              <a:ext cx="1694688" cy="1136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3832" y="76200"/>
              <a:ext cx="848867" cy="11369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2996" y="76200"/>
              <a:ext cx="1440179" cy="11369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471" y="76200"/>
              <a:ext cx="848868" cy="11369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2635" y="76200"/>
              <a:ext cx="2065020" cy="113690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14602" y="217754"/>
            <a:ext cx="6696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dirty="0"/>
              <a:t>Advantages</a:t>
            </a:r>
            <a:r>
              <a:rPr sz="3900" spc="-65" dirty="0"/>
              <a:t> </a:t>
            </a:r>
            <a:r>
              <a:rPr sz="3900" dirty="0"/>
              <a:t>of</a:t>
            </a:r>
            <a:r>
              <a:rPr sz="3900" spc="-50" dirty="0"/>
              <a:t> </a:t>
            </a:r>
            <a:r>
              <a:rPr sz="4000" spc="-10" dirty="0"/>
              <a:t>SEA-</a:t>
            </a:r>
            <a:r>
              <a:rPr sz="4000" spc="-35" dirty="0"/>
              <a:t>ME-</a:t>
            </a:r>
            <a:r>
              <a:rPr sz="4000" dirty="0"/>
              <a:t>WE</a:t>
            </a:r>
            <a:r>
              <a:rPr sz="4000" spc="-60" dirty="0"/>
              <a:t> </a:t>
            </a:r>
            <a:r>
              <a:rPr sz="4000" spc="-50" dirty="0"/>
              <a:t>4</a:t>
            </a:r>
            <a:endParaRPr sz="4000"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5910" marR="539115" indent="-283845">
              <a:lnSpc>
                <a:spcPct val="80000"/>
              </a:lnSpc>
              <a:spcBef>
                <a:spcPts val="745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</a:pPr>
            <a:r>
              <a:rPr sz="2700" spc="-10" dirty="0"/>
              <a:t>SEA-ME-</a:t>
            </a:r>
            <a:r>
              <a:rPr sz="2700" spc="-30" dirty="0"/>
              <a:t>WE-</a:t>
            </a:r>
            <a:r>
              <a:rPr sz="2700" dirty="0"/>
              <a:t>4</a:t>
            </a:r>
            <a:r>
              <a:rPr sz="2700" spc="15" dirty="0"/>
              <a:t> </a:t>
            </a:r>
            <a:r>
              <a:rPr sz="2700" dirty="0"/>
              <a:t>is</a:t>
            </a:r>
            <a:r>
              <a:rPr sz="2700" spc="5" dirty="0"/>
              <a:t> </a:t>
            </a:r>
            <a:r>
              <a:rPr sz="2700" dirty="0"/>
              <a:t>used</a:t>
            </a:r>
            <a:r>
              <a:rPr sz="2700" spc="5" dirty="0"/>
              <a:t> </a:t>
            </a:r>
            <a:r>
              <a:rPr sz="2700" dirty="0"/>
              <a:t>to</a:t>
            </a:r>
            <a:r>
              <a:rPr sz="2700" spc="5" dirty="0"/>
              <a:t> </a:t>
            </a:r>
            <a:r>
              <a:rPr sz="2700" dirty="0"/>
              <a:t>carry</a:t>
            </a:r>
            <a:r>
              <a:rPr sz="2700" spc="-10" dirty="0"/>
              <a:t> telephone, </a:t>
            </a:r>
            <a:r>
              <a:rPr sz="2700" dirty="0"/>
              <a:t>internet,</a:t>
            </a:r>
            <a:r>
              <a:rPr sz="2700" spc="-35" dirty="0"/>
              <a:t> </a:t>
            </a:r>
            <a:r>
              <a:rPr sz="2700" dirty="0"/>
              <a:t>multimedia,</a:t>
            </a:r>
            <a:r>
              <a:rPr sz="2700" spc="-15" dirty="0"/>
              <a:t> </a:t>
            </a:r>
            <a:r>
              <a:rPr sz="2700" dirty="0"/>
              <a:t>broadband</a:t>
            </a:r>
            <a:r>
              <a:rPr sz="2700" spc="-20" dirty="0"/>
              <a:t> </a:t>
            </a:r>
            <a:r>
              <a:rPr sz="2700" spc="-10" dirty="0"/>
              <a:t>data.</a:t>
            </a:r>
            <a:endParaRPr sz="2700"/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3891A7"/>
              </a:buClr>
              <a:buFont typeface="Segoe UI Symbol"/>
              <a:buChar char="⚫"/>
            </a:pPr>
            <a:endParaRPr sz="2700"/>
          </a:p>
          <a:p>
            <a:pPr marL="295910" marR="222250" indent="-283845">
              <a:lnSpc>
                <a:spcPct val="80000"/>
              </a:lnSpc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</a:pPr>
            <a:r>
              <a:rPr sz="2700" spc="-10" dirty="0"/>
              <a:t>SEA-ME-</a:t>
            </a:r>
            <a:r>
              <a:rPr sz="2700" dirty="0"/>
              <a:t>WE</a:t>
            </a:r>
            <a:r>
              <a:rPr sz="2700" spc="-10" dirty="0"/>
              <a:t> </a:t>
            </a:r>
            <a:r>
              <a:rPr sz="2700" dirty="0"/>
              <a:t>4</a:t>
            </a:r>
            <a:r>
              <a:rPr sz="2700" spc="-5" dirty="0"/>
              <a:t> </a:t>
            </a:r>
            <a:r>
              <a:rPr sz="2700" dirty="0"/>
              <a:t>has</a:t>
            </a:r>
            <a:r>
              <a:rPr sz="2700" spc="-5" dirty="0"/>
              <a:t> </a:t>
            </a:r>
            <a:r>
              <a:rPr sz="2700" dirty="0"/>
              <a:t>a</a:t>
            </a:r>
            <a:r>
              <a:rPr sz="2700" spc="-5" dirty="0"/>
              <a:t> </a:t>
            </a:r>
            <a:r>
              <a:rPr sz="2700" dirty="0"/>
              <a:t>faster</a:t>
            </a:r>
            <a:r>
              <a:rPr sz="2700" spc="-20" dirty="0"/>
              <a:t> </a:t>
            </a:r>
            <a:r>
              <a:rPr sz="2700" dirty="0"/>
              <a:t>rate</a:t>
            </a:r>
            <a:r>
              <a:rPr sz="2700" spc="-5" dirty="0"/>
              <a:t> </a:t>
            </a:r>
            <a:r>
              <a:rPr sz="2700" dirty="0"/>
              <a:t>of</a:t>
            </a:r>
            <a:r>
              <a:rPr sz="2700" spc="-5" dirty="0"/>
              <a:t> </a:t>
            </a:r>
            <a:r>
              <a:rPr sz="2700" spc="-20" dirty="0"/>
              <a:t>data </a:t>
            </a:r>
            <a:r>
              <a:rPr sz="2700" dirty="0"/>
              <a:t>transmission</a:t>
            </a:r>
            <a:r>
              <a:rPr sz="2700" spc="-40" dirty="0"/>
              <a:t> </a:t>
            </a:r>
            <a:r>
              <a:rPr sz="2700" dirty="0"/>
              <a:t>at</a:t>
            </a:r>
            <a:r>
              <a:rPr sz="2700" spc="-15" dirty="0"/>
              <a:t> </a:t>
            </a:r>
            <a:r>
              <a:rPr sz="2700" dirty="0"/>
              <a:t>1.28</a:t>
            </a:r>
            <a:r>
              <a:rPr sz="2700" spc="-55" dirty="0"/>
              <a:t> </a:t>
            </a:r>
            <a:r>
              <a:rPr sz="2700" dirty="0"/>
              <a:t>Tbit/s</a:t>
            </a:r>
            <a:r>
              <a:rPr sz="2700" spc="-30" dirty="0"/>
              <a:t> </a:t>
            </a:r>
            <a:r>
              <a:rPr sz="2700" dirty="0"/>
              <a:t>against</a:t>
            </a:r>
            <a:r>
              <a:rPr sz="2700" spc="-15" dirty="0"/>
              <a:t> </a:t>
            </a:r>
            <a:r>
              <a:rPr sz="2700" spc="-10" dirty="0"/>
              <a:t>SEA-</a:t>
            </a:r>
            <a:r>
              <a:rPr sz="2700" spc="-25" dirty="0"/>
              <a:t>ME- </a:t>
            </a:r>
            <a:r>
              <a:rPr sz="2700" dirty="0"/>
              <a:t>WE</a:t>
            </a:r>
            <a:r>
              <a:rPr sz="2700" spc="-25" dirty="0"/>
              <a:t> </a:t>
            </a:r>
            <a:r>
              <a:rPr sz="2700" dirty="0"/>
              <a:t>3's</a:t>
            </a:r>
            <a:r>
              <a:rPr sz="2700" spc="-15" dirty="0"/>
              <a:t> </a:t>
            </a:r>
            <a:r>
              <a:rPr sz="2700" dirty="0"/>
              <a:t>10</a:t>
            </a:r>
            <a:r>
              <a:rPr sz="2700" spc="-25" dirty="0"/>
              <a:t> </a:t>
            </a:r>
            <a:r>
              <a:rPr sz="2700" spc="-10" dirty="0"/>
              <a:t>Gbit/s</a:t>
            </a:r>
            <a:endParaRPr sz="2700"/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3891A7"/>
              </a:buClr>
              <a:buFont typeface="Segoe UI Symbol"/>
              <a:buChar char="⚫"/>
            </a:pPr>
            <a:endParaRPr sz="2700"/>
          </a:p>
          <a:p>
            <a:pPr marL="295910" marR="5080" indent="-283845">
              <a:lnSpc>
                <a:spcPct val="80000"/>
              </a:lnSpc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</a:tabLst>
            </a:pPr>
            <a:r>
              <a:rPr sz="2700" spc="-10" dirty="0"/>
              <a:t>SEA-ME-</a:t>
            </a:r>
            <a:r>
              <a:rPr sz="2700" dirty="0"/>
              <a:t>WE</a:t>
            </a:r>
            <a:r>
              <a:rPr sz="2700" spc="-10" dirty="0"/>
              <a:t> </a:t>
            </a:r>
            <a:r>
              <a:rPr sz="2700" dirty="0"/>
              <a:t>3</a:t>
            </a:r>
            <a:r>
              <a:rPr sz="2700" spc="-5" dirty="0"/>
              <a:t> </a:t>
            </a:r>
            <a:r>
              <a:rPr sz="2700" dirty="0"/>
              <a:t>provides connectivity</a:t>
            </a:r>
            <a:r>
              <a:rPr sz="2700" spc="-40" dirty="0"/>
              <a:t> </a:t>
            </a:r>
            <a:r>
              <a:rPr sz="2700" dirty="0"/>
              <a:t>to</a:t>
            </a:r>
            <a:r>
              <a:rPr sz="2700" spc="-5" dirty="0"/>
              <a:t> </a:t>
            </a:r>
            <a:r>
              <a:rPr sz="2700" spc="-50" dirty="0"/>
              <a:t>a </a:t>
            </a:r>
            <a:r>
              <a:rPr sz="2700" dirty="0"/>
              <a:t>greater</a:t>
            </a:r>
            <a:r>
              <a:rPr sz="2700" spc="-5" dirty="0"/>
              <a:t> </a:t>
            </a:r>
            <a:r>
              <a:rPr sz="2700" dirty="0"/>
              <a:t>number of countries</a:t>
            </a:r>
            <a:r>
              <a:rPr sz="2700" spc="-20" dirty="0"/>
              <a:t> </a:t>
            </a:r>
            <a:r>
              <a:rPr sz="2700" dirty="0"/>
              <a:t>over a </a:t>
            </a:r>
            <a:r>
              <a:rPr sz="2700" spc="-10" dirty="0"/>
              <a:t>greater </a:t>
            </a:r>
            <a:r>
              <a:rPr sz="2700" dirty="0"/>
              <a:t>distance,</a:t>
            </a:r>
            <a:r>
              <a:rPr sz="2700" spc="-25" dirty="0"/>
              <a:t> </a:t>
            </a:r>
            <a:r>
              <a:rPr sz="2700" dirty="0"/>
              <a:t>but</a:t>
            </a:r>
            <a:r>
              <a:rPr sz="2700" spc="5" dirty="0"/>
              <a:t> </a:t>
            </a:r>
            <a:r>
              <a:rPr sz="2700" spc="-10" dirty="0"/>
              <a:t>SEA-ME-</a:t>
            </a:r>
            <a:r>
              <a:rPr sz="2700" dirty="0"/>
              <a:t>WE</a:t>
            </a:r>
            <a:r>
              <a:rPr sz="2700" spc="-10" dirty="0"/>
              <a:t> </a:t>
            </a:r>
            <a:r>
              <a:rPr sz="2700" dirty="0"/>
              <a:t>4 provides</a:t>
            </a:r>
            <a:r>
              <a:rPr sz="2700" spc="-10" dirty="0"/>
              <a:t> </a:t>
            </a:r>
            <a:r>
              <a:rPr sz="2700" spc="-25" dirty="0"/>
              <a:t>far </a:t>
            </a:r>
            <a:r>
              <a:rPr sz="2700" dirty="0"/>
              <a:t>higher</a:t>
            </a:r>
            <a:r>
              <a:rPr sz="2700" spc="-30" dirty="0"/>
              <a:t> </a:t>
            </a:r>
            <a:r>
              <a:rPr sz="2700" dirty="0"/>
              <a:t>data</a:t>
            </a:r>
            <a:r>
              <a:rPr sz="2700" spc="-10" dirty="0"/>
              <a:t> </a:t>
            </a:r>
            <a:r>
              <a:rPr sz="2700" dirty="0"/>
              <a:t>transmission</a:t>
            </a:r>
            <a:r>
              <a:rPr sz="2700" spc="-25" dirty="0"/>
              <a:t> </a:t>
            </a:r>
            <a:r>
              <a:rPr sz="2700" dirty="0"/>
              <a:t>speeds</a:t>
            </a:r>
            <a:r>
              <a:rPr sz="2700" spc="-25" dirty="0"/>
              <a:t> </a:t>
            </a:r>
            <a:r>
              <a:rPr sz="2700" dirty="0"/>
              <a:t>intended</a:t>
            </a:r>
            <a:r>
              <a:rPr sz="2700" spc="-5" dirty="0"/>
              <a:t> </a:t>
            </a:r>
            <a:r>
              <a:rPr sz="2700" spc="-25" dirty="0"/>
              <a:t>to </a:t>
            </a:r>
            <a:r>
              <a:rPr sz="2700" dirty="0"/>
              <a:t>accommodate</a:t>
            </a:r>
            <a:r>
              <a:rPr sz="2700" spc="-40" dirty="0"/>
              <a:t> </a:t>
            </a:r>
            <a:r>
              <a:rPr sz="2700" dirty="0"/>
              <a:t>increasing</a:t>
            </a:r>
            <a:r>
              <a:rPr sz="2700" spc="-40" dirty="0"/>
              <a:t> </a:t>
            </a:r>
            <a:r>
              <a:rPr sz="2700" dirty="0"/>
              <a:t>demand</a:t>
            </a:r>
            <a:r>
              <a:rPr sz="2700" spc="-35" dirty="0"/>
              <a:t> </a:t>
            </a:r>
            <a:r>
              <a:rPr sz="2700" dirty="0"/>
              <a:t>for</a:t>
            </a:r>
            <a:r>
              <a:rPr sz="2700" spc="-35" dirty="0"/>
              <a:t> </a:t>
            </a:r>
            <a:r>
              <a:rPr sz="2700" spc="-10" dirty="0"/>
              <a:t>high- </a:t>
            </a:r>
            <a:r>
              <a:rPr sz="2700" dirty="0"/>
              <a:t>speed</a:t>
            </a:r>
            <a:r>
              <a:rPr sz="2700" spc="-15" dirty="0"/>
              <a:t> </a:t>
            </a:r>
            <a:r>
              <a:rPr sz="2700" dirty="0"/>
              <a:t>internet</a:t>
            </a:r>
            <a:r>
              <a:rPr sz="2700" spc="-10" dirty="0"/>
              <a:t> </a:t>
            </a:r>
            <a:r>
              <a:rPr sz="2700" dirty="0"/>
              <a:t>access</a:t>
            </a:r>
            <a:r>
              <a:rPr sz="2700" spc="-35" dirty="0"/>
              <a:t> </a:t>
            </a:r>
            <a:r>
              <a:rPr sz="2700" dirty="0"/>
              <a:t>in</a:t>
            </a:r>
            <a:r>
              <a:rPr sz="2700" spc="-10" dirty="0"/>
              <a:t> </a:t>
            </a:r>
            <a:r>
              <a:rPr sz="2700" dirty="0"/>
              <a:t>developing</a:t>
            </a:r>
            <a:r>
              <a:rPr sz="2700" spc="-20" dirty="0"/>
              <a:t> </a:t>
            </a:r>
            <a:r>
              <a:rPr sz="2700" spc="-10" dirty="0"/>
              <a:t>countries</a:t>
            </a:r>
            <a:endParaRPr sz="27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719" y="0"/>
              <a:ext cx="6853428" cy="7315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6204" y="0"/>
              <a:ext cx="868679" cy="731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9940" y="0"/>
              <a:ext cx="1476755" cy="7315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1752" y="0"/>
              <a:ext cx="868679" cy="731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4571" y="193548"/>
              <a:ext cx="1969007" cy="11628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5039" y="818387"/>
              <a:ext cx="2749295" cy="11628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79391" y="818387"/>
              <a:ext cx="868680" cy="11628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53128" y="818387"/>
              <a:ext cx="1476755" cy="11628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4940" y="818387"/>
              <a:ext cx="868680" cy="11628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08676" y="818387"/>
              <a:ext cx="1965960" cy="116281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43406" y="-287019"/>
            <a:ext cx="731456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dirty="0"/>
              <a:t>Comparison</a:t>
            </a:r>
            <a:r>
              <a:rPr sz="4100" spc="-100" dirty="0"/>
              <a:t> </a:t>
            </a:r>
            <a:r>
              <a:rPr sz="4100" dirty="0"/>
              <a:t>Between</a:t>
            </a:r>
            <a:r>
              <a:rPr sz="4100" spc="-70" dirty="0"/>
              <a:t> </a:t>
            </a:r>
            <a:r>
              <a:rPr sz="4100" dirty="0"/>
              <a:t>SEA-</a:t>
            </a:r>
            <a:r>
              <a:rPr sz="4100" spc="-25" dirty="0"/>
              <a:t>ME-</a:t>
            </a:r>
            <a:endParaRPr sz="4100"/>
          </a:p>
        </p:txBody>
      </p:sp>
      <p:sp>
        <p:nvSpPr>
          <p:cNvPr id="15" name="object 15"/>
          <p:cNvSpPr txBox="1"/>
          <p:nvPr/>
        </p:nvSpPr>
        <p:spPr>
          <a:xfrm>
            <a:off x="2561082" y="337769"/>
            <a:ext cx="4480560" cy="1276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100" b="0" i="0" u="none" strike="noStrike" kern="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WE </a:t>
            </a:r>
            <a:r>
              <a:rPr kumimoji="0" sz="4100" b="0" i="0" u="none" strike="noStrike" kern="0" cap="none" spc="-5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1</a:t>
            </a:r>
            <a:endParaRPr kumimoji="0" sz="4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100" b="0" i="0" u="none" strike="noStrike" kern="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4100" b="0" i="0" u="none" strike="noStrike" kern="0" cap="none" spc="-3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4100" b="0" i="0" u="none" strike="noStrike" kern="0" cap="none" spc="-1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SEA-ME-</a:t>
            </a:r>
            <a:r>
              <a:rPr kumimoji="0" sz="4100" b="0" i="0" u="none" strike="noStrike" kern="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4100" b="0" i="0" u="none" strike="noStrike" kern="0" cap="none" spc="-35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4100" b="0" i="0" u="none" strike="noStrike" kern="0" cap="none" spc="-5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2</a:t>
            </a:r>
            <a:endParaRPr kumimoji="0" sz="4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1802" y="1366202"/>
            <a:ext cx="4034154" cy="650875"/>
            <a:chOff x="451802" y="1366202"/>
            <a:chExt cx="4034154" cy="650875"/>
          </a:xfrm>
        </p:grpSpPr>
        <p:sp>
          <p:nvSpPr>
            <p:cNvPr id="17" name="object 17"/>
            <p:cNvSpPr/>
            <p:nvPr/>
          </p:nvSpPr>
          <p:spPr>
            <a:xfrm>
              <a:off x="457200" y="1371599"/>
              <a:ext cx="4023360" cy="640080"/>
            </a:xfrm>
            <a:custGeom>
              <a:avLst/>
              <a:gdLst/>
              <a:ahLst/>
              <a:cxnLst/>
              <a:rect l="l" t="t" r="r" b="b"/>
              <a:pathLst>
                <a:path w="4023360" h="640080">
                  <a:moveTo>
                    <a:pt x="402336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4023360" y="640079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1371599"/>
              <a:ext cx="4023360" cy="640080"/>
            </a:xfrm>
            <a:custGeom>
              <a:avLst/>
              <a:gdLst/>
              <a:ahLst/>
              <a:cxnLst/>
              <a:rect l="l" t="t" r="r" b="b"/>
              <a:pathLst>
                <a:path w="4023360" h="640080">
                  <a:moveTo>
                    <a:pt x="0" y="640079"/>
                  </a:moveTo>
                  <a:lnTo>
                    <a:pt x="4023360" y="640079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07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9948" y="1528317"/>
            <a:ext cx="16179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ME-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19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42802" y="1366202"/>
            <a:ext cx="4034154" cy="650875"/>
            <a:chOff x="4642802" y="1366202"/>
            <a:chExt cx="4034154" cy="650875"/>
          </a:xfrm>
        </p:grpSpPr>
        <p:sp>
          <p:nvSpPr>
            <p:cNvPr id="21" name="object 21"/>
            <p:cNvSpPr/>
            <p:nvPr/>
          </p:nvSpPr>
          <p:spPr>
            <a:xfrm>
              <a:off x="4648200" y="1371599"/>
              <a:ext cx="4023360" cy="640080"/>
            </a:xfrm>
            <a:custGeom>
              <a:avLst/>
              <a:gdLst/>
              <a:ahLst/>
              <a:cxnLst/>
              <a:rect l="l" t="t" r="r" b="b"/>
              <a:pathLst>
                <a:path w="4023359" h="640080">
                  <a:moveTo>
                    <a:pt x="4023359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4023359" y="640079"/>
                  </a:lnTo>
                  <a:lnTo>
                    <a:pt x="402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648200" y="1371599"/>
              <a:ext cx="4023360" cy="640080"/>
            </a:xfrm>
            <a:custGeom>
              <a:avLst/>
              <a:gdLst/>
              <a:ahLst/>
              <a:cxnLst/>
              <a:rect l="l" t="t" r="r" b="b"/>
              <a:pathLst>
                <a:path w="4023359" h="640080">
                  <a:moveTo>
                    <a:pt x="0" y="640079"/>
                  </a:moveTo>
                  <a:lnTo>
                    <a:pt x="4023359" y="640079"/>
                  </a:lnTo>
                  <a:lnTo>
                    <a:pt x="4023359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07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91836" y="1528317"/>
            <a:ext cx="16179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ME-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19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1000" y="2057400"/>
            <a:ext cx="4023360" cy="4114800"/>
          </a:xfrm>
          <a:prstGeom prst="rect">
            <a:avLst/>
          </a:prstGeom>
          <a:ln w="10795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84505" marR="104775" lvl="0" indent="-27432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450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coaxial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designed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transmit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telephone signals.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84505" marR="0" lvl="0" indent="-274320" defTabSz="91440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450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length13,585</a:t>
            </a:r>
            <a:r>
              <a:rPr kumimoji="0" sz="24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km.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84505" marR="393700" lvl="0" indent="-274320" defTabSz="91440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450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maximum</a:t>
            </a:r>
            <a:r>
              <a:rPr kumimoji="0" sz="24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bandwidth</a:t>
            </a:r>
            <a:r>
              <a:rPr kumimoji="0" sz="24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25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MHz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24400" y="2133600"/>
            <a:ext cx="4023360" cy="4114800"/>
          </a:xfrm>
          <a:prstGeom prst="rect">
            <a:avLst/>
          </a:prstGeom>
          <a:ln w="10794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85140" marR="0" lvl="0" indent="-27432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514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fiber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optic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85140" marR="648335" lvl="0" indent="-274320" defTabSz="91440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514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18,751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km,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linking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13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countries.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85140" marR="0" lvl="0" indent="-274320" defTabSz="91440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514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8514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560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Mbps.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719" y="0"/>
              <a:ext cx="6853428" cy="7315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6204" y="0"/>
              <a:ext cx="868679" cy="731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9940" y="0"/>
              <a:ext cx="1476755" cy="7315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1752" y="0"/>
              <a:ext cx="868679" cy="731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4571" y="193548"/>
              <a:ext cx="1969007" cy="11628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5039" y="818387"/>
              <a:ext cx="2749295" cy="11628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79391" y="818387"/>
              <a:ext cx="868680" cy="11628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53128" y="818387"/>
              <a:ext cx="1476755" cy="11628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4940" y="818387"/>
              <a:ext cx="868680" cy="11628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08676" y="818387"/>
              <a:ext cx="1965960" cy="116281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43406" y="-287019"/>
            <a:ext cx="731456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dirty="0"/>
              <a:t>Comparison</a:t>
            </a:r>
            <a:r>
              <a:rPr sz="4100" spc="-100" dirty="0"/>
              <a:t> </a:t>
            </a:r>
            <a:r>
              <a:rPr sz="4100" dirty="0"/>
              <a:t>Between</a:t>
            </a:r>
            <a:r>
              <a:rPr sz="4100" spc="-70" dirty="0"/>
              <a:t> </a:t>
            </a:r>
            <a:r>
              <a:rPr sz="4100" dirty="0"/>
              <a:t>SEA-</a:t>
            </a:r>
            <a:r>
              <a:rPr sz="4100" spc="-25" dirty="0"/>
              <a:t>ME-</a:t>
            </a:r>
            <a:endParaRPr sz="4100"/>
          </a:p>
        </p:txBody>
      </p:sp>
      <p:sp>
        <p:nvSpPr>
          <p:cNvPr id="15" name="object 15"/>
          <p:cNvSpPr txBox="1"/>
          <p:nvPr/>
        </p:nvSpPr>
        <p:spPr>
          <a:xfrm>
            <a:off x="2561082" y="337769"/>
            <a:ext cx="4480560" cy="1276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100" b="0" i="0" u="none" strike="noStrike" kern="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WE </a:t>
            </a:r>
            <a:r>
              <a:rPr kumimoji="0" sz="4100" b="0" i="0" u="none" strike="noStrike" kern="0" cap="none" spc="-5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3</a:t>
            </a:r>
            <a:endParaRPr kumimoji="0" sz="4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100" b="0" i="0" u="none" strike="noStrike" kern="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4100" b="0" i="0" u="none" strike="noStrike" kern="0" cap="none" spc="-3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4100" b="0" i="0" u="none" strike="noStrike" kern="0" cap="none" spc="-1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SEA-ME-</a:t>
            </a:r>
            <a:r>
              <a:rPr kumimoji="0" sz="4100" b="0" i="0" u="none" strike="noStrike" kern="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4100" b="0" i="0" u="none" strike="noStrike" kern="0" cap="none" spc="-35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4100" b="0" i="0" u="none" strike="noStrike" kern="0" cap="none" spc="-5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endParaRPr kumimoji="0" sz="4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1802" y="1366202"/>
            <a:ext cx="4034154" cy="650875"/>
            <a:chOff x="451802" y="1366202"/>
            <a:chExt cx="4034154" cy="650875"/>
          </a:xfrm>
        </p:grpSpPr>
        <p:sp>
          <p:nvSpPr>
            <p:cNvPr id="17" name="object 17"/>
            <p:cNvSpPr/>
            <p:nvPr/>
          </p:nvSpPr>
          <p:spPr>
            <a:xfrm>
              <a:off x="457200" y="1371599"/>
              <a:ext cx="4023360" cy="640080"/>
            </a:xfrm>
            <a:custGeom>
              <a:avLst/>
              <a:gdLst/>
              <a:ahLst/>
              <a:cxnLst/>
              <a:rect l="l" t="t" r="r" b="b"/>
              <a:pathLst>
                <a:path w="4023360" h="640080">
                  <a:moveTo>
                    <a:pt x="402336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4023360" y="640079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1371599"/>
              <a:ext cx="4023360" cy="640080"/>
            </a:xfrm>
            <a:custGeom>
              <a:avLst/>
              <a:gdLst/>
              <a:ahLst/>
              <a:cxnLst/>
              <a:rect l="l" t="t" r="r" b="b"/>
              <a:pathLst>
                <a:path w="4023360" h="640080">
                  <a:moveTo>
                    <a:pt x="0" y="640079"/>
                  </a:moveTo>
                  <a:lnTo>
                    <a:pt x="4023360" y="640079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07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9948" y="1528317"/>
            <a:ext cx="16179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ME-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19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42802" y="1366202"/>
            <a:ext cx="4034154" cy="650875"/>
            <a:chOff x="4642802" y="1366202"/>
            <a:chExt cx="4034154" cy="650875"/>
          </a:xfrm>
        </p:grpSpPr>
        <p:sp>
          <p:nvSpPr>
            <p:cNvPr id="21" name="object 21"/>
            <p:cNvSpPr/>
            <p:nvPr/>
          </p:nvSpPr>
          <p:spPr>
            <a:xfrm>
              <a:off x="4648200" y="1371599"/>
              <a:ext cx="4023360" cy="640080"/>
            </a:xfrm>
            <a:custGeom>
              <a:avLst/>
              <a:gdLst/>
              <a:ahLst/>
              <a:cxnLst/>
              <a:rect l="l" t="t" r="r" b="b"/>
              <a:pathLst>
                <a:path w="4023359" h="640080">
                  <a:moveTo>
                    <a:pt x="4023359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4023359" y="640079"/>
                  </a:lnTo>
                  <a:lnTo>
                    <a:pt x="402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648200" y="1371599"/>
              <a:ext cx="4023360" cy="640080"/>
            </a:xfrm>
            <a:custGeom>
              <a:avLst/>
              <a:gdLst/>
              <a:ahLst/>
              <a:cxnLst/>
              <a:rect l="l" t="t" r="r" b="b"/>
              <a:pathLst>
                <a:path w="4023359" h="640080">
                  <a:moveTo>
                    <a:pt x="0" y="640079"/>
                  </a:moveTo>
                  <a:lnTo>
                    <a:pt x="4023359" y="640079"/>
                  </a:lnTo>
                  <a:lnTo>
                    <a:pt x="4023359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07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91836" y="1528317"/>
            <a:ext cx="16179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</a:t>
            </a:r>
            <a:r>
              <a:rPr kumimoji="0" sz="1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ME-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19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1000" y="2057400"/>
            <a:ext cx="4023360" cy="4114800"/>
          </a:xfrm>
          <a:prstGeom prst="rect">
            <a:avLst/>
          </a:prstGeom>
          <a:ln w="10795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84505" marR="343535" lvl="0" indent="-27432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4505" algn="l"/>
              </a:tabLst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SEA-ME-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</a:t>
            </a:r>
            <a:r>
              <a:rPr kumimoji="0" sz="2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cable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2.5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Gbps,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later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upgraded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10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Gbps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2002.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15"/>
              </a:spcBef>
              <a:spcAft>
                <a:spcPts val="0"/>
              </a:spcAft>
              <a:buClr>
                <a:srgbClr val="3891A7"/>
              </a:buClr>
              <a:buSzTx/>
              <a:buFont typeface="Segoe UI Symbol"/>
              <a:buChar char="⚫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84505" marR="0" lvl="0" indent="-2743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4505" algn="l"/>
              </a:tabLst>
              <a:defRPr/>
            </a:pP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Total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length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38,000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km.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24400" y="2133600"/>
            <a:ext cx="4023360" cy="4114800"/>
          </a:xfrm>
          <a:prstGeom prst="rect">
            <a:avLst/>
          </a:prstGeom>
          <a:ln w="10794">
            <a:solidFill>
              <a:srgbClr val="FFFFF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85140" marR="0" lvl="0" indent="-27432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5140" algn="l"/>
              </a:tabLst>
              <a:defRPr/>
            </a:pP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Total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length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20,000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km.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rgbClr val="3891A7"/>
              </a:buClr>
              <a:buSzTx/>
              <a:buFont typeface="Segoe UI Symbol"/>
              <a:buChar char="⚫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85140" marR="0" lvl="0" indent="-2743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ct val="79166"/>
              <a:buFont typeface="Segoe UI Symbol"/>
              <a:buChar char="⚫"/>
              <a:tabLst>
                <a:tab pos="48514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1.28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Tbps,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9717" y="4513834"/>
            <a:ext cx="641985" cy="52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fontAlgn="auto">
              <a:lnSpc>
                <a:spcPts val="315"/>
              </a:lnSpc>
              <a:spcBef>
                <a:spcPts val="0"/>
              </a:spcBef>
              <a:spcAft>
                <a:spcPts val="0"/>
              </a:spcAft>
            </a:pPr>
            <a:r>
              <a:rPr sz="7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eston</a:t>
            </a:r>
            <a:r>
              <a:rPr sz="700" kern="0" spc="-15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sz="7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dda</a:t>
            </a:r>
            <a:r>
              <a:rPr sz="700" kern="0" spc="-2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sz="7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ot</a:t>
            </a:r>
            <a:r>
              <a:rPr sz="700" kern="0" spc="-15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sz="700" kern="0" spc="-10" dirty="0">
                <a:solidFill>
                  <a:sysClr val="windowText" lastClr="000000"/>
                </a:solidFill>
                <a:latin typeface="Calibri"/>
                <a:cs typeface="Calibri"/>
              </a:rPr>
              <a:t>kciCl</a:t>
            </a:r>
            <a:endParaRPr sz="7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7602" y="1142619"/>
            <a:ext cx="4060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SEA-ME-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b="1" kern="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SUBMARINE</a:t>
            </a:r>
            <a:r>
              <a:rPr sz="1800" b="1" kern="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CABLE </a:t>
            </a: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HISTORY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591" y="1556753"/>
            <a:ext cx="6983348" cy="35069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44066" y="5327294"/>
            <a:ext cx="1115060" cy="52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 fontAlgn="auto">
              <a:lnSpc>
                <a:spcPts val="315"/>
              </a:lnSpc>
              <a:spcBef>
                <a:spcPts val="0"/>
              </a:spcBef>
              <a:spcAft>
                <a:spcPts val="0"/>
              </a:spcAft>
            </a:pPr>
            <a:r>
              <a:rPr sz="700" kern="0" spc="-229" dirty="0">
                <a:solidFill>
                  <a:srgbClr val="EDEBE0"/>
                </a:solidFill>
                <a:latin typeface="Calibri"/>
                <a:cs typeface="Calibri"/>
              </a:rPr>
              <a:t>sbl</a:t>
            </a:r>
            <a:r>
              <a:rPr sz="700" kern="0" spc="45" dirty="0">
                <a:solidFill>
                  <a:srgbClr val="EDEBE0"/>
                </a:solidFill>
                <a:latin typeface="Calibri"/>
                <a:cs typeface="Calibri"/>
              </a:rPr>
              <a:t> </a:t>
            </a:r>
            <a:r>
              <a:rPr sz="700" kern="0" dirty="0">
                <a:solidFill>
                  <a:srgbClr val="EDEBE0"/>
                </a:solidFill>
                <a:latin typeface="Calibri"/>
                <a:cs typeface="Calibri"/>
              </a:rPr>
              <a:t>Ca</a:t>
            </a:r>
            <a:r>
              <a:rPr sz="700" kern="0" spc="30" dirty="0">
                <a:solidFill>
                  <a:srgbClr val="EDEBE0"/>
                </a:solidFill>
                <a:latin typeface="Calibri"/>
                <a:cs typeface="Calibri"/>
              </a:rPr>
              <a:t> </a:t>
            </a:r>
            <a:r>
              <a:rPr sz="700" kern="0" spc="-10" dirty="0">
                <a:solidFill>
                  <a:srgbClr val="EDEBE0"/>
                </a:solidFill>
                <a:latin typeface="Calibri"/>
                <a:cs typeface="Calibri"/>
              </a:rPr>
              <a:t>enirambuS</a:t>
            </a:r>
            <a:r>
              <a:rPr sz="700" kern="0" spc="-5" dirty="0">
                <a:solidFill>
                  <a:srgbClr val="EDEBE0"/>
                </a:solidFill>
                <a:latin typeface="Calibri"/>
                <a:cs typeface="Calibri"/>
              </a:rPr>
              <a:t> </a:t>
            </a:r>
            <a:r>
              <a:rPr sz="700" kern="0" dirty="0">
                <a:solidFill>
                  <a:srgbClr val="EDEBE0"/>
                </a:solidFill>
                <a:latin typeface="Calibri"/>
                <a:cs typeface="Calibri"/>
              </a:rPr>
              <a:t>fo</a:t>
            </a:r>
            <a:r>
              <a:rPr sz="700" kern="0" spc="-10" dirty="0">
                <a:solidFill>
                  <a:srgbClr val="EDEBE0"/>
                </a:solidFill>
                <a:latin typeface="Calibri"/>
                <a:cs typeface="Calibri"/>
              </a:rPr>
              <a:t> </a:t>
            </a:r>
            <a:r>
              <a:rPr sz="700" kern="0" dirty="0">
                <a:solidFill>
                  <a:srgbClr val="EDEBE0"/>
                </a:solidFill>
                <a:latin typeface="Calibri"/>
                <a:cs typeface="Calibri"/>
              </a:rPr>
              <a:t>paM</a:t>
            </a:r>
            <a:r>
              <a:rPr sz="700" kern="0" spc="10" dirty="0">
                <a:solidFill>
                  <a:srgbClr val="EDEBE0"/>
                </a:solidFill>
                <a:latin typeface="Calibri"/>
                <a:cs typeface="Calibri"/>
              </a:rPr>
              <a:t> </a:t>
            </a:r>
            <a:r>
              <a:rPr sz="700" kern="0" spc="-10" dirty="0">
                <a:solidFill>
                  <a:srgbClr val="EDEBE0"/>
                </a:solidFill>
                <a:latin typeface="Calibri"/>
                <a:cs typeface="Calibri"/>
              </a:rPr>
              <a:t>eltaclA</a:t>
            </a:r>
            <a:endParaRPr sz="7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1108" y="5327294"/>
            <a:ext cx="521970" cy="52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fontAlgn="auto">
              <a:lnSpc>
                <a:spcPts val="315"/>
              </a:lnSpc>
              <a:spcBef>
                <a:spcPts val="0"/>
              </a:spcBef>
              <a:spcAft>
                <a:spcPts val="0"/>
              </a:spcAft>
              <a:tabLst>
                <a:tab pos="477520" algn="l"/>
              </a:tabLst>
            </a:pPr>
            <a:r>
              <a:rPr sz="700" kern="0" spc="-10" dirty="0">
                <a:solidFill>
                  <a:srgbClr val="EDEBE0"/>
                </a:solidFill>
                <a:latin typeface="Calibri"/>
                <a:cs typeface="Calibri"/>
              </a:rPr>
              <a:t>edyolepD</a:t>
            </a:r>
            <a:r>
              <a:rPr sz="700" kern="0" dirty="0">
                <a:solidFill>
                  <a:srgbClr val="EDEBE0"/>
                </a:solidFill>
                <a:latin typeface="Calibri"/>
                <a:cs typeface="Calibri"/>
              </a:rPr>
              <a:t>	</a:t>
            </a:r>
            <a:r>
              <a:rPr sz="700" kern="0" spc="-50" dirty="0">
                <a:solidFill>
                  <a:srgbClr val="EDEBE0"/>
                </a:solidFill>
                <a:latin typeface="Calibri"/>
                <a:cs typeface="Calibri"/>
              </a:rPr>
              <a:t>e</a:t>
            </a:r>
            <a:endParaRPr sz="7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93242" y="4130294"/>
          <a:ext cx="6985633" cy="1863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3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SEA-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ME-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SEA-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ME-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sz="1200" b="1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SEA-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ME-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sz="1200" b="1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SEA-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ME-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sz="1200" b="1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Commissioned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158115">
                        <a:lnSpc>
                          <a:spcPct val="988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June</a:t>
                      </a:r>
                      <a:r>
                        <a:rPr sz="12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1985 </a:t>
                      </a: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(Decommissioned </a:t>
                      </a:r>
                      <a:r>
                        <a:rPr sz="12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June</a:t>
                      </a:r>
                      <a:r>
                        <a:rPr sz="12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1999)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140335">
                        <a:lnSpc>
                          <a:spcPct val="988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October</a:t>
                      </a:r>
                      <a:r>
                        <a:rPr sz="12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 </a:t>
                      </a: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(Decommissioned </a:t>
                      </a:r>
                      <a:r>
                        <a:rPr sz="12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October</a:t>
                      </a:r>
                      <a:r>
                        <a:rPr sz="12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2006)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August</a:t>
                      </a:r>
                      <a:r>
                        <a:rPr sz="1200" spc="-3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November</a:t>
                      </a:r>
                      <a:r>
                        <a:rPr sz="1200" spc="-6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2005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Capacity/Length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42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12MHz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525">
                        <a:lnSpc>
                          <a:spcPts val="142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13,500km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570865">
                        <a:lnSpc>
                          <a:spcPts val="1400"/>
                        </a:lnSpc>
                        <a:spcBef>
                          <a:spcPts val="125"/>
                        </a:spcBef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2x560Mbps 18,000km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656590">
                        <a:lnSpc>
                          <a:spcPts val="1400"/>
                        </a:lnSpc>
                        <a:spcBef>
                          <a:spcPts val="125"/>
                        </a:spcBef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8x2.5Gbps 39,000km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435609">
                        <a:lnSpc>
                          <a:spcPts val="1400"/>
                        </a:lnSpc>
                        <a:spcBef>
                          <a:spcPts val="125"/>
                        </a:spcBef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64x2x10Gbps 20,000km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9525" marR="187325">
                        <a:lnSpc>
                          <a:spcPts val="1400"/>
                        </a:lnSpc>
                        <a:spcBef>
                          <a:spcPts val="13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No.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Owners Total</a:t>
                      </a:r>
                      <a:r>
                        <a:rPr sz="12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Investment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420"/>
                        </a:lnSpc>
                        <a:spcBef>
                          <a:spcPts val="50"/>
                        </a:spcBef>
                      </a:pPr>
                      <a:r>
                        <a:rPr sz="12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525">
                        <a:lnSpc>
                          <a:spcPts val="142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USD800M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420"/>
                        </a:lnSpc>
                        <a:spcBef>
                          <a:spcPts val="50"/>
                        </a:spcBef>
                      </a:pPr>
                      <a:r>
                        <a:rPr sz="12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52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525">
                        <a:lnSpc>
                          <a:spcPts val="142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USD800M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420"/>
                        </a:lnSpc>
                        <a:spcBef>
                          <a:spcPts val="50"/>
                        </a:spcBef>
                      </a:pPr>
                      <a:r>
                        <a:rPr sz="12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92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160">
                        <a:lnSpc>
                          <a:spcPts val="142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USD1500M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1420"/>
                        </a:lnSpc>
                        <a:spcBef>
                          <a:spcPts val="50"/>
                        </a:spcBef>
                      </a:pPr>
                      <a:r>
                        <a:rPr sz="12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160">
                        <a:lnSpc>
                          <a:spcPts val="1420"/>
                        </a:lnSpc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USD500M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Analog/Copper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PDH/Optical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SDH/WDM/Optical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SDH/DWDM/Optical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304" y="1947874"/>
            <a:ext cx="163195" cy="387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fontAlgn="auto">
              <a:lnSpc>
                <a:spcPts val="3579"/>
              </a:lnSpc>
              <a:spcBef>
                <a:spcPts val="95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spcBef>
                <a:spcPts val="171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3575"/>
              </a:lnSpc>
              <a:spcBef>
                <a:spcPts val="1705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3575"/>
              </a:lnSpc>
              <a:spcBef>
                <a:spcPts val="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3585"/>
              </a:lnSpc>
              <a:spcBef>
                <a:spcPts val="170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3585"/>
              </a:lnSpc>
              <a:spcBef>
                <a:spcPts val="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204" y="1836642"/>
            <a:ext cx="7740015" cy="384175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fontAlgn="auto">
              <a:spcBef>
                <a:spcPts val="1085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Matchless,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PoP</a:t>
            </a:r>
            <a:r>
              <a:rPr sz="2050" b="1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050" b="1" kern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spc="-50" dirty="0">
                <a:solidFill>
                  <a:srgbClr val="1F487C"/>
                </a:solidFill>
                <a:latin typeface="Calibri"/>
                <a:cs typeface="Calibri"/>
              </a:rPr>
              <a:t>PoP,</a:t>
            </a:r>
            <a:r>
              <a:rPr sz="2050" b="1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multi-regional data</a:t>
            </a:r>
            <a:r>
              <a:rPr sz="2050" b="1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superhighway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832485" fontAlgn="auto">
              <a:lnSpc>
                <a:spcPts val="1980"/>
              </a:lnSpc>
              <a:spcBef>
                <a:spcPts val="1450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20.000</a:t>
            </a:r>
            <a:r>
              <a:rPr sz="2050" b="1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km</a:t>
            </a:r>
            <a:r>
              <a:rPr sz="2050" b="1" kern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submarine</a:t>
            </a:r>
            <a:r>
              <a:rPr sz="2050" kern="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cable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system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connecting</a:t>
            </a:r>
            <a:r>
              <a:rPr sz="20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Southeast</a:t>
            </a:r>
            <a:r>
              <a:rPr sz="20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Asia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to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Western</a:t>
            </a:r>
            <a:r>
              <a:rPr sz="2050" kern="0" spc="-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Europe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lnSpc>
                <a:spcPts val="2220"/>
              </a:lnSpc>
              <a:spcBef>
                <a:spcPts val="100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Further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enhancing</a:t>
            </a:r>
            <a:r>
              <a:rPr sz="2050" kern="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diversity</a:t>
            </a:r>
            <a:r>
              <a:rPr sz="2050" b="1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and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resilience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0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heavily loaded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Asia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Europe</a:t>
            </a:r>
            <a:r>
              <a:rPr sz="2050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route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spcBef>
                <a:spcPts val="985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Latest</a:t>
            </a:r>
            <a:r>
              <a:rPr sz="2050" b="1" kern="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100Gbps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technology</a:t>
            </a:r>
            <a:r>
              <a:rPr sz="2050" b="1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enabling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initial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system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capacity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24</a:t>
            </a:r>
            <a:r>
              <a:rPr sz="2050" b="1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Tbps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lnSpc>
                <a:spcPts val="2225"/>
              </a:lnSpc>
              <a:spcBef>
                <a:spcPts val="969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High</a:t>
            </a:r>
            <a:r>
              <a:rPr sz="2050" b="1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level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050" b="1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flexibility</a:t>
            </a:r>
            <a:r>
              <a:rPr sz="2050" b="1" kern="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for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consortium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members</a:t>
            </a:r>
            <a:r>
              <a:rPr sz="20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in</a:t>
            </a:r>
            <a:r>
              <a:rPr sz="20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utilizing</a:t>
            </a:r>
            <a:r>
              <a:rPr sz="2050" kern="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their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lnSpc>
                <a:spcPts val="2225"/>
              </a:lnSpc>
              <a:spcBef>
                <a:spcPts val="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capacity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entitlement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spcBef>
                <a:spcPts val="975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Lowest</a:t>
            </a:r>
            <a:r>
              <a:rPr sz="2050" b="1" kern="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latency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spcBef>
                <a:spcPts val="98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Ready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for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service: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Q4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 2016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6615" y="1142619"/>
            <a:ext cx="2052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1800" b="1" kern="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SEA-ME-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b="1" kern="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4046" y="1142619"/>
            <a:ext cx="2025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SEA-ME-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WE 5</a:t>
            </a:r>
            <a:r>
              <a:rPr sz="1800" b="1" kern="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/>
                </a:solidFill>
                <a:latin typeface="Calibri"/>
                <a:cs typeface="Calibri"/>
              </a:rPr>
              <a:t>ROUTE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378" y="1757412"/>
            <a:ext cx="7329853" cy="411603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1" y="1822473"/>
            <a:ext cx="163195" cy="393128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fontAlgn="auto">
              <a:spcBef>
                <a:spcPts val="84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spcBef>
                <a:spcPts val="75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3095"/>
              </a:lnSpc>
              <a:spcBef>
                <a:spcPts val="74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2480"/>
              </a:lnSpc>
              <a:spcBef>
                <a:spcPts val="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spcBef>
                <a:spcPts val="745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12700" fontAlgn="auto">
              <a:spcBef>
                <a:spcPts val="1730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1440" y="1929637"/>
            <a:ext cx="7557770" cy="367855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 fontAlgn="auto">
              <a:lnSpc>
                <a:spcPts val="1980"/>
              </a:lnSpc>
              <a:spcBef>
                <a:spcPts val="58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Established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by</a:t>
            </a:r>
            <a:r>
              <a:rPr sz="20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industry</a:t>
            </a:r>
            <a:r>
              <a:rPr sz="2050" b="1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leading</a:t>
            </a:r>
            <a:r>
              <a:rPr sz="2050" b="1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operators</a:t>
            </a:r>
            <a:r>
              <a:rPr sz="2050" b="1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with</a:t>
            </a:r>
            <a:r>
              <a:rPr sz="2050" kern="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extensive</a:t>
            </a:r>
            <a:r>
              <a:rPr sz="2050" kern="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experience</a:t>
            </a:r>
            <a:r>
              <a:rPr sz="2050" kern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in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submarine</a:t>
            </a:r>
            <a:r>
              <a:rPr sz="2050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cable</a:t>
            </a:r>
            <a:r>
              <a:rPr sz="20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projects.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lnSpc>
                <a:spcPts val="2220"/>
              </a:lnSpc>
              <a:spcBef>
                <a:spcPts val="35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Consortium’s</a:t>
            </a:r>
            <a:r>
              <a:rPr sz="20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proven</a:t>
            </a:r>
            <a:r>
              <a:rPr sz="2050" b="1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track</a:t>
            </a:r>
            <a:r>
              <a:rPr sz="2050" b="1" kern="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record</a:t>
            </a:r>
            <a:r>
              <a:rPr sz="2050" b="1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050" kern="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delivering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results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from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successful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completion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previous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SEA-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ME-WE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projects.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spcBef>
                <a:spcPts val="25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Financially</a:t>
            </a:r>
            <a:r>
              <a:rPr sz="2050" b="1" kern="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stable</a:t>
            </a:r>
            <a:r>
              <a:rPr sz="2050" b="1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-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fully</a:t>
            </a:r>
            <a:r>
              <a:rPr sz="2050" kern="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secured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financing.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spcBef>
                <a:spcPts val="15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Strong</a:t>
            </a:r>
            <a:r>
              <a:rPr sz="2050" b="1" kern="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commitment</a:t>
            </a:r>
            <a:r>
              <a:rPr sz="2050" b="1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by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all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participating</a:t>
            </a:r>
            <a:r>
              <a:rPr sz="20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parties.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spcBef>
                <a:spcPts val="20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Leading-edge</a:t>
            </a:r>
            <a:r>
              <a:rPr sz="2050" b="1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technical</a:t>
            </a:r>
            <a:r>
              <a:rPr sz="2050" b="1" kern="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know-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how</a:t>
            </a:r>
            <a:r>
              <a:rPr sz="2050" b="1" kern="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its consortium</a:t>
            </a:r>
            <a:r>
              <a:rPr sz="2050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members.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441325" fontAlgn="auto">
              <a:lnSpc>
                <a:spcPts val="1980"/>
              </a:lnSpc>
              <a:spcBef>
                <a:spcPts val="495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Open</a:t>
            </a:r>
            <a:r>
              <a:rPr sz="2050" b="1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system</a:t>
            </a:r>
            <a:r>
              <a:rPr sz="2050" b="1" kern="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with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free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access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050" kern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carrier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neutral,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international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PoPs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belonging</a:t>
            </a:r>
            <a:r>
              <a:rPr sz="2050" kern="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 core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0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SEA-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ME-WE</a:t>
            </a:r>
            <a:r>
              <a:rPr sz="2050" kern="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5.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lnSpc>
                <a:spcPts val="2220"/>
              </a:lnSpc>
              <a:spcBef>
                <a:spcPts val="35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Solid</a:t>
            </a:r>
            <a:r>
              <a:rPr sz="2050" b="1" kern="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design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and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well-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founded</a:t>
            </a:r>
            <a:r>
              <a:rPr sz="2050" kern="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project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plan</a:t>
            </a:r>
            <a:r>
              <a:rPr sz="2050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which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has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been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followed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without</a:t>
            </a:r>
            <a:r>
              <a:rPr sz="2050" kern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any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deviation</a:t>
            </a:r>
            <a:r>
              <a:rPr sz="20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date.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fontAlgn="auto">
              <a:spcBef>
                <a:spcPts val="1015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spans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system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are</a:t>
            </a:r>
            <a:r>
              <a:rPr sz="2050" kern="0" spc="20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optimized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for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future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upgradability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75754" y="1142619"/>
            <a:ext cx="1313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spc="-30" dirty="0">
                <a:solidFill>
                  <a:srgbClr val="FFFFFF"/>
                </a:solidFill>
                <a:latin typeface="Calibri"/>
                <a:cs typeface="Calibri"/>
              </a:rPr>
              <a:t>ADVANTAGES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748" y="1988134"/>
            <a:ext cx="16319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fontAlgn="auto">
              <a:spcBef>
                <a:spcPts val="95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7247" y="2000326"/>
            <a:ext cx="7806690" cy="34494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 marR="111760" fontAlgn="auto">
              <a:lnSpc>
                <a:spcPts val="1980"/>
              </a:lnSpc>
              <a:spcBef>
                <a:spcPts val="58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core</a:t>
            </a:r>
            <a:r>
              <a:rPr sz="2050" kern="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system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includes</a:t>
            </a:r>
            <a:r>
              <a:rPr sz="2050" kern="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fully</a:t>
            </a:r>
            <a:r>
              <a:rPr sz="2050" b="1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protected</a:t>
            </a:r>
            <a:r>
              <a:rPr sz="2050" b="1" kern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terrestrial</a:t>
            </a:r>
            <a:r>
              <a:rPr sz="2050" b="1" kern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extensions</a:t>
            </a:r>
            <a:r>
              <a:rPr sz="2050" b="1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050" kern="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major carrier-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neutral</a:t>
            </a:r>
            <a:r>
              <a:rPr sz="20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PoPs.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list</a:t>
            </a:r>
            <a:r>
              <a:rPr sz="2050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0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main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PoPs</a:t>
            </a:r>
            <a:r>
              <a:rPr sz="2050" kern="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which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are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connected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to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SEA-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ME-WE</a:t>
            </a:r>
            <a:r>
              <a:rPr sz="2050" kern="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5: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438150" indent="-285750" fontAlgn="auto"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buSzPct val="151351"/>
              <a:buFont typeface="Arial MT"/>
              <a:buChar char="–"/>
              <a:tabLst>
                <a:tab pos="438150" algn="l"/>
              </a:tabLst>
            </a:pPr>
            <a:r>
              <a:rPr sz="1850" b="1" kern="0" dirty="0">
                <a:solidFill>
                  <a:srgbClr val="1F487C"/>
                </a:solidFill>
                <a:latin typeface="Calibri"/>
                <a:cs typeface="Calibri"/>
              </a:rPr>
              <a:t>Marseille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1850" kern="0" spc="3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Interxion</a:t>
            </a:r>
            <a:r>
              <a:rPr sz="18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(formerly</a:t>
            </a:r>
            <a:r>
              <a:rPr sz="1850" kern="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Net</a:t>
            </a:r>
            <a:r>
              <a:rPr sz="1850" kern="0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Center)</a:t>
            </a:r>
            <a:r>
              <a:rPr sz="1850" kern="0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and/or</a:t>
            </a:r>
            <a:r>
              <a:rPr sz="18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spc="-10" dirty="0">
                <a:solidFill>
                  <a:srgbClr val="1F487C"/>
                </a:solidFill>
                <a:latin typeface="Calibri"/>
                <a:cs typeface="Calibri"/>
              </a:rPr>
              <a:t>Jaguar</a:t>
            </a:r>
            <a:endParaRPr sz="18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438150" indent="-285750" fontAlgn="auto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SzPct val="151351"/>
              <a:buFont typeface="Arial MT"/>
              <a:buChar char="–"/>
              <a:tabLst>
                <a:tab pos="438150" algn="l"/>
                <a:tab pos="1524000" algn="l"/>
              </a:tabLst>
            </a:pPr>
            <a:r>
              <a:rPr sz="1850" b="1" kern="0" spc="-10" dirty="0">
                <a:solidFill>
                  <a:srgbClr val="1F487C"/>
                </a:solidFill>
                <a:latin typeface="Calibri"/>
                <a:cs typeface="Calibri"/>
              </a:rPr>
              <a:t>Palermo:</a:t>
            </a:r>
            <a:r>
              <a:rPr sz="1850" b="1" kern="0" dirty="0">
                <a:solidFill>
                  <a:srgbClr val="1F487C"/>
                </a:solidFill>
                <a:latin typeface="Calibri"/>
                <a:cs typeface="Calibri"/>
              </a:rPr>
              <a:t>	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New</a:t>
            </a:r>
            <a:r>
              <a:rPr sz="18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carrier</a:t>
            </a:r>
            <a:r>
              <a:rPr sz="18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neutral</a:t>
            </a:r>
            <a:r>
              <a:rPr sz="1850" kern="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Sicily</a:t>
            </a:r>
            <a:r>
              <a:rPr sz="18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Hub</a:t>
            </a:r>
            <a:r>
              <a:rPr sz="18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spc="-25" dirty="0">
                <a:solidFill>
                  <a:srgbClr val="1F487C"/>
                </a:solidFill>
                <a:latin typeface="Calibri"/>
                <a:cs typeface="Calibri"/>
              </a:rPr>
              <a:t>PoP</a:t>
            </a:r>
            <a:endParaRPr sz="18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438150" indent="-285750" fontAlgn="auto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SzPct val="151351"/>
              <a:buFont typeface="Arial MT"/>
              <a:buChar char="–"/>
              <a:tabLst>
                <a:tab pos="438150" algn="l"/>
              </a:tabLst>
            </a:pPr>
            <a:r>
              <a:rPr sz="1850" b="1" kern="0" spc="-10" dirty="0">
                <a:solidFill>
                  <a:srgbClr val="1F487C"/>
                </a:solidFill>
                <a:latin typeface="Calibri"/>
                <a:cs typeface="Calibri"/>
              </a:rPr>
              <a:t>Singapore</a:t>
            </a:r>
            <a:r>
              <a:rPr sz="1850" kern="0" spc="-1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r>
              <a:rPr sz="1850" kern="0" spc="-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Equinix,</a:t>
            </a:r>
            <a:r>
              <a:rPr sz="18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dirty="0">
                <a:solidFill>
                  <a:srgbClr val="1F487C"/>
                </a:solidFill>
                <a:latin typeface="Calibri"/>
                <a:cs typeface="Calibri"/>
              </a:rPr>
              <a:t>Global</a:t>
            </a:r>
            <a:r>
              <a:rPr sz="1850" kern="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50" kern="0" spc="-10" dirty="0">
                <a:solidFill>
                  <a:srgbClr val="1F487C"/>
                </a:solidFill>
                <a:latin typeface="Calibri"/>
                <a:cs typeface="Calibri"/>
              </a:rPr>
              <a:t>Switch</a:t>
            </a:r>
            <a:endParaRPr sz="18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38100" marR="30480" fontAlgn="auto">
              <a:lnSpc>
                <a:spcPct val="80800"/>
              </a:lnSpc>
              <a:spcBef>
                <a:spcPts val="1800"/>
              </a:spcBef>
              <a:spcAft>
                <a:spcPts val="0"/>
              </a:spcAft>
            </a:pP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SEA-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ME-WE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5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will</a:t>
            </a:r>
            <a:r>
              <a:rPr sz="2050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also</a:t>
            </a:r>
            <a:r>
              <a:rPr sz="20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secure</a:t>
            </a:r>
            <a:r>
              <a:rPr sz="2050" b="1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outstanding</a:t>
            </a:r>
            <a:r>
              <a:rPr sz="2050" b="1" kern="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cross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connection</a:t>
            </a:r>
            <a:r>
              <a:rPr sz="2050" b="1" kern="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possibilities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with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other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submarine</a:t>
            </a:r>
            <a:r>
              <a:rPr sz="2050" kern="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cables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in</a:t>
            </a:r>
            <a:r>
              <a:rPr sz="2050" kern="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Egypt,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Saudi</a:t>
            </a:r>
            <a:r>
              <a:rPr sz="2050" b="1" kern="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Arabia,</a:t>
            </a:r>
            <a:r>
              <a:rPr sz="2050" b="1" kern="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Djibouti</a:t>
            </a:r>
            <a:r>
              <a:rPr sz="2050" b="1" kern="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and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spc="-25" dirty="0">
                <a:solidFill>
                  <a:srgbClr val="1F487C"/>
                </a:solidFill>
                <a:latin typeface="Calibri"/>
                <a:cs typeface="Calibri"/>
              </a:rPr>
              <a:t>Sri 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Lanka.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38100" marR="330835" fontAlgn="auto">
              <a:lnSpc>
                <a:spcPts val="1980"/>
              </a:lnSpc>
              <a:spcBef>
                <a:spcPts val="1450"/>
              </a:spcBef>
              <a:spcAft>
                <a:spcPts val="0"/>
              </a:spcAft>
            </a:pP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Marmaris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CLS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b="1" kern="0" dirty="0">
                <a:solidFill>
                  <a:srgbClr val="1F487C"/>
                </a:solidFill>
                <a:latin typeface="Calibri"/>
                <a:cs typeface="Calibri"/>
              </a:rPr>
              <a:t>in</a:t>
            </a:r>
            <a:r>
              <a:rPr sz="2050" b="1" kern="0" spc="-20" dirty="0">
                <a:solidFill>
                  <a:srgbClr val="1F487C"/>
                </a:solidFill>
                <a:latin typeface="Calibri"/>
                <a:cs typeface="Calibri"/>
              </a:rPr>
              <a:t> Turkey</a:t>
            </a:r>
            <a:r>
              <a:rPr sz="2050" b="1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will</a:t>
            </a:r>
            <a:r>
              <a:rPr sz="20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also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be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opened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without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extra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costs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for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members</a:t>
            </a:r>
            <a:r>
              <a:rPr sz="2050" kern="0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increase</a:t>
            </a:r>
            <a:r>
              <a:rPr sz="2050" kern="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options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for</a:t>
            </a:r>
            <a:r>
              <a:rPr sz="2050" kern="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terminating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capacities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in</a:t>
            </a:r>
            <a:r>
              <a:rPr sz="2050" kern="0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10" dirty="0">
                <a:solidFill>
                  <a:srgbClr val="1F487C"/>
                </a:solidFill>
                <a:latin typeface="Calibri"/>
                <a:cs typeface="Calibri"/>
              </a:rPr>
              <a:t>Europe.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748" y="3863339"/>
            <a:ext cx="16319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fontAlgn="auto">
              <a:spcBef>
                <a:spcPts val="95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748" y="4805426"/>
            <a:ext cx="16319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fontAlgn="auto">
              <a:spcBef>
                <a:spcPts val="95"/>
              </a:spcBef>
              <a:spcAft>
                <a:spcPts val="0"/>
              </a:spcAft>
            </a:pPr>
            <a:r>
              <a:rPr sz="3100" kern="0" spc="-50" dirty="0">
                <a:solidFill>
                  <a:srgbClr val="1F487C"/>
                </a:solidFill>
                <a:latin typeface="Arial MT"/>
                <a:cs typeface="Arial MT"/>
              </a:rPr>
              <a:t>•</a:t>
            </a:r>
            <a:endParaRPr sz="31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20083" y="1142619"/>
            <a:ext cx="426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POPs</a:t>
            </a:r>
            <a:r>
              <a:rPr sz="1800" b="1" kern="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b="1" kern="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CROSS</a:t>
            </a:r>
            <a:r>
              <a:rPr sz="1800" b="1" kern="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CONNECTION</a:t>
            </a:r>
            <a:r>
              <a:rPr sz="1800" b="1" kern="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POSSIBILITIES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208" y="2453920"/>
            <a:ext cx="6840230" cy="221787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31686" y="1142619"/>
            <a:ext cx="185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SEA-ME-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WE 5</a:t>
            </a:r>
            <a:r>
              <a:rPr sz="1800" b="1" kern="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/>
                </a:solidFill>
                <a:latin typeface="Calibri"/>
                <a:cs typeface="Calibri"/>
              </a:rPr>
              <a:t>POPs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1246" y="1145667"/>
            <a:ext cx="53752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fontAlgn="auto">
              <a:spcBef>
                <a:spcPts val="95"/>
              </a:spcBef>
              <a:spcAft>
                <a:spcPts val="0"/>
              </a:spcAft>
            </a:pPr>
            <a:r>
              <a:rPr sz="1600" b="1" kern="0" spc="-10" dirty="0">
                <a:solidFill>
                  <a:srgbClr val="FFFFFF"/>
                </a:solidFill>
                <a:latin typeface="Calibri"/>
                <a:cs typeface="Calibri"/>
              </a:rPr>
              <a:t>CONSORTIUM</a:t>
            </a:r>
            <a:r>
              <a:rPr sz="1600" b="1" kern="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kern="0" dirty="0">
                <a:solidFill>
                  <a:srgbClr val="FFFFFF"/>
                </a:solidFill>
                <a:latin typeface="Calibri"/>
                <a:cs typeface="Calibri"/>
              </a:rPr>
              <a:t>MEMBERS</a:t>
            </a:r>
            <a:r>
              <a:rPr sz="1600" b="1" kern="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kern="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b="1" kern="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kern="0" dirty="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sz="1600" b="1" kern="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kern="0" dirty="0">
                <a:solidFill>
                  <a:srgbClr val="FFFFFF"/>
                </a:solidFill>
                <a:latin typeface="Calibri"/>
                <a:cs typeface="Calibri"/>
              </a:rPr>
              <a:t>CABLE</a:t>
            </a:r>
            <a:r>
              <a:rPr sz="1600" b="1" kern="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kern="0" dirty="0">
                <a:solidFill>
                  <a:srgbClr val="FFFFFF"/>
                </a:solidFill>
                <a:latin typeface="Calibri"/>
                <a:cs typeface="Calibri"/>
              </a:rPr>
              <a:t>LANDING</a:t>
            </a:r>
            <a:r>
              <a:rPr sz="1600" b="1" kern="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kern="0" spc="-10" dirty="0">
                <a:solidFill>
                  <a:srgbClr val="FFFFFF"/>
                </a:solidFill>
                <a:latin typeface="Calibri"/>
                <a:cs typeface="Calibri"/>
              </a:rPr>
              <a:t>STATIONS</a:t>
            </a:r>
            <a:endParaRPr sz="16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82" y="2169527"/>
            <a:ext cx="2881760" cy="31637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707" y="2139157"/>
            <a:ext cx="2705729" cy="30595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5532" y="2088227"/>
            <a:ext cx="2642562" cy="322507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4046" y="1142619"/>
            <a:ext cx="2025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SEA-ME-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WE 5</a:t>
            </a:r>
            <a:r>
              <a:rPr sz="1800" b="1" kern="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/>
                </a:solidFill>
                <a:latin typeface="Calibri"/>
                <a:cs typeface="Calibri"/>
              </a:rPr>
              <a:t>ROUTE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378" y="1757412"/>
            <a:ext cx="7329853" cy="411603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5725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694" y="802502"/>
              <a:ext cx="8298181" cy="4340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08116" y="1081277"/>
              <a:ext cx="3636010" cy="914400"/>
            </a:xfrm>
            <a:custGeom>
              <a:avLst/>
              <a:gdLst/>
              <a:ahLst/>
              <a:cxnLst/>
              <a:rect l="l" t="t" r="r" b="b"/>
              <a:pathLst>
                <a:path w="3636009" h="914400">
                  <a:moveTo>
                    <a:pt x="3635883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3635883" y="914400"/>
                  </a:lnTo>
                  <a:lnTo>
                    <a:pt x="36358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8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976497" y="5116539"/>
            <a:ext cx="648335" cy="184785"/>
          </a:xfrm>
          <a:prstGeom prst="rect">
            <a:avLst/>
          </a:prstGeom>
          <a:solidFill>
            <a:srgbClr val="45176D"/>
          </a:solidFill>
        </p:spPr>
        <p:txBody>
          <a:bodyPr vert="horz" wrap="square" lIns="0" tIns="0" rIns="0" bIns="0" rtlCol="0">
            <a:spAutoFit/>
          </a:bodyPr>
          <a:lstStyle/>
          <a:p>
            <a:pPr marL="96520" fontAlgn="auto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200" kern="0" spc="-10" dirty="0">
                <a:solidFill>
                  <a:srgbClr val="FFFFFF"/>
                </a:solidFill>
                <a:latin typeface="Calibri"/>
                <a:cs typeface="Calibri"/>
              </a:rPr>
              <a:t>YEMEN</a:t>
            </a:r>
            <a:endParaRPr sz="12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0689" y="1142619"/>
            <a:ext cx="37357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JEDDAH</a:t>
            </a:r>
            <a:r>
              <a:rPr sz="1800" b="1" kern="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CABLE</a:t>
            </a:r>
            <a:r>
              <a:rPr sz="1800" b="1" kern="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LANDING</a:t>
            </a:r>
            <a:r>
              <a:rPr sz="1800" b="1" kern="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40" dirty="0">
                <a:solidFill>
                  <a:srgbClr val="FFFFFF"/>
                </a:solidFill>
                <a:latin typeface="Calibri"/>
                <a:cs typeface="Calibri"/>
              </a:rPr>
              <a:t>STATION</a:t>
            </a:r>
            <a:r>
              <a:rPr sz="1800" b="1" kern="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(CLS)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64098" y="1866850"/>
            <a:ext cx="3780154" cy="4134485"/>
            <a:chOff x="5364098" y="1009599"/>
            <a:chExt cx="3780154" cy="413448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4098" y="1009599"/>
              <a:ext cx="3744468" cy="7700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1584" y="4240646"/>
              <a:ext cx="1542415" cy="9028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3110" y="5814746"/>
            <a:ext cx="231775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fontAlgn="auto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800" kern="0" spc="-25" dirty="0">
                <a:solidFill>
                  <a:sysClr val="windowText" lastClr="000000"/>
                </a:solidFill>
                <a:latin typeface="Calibri"/>
                <a:cs typeface="Calibri"/>
              </a:rPr>
              <a:t>12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1602" y="2630677"/>
            <a:ext cx="1374775" cy="971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7680" marR="66040" indent="-413384">
              <a:lnSpc>
                <a:spcPct val="101000"/>
              </a:lnSpc>
              <a:spcBef>
                <a:spcPts val="90"/>
              </a:spcBef>
            </a:pPr>
            <a:r>
              <a:rPr sz="2050" b="0" dirty="0"/>
              <a:t>Catania</a:t>
            </a:r>
            <a:r>
              <a:rPr sz="2050" b="0" spc="-70" dirty="0"/>
              <a:t> </a:t>
            </a:r>
            <a:r>
              <a:rPr sz="2050" b="0" spc="-25" dirty="0"/>
              <a:t>CLS and</a:t>
            </a:r>
            <a:endParaRPr sz="2050"/>
          </a:p>
          <a:p>
            <a:pPr marL="12700">
              <a:spcBef>
                <a:spcPts val="20"/>
              </a:spcBef>
            </a:pPr>
            <a:r>
              <a:rPr sz="2050" b="0" dirty="0"/>
              <a:t>Palermo</a:t>
            </a:r>
            <a:r>
              <a:rPr sz="2050" b="0" spc="-85" dirty="0"/>
              <a:t> </a:t>
            </a:r>
            <a:r>
              <a:rPr sz="2050" b="0" spc="-25" dirty="0"/>
              <a:t>PoP</a:t>
            </a:r>
            <a:endParaRPr sz="2050"/>
          </a:p>
        </p:txBody>
      </p:sp>
      <p:sp>
        <p:nvSpPr>
          <p:cNvPr id="4" name="object 4"/>
          <p:cNvSpPr txBox="1"/>
          <p:nvPr/>
        </p:nvSpPr>
        <p:spPr>
          <a:xfrm>
            <a:off x="845921" y="3575811"/>
            <a:ext cx="825500" cy="340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fontAlgn="auto">
              <a:spcBef>
                <a:spcPts val="110"/>
              </a:spcBef>
              <a:spcAft>
                <a:spcPts val="0"/>
              </a:spcAft>
            </a:pPr>
            <a:r>
              <a:rPr sz="2050" kern="0" dirty="0">
                <a:solidFill>
                  <a:srgbClr val="1F487C"/>
                </a:solidFill>
                <a:latin typeface="Calibri"/>
                <a:cs typeface="Calibri"/>
              </a:rPr>
              <a:t>in</a:t>
            </a:r>
            <a:r>
              <a:rPr sz="2050" kern="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50" kern="0" spc="-50" dirty="0">
                <a:solidFill>
                  <a:srgbClr val="1F487C"/>
                </a:solidFill>
                <a:latin typeface="Calibri"/>
                <a:cs typeface="Calibri"/>
              </a:rPr>
              <a:t>ITALY</a:t>
            </a:r>
            <a:endParaRPr sz="205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3401" y="1668144"/>
            <a:ext cx="6539252" cy="431649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86421" y="1295019"/>
            <a:ext cx="145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spc="-60" dirty="0">
                <a:solidFill>
                  <a:srgbClr val="FFFFFF"/>
                </a:solidFill>
                <a:latin typeface="Calibri"/>
                <a:cs typeface="Calibri"/>
              </a:rPr>
              <a:t>ITALY</a:t>
            </a:r>
            <a:r>
              <a:rPr sz="1800" b="1" kern="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LANDING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4046" y="1142619"/>
            <a:ext cx="2025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sz="1800" b="1" kern="0" spc="-10" dirty="0">
                <a:solidFill>
                  <a:srgbClr val="FFFFFF"/>
                </a:solidFill>
                <a:latin typeface="Calibri"/>
                <a:cs typeface="Calibri"/>
              </a:rPr>
              <a:t>SEA-ME-</a:t>
            </a:r>
            <a:r>
              <a:rPr sz="1800" b="1" kern="0" dirty="0">
                <a:solidFill>
                  <a:srgbClr val="FFFFFF"/>
                </a:solidFill>
                <a:latin typeface="Calibri"/>
                <a:cs typeface="Calibri"/>
              </a:rPr>
              <a:t>WE 5</a:t>
            </a:r>
            <a:r>
              <a:rPr sz="1800" b="1" kern="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/>
                </a:solidFill>
                <a:latin typeface="Calibri"/>
                <a:cs typeface="Calibri"/>
              </a:rPr>
              <a:t>ROUTE</a:t>
            </a:r>
            <a:endParaRPr sz="1800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378" y="1757412"/>
            <a:ext cx="7329853" cy="411603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28" y="8169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Advantages of Optical Fiber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D1F69-895B-4384-8910-2A8FC8B4592D}"/>
              </a:ext>
            </a:extLst>
          </p:cNvPr>
          <p:cNvSpPr txBox="1"/>
          <p:nvPr/>
        </p:nvSpPr>
        <p:spPr>
          <a:xfrm>
            <a:off x="591128" y="1228397"/>
            <a:ext cx="8077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Advantages of OFC: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Extremely high bandwidth: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Longer distance: Typically, it is less than 1dB/km.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Immune to cross talk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Resistance to electromagnetic interference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Low security risk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Small size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Light weight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Greater flexibility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Easy accommodate increasing bandwidth</a:t>
            </a:r>
          </a:p>
        </p:txBody>
      </p:sp>
    </p:spTree>
    <p:extLst>
      <p:ext uri="{BB962C8B-B14F-4D97-AF65-F5344CB8AC3E}">
        <p14:creationId xmlns:p14="http://schemas.microsoft.com/office/powerpoint/2010/main" val="20172392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328" y="85397"/>
            <a:ext cx="7924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Disadvantages of Optical Fiber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D1F69-895B-4384-8910-2A8FC8B4592D}"/>
              </a:ext>
            </a:extLst>
          </p:cNvPr>
          <p:cNvSpPr txBox="1"/>
          <p:nvPr/>
        </p:nvSpPr>
        <p:spPr>
          <a:xfrm>
            <a:off x="591128" y="1228397"/>
            <a:ext cx="80772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disadvantages of OFC: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High initial cost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Maintenance and repairing cost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Jointing and test procedures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Tensile stress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Fiber losses</a:t>
            </a:r>
          </a:p>
        </p:txBody>
      </p:sp>
    </p:spTree>
    <p:extLst>
      <p:ext uri="{BB962C8B-B14F-4D97-AF65-F5344CB8AC3E}">
        <p14:creationId xmlns:p14="http://schemas.microsoft.com/office/powerpoint/2010/main" val="8602842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07720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12763" indent="-512763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512763" marR="0" lvl="0" indent="-512763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design an optical fiber communication systems, it is important to account the optical power. </a:t>
            </a:r>
          </a:p>
          <a:p>
            <a:pPr marL="512763" marR="0" lvl="0" indent="-512763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 power measurement helps to ensure that incident wave on the detector has sufficient strength to be clearly and correctly recognized. </a:t>
            </a:r>
          </a:p>
          <a:p>
            <a:pPr marL="512763" marR="0" lvl="0" indent="-512763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 other instances the received power may even be too large for the receiver. </a:t>
            </a:r>
          </a:p>
          <a:p>
            <a:pPr marL="512763" marR="0" lvl="0" indent="-512763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designer must be certain this does not occur.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425450" y="168275"/>
            <a:ext cx="818515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CC66">
                    <a:lumMod val="7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Computing power levels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CC66">
                    <a:lumMod val="75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(decibels)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43000" y="5867400"/>
            <a:ext cx="3429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dB=10 log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</a:t>
            </a:r>
            <a:r>
              <a:rPr kumimoji="0" lang="en-US" alt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</a:t>
            </a: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/P</a:t>
            </a:r>
            <a:r>
              <a:rPr kumimoji="0" lang="en-US" alt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  <a:endParaRPr kumimoji="0" lang="en-US" altLang="en-US" sz="32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191000" y="5867400"/>
            <a:ext cx="3886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or, P</a:t>
            </a:r>
            <a:r>
              <a:rPr kumimoji="0" lang="en-US" alt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=P</a:t>
            </a:r>
            <a:r>
              <a:rPr kumimoji="0" lang="en-US" alt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10</a:t>
            </a:r>
            <a:r>
              <a:rPr kumimoji="0" lang="en-US" altLang="en-US" sz="3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dB/10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2000" y="4572000"/>
            <a:ext cx="7772400" cy="1316038"/>
          </a:xfrm>
          <a:prstGeom prst="rect">
            <a:avLst/>
          </a:prstGeom>
          <a:noFill/>
          <a:ln>
            <a:solidFill>
              <a:srgbClr val="92D05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366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If the power is P</a:t>
            </a:r>
            <a:r>
              <a:rPr kumimoji="0" lang="en-US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watts at one point in the system and P</a:t>
            </a:r>
            <a:r>
              <a:rPr kumimoji="0" lang="en-US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watts at some point farther along the link, then P</a:t>
            </a:r>
            <a:r>
              <a:rPr kumimoji="0" lang="en-US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/P</a:t>
            </a:r>
            <a:r>
              <a:rPr kumimoji="0" lang="en-US" alt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1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is the fraction of the power transmitted  between  the  two  locations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066800" y="381000"/>
            <a:ext cx="64595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Decibels (dB) Calculation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752600" y="1905000"/>
            <a:ext cx="5181600" cy="663575"/>
            <a:chOff x="816" y="1200"/>
            <a:chExt cx="3264" cy="418"/>
          </a:xfrm>
        </p:grpSpPr>
        <p:sp>
          <p:nvSpPr>
            <p:cNvPr id="35846" name="Line 6"/>
            <p:cNvSpPr>
              <a:spLocks noChangeShapeType="1"/>
            </p:cNvSpPr>
            <p:nvPr/>
          </p:nvSpPr>
          <p:spPr bwMode="auto">
            <a:xfrm>
              <a:off x="1073" y="1474"/>
              <a:ext cx="271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1418" y="1330"/>
              <a:ext cx="394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2256" y="1330"/>
              <a:ext cx="394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3094" y="1330"/>
              <a:ext cx="394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50" name="Text Box 10"/>
            <p:cNvSpPr txBox="1">
              <a:spLocks noChangeArrowheads="1"/>
            </p:cNvSpPr>
            <p:nvPr/>
          </p:nvSpPr>
          <p:spPr bwMode="auto">
            <a:xfrm>
              <a:off x="816" y="1353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851" name="Text Box 11"/>
            <p:cNvSpPr txBox="1">
              <a:spLocks noChangeArrowheads="1"/>
            </p:cNvSpPr>
            <p:nvPr/>
          </p:nvSpPr>
          <p:spPr bwMode="auto">
            <a:xfrm>
              <a:off x="1812" y="1206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852" name="Text Box 12"/>
            <p:cNvSpPr txBox="1">
              <a:spLocks noChangeArrowheads="1"/>
            </p:cNvSpPr>
            <p:nvPr/>
          </p:nvSpPr>
          <p:spPr bwMode="auto">
            <a:xfrm>
              <a:off x="2650" y="1200"/>
              <a:ext cx="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853" name="Text Box 13"/>
            <p:cNvSpPr txBox="1">
              <a:spLocks noChangeArrowheads="1"/>
            </p:cNvSpPr>
            <p:nvPr/>
          </p:nvSpPr>
          <p:spPr bwMode="auto">
            <a:xfrm>
              <a:off x="3784" y="1339"/>
              <a:ext cx="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85800" y="12954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366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If we consider power levels in a cascaded system of the following figure: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762000" y="27432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366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The output power is determined by: 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3352800" y="3276600"/>
          <a:ext cx="2438400" cy="83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680" imgH="431640" progId="Equation.DSMT4">
                  <p:embed/>
                </p:oleObj>
              </mc:Choice>
              <mc:Fallback>
                <p:oleObj name="Equation" r:id="rId5" imgW="1066680" imgH="43164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76600"/>
                        <a:ext cx="2438400" cy="8351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2743200" y="4980992"/>
          <a:ext cx="3962400" cy="1496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89040" imgH="939600" progId="Equation.DSMT4">
                  <p:embed/>
                </p:oleObj>
              </mc:Choice>
              <mc:Fallback>
                <p:oleObj name="Equation" r:id="rId7" imgW="2489040" imgH="939600" progId="Equation.DSMT4">
                  <p:embed/>
                  <p:pic>
                    <p:nvPicPr>
                      <p:cNvPr id="10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980992"/>
                        <a:ext cx="3962400" cy="1496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533400" y="41910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366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The logarithmic scale is used to ease with which total change in power level is found when several elements are cascaded: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3048000" y="381000"/>
            <a:ext cx="253787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Example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752600" y="2079625"/>
            <a:ext cx="5181600" cy="663575"/>
            <a:chOff x="816" y="1200"/>
            <a:chExt cx="3264" cy="418"/>
          </a:xfrm>
        </p:grpSpPr>
        <p:sp>
          <p:nvSpPr>
            <p:cNvPr id="35846" name="Line 6"/>
            <p:cNvSpPr>
              <a:spLocks noChangeShapeType="1"/>
            </p:cNvSpPr>
            <p:nvPr/>
          </p:nvSpPr>
          <p:spPr bwMode="auto">
            <a:xfrm>
              <a:off x="1073" y="1474"/>
              <a:ext cx="271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1418" y="1330"/>
              <a:ext cx="394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2256" y="1330"/>
              <a:ext cx="394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3094" y="1330"/>
              <a:ext cx="394" cy="28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850" name="Text Box 10"/>
            <p:cNvSpPr txBox="1">
              <a:spLocks noChangeArrowheads="1"/>
            </p:cNvSpPr>
            <p:nvPr/>
          </p:nvSpPr>
          <p:spPr bwMode="auto">
            <a:xfrm>
              <a:off x="816" y="1353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851" name="Text Box 11"/>
            <p:cNvSpPr txBox="1">
              <a:spLocks noChangeArrowheads="1"/>
            </p:cNvSpPr>
            <p:nvPr/>
          </p:nvSpPr>
          <p:spPr bwMode="auto">
            <a:xfrm>
              <a:off x="1812" y="1206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852" name="Text Box 12"/>
            <p:cNvSpPr txBox="1">
              <a:spLocks noChangeArrowheads="1"/>
            </p:cNvSpPr>
            <p:nvPr/>
          </p:nvSpPr>
          <p:spPr bwMode="auto">
            <a:xfrm>
              <a:off x="2650" y="1200"/>
              <a:ext cx="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853" name="Text Box 13"/>
            <p:cNvSpPr txBox="1">
              <a:spLocks noChangeArrowheads="1"/>
            </p:cNvSpPr>
            <p:nvPr/>
          </p:nvSpPr>
          <p:spPr bwMode="auto">
            <a:xfrm>
              <a:off x="3784" y="1339"/>
              <a:ext cx="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</a:t>
              </a:r>
              <a:r>
                <a:rPr kumimoji="0" lang="en-US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85800" y="1143000"/>
            <a:ext cx="7772400" cy="9144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Suppose that the three elements in the following figure have losses -11,-6 and -3 dB respectively. Find the total loss of the combination. Find the output power if the input power is 5mW.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685800" y="30480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366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Solution:  The total loss is =-11-6-3=-20dB</a:t>
            </a: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3366FF"/>
              </a:buClr>
              <a:buSzPct val="80000"/>
              <a:buFont typeface="Wingdings" pitchFamily="2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3352800" y="3352800"/>
          <a:ext cx="2514600" cy="2961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1600200" progId="Equation.DSMT4">
                  <p:embed/>
                </p:oleObj>
              </mc:Choice>
              <mc:Fallback>
                <p:oleObj name="Equation" r:id="rId5" imgW="1358640" imgH="1600200" progId="Equation.DSMT4">
                  <p:embed/>
                  <p:pic>
                    <p:nvPicPr>
                      <p:cNvPr id="20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352800"/>
                        <a:ext cx="2514600" cy="2961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3048000" y="381000"/>
            <a:ext cx="253787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Example 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990600" y="1447800"/>
            <a:ext cx="7239000" cy="46166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 system has -23 dB of loss. Compute its efficiency.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438400"/>
            <a:ext cx="7391400" cy="156966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 light emitting diode radiates 2mW. Compute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dBm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value of this radiated power. The power travels through a group of components having a combined loss of 23 dB. Compute the output power.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Designs\Soaring.pot</Template>
  <TotalTime>33515</TotalTime>
  <Words>3463</Words>
  <Application>Microsoft Office PowerPoint</Application>
  <PresentationFormat>On-screen Show (4:3)</PresentationFormat>
  <Paragraphs>561</Paragraphs>
  <Slides>71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3" baseType="lpstr">
      <vt:lpstr>Batang</vt:lpstr>
      <vt:lpstr>굴림</vt:lpstr>
      <vt:lpstr>Arial</vt:lpstr>
      <vt:lpstr>Arial MT</vt:lpstr>
      <vt:lpstr>Calibri</vt:lpstr>
      <vt:lpstr>Segoe UI Symbol</vt:lpstr>
      <vt:lpstr>Times New Roman</vt:lpstr>
      <vt:lpstr>Wingdings</vt:lpstr>
      <vt:lpstr>Soaring</vt:lpstr>
      <vt:lpstr>Office Theme</vt:lpstr>
      <vt:lpstr>1_Office Theme</vt:lpstr>
      <vt:lpstr>Equation</vt:lpstr>
      <vt:lpstr>Fiber Optic Communication Systems</vt:lpstr>
      <vt:lpstr>Introduction</vt:lpstr>
      <vt:lpstr>PowerPoint Presentation</vt:lpstr>
      <vt:lpstr>Objective</vt:lpstr>
      <vt:lpstr>Course Contents</vt:lpstr>
      <vt:lpstr>Course Contents   cont…</vt:lpstr>
      <vt:lpstr>Course Contents   cont…</vt:lpstr>
      <vt:lpstr>Course Contents   cont…</vt:lpstr>
      <vt:lpstr>PowerPoint Presentation</vt:lpstr>
      <vt:lpstr>Tentative Grading Policy </vt:lpstr>
      <vt:lpstr>PowerPoint Presentation</vt:lpstr>
      <vt:lpstr>PowerPoint Presentation</vt:lpstr>
      <vt:lpstr>PowerPoint Presentation</vt:lpstr>
      <vt:lpstr>PowerPoint Presentation</vt:lpstr>
      <vt:lpstr>Constants &amp; Prefixes</vt:lpstr>
      <vt:lpstr>PowerPoint Presentation</vt:lpstr>
      <vt:lpstr>PowerPoint Presentation</vt:lpstr>
      <vt:lpstr>PowerPoint Presentation</vt:lpstr>
      <vt:lpstr>PowerPoint Presentation</vt:lpstr>
      <vt:lpstr>Introduction</vt:lpstr>
      <vt:lpstr>Introduction</vt:lpstr>
      <vt:lpstr>Historical Development</vt:lpstr>
      <vt:lpstr>Historical Development</vt:lpstr>
      <vt:lpstr>Progress in Lightwave Communication Technology</vt:lpstr>
      <vt:lpstr>Transmission loss of silica fiber and optical communication wavelength bands</vt:lpstr>
      <vt:lpstr>Electromagnetic spectrum &amp; optical communication wavelength bands</vt:lpstr>
      <vt:lpstr>General OFC System</vt:lpstr>
      <vt:lpstr>General OFC System</vt:lpstr>
      <vt:lpstr>General OFC System</vt:lpstr>
      <vt:lpstr>General OFC System</vt:lpstr>
      <vt:lpstr>Elements</vt:lpstr>
      <vt:lpstr>SEA-ME-WE</vt:lpstr>
      <vt:lpstr>History of SEA-ME-WE</vt:lpstr>
      <vt:lpstr>SEA-ME-WE 2</vt:lpstr>
      <vt:lpstr>SEA-ME-WE 2</vt:lpstr>
      <vt:lpstr>SEA-ME-WE 2 Route</vt:lpstr>
      <vt:lpstr>Introduction To SEA-ME-WE 3</vt:lpstr>
      <vt:lpstr>Introduction …</vt:lpstr>
      <vt:lpstr>Technology used in SEA-ME- WE 3</vt:lpstr>
      <vt:lpstr>Route and landing points SEA-ME- WE 3</vt:lpstr>
      <vt:lpstr>Landing points of SEA-ME-WE 3</vt:lpstr>
      <vt:lpstr>Landing points…</vt:lpstr>
      <vt:lpstr>SEA-ME-WE 4</vt:lpstr>
      <vt:lpstr>SEA-ME-WE 4</vt:lpstr>
      <vt:lpstr>SEA-ME-WE 4 …</vt:lpstr>
      <vt:lpstr>History of SEA-ME-WE 4</vt:lpstr>
      <vt:lpstr>Network topology used in SEA-ME-WE 4</vt:lpstr>
      <vt:lpstr>Countries linked through SEA-ME-WE 4</vt:lpstr>
      <vt:lpstr>Connecting Point of SEA-ME- WE 4</vt:lpstr>
      <vt:lpstr>Length of SEA-ME-WE 4</vt:lpstr>
      <vt:lpstr>Technology used in SEA-ME- WE 4</vt:lpstr>
      <vt:lpstr>Advantages of SEA-ME-WE 4</vt:lpstr>
      <vt:lpstr>Comparison Between SEA-ME-</vt:lpstr>
      <vt:lpstr>Comparison Between SEA-ME-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Catania CLS and Palermo PoP</vt:lpstr>
      <vt:lpstr>PowerPoint Presentation</vt:lpstr>
      <vt:lpstr>Advantages of Optical Fiber</vt:lpstr>
      <vt:lpstr>Disadvantages of Optical Fiber</vt:lpstr>
      <vt:lpstr>PowerPoint Presentation</vt:lpstr>
      <vt:lpstr>PowerPoint Presentation</vt:lpstr>
      <vt:lpstr>PowerPoint Presentation</vt:lpstr>
      <vt:lpstr>PowerPoint Presentation</vt:lpstr>
    </vt:vector>
  </TitlesOfParts>
  <Company>NIIT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Kiran Khurshid</dc:creator>
  <cp:lastModifiedBy>Kuldip Saha Mugdha</cp:lastModifiedBy>
  <cp:revision>148</cp:revision>
  <dcterms:created xsi:type="dcterms:W3CDTF">2006-09-13T14:16:58Z</dcterms:created>
  <dcterms:modified xsi:type="dcterms:W3CDTF">2026-07-18T06:43:49Z</dcterms:modified>
</cp:coreProperties>
</file>